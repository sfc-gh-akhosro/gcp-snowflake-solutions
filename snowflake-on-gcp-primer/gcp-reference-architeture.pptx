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6" r:id="rId5"/>
    <p:sldMasterId id="2147483687" r:id="rId6"/>
    <p:sldMasterId id="214748368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Lst>
  <p:sldSz cy="5143500" cx="9144000"/>
  <p:notesSz cx="6858000" cy="9144000"/>
  <p:embeddedFontLst>
    <p:embeddedFont>
      <p:font typeface="Play"/>
      <p:regular r:id="rId53"/>
      <p:bold r:id="rId54"/>
    </p:embeddedFont>
    <p:embeddedFont>
      <p:font typeface="Roboto"/>
      <p:regular r:id="rId55"/>
      <p:bold r:id="rId56"/>
      <p:italic r:id="rId57"/>
      <p:boldItalic r:id="rId58"/>
    </p:embeddedFont>
    <p:embeddedFont>
      <p:font typeface="Lato"/>
      <p:regular r:id="rId59"/>
      <p:bold r:id="rId60"/>
      <p:italic r:id="rId61"/>
      <p:boldItalic r:id="rId62"/>
    </p:embeddedFont>
    <p:embeddedFont>
      <p:font typeface="Roboto Mono"/>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F5248A-DBA3-46B8-8E12-1AFC5F6F1D41}">
  <a:tblStyle styleId="{E8F5248A-DBA3-46B8-8E12-1AFC5F6F1D4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Lato-boldItalic.fntdata"/><Relationship Id="rId61" Type="http://schemas.openxmlformats.org/officeDocument/2006/relationships/font" Target="fonts/Lato-italic.fntdata"/><Relationship Id="rId20" Type="http://schemas.openxmlformats.org/officeDocument/2006/relationships/slide" Target="slides/slide12.xml"/><Relationship Id="rId64" Type="http://schemas.openxmlformats.org/officeDocument/2006/relationships/font" Target="fonts/RobotoMono-bold.fntdata"/><Relationship Id="rId63" Type="http://schemas.openxmlformats.org/officeDocument/2006/relationships/font" Target="fonts/RobotoMono-regular.fntdata"/><Relationship Id="rId22" Type="http://schemas.openxmlformats.org/officeDocument/2006/relationships/slide" Target="slides/slide14.xml"/><Relationship Id="rId66" Type="http://schemas.openxmlformats.org/officeDocument/2006/relationships/font" Target="fonts/RobotoMono-boldItalic.fntdata"/><Relationship Id="rId21" Type="http://schemas.openxmlformats.org/officeDocument/2006/relationships/slide" Target="slides/slide13.xml"/><Relationship Id="rId65" Type="http://schemas.openxmlformats.org/officeDocument/2006/relationships/font" Target="fonts/RobotoMono-italic.fntdata"/><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Lato-bold.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font" Target="fonts/Play-regular.fntdata"/><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font" Target="fonts/Roboto-regular.fntdata"/><Relationship Id="rId10" Type="http://schemas.openxmlformats.org/officeDocument/2006/relationships/slide" Target="slides/slide2.xml"/><Relationship Id="rId54" Type="http://schemas.openxmlformats.org/officeDocument/2006/relationships/font" Target="fonts/Play-bold.fntdata"/><Relationship Id="rId13" Type="http://schemas.openxmlformats.org/officeDocument/2006/relationships/slide" Target="slides/slide5.xml"/><Relationship Id="rId57" Type="http://schemas.openxmlformats.org/officeDocument/2006/relationships/font" Target="fonts/Roboto-italic.fntdata"/><Relationship Id="rId12" Type="http://schemas.openxmlformats.org/officeDocument/2006/relationships/slide" Target="slides/slide4.xml"/><Relationship Id="rId56" Type="http://schemas.openxmlformats.org/officeDocument/2006/relationships/font" Target="fonts/Roboto-bold.fntdata"/><Relationship Id="rId15" Type="http://schemas.openxmlformats.org/officeDocument/2006/relationships/slide" Target="slides/slide7.xml"/><Relationship Id="rId59" Type="http://schemas.openxmlformats.org/officeDocument/2006/relationships/font" Target="fonts/Lato-regular.fntdata"/><Relationship Id="rId14" Type="http://schemas.openxmlformats.org/officeDocument/2006/relationships/slide" Target="slides/slide6.xml"/><Relationship Id="rId58" Type="http://schemas.openxmlformats.org/officeDocument/2006/relationships/font" Target="fonts/Roboto-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8c236c21e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8c236c21e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8db9e15e3d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8db9e15e3d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87de58be27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87de58be27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88ca46bb5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88ca46bb5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87e8911585_6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87e8911585_6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8358e21b33_0_1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8358e21b33_0_1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88ca46bb5f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88ca46bb5f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8358e21b33_0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8358e21b33_0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8358e21b33_0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8358e21b33_0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99dc9c0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99dc9c0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99dc9c051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399dc9c051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8e052cb9ee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8e052cb9ee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875972ef9d_2_2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8" name="Google Shape;838;g3875972ef9d_2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chemeClr val="dk1"/>
                </a:solidFill>
              </a:rPr>
              <a:t>AWS Service integration</a:t>
            </a:r>
            <a:r>
              <a:rPr lang="en" sz="1000">
                <a:solidFill>
                  <a:schemeClr val="dk1"/>
                </a:solidFill>
              </a:rPr>
              <a:t>, some of these we have built DIY solutions but the integrations are not native: AgentCore, Q Business, Bedrock (KnowledgeBases), Sagemaker Unified Studio, S3 Vector Store, S3 Tables (post launch integration). Recent ones we are asking for support on tied to RIV Launches are: IAM delegation, Secret Manager automated secret rotation</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Internal Adoption: </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Q Dev</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Nova </a:t>
            </a:r>
            <a:endParaRPr b="1"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8e052cb9e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38e052cb9ee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963" name="Google Shape;963;g38e052cb9ee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9f0d1632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9f0d1632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9f0d16326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39f0d16326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88ca46bb5f_1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388ca46bb5f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88ca46bb5f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88ca46bb5f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88ca46bb5f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388ca46bb5f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88ca46bb5f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388ca46bb5f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88ca46bb5f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388ca46bb5f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JADE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88ca46bb5f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88ca46bb5f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JADE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8e8e0f0a4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38e8e0f0a4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88ca46bb5f_1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388ca46bb5f_1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88ca46bb5f_1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388ca46bb5f_1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88ca46bb5f_1_3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0" name="Google Shape;1180;g388ca46bb5f_1_3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1" name="Google Shape;1181;g388ca46bb5f_1_31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88ca46bb5f_1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7" name="Google Shape;1197;g388ca46bb5f_1_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88ca46bb5f_1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2" name="Google Shape;1212;g388ca46bb5f_1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88ca46bb5f_1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7" name="Google Shape;1227;g388ca46bb5f_1_3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388ca46bb5f_1_35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https://www.snowflake.com/en/customers/all-customers/case-study/big-fish-games/</a:t>
            </a:r>
            <a:endParaRPr/>
          </a:p>
        </p:txBody>
      </p:sp>
      <p:sp>
        <p:nvSpPr>
          <p:cNvPr id="1242" name="Google Shape;1242;g388ca46bb5f_1_3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388ca46bb5f_1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3" name="Google Shape;1253;g388ca46bb5f_1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99dc9c051c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g399dc9c051c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99dc9c051c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99dc9c051c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87e8911585_6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g387e8911585_6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38db9e15e3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38db9e15e3d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g38db9e15e3d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387e8911585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387e8911585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8e30f8e084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38e30f8e084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387e8911585_6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387e8911585_6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g3ccf6d7013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5" name="Google Shape;1575;g3ccf6d70139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6" name="Google Shape;1576;g3ccf6d70139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3ccc9e83c6d_1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7" name="Google Shape;1667;g3ccc9e83c6d_1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g3ccc9e83c6d_1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3" name="Google Shape;1673;g3ccc9e83c6d_1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g3ccc9e83c6d_1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9" name="Google Shape;1679;g3ccc9e83c6d_1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3" name="Shape 1683"/>
        <p:cNvGrpSpPr/>
        <p:nvPr/>
      </p:nvGrpSpPr>
      <p:grpSpPr>
        <a:xfrm>
          <a:off x="0" y="0"/>
          <a:ext cx="0" cy="0"/>
          <a:chOff x="0" y="0"/>
          <a:chExt cx="0" cy="0"/>
        </a:xfrm>
      </p:grpSpPr>
      <p:sp>
        <p:nvSpPr>
          <p:cNvPr id="1684" name="Google Shape;1684;g3cc58a8cde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5" name="Google Shape;1685;g3cc58a8cde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8" name="Shape 8"/>
        <p:cNvGrpSpPr/>
        <p:nvPr/>
      </p:nvGrpSpPr>
      <p:grpSpPr>
        <a:xfrm>
          <a:off x="0" y="0"/>
          <a:ext cx="0" cy="0"/>
          <a:chOff x="0" y="0"/>
          <a:chExt cx="0" cy="0"/>
        </a:xfrm>
      </p:grpSpPr>
    </p:spTree>
  </p:cSld>
  <p:clrMapOvr>
    <a:masterClrMapping/>
  </p:clrMapOvr>
  <p:transition>
    <p:fade/>
  </p:transition>
  <p:extLst>
    <p:ext uri="{DCECCB84-F9BA-43D5-87BE-67443E8EF086}">
      <p15:sldGuideLst>
        <p15:guide id="1" pos="438">
          <p15:clr>
            <a:srgbClr val="A4A3A4"/>
          </p15:clr>
        </p15:guide>
        <p15:guide id="2" pos="541">
          <p15:clr>
            <a:srgbClr val="A4A3A4"/>
          </p15:clr>
        </p15:guide>
        <p15:guide id="3" pos="773">
          <p15:clr>
            <a:srgbClr val="A4A3A4"/>
          </p15:clr>
        </p15:guide>
        <p15:guide id="4" pos="875">
          <p15:clr>
            <a:srgbClr val="A4A3A4"/>
          </p15:clr>
        </p15:guide>
        <p15:guide id="5" pos="1106">
          <p15:clr>
            <a:srgbClr val="A4A3A4"/>
          </p15:clr>
        </p15:guide>
        <p15:guide id="6" pos="1210">
          <p15:clr>
            <a:srgbClr val="A4A3A4"/>
          </p15:clr>
        </p15:guide>
        <p15:guide id="7" pos="1441">
          <p15:clr>
            <a:srgbClr val="A4A3A4"/>
          </p15:clr>
        </p15:guide>
        <p15:guide id="8" pos="1543">
          <p15:clr>
            <a:srgbClr val="A4A3A4"/>
          </p15:clr>
        </p15:guide>
        <p15:guide id="9" pos="1778">
          <p15:clr>
            <a:srgbClr val="A4A3A4"/>
          </p15:clr>
        </p15:guide>
        <p15:guide id="10" pos="1883">
          <p15:clr>
            <a:srgbClr val="A4A3A4"/>
          </p15:clr>
        </p15:guide>
        <p15:guide id="11" pos="2111">
          <p15:clr>
            <a:srgbClr val="A4A3A4"/>
          </p15:clr>
        </p15:guide>
        <p15:guide id="12" pos="2211">
          <p15:clr>
            <a:srgbClr val="A4A3A4"/>
          </p15:clr>
        </p15:guide>
        <p15:guide id="13" pos="2443">
          <p15:clr>
            <a:srgbClr val="A4A3A4"/>
          </p15:clr>
        </p15:guide>
        <p15:guide id="14" pos="2549">
          <p15:clr>
            <a:srgbClr val="A4A3A4"/>
          </p15:clr>
        </p15:guide>
        <p15:guide id="15" pos="2777">
          <p15:clr>
            <a:srgbClr val="A4A3A4"/>
          </p15:clr>
        </p15:guide>
        <p15:guide id="16" pos="2880">
          <p15:clr>
            <a:srgbClr val="A4A3A4"/>
          </p15:clr>
        </p15:guide>
        <p15:guide id="17" pos="3110">
          <p15:clr>
            <a:srgbClr val="A4A3A4"/>
          </p15:clr>
        </p15:guide>
        <p15:guide id="18" pos="3214">
          <p15:clr>
            <a:srgbClr val="A4A3A4"/>
          </p15:clr>
        </p15:guide>
        <p15:guide id="19" pos="3444">
          <p15:clr>
            <a:srgbClr val="A4A3A4"/>
          </p15:clr>
        </p15:guide>
        <p15:guide id="20" pos="3548">
          <p15:clr>
            <a:srgbClr val="A4A3A4"/>
          </p15:clr>
        </p15:guide>
        <p15:guide id="21" pos="3779">
          <p15:clr>
            <a:srgbClr val="A4A3A4"/>
          </p15:clr>
        </p15:guide>
        <p15:guide id="22" pos="3881">
          <p15:clr>
            <a:srgbClr val="A4A3A4"/>
          </p15:clr>
        </p15:guide>
        <p15:guide id="23" orient="horz" pos="509">
          <p15:clr>
            <a:srgbClr val="5ACBF0"/>
          </p15:clr>
        </p15:guide>
        <p15:guide id="24" orient="horz" pos="715">
          <p15:clr>
            <a:srgbClr val="5ACBF0"/>
          </p15:clr>
        </p15:guide>
        <p15:guide id="25" orient="horz" pos="16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Multi-use layout">
    <p:spTree>
      <p:nvGrpSpPr>
        <p:cNvPr id="9" name="Shape 9"/>
        <p:cNvGrpSpPr/>
        <p:nvPr/>
      </p:nvGrpSpPr>
      <p:grpSpPr>
        <a:xfrm>
          <a:off x="0" y="0"/>
          <a:ext cx="0" cy="0"/>
          <a:chOff x="0" y="0"/>
          <a:chExt cx="0" cy="0"/>
        </a:xfrm>
      </p:grpSpPr>
      <p:sp>
        <p:nvSpPr>
          <p:cNvPr id="10" name="Google Shape;10;p3"/>
          <p:cNvSpPr txBox="1"/>
          <p:nvPr>
            <p:ph idx="1" type="subTitle"/>
          </p:nvPr>
        </p:nvSpPr>
        <p:spPr>
          <a:xfrm>
            <a:off x="161375" y="655175"/>
            <a:ext cx="8795400" cy="4170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1pPr>
            <a:lvl2pPr lvl="1">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2pPr>
            <a:lvl3pPr lvl="2">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3pPr>
            <a:lvl4pPr lvl="3">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4pPr>
            <a:lvl5pPr lvl="4">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5pPr>
            <a:lvl6pPr lvl="5">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6pPr>
            <a:lvl7pPr lvl="6">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7pPr>
            <a:lvl8pPr lvl="7">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8pPr>
            <a:lvl9pPr lvl="8">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9pPr>
          </a:lstStyle>
          <a:p/>
        </p:txBody>
      </p:sp>
      <p:sp>
        <p:nvSpPr>
          <p:cNvPr id="11" name="Google Shape;11;p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 name="Google Shape;12;p3"/>
          <p:cNvSpPr txBox="1"/>
          <p:nvPr>
            <p:ph type="title"/>
          </p:nvPr>
        </p:nvSpPr>
        <p:spPr>
          <a:xfrm>
            <a:off x="386675" y="-2"/>
            <a:ext cx="83448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SzPts val="2200"/>
              <a:buNone/>
              <a:defRPr/>
            </a:lvl1pPr>
            <a:lvl2pPr lvl="1">
              <a:lnSpc>
                <a:spcPct val="85000"/>
              </a:lnSpc>
              <a:spcBef>
                <a:spcPts val="0"/>
              </a:spcBef>
              <a:spcAft>
                <a:spcPts val="0"/>
              </a:spcAft>
              <a:buSzPts val="2200"/>
              <a:buNone/>
              <a:defRPr/>
            </a:lvl2pPr>
            <a:lvl3pPr lvl="2">
              <a:lnSpc>
                <a:spcPct val="85000"/>
              </a:lnSpc>
              <a:spcBef>
                <a:spcPts val="0"/>
              </a:spcBef>
              <a:spcAft>
                <a:spcPts val="0"/>
              </a:spcAft>
              <a:buSzPts val="2200"/>
              <a:buNone/>
              <a:defRPr/>
            </a:lvl3pPr>
            <a:lvl4pPr lvl="3">
              <a:lnSpc>
                <a:spcPct val="85000"/>
              </a:lnSpc>
              <a:spcBef>
                <a:spcPts val="0"/>
              </a:spcBef>
              <a:spcAft>
                <a:spcPts val="0"/>
              </a:spcAft>
              <a:buSzPts val="2200"/>
              <a:buNone/>
              <a:defRPr/>
            </a:lvl4pPr>
            <a:lvl5pPr lvl="4">
              <a:lnSpc>
                <a:spcPct val="85000"/>
              </a:lnSpc>
              <a:spcBef>
                <a:spcPts val="0"/>
              </a:spcBef>
              <a:spcAft>
                <a:spcPts val="0"/>
              </a:spcAft>
              <a:buSzPts val="2200"/>
              <a:buNone/>
              <a:defRPr/>
            </a:lvl5pPr>
            <a:lvl6pPr lvl="5">
              <a:lnSpc>
                <a:spcPct val="85000"/>
              </a:lnSpc>
              <a:spcBef>
                <a:spcPts val="0"/>
              </a:spcBef>
              <a:spcAft>
                <a:spcPts val="0"/>
              </a:spcAft>
              <a:buSzPts val="2200"/>
              <a:buNone/>
              <a:defRPr/>
            </a:lvl6pPr>
            <a:lvl7pPr lvl="6">
              <a:lnSpc>
                <a:spcPct val="85000"/>
              </a:lnSpc>
              <a:spcBef>
                <a:spcPts val="0"/>
              </a:spcBef>
              <a:spcAft>
                <a:spcPts val="0"/>
              </a:spcAft>
              <a:buSzPts val="2200"/>
              <a:buNone/>
              <a:defRPr/>
            </a:lvl7pPr>
            <a:lvl8pPr lvl="7">
              <a:lnSpc>
                <a:spcPct val="85000"/>
              </a:lnSpc>
              <a:spcBef>
                <a:spcPts val="0"/>
              </a:spcBef>
              <a:spcAft>
                <a:spcPts val="0"/>
              </a:spcAft>
              <a:buSzPts val="2200"/>
              <a:buNone/>
              <a:defRPr/>
            </a:lvl8pPr>
            <a:lvl9pPr lvl="8">
              <a:lnSpc>
                <a:spcPct val="85000"/>
              </a:lnSpc>
              <a:spcBef>
                <a:spcPts val="0"/>
              </a:spcBef>
              <a:spcAft>
                <a:spcPts val="0"/>
              </a:spcAft>
              <a:buSzPts val="2200"/>
              <a:buNone/>
              <a:defRPr/>
            </a:lvl9pPr>
          </a:lstStyle>
          <a:p/>
        </p:txBody>
      </p:sp>
      <p:sp>
        <p:nvSpPr>
          <p:cNvPr id="13" name="Google Shape;13;p3"/>
          <p:cNvSpPr txBox="1"/>
          <p:nvPr>
            <p:ph idx="12" type="sldNum"/>
          </p:nvPr>
        </p:nvSpPr>
        <p:spPr>
          <a:xfrm>
            <a:off x="8595309" y="4825476"/>
            <a:ext cx="548700" cy="200100"/>
          </a:xfrm>
          <a:prstGeom prst="rect">
            <a:avLst/>
          </a:prstGeom>
        </p:spPr>
        <p:txBody>
          <a:bodyPr anchorCtr="0" anchor="t" bIns="0" lIns="0" spcFirstLastPara="1" rIns="0" wrap="square" tIns="0">
            <a:noAutofit/>
          </a:bodyPr>
          <a:lstStyle>
            <a:lvl1pPr lvl="0">
              <a:buNone/>
              <a:defRPr sz="1200">
                <a:solidFill>
                  <a:srgbClr val="5B5B5B"/>
                </a:solidFill>
                <a:latin typeface="Roboto"/>
                <a:ea typeface="Roboto"/>
                <a:cs typeface="Roboto"/>
                <a:sym typeface="Roboto"/>
              </a:defRPr>
            </a:lvl1pPr>
            <a:lvl2pPr lvl="1">
              <a:buNone/>
              <a:defRPr sz="1200">
                <a:solidFill>
                  <a:srgbClr val="5B5B5B"/>
                </a:solidFill>
                <a:latin typeface="Roboto"/>
                <a:ea typeface="Roboto"/>
                <a:cs typeface="Roboto"/>
                <a:sym typeface="Roboto"/>
              </a:defRPr>
            </a:lvl2pPr>
            <a:lvl3pPr lvl="2">
              <a:buNone/>
              <a:defRPr sz="1200">
                <a:solidFill>
                  <a:srgbClr val="5B5B5B"/>
                </a:solidFill>
                <a:latin typeface="Roboto"/>
                <a:ea typeface="Roboto"/>
                <a:cs typeface="Roboto"/>
                <a:sym typeface="Roboto"/>
              </a:defRPr>
            </a:lvl3pPr>
            <a:lvl4pPr lvl="3">
              <a:buNone/>
              <a:defRPr sz="1200">
                <a:solidFill>
                  <a:srgbClr val="5B5B5B"/>
                </a:solidFill>
                <a:latin typeface="Roboto"/>
                <a:ea typeface="Roboto"/>
                <a:cs typeface="Roboto"/>
                <a:sym typeface="Roboto"/>
              </a:defRPr>
            </a:lvl4pPr>
            <a:lvl5pPr lvl="4">
              <a:buNone/>
              <a:defRPr sz="1200">
                <a:solidFill>
                  <a:srgbClr val="5B5B5B"/>
                </a:solidFill>
                <a:latin typeface="Roboto"/>
                <a:ea typeface="Roboto"/>
                <a:cs typeface="Roboto"/>
                <a:sym typeface="Roboto"/>
              </a:defRPr>
            </a:lvl5pPr>
            <a:lvl6pPr lvl="5">
              <a:buNone/>
              <a:defRPr sz="1200">
                <a:solidFill>
                  <a:srgbClr val="5B5B5B"/>
                </a:solidFill>
                <a:latin typeface="Roboto"/>
                <a:ea typeface="Roboto"/>
                <a:cs typeface="Roboto"/>
                <a:sym typeface="Roboto"/>
              </a:defRPr>
            </a:lvl6pPr>
            <a:lvl7pPr lvl="6">
              <a:buNone/>
              <a:defRPr sz="1200">
                <a:solidFill>
                  <a:srgbClr val="5B5B5B"/>
                </a:solidFill>
                <a:latin typeface="Roboto"/>
                <a:ea typeface="Roboto"/>
                <a:cs typeface="Roboto"/>
                <a:sym typeface="Roboto"/>
              </a:defRPr>
            </a:lvl7pPr>
            <a:lvl8pPr lvl="7">
              <a:buNone/>
              <a:defRPr sz="1200">
                <a:solidFill>
                  <a:srgbClr val="5B5B5B"/>
                </a:solidFill>
                <a:latin typeface="Roboto"/>
                <a:ea typeface="Roboto"/>
                <a:cs typeface="Roboto"/>
                <a:sym typeface="Roboto"/>
              </a:defRPr>
            </a:lvl8pPr>
            <a:lvl9pPr lvl="8">
              <a:buNone/>
              <a:defRPr sz="1200">
                <a:solidFill>
                  <a:srgbClr val="5B5B5B"/>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grpSp>
        <p:nvGrpSpPr>
          <p:cNvPr id="14" name="Google Shape;14;p3"/>
          <p:cNvGrpSpPr/>
          <p:nvPr/>
        </p:nvGrpSpPr>
        <p:grpSpPr>
          <a:xfrm>
            <a:off x="274320" y="4903516"/>
            <a:ext cx="3723568" cy="216328"/>
            <a:chOff x="544551" y="4903516"/>
            <a:chExt cx="3723568" cy="216328"/>
          </a:xfrm>
        </p:grpSpPr>
        <p:sp>
          <p:nvSpPr>
            <p:cNvPr id="15" name="Google Shape;15;p3"/>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16" name="Google Shape;16;p3"/>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17" name="Shape 17"/>
        <p:cNvGrpSpPr/>
        <p:nvPr/>
      </p:nvGrpSpPr>
      <p:grpSpPr>
        <a:xfrm>
          <a:off x="0" y="0"/>
          <a:ext cx="0" cy="0"/>
          <a:chOff x="0" y="0"/>
          <a:chExt cx="0" cy="0"/>
        </a:xfrm>
      </p:grpSpPr>
      <p:sp>
        <p:nvSpPr>
          <p:cNvPr id="18" name="Google Shape;18;p4"/>
          <p:cNvSpPr txBox="1"/>
          <p:nvPr>
            <p:ph type="title"/>
          </p:nvPr>
        </p:nvSpPr>
        <p:spPr>
          <a:xfrm>
            <a:off x="397800" y="-2"/>
            <a:ext cx="8348400" cy="3657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19" name="Google Shape;19;p4"/>
          <p:cNvSpPr txBox="1"/>
          <p:nvPr>
            <p:ph idx="1" type="body"/>
          </p:nvPr>
        </p:nvSpPr>
        <p:spPr>
          <a:xfrm>
            <a:off x="365750" y="560925"/>
            <a:ext cx="4160400" cy="41253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Font typeface="Roboto"/>
              <a:buChar char="●"/>
              <a:defRPr>
                <a:latin typeface="Roboto"/>
                <a:ea typeface="Roboto"/>
                <a:cs typeface="Roboto"/>
                <a:sym typeface="Roboto"/>
              </a:defRPr>
            </a:lvl1pPr>
            <a:lvl2pPr indent="-317500" lvl="1" marL="914400">
              <a:spcBef>
                <a:spcPts val="0"/>
              </a:spcBef>
              <a:spcAft>
                <a:spcPts val="0"/>
              </a:spcAft>
              <a:buSzPts val="1400"/>
              <a:buFont typeface="Roboto"/>
              <a:buChar char="○"/>
              <a:defRPr>
                <a:latin typeface="Roboto"/>
                <a:ea typeface="Roboto"/>
                <a:cs typeface="Roboto"/>
                <a:sym typeface="Roboto"/>
              </a:defRPr>
            </a:lvl2pPr>
            <a:lvl3pPr indent="-317500" lvl="2" marL="1371600">
              <a:spcBef>
                <a:spcPts val="0"/>
              </a:spcBef>
              <a:spcAft>
                <a:spcPts val="0"/>
              </a:spcAft>
              <a:buSzPts val="1400"/>
              <a:buFont typeface="Roboto"/>
              <a:buChar char="■"/>
              <a:defRPr>
                <a:latin typeface="Roboto"/>
                <a:ea typeface="Roboto"/>
                <a:cs typeface="Roboto"/>
                <a:sym typeface="Roboto"/>
              </a:defRPr>
            </a:lvl3pPr>
            <a:lvl4pPr indent="-317500" lvl="3" marL="1828800">
              <a:spcBef>
                <a:spcPts val="0"/>
              </a:spcBef>
              <a:spcAft>
                <a:spcPts val="0"/>
              </a:spcAft>
              <a:buSzPts val="1400"/>
              <a:buFont typeface="Roboto"/>
              <a:buChar char="●"/>
              <a:defRPr>
                <a:latin typeface="Roboto"/>
                <a:ea typeface="Roboto"/>
                <a:cs typeface="Roboto"/>
                <a:sym typeface="Roboto"/>
              </a:defRPr>
            </a:lvl4pPr>
            <a:lvl5pPr indent="-317500" lvl="4" marL="2286000">
              <a:spcBef>
                <a:spcPts val="0"/>
              </a:spcBef>
              <a:spcAft>
                <a:spcPts val="0"/>
              </a:spcAft>
              <a:buSzPts val="1400"/>
              <a:buFont typeface="Roboto"/>
              <a:buChar char="○"/>
              <a:defRPr>
                <a:latin typeface="Roboto"/>
                <a:ea typeface="Roboto"/>
                <a:cs typeface="Roboto"/>
                <a:sym typeface="Roboto"/>
              </a:defRPr>
            </a:lvl5pPr>
            <a:lvl6pPr indent="-317500" lvl="5" marL="2743200">
              <a:spcBef>
                <a:spcPts val="0"/>
              </a:spcBef>
              <a:spcAft>
                <a:spcPts val="0"/>
              </a:spcAft>
              <a:buSzPts val="1400"/>
              <a:buFont typeface="Roboto"/>
              <a:buChar char="■"/>
              <a:defRPr>
                <a:latin typeface="Roboto"/>
                <a:ea typeface="Roboto"/>
                <a:cs typeface="Roboto"/>
                <a:sym typeface="Roboto"/>
              </a:defRPr>
            </a:lvl6pPr>
            <a:lvl7pPr indent="-317500" lvl="6" marL="3200400">
              <a:spcBef>
                <a:spcPts val="0"/>
              </a:spcBef>
              <a:spcAft>
                <a:spcPts val="0"/>
              </a:spcAft>
              <a:buSzPts val="1400"/>
              <a:buFont typeface="Roboto"/>
              <a:buChar char="●"/>
              <a:defRPr>
                <a:latin typeface="Roboto"/>
                <a:ea typeface="Roboto"/>
                <a:cs typeface="Roboto"/>
                <a:sym typeface="Roboto"/>
              </a:defRPr>
            </a:lvl7pPr>
            <a:lvl8pPr indent="-317500" lvl="7" marL="3657600">
              <a:spcBef>
                <a:spcPts val="0"/>
              </a:spcBef>
              <a:spcAft>
                <a:spcPts val="0"/>
              </a:spcAft>
              <a:buSzPts val="1400"/>
              <a:buFont typeface="Roboto"/>
              <a:buChar char="○"/>
              <a:defRPr>
                <a:latin typeface="Roboto"/>
                <a:ea typeface="Roboto"/>
                <a:cs typeface="Roboto"/>
                <a:sym typeface="Roboto"/>
              </a:defRPr>
            </a:lvl8pPr>
            <a:lvl9pPr indent="-317500" lvl="8" marL="4114800">
              <a:spcBef>
                <a:spcPts val="0"/>
              </a:spcBef>
              <a:spcAft>
                <a:spcPts val="0"/>
              </a:spcAft>
              <a:buSzPts val="1400"/>
              <a:buFont typeface="Roboto"/>
              <a:buChar char="■"/>
              <a:defRPr>
                <a:latin typeface="Roboto"/>
                <a:ea typeface="Roboto"/>
                <a:cs typeface="Roboto"/>
                <a:sym typeface="Roboto"/>
              </a:defRPr>
            </a:lvl9pPr>
          </a:lstStyle>
          <a:p/>
        </p:txBody>
      </p:sp>
      <p:sp>
        <p:nvSpPr>
          <p:cNvPr id="20" name="Google Shape;20;p4"/>
          <p:cNvSpPr txBox="1"/>
          <p:nvPr>
            <p:ph idx="2" type="body"/>
          </p:nvPr>
        </p:nvSpPr>
        <p:spPr>
          <a:xfrm>
            <a:off x="4617725" y="561000"/>
            <a:ext cx="4160400" cy="41253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Font typeface="Roboto"/>
              <a:buChar char="●"/>
              <a:defRPr>
                <a:latin typeface="Roboto"/>
                <a:ea typeface="Roboto"/>
                <a:cs typeface="Roboto"/>
                <a:sym typeface="Roboto"/>
              </a:defRPr>
            </a:lvl1pPr>
            <a:lvl2pPr indent="-317500" lvl="1" marL="914400">
              <a:spcBef>
                <a:spcPts val="0"/>
              </a:spcBef>
              <a:spcAft>
                <a:spcPts val="0"/>
              </a:spcAft>
              <a:buSzPts val="1400"/>
              <a:buFont typeface="Roboto"/>
              <a:buChar char="○"/>
              <a:defRPr>
                <a:latin typeface="Roboto"/>
                <a:ea typeface="Roboto"/>
                <a:cs typeface="Roboto"/>
                <a:sym typeface="Roboto"/>
              </a:defRPr>
            </a:lvl2pPr>
            <a:lvl3pPr indent="-317500" lvl="2" marL="1371600">
              <a:spcBef>
                <a:spcPts val="0"/>
              </a:spcBef>
              <a:spcAft>
                <a:spcPts val="0"/>
              </a:spcAft>
              <a:buSzPts val="1400"/>
              <a:buFont typeface="Roboto"/>
              <a:buChar char="■"/>
              <a:defRPr>
                <a:latin typeface="Roboto"/>
                <a:ea typeface="Roboto"/>
                <a:cs typeface="Roboto"/>
                <a:sym typeface="Roboto"/>
              </a:defRPr>
            </a:lvl3pPr>
            <a:lvl4pPr indent="-317500" lvl="3" marL="1828800">
              <a:spcBef>
                <a:spcPts val="0"/>
              </a:spcBef>
              <a:spcAft>
                <a:spcPts val="0"/>
              </a:spcAft>
              <a:buSzPts val="1400"/>
              <a:buFont typeface="Roboto"/>
              <a:buChar char="●"/>
              <a:defRPr>
                <a:latin typeface="Roboto"/>
                <a:ea typeface="Roboto"/>
                <a:cs typeface="Roboto"/>
                <a:sym typeface="Roboto"/>
              </a:defRPr>
            </a:lvl4pPr>
            <a:lvl5pPr indent="-317500" lvl="4" marL="2286000">
              <a:spcBef>
                <a:spcPts val="0"/>
              </a:spcBef>
              <a:spcAft>
                <a:spcPts val="0"/>
              </a:spcAft>
              <a:buSzPts val="1400"/>
              <a:buFont typeface="Roboto"/>
              <a:buChar char="○"/>
              <a:defRPr>
                <a:latin typeface="Roboto"/>
                <a:ea typeface="Roboto"/>
                <a:cs typeface="Roboto"/>
                <a:sym typeface="Roboto"/>
              </a:defRPr>
            </a:lvl5pPr>
            <a:lvl6pPr indent="-317500" lvl="5" marL="2743200">
              <a:spcBef>
                <a:spcPts val="0"/>
              </a:spcBef>
              <a:spcAft>
                <a:spcPts val="0"/>
              </a:spcAft>
              <a:buSzPts val="1400"/>
              <a:buFont typeface="Roboto"/>
              <a:buChar char="■"/>
              <a:defRPr>
                <a:latin typeface="Roboto"/>
                <a:ea typeface="Roboto"/>
                <a:cs typeface="Roboto"/>
                <a:sym typeface="Roboto"/>
              </a:defRPr>
            </a:lvl6pPr>
            <a:lvl7pPr indent="-317500" lvl="6" marL="3200400">
              <a:spcBef>
                <a:spcPts val="0"/>
              </a:spcBef>
              <a:spcAft>
                <a:spcPts val="0"/>
              </a:spcAft>
              <a:buSzPts val="1400"/>
              <a:buFont typeface="Roboto"/>
              <a:buChar char="●"/>
              <a:defRPr>
                <a:latin typeface="Roboto"/>
                <a:ea typeface="Roboto"/>
                <a:cs typeface="Roboto"/>
                <a:sym typeface="Roboto"/>
              </a:defRPr>
            </a:lvl7pPr>
            <a:lvl8pPr indent="-317500" lvl="7" marL="3657600">
              <a:spcBef>
                <a:spcPts val="0"/>
              </a:spcBef>
              <a:spcAft>
                <a:spcPts val="0"/>
              </a:spcAft>
              <a:buSzPts val="1400"/>
              <a:buFont typeface="Roboto"/>
              <a:buChar char="○"/>
              <a:defRPr>
                <a:latin typeface="Roboto"/>
                <a:ea typeface="Roboto"/>
                <a:cs typeface="Roboto"/>
                <a:sym typeface="Roboto"/>
              </a:defRPr>
            </a:lvl8pPr>
            <a:lvl9pPr indent="-317500" lvl="8" marL="4114800">
              <a:spcBef>
                <a:spcPts val="0"/>
              </a:spcBef>
              <a:spcAft>
                <a:spcPts val="0"/>
              </a:spcAft>
              <a:buSzPts val="1400"/>
              <a:buFont typeface="Roboto"/>
              <a:buChar char="■"/>
              <a:defRPr>
                <a:latin typeface="Roboto"/>
                <a:ea typeface="Roboto"/>
                <a:cs typeface="Roboto"/>
                <a:sym typeface="Roboto"/>
              </a:defRPr>
            </a:lvl9pPr>
          </a:lstStyle>
          <a:p/>
        </p:txBody>
      </p:sp>
      <p:sp>
        <p:nvSpPr>
          <p:cNvPr id="21" name="Google Shape;21;p4"/>
          <p:cNvSpPr txBox="1"/>
          <p:nvPr>
            <p:ph idx="12" type="sldNum"/>
          </p:nvPr>
        </p:nvSpPr>
        <p:spPr>
          <a:xfrm>
            <a:off x="8483150" y="49774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grpSp>
        <p:nvGrpSpPr>
          <p:cNvPr id="22" name="Google Shape;22;p4"/>
          <p:cNvGrpSpPr/>
          <p:nvPr/>
        </p:nvGrpSpPr>
        <p:grpSpPr>
          <a:xfrm>
            <a:off x="274320" y="4903516"/>
            <a:ext cx="3723568" cy="216328"/>
            <a:chOff x="544551" y="4903516"/>
            <a:chExt cx="3723568" cy="216328"/>
          </a:xfrm>
        </p:grpSpPr>
        <p:sp>
          <p:nvSpPr>
            <p:cNvPr id="23" name="Google Shape;23;p4"/>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24" name="Google Shape;24;p4"/>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5" name="Shape 25"/>
        <p:cNvGrpSpPr/>
        <p:nvPr/>
      </p:nvGrpSpPr>
      <p:grpSpPr>
        <a:xfrm>
          <a:off x="0" y="0"/>
          <a:ext cx="0" cy="0"/>
          <a:chOff x="0" y="0"/>
          <a:chExt cx="0" cy="0"/>
        </a:xfrm>
      </p:grpSpPr>
      <p:sp>
        <p:nvSpPr>
          <p:cNvPr id="26" name="Google Shape;26;p5"/>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28" name="Google Shape;28;p5"/>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4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pic>
        <p:nvPicPr>
          <p:cNvPr id="29" name="Google Shape;29;p5"/>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
        <p:nvSpPr>
          <p:cNvPr id="30" name="Google Shape;30;p5"/>
          <p:cNvSpPr txBox="1"/>
          <p:nvPr/>
        </p:nvSpPr>
        <p:spPr>
          <a:xfrm>
            <a:off x="261225" y="759425"/>
            <a:ext cx="13908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Roboto"/>
                <a:ea typeface="Roboto"/>
                <a:cs typeface="Roboto"/>
                <a:sym typeface="Roboto"/>
              </a:rPr>
              <a:t>Content</a:t>
            </a:r>
            <a:endParaRPr sz="2400">
              <a:latin typeface="Roboto"/>
              <a:ea typeface="Roboto"/>
              <a:cs typeface="Roboto"/>
              <a:sym typeface="Roboto"/>
            </a:endParaRPr>
          </a:p>
        </p:txBody>
      </p:sp>
      <p:sp>
        <p:nvSpPr>
          <p:cNvPr id="31" name="Google Shape;31;p5"/>
          <p:cNvSpPr txBox="1"/>
          <p:nvPr>
            <p:ph idx="1" type="body"/>
          </p:nvPr>
        </p:nvSpPr>
        <p:spPr>
          <a:xfrm>
            <a:off x="2589100" y="759425"/>
            <a:ext cx="6154200" cy="4140600"/>
          </a:xfrm>
          <a:prstGeom prst="rect">
            <a:avLst/>
          </a:prstGeom>
          <a:noFill/>
          <a:ln>
            <a:noFill/>
          </a:ln>
        </p:spPr>
        <p:txBody>
          <a:bodyPr anchorCtr="0" anchor="t" bIns="91425" lIns="91425" spcFirstLastPara="1" rIns="91425" wrap="square" tIns="91425">
            <a:noAutofit/>
          </a:bodyPr>
          <a:lstStyle>
            <a:lvl1pPr indent="-381000" lvl="0" marL="4572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1pPr>
            <a:lvl2pPr indent="-381000" lvl="1" marL="9144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2pPr>
            <a:lvl3pPr indent="-381000" lvl="2" marL="13716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3pPr>
            <a:lvl4pPr indent="-381000" lvl="3" marL="18288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4pPr>
            <a:lvl5pPr indent="-381000" lvl="4" marL="22860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5pPr>
            <a:lvl6pPr indent="-381000" lvl="5" marL="27432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6pPr>
            <a:lvl7pPr indent="-381000" lvl="6" marL="32004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7pPr>
            <a:lvl8pPr indent="-381000" lvl="7" marL="36576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8pPr>
            <a:lvl9pPr indent="-381000" lvl="8" marL="41148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9pPr>
          </a:lstStyle>
          <a:p/>
        </p:txBody>
      </p:sp>
      <p:sp>
        <p:nvSpPr>
          <p:cNvPr id="32" name="Google Shape;32;p5"/>
          <p:cNvSpPr txBox="1"/>
          <p:nvPr>
            <p:ph idx="12" type="sldNum"/>
          </p:nvPr>
        </p:nvSpPr>
        <p:spPr>
          <a:xfrm>
            <a:off x="8556784" y="4749851"/>
            <a:ext cx="548700" cy="200100"/>
          </a:xfrm>
          <a:prstGeom prst="rect">
            <a:avLst/>
          </a:prstGeom>
        </p:spPr>
        <p:txBody>
          <a:bodyPr anchorCtr="0" anchor="t" bIns="91425" lIns="91425" spcFirstLastPara="1" rIns="91425" wrap="square" tIns="91425">
            <a:noAutofit/>
          </a:bodyPr>
          <a:lstStyle>
            <a:lvl1pPr lvl="0">
              <a:buNone/>
              <a:defRPr sz="1300">
                <a:solidFill>
                  <a:schemeClr val="lt1"/>
                </a:solidFill>
              </a:defRPr>
            </a:lvl1pPr>
            <a:lvl2pPr lvl="1">
              <a:buNone/>
              <a:defRPr sz="1300">
                <a:solidFill>
                  <a:schemeClr val="lt1"/>
                </a:solidFill>
              </a:defRPr>
            </a:lvl2pPr>
            <a:lvl3pPr lvl="2">
              <a:buNone/>
              <a:defRPr sz="1300">
                <a:solidFill>
                  <a:schemeClr val="lt1"/>
                </a:solidFill>
              </a:defRPr>
            </a:lvl3pPr>
            <a:lvl4pPr lvl="3">
              <a:buNone/>
              <a:defRPr sz="1300">
                <a:solidFill>
                  <a:schemeClr val="lt1"/>
                </a:solidFill>
              </a:defRPr>
            </a:lvl4pPr>
            <a:lvl5pPr lvl="4">
              <a:buNone/>
              <a:defRPr sz="1300">
                <a:solidFill>
                  <a:schemeClr val="lt1"/>
                </a:solidFill>
              </a:defRPr>
            </a:lvl5pPr>
            <a:lvl6pPr lvl="5">
              <a:buNone/>
              <a:defRPr sz="1300">
                <a:solidFill>
                  <a:schemeClr val="lt1"/>
                </a:solidFill>
              </a:defRPr>
            </a:lvl6pPr>
            <a:lvl7pPr lvl="6">
              <a:buNone/>
              <a:defRPr sz="1300">
                <a:solidFill>
                  <a:schemeClr val="lt1"/>
                </a:solidFill>
              </a:defRPr>
            </a:lvl7pPr>
            <a:lvl8pPr lvl="7">
              <a:buNone/>
              <a:defRPr sz="1300">
                <a:solidFill>
                  <a:schemeClr val="lt1"/>
                </a:solidFill>
              </a:defRPr>
            </a:lvl8pPr>
            <a:lvl9pPr lvl="8">
              <a:buNone/>
              <a:defRPr sz="13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grpSp>
        <p:nvGrpSpPr>
          <p:cNvPr id="33" name="Google Shape;33;p5"/>
          <p:cNvGrpSpPr/>
          <p:nvPr/>
        </p:nvGrpSpPr>
        <p:grpSpPr>
          <a:xfrm>
            <a:off x="274320" y="4903516"/>
            <a:ext cx="3723568" cy="216328"/>
            <a:chOff x="544551" y="4903516"/>
            <a:chExt cx="3723568" cy="216328"/>
          </a:xfrm>
        </p:grpSpPr>
        <p:sp>
          <p:nvSpPr>
            <p:cNvPr id="34" name="Google Shape;34;p5"/>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35" name="Google Shape;35;p5"/>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36" name="Shape 36"/>
        <p:cNvGrpSpPr/>
        <p:nvPr/>
      </p:nvGrpSpPr>
      <p:grpSpPr>
        <a:xfrm>
          <a:off x="0" y="0"/>
          <a:ext cx="0" cy="0"/>
          <a:chOff x="0" y="0"/>
          <a:chExt cx="0" cy="0"/>
        </a:xfrm>
      </p:grpSpPr>
      <p:grpSp>
        <p:nvGrpSpPr>
          <p:cNvPr id="37" name="Google Shape;37;p6"/>
          <p:cNvGrpSpPr/>
          <p:nvPr/>
        </p:nvGrpSpPr>
        <p:grpSpPr>
          <a:xfrm>
            <a:off x="274320" y="4903516"/>
            <a:ext cx="3723568" cy="216328"/>
            <a:chOff x="544551" y="4903516"/>
            <a:chExt cx="3723568" cy="216328"/>
          </a:xfrm>
        </p:grpSpPr>
        <p:sp>
          <p:nvSpPr>
            <p:cNvPr id="38" name="Google Shape;38;p6"/>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39" name="Google Shape;39;p6"/>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
        <p:nvSpPr>
          <p:cNvPr id="40" name="Google Shape;40;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only">
  <p:cSld name="CUSTOM_1">
    <p:spTree>
      <p:nvGrpSpPr>
        <p:cNvPr id="41" name="Shape 41"/>
        <p:cNvGrpSpPr/>
        <p:nvPr/>
      </p:nvGrpSpPr>
      <p:grpSpPr>
        <a:xfrm>
          <a:off x="0" y="0"/>
          <a:ext cx="0" cy="0"/>
          <a:chOff x="0" y="0"/>
          <a:chExt cx="0" cy="0"/>
        </a:xfrm>
      </p:grpSpPr>
      <p:sp>
        <p:nvSpPr>
          <p:cNvPr id="42" name="Google Shape;42;p7"/>
          <p:cNvSpPr txBox="1"/>
          <p:nvPr>
            <p:ph type="title"/>
          </p:nvPr>
        </p:nvSpPr>
        <p:spPr>
          <a:xfrm>
            <a:off x="274325" y="91450"/>
            <a:ext cx="8682600" cy="3813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43" name="Google Shape;43;p7"/>
          <p:cNvSpPr txBox="1"/>
          <p:nvPr>
            <p:ph idx="12" type="sldNum"/>
          </p:nvPr>
        </p:nvSpPr>
        <p:spPr>
          <a:xfrm>
            <a:off x="8595360" y="4937760"/>
            <a:ext cx="473700" cy="123000"/>
          </a:xfrm>
          <a:prstGeom prst="rect">
            <a:avLst/>
          </a:prstGeom>
        </p:spPr>
        <p:txBody>
          <a:bodyPr anchorCtr="0" anchor="t" bIns="91425" lIns="91425" spcFirstLastPara="1" rIns="91425" wrap="square" tIns="91425">
            <a:no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
              <a:t>‹#›</a:t>
            </a:fld>
            <a:endParaRPr/>
          </a:p>
        </p:txBody>
      </p:sp>
      <p:grpSp>
        <p:nvGrpSpPr>
          <p:cNvPr id="44" name="Google Shape;44;p7"/>
          <p:cNvGrpSpPr/>
          <p:nvPr/>
        </p:nvGrpSpPr>
        <p:grpSpPr>
          <a:xfrm>
            <a:off x="274320" y="4903516"/>
            <a:ext cx="3723568" cy="216328"/>
            <a:chOff x="544551" y="4903516"/>
            <a:chExt cx="3723568" cy="216328"/>
          </a:xfrm>
        </p:grpSpPr>
        <p:sp>
          <p:nvSpPr>
            <p:cNvPr id="45" name="Google Shape;45;p7"/>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46" name="Google Shape;46;p7"/>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cSld name="CUSTOM_2">
    <p:bg>
      <p:bgPr>
        <a:solidFill>
          <a:schemeClr val="dk2"/>
        </a:solidFill>
      </p:bgPr>
    </p:bg>
    <p:spTree>
      <p:nvGrpSpPr>
        <p:cNvPr id="47" name="Shape 47"/>
        <p:cNvGrpSpPr/>
        <p:nvPr/>
      </p:nvGrpSpPr>
      <p:grpSpPr>
        <a:xfrm>
          <a:off x="0" y="0"/>
          <a:ext cx="0" cy="0"/>
          <a:chOff x="0" y="0"/>
          <a:chExt cx="0" cy="0"/>
        </a:xfrm>
      </p:grpSpPr>
      <p:sp>
        <p:nvSpPr>
          <p:cNvPr id="48" name="Google Shape;48;p8"/>
          <p:cNvSpPr txBox="1"/>
          <p:nvPr>
            <p:ph type="title"/>
          </p:nvPr>
        </p:nvSpPr>
        <p:spPr>
          <a:xfrm>
            <a:off x="410975" y="2283876"/>
            <a:ext cx="7305000" cy="7881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4000"/>
              <a:buNone/>
              <a:defRPr sz="4000">
                <a:solidFill>
                  <a:schemeClr val="lt1"/>
                </a:solidFill>
              </a:defRPr>
            </a:lvl1pPr>
            <a:lvl2pPr lvl="1">
              <a:spcBef>
                <a:spcPts val="0"/>
              </a:spcBef>
              <a:spcAft>
                <a:spcPts val="0"/>
              </a:spcAft>
              <a:buClr>
                <a:schemeClr val="lt1"/>
              </a:buClr>
              <a:buSzPts val="4000"/>
              <a:buNone/>
              <a:defRPr sz="4000">
                <a:solidFill>
                  <a:schemeClr val="lt1"/>
                </a:solidFill>
              </a:defRPr>
            </a:lvl2pPr>
            <a:lvl3pPr lvl="2">
              <a:spcBef>
                <a:spcPts val="0"/>
              </a:spcBef>
              <a:spcAft>
                <a:spcPts val="0"/>
              </a:spcAft>
              <a:buClr>
                <a:schemeClr val="lt1"/>
              </a:buClr>
              <a:buSzPts val="4000"/>
              <a:buNone/>
              <a:defRPr sz="4000">
                <a:solidFill>
                  <a:schemeClr val="lt1"/>
                </a:solidFill>
              </a:defRPr>
            </a:lvl3pPr>
            <a:lvl4pPr lvl="3">
              <a:spcBef>
                <a:spcPts val="0"/>
              </a:spcBef>
              <a:spcAft>
                <a:spcPts val="0"/>
              </a:spcAft>
              <a:buClr>
                <a:schemeClr val="lt1"/>
              </a:buClr>
              <a:buSzPts val="4000"/>
              <a:buNone/>
              <a:defRPr sz="4000">
                <a:solidFill>
                  <a:schemeClr val="lt1"/>
                </a:solidFill>
              </a:defRPr>
            </a:lvl4pPr>
            <a:lvl5pPr lvl="4">
              <a:spcBef>
                <a:spcPts val="0"/>
              </a:spcBef>
              <a:spcAft>
                <a:spcPts val="0"/>
              </a:spcAft>
              <a:buClr>
                <a:schemeClr val="lt1"/>
              </a:buClr>
              <a:buSzPts val="4000"/>
              <a:buNone/>
              <a:defRPr sz="4000">
                <a:solidFill>
                  <a:schemeClr val="lt1"/>
                </a:solidFill>
              </a:defRPr>
            </a:lvl5pPr>
            <a:lvl6pPr lvl="5">
              <a:spcBef>
                <a:spcPts val="0"/>
              </a:spcBef>
              <a:spcAft>
                <a:spcPts val="0"/>
              </a:spcAft>
              <a:buClr>
                <a:schemeClr val="lt1"/>
              </a:buClr>
              <a:buSzPts val="4000"/>
              <a:buNone/>
              <a:defRPr sz="4000">
                <a:solidFill>
                  <a:schemeClr val="lt1"/>
                </a:solidFill>
              </a:defRPr>
            </a:lvl6pPr>
            <a:lvl7pPr lvl="6">
              <a:spcBef>
                <a:spcPts val="0"/>
              </a:spcBef>
              <a:spcAft>
                <a:spcPts val="0"/>
              </a:spcAft>
              <a:buClr>
                <a:schemeClr val="lt1"/>
              </a:buClr>
              <a:buSzPts val="4000"/>
              <a:buNone/>
              <a:defRPr sz="4000">
                <a:solidFill>
                  <a:schemeClr val="lt1"/>
                </a:solidFill>
              </a:defRPr>
            </a:lvl7pPr>
            <a:lvl8pPr lvl="7">
              <a:spcBef>
                <a:spcPts val="0"/>
              </a:spcBef>
              <a:spcAft>
                <a:spcPts val="0"/>
              </a:spcAft>
              <a:buClr>
                <a:schemeClr val="lt1"/>
              </a:buClr>
              <a:buSzPts val="4000"/>
              <a:buNone/>
              <a:defRPr sz="4000">
                <a:solidFill>
                  <a:schemeClr val="lt1"/>
                </a:solidFill>
              </a:defRPr>
            </a:lvl8pPr>
            <a:lvl9pPr lvl="8">
              <a:spcBef>
                <a:spcPts val="0"/>
              </a:spcBef>
              <a:spcAft>
                <a:spcPts val="0"/>
              </a:spcAft>
              <a:buClr>
                <a:schemeClr val="lt1"/>
              </a:buClr>
              <a:buSzPts val="4000"/>
              <a:buNone/>
              <a:defRPr sz="4000">
                <a:solidFill>
                  <a:schemeClr val="lt1"/>
                </a:solidFill>
              </a:defRPr>
            </a:lvl9pPr>
          </a:lstStyle>
          <a:p/>
        </p:txBody>
      </p:sp>
      <p:sp>
        <p:nvSpPr>
          <p:cNvPr id="49" name="Google Shape;49;p8"/>
          <p:cNvSpPr txBox="1"/>
          <p:nvPr>
            <p:ph idx="12" type="sldNum"/>
          </p:nvPr>
        </p:nvSpPr>
        <p:spPr>
          <a:xfrm>
            <a:off x="8595350" y="4844418"/>
            <a:ext cx="473700" cy="216300"/>
          </a:xfrm>
          <a:prstGeom prst="rect">
            <a:avLst/>
          </a:prstGeom>
        </p:spPr>
        <p:txBody>
          <a:bodyPr anchorCtr="0" anchor="t" bIns="0" lIns="0" spcFirstLastPara="1" rIns="0" wrap="square" tIns="0">
            <a:noAutofit/>
          </a:bodyPr>
          <a:lstStyle>
            <a:lvl1pPr lvl="0">
              <a:buClr>
                <a:srgbClr val="000000"/>
              </a:buClr>
              <a:buFont typeface="Arial"/>
              <a:buNone/>
              <a:defRPr>
                <a:solidFill>
                  <a:schemeClr val="lt1"/>
                </a:solidFill>
              </a:defRPr>
            </a:lvl1pPr>
            <a:lvl2pPr lvl="1">
              <a:buClr>
                <a:srgbClr val="000000"/>
              </a:buClr>
              <a:buFont typeface="Arial"/>
              <a:buNone/>
              <a:defRPr>
                <a:solidFill>
                  <a:schemeClr val="lt1"/>
                </a:solidFill>
              </a:defRPr>
            </a:lvl2pPr>
            <a:lvl3pPr lvl="2">
              <a:buClr>
                <a:srgbClr val="000000"/>
              </a:buClr>
              <a:buFont typeface="Arial"/>
              <a:buNone/>
              <a:defRPr>
                <a:solidFill>
                  <a:schemeClr val="lt1"/>
                </a:solidFill>
              </a:defRPr>
            </a:lvl3pPr>
            <a:lvl4pPr lvl="3">
              <a:buClr>
                <a:srgbClr val="000000"/>
              </a:buClr>
              <a:buFont typeface="Arial"/>
              <a:buNone/>
              <a:defRPr>
                <a:solidFill>
                  <a:schemeClr val="lt1"/>
                </a:solidFill>
              </a:defRPr>
            </a:lvl4pPr>
            <a:lvl5pPr lvl="4">
              <a:buClr>
                <a:srgbClr val="000000"/>
              </a:buClr>
              <a:buFont typeface="Arial"/>
              <a:buNone/>
              <a:defRPr>
                <a:solidFill>
                  <a:schemeClr val="lt1"/>
                </a:solidFill>
              </a:defRPr>
            </a:lvl5pPr>
            <a:lvl6pPr lvl="5">
              <a:buClr>
                <a:srgbClr val="000000"/>
              </a:buClr>
              <a:buFont typeface="Arial"/>
              <a:buNone/>
              <a:defRPr>
                <a:solidFill>
                  <a:schemeClr val="lt1"/>
                </a:solidFill>
              </a:defRPr>
            </a:lvl6pPr>
            <a:lvl7pPr lvl="6">
              <a:buClr>
                <a:srgbClr val="000000"/>
              </a:buClr>
              <a:buFont typeface="Arial"/>
              <a:buNone/>
              <a:defRPr>
                <a:solidFill>
                  <a:schemeClr val="lt1"/>
                </a:solidFill>
              </a:defRPr>
            </a:lvl7pPr>
            <a:lvl8pPr lvl="7">
              <a:buClr>
                <a:srgbClr val="000000"/>
              </a:buClr>
              <a:buFont typeface="Arial"/>
              <a:buNone/>
              <a:defRPr>
                <a:solidFill>
                  <a:schemeClr val="lt1"/>
                </a:solidFill>
              </a:defRPr>
            </a:lvl8pPr>
            <a:lvl9pPr lvl="8">
              <a:buClr>
                <a:srgbClr val="000000"/>
              </a:buClr>
              <a:buFont typeface="Arial"/>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8"/>
          <p:cNvSpPr txBox="1"/>
          <p:nvPr>
            <p:ph idx="1" type="subTitle"/>
          </p:nvPr>
        </p:nvSpPr>
        <p:spPr>
          <a:xfrm>
            <a:off x="410975" y="3020625"/>
            <a:ext cx="7305000" cy="626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1pPr>
            <a:lvl2pPr lvl="1">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2pPr>
            <a:lvl3pPr lvl="2">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3pPr>
            <a:lvl4pPr lvl="3">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4pPr>
            <a:lvl5pPr lvl="4">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5pPr>
            <a:lvl6pPr lvl="5">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6pPr>
            <a:lvl7pPr lvl="6">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7pPr>
            <a:lvl8pPr lvl="7">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8pPr>
            <a:lvl9pPr lvl="8">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9pPr>
          </a:lstStyle>
          <a:p/>
        </p:txBody>
      </p:sp>
      <p:sp>
        <p:nvSpPr>
          <p:cNvPr id="51" name="Google Shape;51;p8"/>
          <p:cNvSpPr/>
          <p:nvPr/>
        </p:nvSpPr>
        <p:spPr>
          <a:xfrm>
            <a:off x="457200" y="91440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52" name="Google Shape;52;p8"/>
          <p:cNvSpPr/>
          <p:nvPr/>
        </p:nvSpPr>
        <p:spPr>
          <a:xfrm>
            <a:off x="6400800" y="4572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pic>
        <p:nvPicPr>
          <p:cNvPr id="53" name="Google Shape;53;p8"/>
          <p:cNvPicPr preferRelativeResize="0"/>
          <p:nvPr/>
        </p:nvPicPr>
        <p:blipFill rotWithShape="1">
          <a:blip r:embed="rId2">
            <a:alphaModFix/>
          </a:blip>
          <a:srcRect b="0" l="16764" r="0" t="0"/>
          <a:stretch/>
        </p:blipFill>
        <p:spPr>
          <a:xfrm rot="10800000">
            <a:off x="7338076" y="1759900"/>
            <a:ext cx="1805925" cy="2369900"/>
          </a:xfrm>
          <a:prstGeom prst="rect">
            <a:avLst/>
          </a:prstGeom>
          <a:noFill/>
          <a:ln>
            <a:noFill/>
          </a:ln>
        </p:spPr>
      </p:pic>
      <p:grpSp>
        <p:nvGrpSpPr>
          <p:cNvPr id="54" name="Google Shape;54;p8"/>
          <p:cNvGrpSpPr/>
          <p:nvPr/>
        </p:nvGrpSpPr>
        <p:grpSpPr>
          <a:xfrm>
            <a:off x="274320" y="4903516"/>
            <a:ext cx="3723568" cy="216328"/>
            <a:chOff x="544551" y="4903516"/>
            <a:chExt cx="3723568" cy="216328"/>
          </a:xfrm>
        </p:grpSpPr>
        <p:sp>
          <p:nvSpPr>
            <p:cNvPr id="55" name="Google Shape;55;p8"/>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lt1"/>
                </a:solidFill>
                <a:latin typeface="Roboto"/>
                <a:ea typeface="Roboto"/>
                <a:cs typeface="Roboto"/>
                <a:sym typeface="Roboto"/>
              </a:endParaRPr>
            </a:p>
          </p:txBody>
        </p:sp>
        <p:sp>
          <p:nvSpPr>
            <p:cNvPr id="56" name="Google Shape;56;p8"/>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lt1"/>
                  </a:solidFill>
                  <a:latin typeface="Roboto"/>
                  <a:ea typeface="Roboto"/>
                  <a:cs typeface="Roboto"/>
                  <a:sym typeface="Roboto"/>
                </a:rPr>
                <a:t>© </a:t>
              </a:r>
              <a:r>
                <a:rPr lang="en" sz="1000">
                  <a:solidFill>
                    <a:schemeClr val="lt1"/>
                  </a:solidFill>
                  <a:latin typeface="Roboto"/>
                  <a:ea typeface="Roboto"/>
                  <a:cs typeface="Roboto"/>
                  <a:sym typeface="Roboto"/>
                </a:rPr>
                <a:t>2025</a:t>
              </a:r>
              <a:r>
                <a:rPr i="0" lang="en" sz="1000">
                  <a:solidFill>
                    <a:schemeClr val="lt1"/>
                  </a:solidFill>
                  <a:latin typeface="Roboto"/>
                  <a:ea typeface="Roboto"/>
                  <a:cs typeface="Roboto"/>
                  <a:sym typeface="Roboto"/>
                </a:rPr>
                <a:t> Snowflake Inc. All Rights Reserved</a:t>
              </a:r>
              <a:endParaRPr sz="1000">
                <a:solidFill>
                  <a:schemeClr val="lt1"/>
                </a:solidFill>
                <a:latin typeface="Roboto"/>
                <a:ea typeface="Roboto"/>
                <a:cs typeface="Roboto"/>
                <a:sym typeface="Roboto"/>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p:cSld name="CUSTOM_2_1">
    <p:bg>
      <p:bgPr>
        <a:solidFill>
          <a:schemeClr val="accent1"/>
        </a:solidFill>
      </p:bgPr>
    </p:bg>
    <p:spTree>
      <p:nvGrpSpPr>
        <p:cNvPr id="57" name="Shape 57"/>
        <p:cNvGrpSpPr/>
        <p:nvPr/>
      </p:nvGrpSpPr>
      <p:grpSpPr>
        <a:xfrm>
          <a:off x="0" y="0"/>
          <a:ext cx="0" cy="0"/>
          <a:chOff x="0" y="0"/>
          <a:chExt cx="0" cy="0"/>
        </a:xfrm>
      </p:grpSpPr>
      <p:sp>
        <p:nvSpPr>
          <p:cNvPr id="58" name="Google Shape;58;p9"/>
          <p:cNvSpPr txBox="1"/>
          <p:nvPr>
            <p:ph type="title"/>
          </p:nvPr>
        </p:nvSpPr>
        <p:spPr>
          <a:xfrm>
            <a:off x="457200" y="2286000"/>
            <a:ext cx="7305000" cy="7881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4000"/>
              <a:buNone/>
              <a:defRPr sz="4000">
                <a:solidFill>
                  <a:schemeClr val="lt1"/>
                </a:solidFill>
              </a:defRPr>
            </a:lvl1pPr>
            <a:lvl2pPr lvl="1">
              <a:spcBef>
                <a:spcPts val="0"/>
              </a:spcBef>
              <a:spcAft>
                <a:spcPts val="0"/>
              </a:spcAft>
              <a:buClr>
                <a:schemeClr val="lt1"/>
              </a:buClr>
              <a:buSzPts val="4000"/>
              <a:buNone/>
              <a:defRPr sz="4000">
                <a:solidFill>
                  <a:schemeClr val="lt1"/>
                </a:solidFill>
              </a:defRPr>
            </a:lvl2pPr>
            <a:lvl3pPr lvl="2">
              <a:spcBef>
                <a:spcPts val="0"/>
              </a:spcBef>
              <a:spcAft>
                <a:spcPts val="0"/>
              </a:spcAft>
              <a:buClr>
                <a:schemeClr val="lt1"/>
              </a:buClr>
              <a:buSzPts val="4000"/>
              <a:buNone/>
              <a:defRPr sz="4000">
                <a:solidFill>
                  <a:schemeClr val="lt1"/>
                </a:solidFill>
              </a:defRPr>
            </a:lvl3pPr>
            <a:lvl4pPr lvl="3">
              <a:spcBef>
                <a:spcPts val="0"/>
              </a:spcBef>
              <a:spcAft>
                <a:spcPts val="0"/>
              </a:spcAft>
              <a:buClr>
                <a:schemeClr val="lt1"/>
              </a:buClr>
              <a:buSzPts val="4000"/>
              <a:buNone/>
              <a:defRPr sz="4000">
                <a:solidFill>
                  <a:schemeClr val="lt1"/>
                </a:solidFill>
              </a:defRPr>
            </a:lvl4pPr>
            <a:lvl5pPr lvl="4">
              <a:spcBef>
                <a:spcPts val="0"/>
              </a:spcBef>
              <a:spcAft>
                <a:spcPts val="0"/>
              </a:spcAft>
              <a:buClr>
                <a:schemeClr val="lt1"/>
              </a:buClr>
              <a:buSzPts val="4000"/>
              <a:buNone/>
              <a:defRPr sz="4000">
                <a:solidFill>
                  <a:schemeClr val="lt1"/>
                </a:solidFill>
              </a:defRPr>
            </a:lvl5pPr>
            <a:lvl6pPr lvl="5">
              <a:spcBef>
                <a:spcPts val="0"/>
              </a:spcBef>
              <a:spcAft>
                <a:spcPts val="0"/>
              </a:spcAft>
              <a:buClr>
                <a:schemeClr val="lt1"/>
              </a:buClr>
              <a:buSzPts val="4000"/>
              <a:buNone/>
              <a:defRPr sz="4000">
                <a:solidFill>
                  <a:schemeClr val="lt1"/>
                </a:solidFill>
              </a:defRPr>
            </a:lvl6pPr>
            <a:lvl7pPr lvl="6">
              <a:spcBef>
                <a:spcPts val="0"/>
              </a:spcBef>
              <a:spcAft>
                <a:spcPts val="0"/>
              </a:spcAft>
              <a:buClr>
                <a:schemeClr val="lt1"/>
              </a:buClr>
              <a:buSzPts val="4000"/>
              <a:buNone/>
              <a:defRPr sz="4000">
                <a:solidFill>
                  <a:schemeClr val="lt1"/>
                </a:solidFill>
              </a:defRPr>
            </a:lvl7pPr>
            <a:lvl8pPr lvl="7">
              <a:spcBef>
                <a:spcPts val="0"/>
              </a:spcBef>
              <a:spcAft>
                <a:spcPts val="0"/>
              </a:spcAft>
              <a:buClr>
                <a:schemeClr val="lt1"/>
              </a:buClr>
              <a:buSzPts val="4000"/>
              <a:buNone/>
              <a:defRPr sz="4000">
                <a:solidFill>
                  <a:schemeClr val="lt1"/>
                </a:solidFill>
              </a:defRPr>
            </a:lvl8pPr>
            <a:lvl9pPr lvl="8">
              <a:spcBef>
                <a:spcPts val="0"/>
              </a:spcBef>
              <a:spcAft>
                <a:spcPts val="0"/>
              </a:spcAft>
              <a:buClr>
                <a:schemeClr val="lt1"/>
              </a:buClr>
              <a:buSzPts val="4000"/>
              <a:buNone/>
              <a:defRPr sz="4000">
                <a:solidFill>
                  <a:schemeClr val="lt1"/>
                </a:solidFill>
              </a:defRPr>
            </a:lvl9pPr>
          </a:lstStyle>
          <a:p/>
        </p:txBody>
      </p:sp>
      <p:sp>
        <p:nvSpPr>
          <p:cNvPr id="59" name="Google Shape;59;p9"/>
          <p:cNvSpPr txBox="1"/>
          <p:nvPr>
            <p:ph idx="12" type="sldNum"/>
          </p:nvPr>
        </p:nvSpPr>
        <p:spPr>
          <a:xfrm>
            <a:off x="8595360" y="4901184"/>
            <a:ext cx="473700" cy="123000"/>
          </a:xfrm>
          <a:prstGeom prst="rect">
            <a:avLst/>
          </a:prstGeom>
        </p:spPr>
        <p:txBody>
          <a:bodyPr anchorCtr="0" anchor="t" bIns="91425" lIns="91425" spcFirstLastPara="1" rIns="91425" wrap="square" tIns="91425">
            <a:noAutofit/>
          </a:bodyPr>
          <a:lstStyle>
            <a:lvl1pPr lvl="0">
              <a:buNone/>
              <a:defRPr sz="1000">
                <a:solidFill>
                  <a:schemeClr val="lt1"/>
                </a:solidFill>
              </a:defRPr>
            </a:lvl1pPr>
            <a:lvl2pPr lvl="1">
              <a:buNone/>
              <a:defRPr sz="1000">
                <a:solidFill>
                  <a:schemeClr val="lt1"/>
                </a:solidFill>
              </a:defRPr>
            </a:lvl2pPr>
            <a:lvl3pPr lvl="2">
              <a:buNone/>
              <a:defRPr sz="1000">
                <a:solidFill>
                  <a:schemeClr val="lt1"/>
                </a:solidFill>
              </a:defRPr>
            </a:lvl3pPr>
            <a:lvl4pPr lvl="3">
              <a:buNone/>
              <a:defRPr sz="1000">
                <a:solidFill>
                  <a:schemeClr val="lt1"/>
                </a:solidFill>
              </a:defRPr>
            </a:lvl4pPr>
            <a:lvl5pPr lvl="4">
              <a:buNone/>
              <a:defRPr sz="1000">
                <a:solidFill>
                  <a:schemeClr val="lt1"/>
                </a:solidFill>
              </a:defRPr>
            </a:lvl5pPr>
            <a:lvl6pPr lvl="5">
              <a:buNone/>
              <a:defRPr sz="1000">
                <a:solidFill>
                  <a:schemeClr val="lt1"/>
                </a:solidFill>
              </a:defRPr>
            </a:lvl6pPr>
            <a:lvl7pPr lvl="6">
              <a:buNone/>
              <a:defRPr sz="1000">
                <a:solidFill>
                  <a:schemeClr val="lt1"/>
                </a:solidFill>
              </a:defRPr>
            </a:lvl7pPr>
            <a:lvl8pPr lvl="7">
              <a:buNone/>
              <a:defRPr sz="1000">
                <a:solidFill>
                  <a:schemeClr val="lt1"/>
                </a:solidFill>
              </a:defRPr>
            </a:lvl8pPr>
            <a:lvl9pPr lvl="8">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idx="1" type="subTitle"/>
          </p:nvPr>
        </p:nvSpPr>
        <p:spPr>
          <a:xfrm>
            <a:off x="457200" y="3017520"/>
            <a:ext cx="7305000" cy="626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pic>
        <p:nvPicPr>
          <p:cNvPr id="61" name="Google Shape;61;p9"/>
          <p:cNvPicPr preferRelativeResize="0"/>
          <p:nvPr/>
        </p:nvPicPr>
        <p:blipFill rotWithShape="1">
          <a:blip r:embed="rId2">
            <a:alphaModFix/>
          </a:blip>
          <a:srcRect b="0" l="16764" r="0" t="0"/>
          <a:stretch/>
        </p:blipFill>
        <p:spPr>
          <a:xfrm rot="10800000">
            <a:off x="7338076" y="1759900"/>
            <a:ext cx="1805925" cy="2369900"/>
          </a:xfrm>
          <a:prstGeom prst="rect">
            <a:avLst/>
          </a:prstGeom>
          <a:noFill/>
          <a:ln>
            <a:noFill/>
          </a:ln>
        </p:spPr>
      </p:pic>
      <p:grpSp>
        <p:nvGrpSpPr>
          <p:cNvPr id="62" name="Google Shape;62;p9"/>
          <p:cNvGrpSpPr/>
          <p:nvPr/>
        </p:nvGrpSpPr>
        <p:grpSpPr>
          <a:xfrm>
            <a:off x="274320" y="4903516"/>
            <a:ext cx="3723568" cy="216328"/>
            <a:chOff x="544551" y="4903516"/>
            <a:chExt cx="3723568" cy="216328"/>
          </a:xfrm>
        </p:grpSpPr>
        <p:sp>
          <p:nvSpPr>
            <p:cNvPr id="63" name="Google Shape;63;p9"/>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lt1"/>
                </a:solidFill>
                <a:latin typeface="Roboto"/>
                <a:ea typeface="Roboto"/>
                <a:cs typeface="Roboto"/>
                <a:sym typeface="Roboto"/>
              </a:endParaRPr>
            </a:p>
          </p:txBody>
        </p:sp>
        <p:sp>
          <p:nvSpPr>
            <p:cNvPr id="64" name="Google Shape;64;p9"/>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lt1"/>
                  </a:solidFill>
                  <a:latin typeface="Roboto"/>
                  <a:ea typeface="Roboto"/>
                  <a:cs typeface="Roboto"/>
                  <a:sym typeface="Roboto"/>
                </a:rPr>
                <a:t>© </a:t>
              </a:r>
              <a:r>
                <a:rPr lang="en" sz="1000">
                  <a:solidFill>
                    <a:schemeClr val="lt1"/>
                  </a:solidFill>
                  <a:latin typeface="Roboto"/>
                  <a:ea typeface="Roboto"/>
                  <a:cs typeface="Roboto"/>
                  <a:sym typeface="Roboto"/>
                </a:rPr>
                <a:t>2025</a:t>
              </a:r>
              <a:r>
                <a:rPr i="0" lang="en" sz="1000">
                  <a:solidFill>
                    <a:schemeClr val="lt1"/>
                  </a:solidFill>
                  <a:latin typeface="Roboto"/>
                  <a:ea typeface="Roboto"/>
                  <a:cs typeface="Roboto"/>
                  <a:sym typeface="Roboto"/>
                </a:rPr>
                <a:t> Snowflake Inc. All Rights Reserved</a:t>
              </a:r>
              <a:endParaRPr sz="1000">
                <a:solidFill>
                  <a:schemeClr val="lt1"/>
                </a:solidFill>
                <a:latin typeface="Roboto"/>
                <a:ea typeface="Roboto"/>
                <a:cs typeface="Roboto"/>
                <a:sym typeface="Roboto"/>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1">
  <p:cSld name="CUSTOM_1_3_1">
    <p:spTree>
      <p:nvGrpSpPr>
        <p:cNvPr id="65" name="Shape 65"/>
        <p:cNvGrpSpPr/>
        <p:nvPr/>
      </p:nvGrpSpPr>
      <p:grpSpPr>
        <a:xfrm>
          <a:off x="0" y="0"/>
          <a:ext cx="0" cy="0"/>
          <a:chOff x="0" y="0"/>
          <a:chExt cx="0" cy="0"/>
        </a:xfrm>
      </p:grpSpPr>
      <p:sp>
        <p:nvSpPr>
          <p:cNvPr id="66" name="Google Shape;66;p10"/>
          <p:cNvSpPr/>
          <p:nvPr/>
        </p:nvSpPr>
        <p:spPr>
          <a:xfrm>
            <a:off x="110850" y="126800"/>
            <a:ext cx="2086800" cy="83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0"/>
          <p:cNvSpPr/>
          <p:nvPr/>
        </p:nvSpPr>
        <p:spPr>
          <a:xfrm>
            <a:off x="-9175" y="0"/>
            <a:ext cx="24717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68" name="Google Shape;68;p10"/>
          <p:cNvPicPr preferRelativeResize="0"/>
          <p:nvPr/>
        </p:nvPicPr>
        <p:blipFill rotWithShape="1">
          <a:blip r:embed="rId2">
            <a:alphaModFix/>
          </a:blip>
          <a:srcRect b="37532" l="31404" r="32058" t="35443"/>
          <a:stretch/>
        </p:blipFill>
        <p:spPr>
          <a:xfrm>
            <a:off x="7917475" y="229790"/>
            <a:ext cx="998356" cy="276900"/>
          </a:xfrm>
          <a:prstGeom prst="rect">
            <a:avLst/>
          </a:prstGeom>
          <a:noFill/>
          <a:ln>
            <a:noFill/>
          </a:ln>
        </p:spPr>
      </p:pic>
      <p:sp>
        <p:nvSpPr>
          <p:cNvPr id="69" name="Google Shape;69;p10"/>
          <p:cNvSpPr/>
          <p:nvPr/>
        </p:nvSpPr>
        <p:spPr>
          <a:xfrm>
            <a:off x="237525"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2025 Snowflake Inc. All Rights Reserved</a:t>
            </a:r>
            <a:endParaRPr b="0" i="0" sz="600" u="none" cap="none" strike="noStrike">
              <a:solidFill>
                <a:schemeClr val="lt1"/>
              </a:solidFill>
              <a:latin typeface="Arial"/>
              <a:ea typeface="Arial"/>
              <a:cs typeface="Arial"/>
              <a:sym typeface="Arial"/>
            </a:endParaRPr>
          </a:p>
        </p:txBody>
      </p:sp>
      <p:grpSp>
        <p:nvGrpSpPr>
          <p:cNvPr id="70" name="Google Shape;70;p10"/>
          <p:cNvGrpSpPr/>
          <p:nvPr/>
        </p:nvGrpSpPr>
        <p:grpSpPr>
          <a:xfrm>
            <a:off x="237510" y="1267288"/>
            <a:ext cx="330392" cy="240643"/>
            <a:chOff x="865451" y="2114550"/>
            <a:chExt cx="3399093" cy="2475755"/>
          </a:xfrm>
        </p:grpSpPr>
        <p:sp>
          <p:nvSpPr>
            <p:cNvPr id="71" name="Google Shape;71;p10"/>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72" name="Google Shape;72;p10"/>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73" name="Google Shape;73;p10"/>
          <p:cNvSpPr txBox="1"/>
          <p:nvPr>
            <p:ph type="title"/>
          </p:nvPr>
        </p:nvSpPr>
        <p:spPr>
          <a:xfrm>
            <a:off x="2613600" y="152750"/>
            <a:ext cx="5121300" cy="626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sz="2100">
                <a:solidFill>
                  <a:schemeClr val="accent1"/>
                </a:solidFill>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74" name="Google Shape;74;p10"/>
          <p:cNvSpPr txBox="1"/>
          <p:nvPr>
            <p:ph idx="1" type="body"/>
          </p:nvPr>
        </p:nvSpPr>
        <p:spPr>
          <a:xfrm>
            <a:off x="2537300" y="1154225"/>
            <a:ext cx="2093100" cy="3812100"/>
          </a:xfrm>
          <a:prstGeom prst="rect">
            <a:avLst/>
          </a:prstGeom>
          <a:noFill/>
          <a:ln>
            <a:noFill/>
          </a:ln>
        </p:spPr>
        <p:txBody>
          <a:bodyPr anchorCtr="0" anchor="t" bIns="0" lIns="0" spcFirstLastPara="1" rIns="0" wrap="square" tIns="27430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sp>
        <p:nvSpPr>
          <p:cNvPr id="75" name="Google Shape;75;p10"/>
          <p:cNvSpPr txBox="1"/>
          <p:nvPr>
            <p:ph idx="2" type="body"/>
          </p:nvPr>
        </p:nvSpPr>
        <p:spPr>
          <a:xfrm>
            <a:off x="237525" y="1630900"/>
            <a:ext cx="2164800" cy="2441400"/>
          </a:xfrm>
          <a:prstGeom prst="rect">
            <a:avLst/>
          </a:prstGeom>
          <a:noFill/>
          <a:ln>
            <a:noFill/>
          </a:ln>
        </p:spPr>
        <p:txBody>
          <a:bodyPr anchorCtr="0" anchor="t" bIns="0" lIns="0" spcFirstLastPara="1" rIns="0" wrap="square" tIns="0">
            <a:noAutofit/>
          </a:bodyPr>
          <a:lstStyle>
            <a:lvl1pPr indent="-406400" lvl="0" marL="457200" marR="0" algn="l">
              <a:lnSpc>
                <a:spcPct val="150000"/>
              </a:lnSpc>
              <a:spcBef>
                <a:spcPts val="0"/>
              </a:spcBef>
              <a:spcAft>
                <a:spcPts val="0"/>
              </a:spcAft>
              <a:buClr>
                <a:schemeClr val="lt1"/>
              </a:buClr>
              <a:buSzPts val="2800"/>
              <a:buFont typeface="Roboto"/>
              <a:buChar char="•"/>
              <a:defRPr b="1" sz="1200">
                <a:solidFill>
                  <a:schemeClr val="lt1"/>
                </a:solidFill>
                <a:latin typeface="Roboto"/>
                <a:ea typeface="Roboto"/>
                <a:cs typeface="Roboto"/>
                <a:sym typeface="Roboto"/>
              </a:defRPr>
            </a:lvl1pPr>
            <a:lvl2pPr indent="-406400" lvl="1" marL="9144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2pPr>
            <a:lvl3pPr indent="-406400" lvl="2" marL="13716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3pPr>
            <a:lvl4pPr indent="-406400" lvl="3" marL="18288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4pPr>
            <a:lvl5pPr indent="-406400" lvl="4" marL="22860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5pPr>
            <a:lvl6pPr indent="-406400" lvl="5" marL="27432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6pPr>
            <a:lvl7pPr indent="-406400" lvl="6" marL="32004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7pPr>
            <a:lvl8pPr indent="-406400" lvl="7" marL="36576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8pPr>
            <a:lvl9pPr indent="-406400" lvl="8" marL="4114800" marR="0" algn="l">
              <a:lnSpc>
                <a:spcPct val="150000"/>
              </a:lnSpc>
              <a:spcBef>
                <a:spcPts val="500"/>
              </a:spcBef>
              <a:spcAft>
                <a:spcPts val="500"/>
              </a:spcAft>
              <a:buClr>
                <a:schemeClr val="lt1"/>
              </a:buClr>
              <a:buSzPts val="2800"/>
              <a:buFont typeface="Roboto"/>
              <a:buChar char="•"/>
              <a:defRPr b="1" sz="1200">
                <a:solidFill>
                  <a:schemeClr val="lt1"/>
                </a:solidFill>
                <a:latin typeface="Roboto"/>
                <a:ea typeface="Roboto"/>
                <a:cs typeface="Roboto"/>
                <a:sym typeface="Roboto"/>
              </a:defRPr>
            </a:lvl9pPr>
          </a:lstStyle>
          <a:p/>
        </p:txBody>
      </p:sp>
      <p:grpSp>
        <p:nvGrpSpPr>
          <p:cNvPr id="76" name="Google Shape;76;p10"/>
          <p:cNvGrpSpPr/>
          <p:nvPr/>
        </p:nvGrpSpPr>
        <p:grpSpPr>
          <a:xfrm>
            <a:off x="2547316" y="957794"/>
            <a:ext cx="2093100" cy="325200"/>
            <a:chOff x="2547316" y="957794"/>
            <a:chExt cx="2093100" cy="325200"/>
          </a:xfrm>
        </p:grpSpPr>
        <p:sp>
          <p:nvSpPr>
            <p:cNvPr id="77" name="Google Shape;77;p10"/>
            <p:cNvSpPr/>
            <p:nvPr/>
          </p:nvSpPr>
          <p:spPr>
            <a:xfrm>
              <a:off x="2547316" y="957794"/>
              <a:ext cx="2093100" cy="325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Problem</a:t>
              </a:r>
              <a:endParaRPr b="1" i="0" sz="1300" u="none" cap="none" strike="noStrike">
                <a:solidFill>
                  <a:schemeClr val="dk1"/>
                </a:solidFill>
                <a:latin typeface="Roboto"/>
                <a:ea typeface="Roboto"/>
                <a:cs typeface="Roboto"/>
                <a:sym typeface="Roboto"/>
              </a:endParaRPr>
            </a:p>
          </p:txBody>
        </p:sp>
        <p:sp>
          <p:nvSpPr>
            <p:cNvPr id="78" name="Google Shape;78;p10"/>
            <p:cNvSpPr/>
            <p:nvPr/>
          </p:nvSpPr>
          <p:spPr>
            <a:xfrm>
              <a:off x="2547316" y="957794"/>
              <a:ext cx="363300" cy="325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79" name="Google Shape;79;p10"/>
          <p:cNvSpPr txBox="1"/>
          <p:nvPr>
            <p:ph idx="3" type="body"/>
          </p:nvPr>
        </p:nvSpPr>
        <p:spPr>
          <a:xfrm>
            <a:off x="4739454" y="1154225"/>
            <a:ext cx="2103000" cy="3812100"/>
          </a:xfrm>
          <a:prstGeom prst="rect">
            <a:avLst/>
          </a:prstGeom>
          <a:noFill/>
          <a:ln>
            <a:noFill/>
          </a:ln>
        </p:spPr>
        <p:txBody>
          <a:bodyPr anchorCtr="0" anchor="t" bIns="0" lIns="0" spcFirstLastPara="1" rIns="0" wrap="square" tIns="27430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80" name="Google Shape;80;p10"/>
          <p:cNvGrpSpPr/>
          <p:nvPr/>
        </p:nvGrpSpPr>
        <p:grpSpPr>
          <a:xfrm>
            <a:off x="4739523" y="957794"/>
            <a:ext cx="2103009" cy="325161"/>
            <a:chOff x="236657" y="1466712"/>
            <a:chExt cx="2633700" cy="457200"/>
          </a:xfrm>
        </p:grpSpPr>
        <p:sp>
          <p:nvSpPr>
            <p:cNvPr id="81" name="Google Shape;81;p10"/>
            <p:cNvSpPr/>
            <p:nvPr/>
          </p:nvSpPr>
          <p:spPr>
            <a:xfrm>
              <a:off x="236657" y="1466712"/>
              <a:ext cx="2633700" cy="457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Solution</a:t>
              </a:r>
              <a:endParaRPr b="1" i="0" sz="1300" u="none" cap="none" strike="noStrike">
                <a:solidFill>
                  <a:schemeClr val="dk1"/>
                </a:solidFill>
                <a:latin typeface="Roboto"/>
                <a:ea typeface="Roboto"/>
                <a:cs typeface="Roboto"/>
                <a:sym typeface="Roboto"/>
              </a:endParaRPr>
            </a:p>
          </p:txBody>
        </p:sp>
        <p:sp>
          <p:nvSpPr>
            <p:cNvPr id="82" name="Google Shape;82;p10"/>
            <p:cNvSpPr/>
            <p:nvPr/>
          </p:nvSpPr>
          <p:spPr>
            <a:xfrm>
              <a:off x="236657" y="1466712"/>
              <a:ext cx="457200" cy="457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83" name="Google Shape;83;p10"/>
          <p:cNvSpPr txBox="1"/>
          <p:nvPr>
            <p:ph idx="4" type="body"/>
          </p:nvPr>
        </p:nvSpPr>
        <p:spPr>
          <a:xfrm>
            <a:off x="6942269" y="1154175"/>
            <a:ext cx="2103000" cy="3812100"/>
          </a:xfrm>
          <a:prstGeom prst="rect">
            <a:avLst/>
          </a:prstGeom>
          <a:noFill/>
          <a:ln>
            <a:noFill/>
          </a:ln>
        </p:spPr>
        <p:txBody>
          <a:bodyPr anchorCtr="0" anchor="t" bIns="0" lIns="0" spcFirstLastPara="1" rIns="0" wrap="square" tIns="27430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84" name="Google Shape;84;p10"/>
          <p:cNvGrpSpPr/>
          <p:nvPr/>
        </p:nvGrpSpPr>
        <p:grpSpPr>
          <a:xfrm>
            <a:off x="6942341" y="957744"/>
            <a:ext cx="2103009" cy="325161"/>
            <a:chOff x="236657" y="1466712"/>
            <a:chExt cx="2633700" cy="457200"/>
          </a:xfrm>
        </p:grpSpPr>
        <p:sp>
          <p:nvSpPr>
            <p:cNvPr id="85" name="Google Shape;85;p10"/>
            <p:cNvSpPr/>
            <p:nvPr/>
          </p:nvSpPr>
          <p:spPr>
            <a:xfrm>
              <a:off x="236657" y="1466712"/>
              <a:ext cx="2633700" cy="457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Results</a:t>
              </a:r>
              <a:endParaRPr b="1" i="0" sz="1300" u="none" cap="none" strike="noStrike">
                <a:solidFill>
                  <a:schemeClr val="dk1"/>
                </a:solidFill>
                <a:latin typeface="Roboto"/>
                <a:ea typeface="Roboto"/>
                <a:cs typeface="Roboto"/>
                <a:sym typeface="Roboto"/>
              </a:endParaRPr>
            </a:p>
          </p:txBody>
        </p:sp>
        <p:sp>
          <p:nvSpPr>
            <p:cNvPr id="86" name="Google Shape;86;p10"/>
            <p:cNvSpPr/>
            <p:nvPr/>
          </p:nvSpPr>
          <p:spPr>
            <a:xfrm>
              <a:off x="236657" y="1466712"/>
              <a:ext cx="457200" cy="457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87" name="Google Shape;87;p10"/>
          <p:cNvSpPr/>
          <p:nvPr/>
        </p:nvSpPr>
        <p:spPr>
          <a:xfrm flipH="1" rot="10800000">
            <a:off x="287675" y="10350"/>
            <a:ext cx="1880100" cy="1006800"/>
          </a:xfrm>
          <a:prstGeom prst="round2SameRect">
            <a:avLst>
              <a:gd fmla="val 32648"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1 1">
  <p:cSld name="CUSTOM_1_3_1_1">
    <p:spTree>
      <p:nvGrpSpPr>
        <p:cNvPr id="88" name="Shape 88"/>
        <p:cNvGrpSpPr/>
        <p:nvPr/>
      </p:nvGrpSpPr>
      <p:grpSpPr>
        <a:xfrm>
          <a:off x="0" y="0"/>
          <a:ext cx="0" cy="0"/>
          <a:chOff x="0" y="0"/>
          <a:chExt cx="0" cy="0"/>
        </a:xfrm>
      </p:grpSpPr>
      <p:sp>
        <p:nvSpPr>
          <p:cNvPr id="89" name="Google Shape;89;p11"/>
          <p:cNvSpPr/>
          <p:nvPr/>
        </p:nvSpPr>
        <p:spPr>
          <a:xfrm>
            <a:off x="110850" y="126800"/>
            <a:ext cx="2086800" cy="83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1"/>
          <p:cNvSpPr/>
          <p:nvPr/>
        </p:nvSpPr>
        <p:spPr>
          <a:xfrm>
            <a:off x="-9175" y="0"/>
            <a:ext cx="9144000" cy="1819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1" name="Google Shape;91;p11"/>
          <p:cNvSpPr/>
          <p:nvPr/>
        </p:nvSpPr>
        <p:spPr>
          <a:xfrm>
            <a:off x="237525"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2025 Snowflake Inc. All Rights Reserved</a:t>
            </a:r>
            <a:endParaRPr b="0" i="0" sz="600" u="none" cap="none" strike="noStrike">
              <a:solidFill>
                <a:schemeClr val="lt1"/>
              </a:solidFill>
              <a:latin typeface="Arial"/>
              <a:ea typeface="Arial"/>
              <a:cs typeface="Arial"/>
              <a:sym typeface="Arial"/>
            </a:endParaRPr>
          </a:p>
        </p:txBody>
      </p:sp>
      <p:sp>
        <p:nvSpPr>
          <p:cNvPr id="92" name="Google Shape;92;p11"/>
          <p:cNvSpPr txBox="1"/>
          <p:nvPr>
            <p:ph type="title"/>
          </p:nvPr>
        </p:nvSpPr>
        <p:spPr>
          <a:xfrm>
            <a:off x="1842800" y="30625"/>
            <a:ext cx="5427000" cy="831000"/>
          </a:xfrm>
          <a:prstGeom prst="rect">
            <a:avLst/>
          </a:prstGeom>
          <a:noFill/>
          <a:ln>
            <a:noFill/>
          </a:ln>
        </p:spPr>
        <p:txBody>
          <a:bodyPr anchorCtr="0" anchor="t" bIns="91425" lIns="91425" spcFirstLastPara="1" rIns="91425" wrap="square" tIns="91425">
            <a:noAutofit/>
          </a:bodyPr>
          <a:lstStyle>
            <a:lvl1pPr lvl="0">
              <a:lnSpc>
                <a:spcPct val="105000"/>
              </a:lnSpc>
              <a:spcBef>
                <a:spcPts val="0"/>
              </a:spcBef>
              <a:spcAft>
                <a:spcPts val="0"/>
              </a:spcAft>
              <a:buClr>
                <a:schemeClr val="lt1"/>
              </a:buClr>
              <a:buSzPts val="1800"/>
              <a:buNone/>
              <a:defRPr sz="1800">
                <a:solidFill>
                  <a:schemeClr val="lt1"/>
                </a:solidFill>
              </a:defRPr>
            </a:lvl1pPr>
            <a:lvl2pPr lvl="1" algn="ctr">
              <a:lnSpc>
                <a:spcPct val="105000"/>
              </a:lnSpc>
              <a:spcBef>
                <a:spcPts val="1000"/>
              </a:spcBef>
              <a:spcAft>
                <a:spcPts val="0"/>
              </a:spcAft>
              <a:buClr>
                <a:schemeClr val="lt1"/>
              </a:buClr>
              <a:buSzPts val="1800"/>
              <a:buNone/>
              <a:defRPr sz="1800">
                <a:solidFill>
                  <a:schemeClr val="lt1"/>
                </a:solidFill>
              </a:defRPr>
            </a:lvl2pPr>
            <a:lvl3pPr lvl="2" algn="ctr">
              <a:lnSpc>
                <a:spcPct val="105000"/>
              </a:lnSpc>
              <a:spcBef>
                <a:spcPts val="1000"/>
              </a:spcBef>
              <a:spcAft>
                <a:spcPts val="0"/>
              </a:spcAft>
              <a:buClr>
                <a:schemeClr val="lt1"/>
              </a:buClr>
              <a:buSzPts val="1800"/>
              <a:buNone/>
              <a:defRPr sz="1800">
                <a:solidFill>
                  <a:schemeClr val="lt1"/>
                </a:solidFill>
              </a:defRPr>
            </a:lvl3pPr>
            <a:lvl4pPr lvl="3" algn="ctr">
              <a:lnSpc>
                <a:spcPct val="105000"/>
              </a:lnSpc>
              <a:spcBef>
                <a:spcPts val="1000"/>
              </a:spcBef>
              <a:spcAft>
                <a:spcPts val="0"/>
              </a:spcAft>
              <a:buClr>
                <a:schemeClr val="lt1"/>
              </a:buClr>
              <a:buSzPts val="1800"/>
              <a:buNone/>
              <a:defRPr sz="1800">
                <a:solidFill>
                  <a:schemeClr val="lt1"/>
                </a:solidFill>
              </a:defRPr>
            </a:lvl4pPr>
            <a:lvl5pPr lvl="4" algn="ctr">
              <a:lnSpc>
                <a:spcPct val="105000"/>
              </a:lnSpc>
              <a:spcBef>
                <a:spcPts val="1000"/>
              </a:spcBef>
              <a:spcAft>
                <a:spcPts val="0"/>
              </a:spcAft>
              <a:buClr>
                <a:schemeClr val="lt1"/>
              </a:buClr>
              <a:buSzPts val="1800"/>
              <a:buNone/>
              <a:defRPr sz="1800">
                <a:solidFill>
                  <a:schemeClr val="lt1"/>
                </a:solidFill>
              </a:defRPr>
            </a:lvl5pPr>
            <a:lvl6pPr lvl="5" algn="ctr">
              <a:lnSpc>
                <a:spcPct val="105000"/>
              </a:lnSpc>
              <a:spcBef>
                <a:spcPts val="1000"/>
              </a:spcBef>
              <a:spcAft>
                <a:spcPts val="0"/>
              </a:spcAft>
              <a:buClr>
                <a:schemeClr val="lt1"/>
              </a:buClr>
              <a:buSzPts val="1800"/>
              <a:buNone/>
              <a:defRPr sz="1800">
                <a:solidFill>
                  <a:schemeClr val="lt1"/>
                </a:solidFill>
              </a:defRPr>
            </a:lvl6pPr>
            <a:lvl7pPr lvl="6" algn="ctr">
              <a:lnSpc>
                <a:spcPct val="105000"/>
              </a:lnSpc>
              <a:spcBef>
                <a:spcPts val="1000"/>
              </a:spcBef>
              <a:spcAft>
                <a:spcPts val="0"/>
              </a:spcAft>
              <a:buClr>
                <a:schemeClr val="lt1"/>
              </a:buClr>
              <a:buSzPts val="1800"/>
              <a:buNone/>
              <a:defRPr sz="1800">
                <a:solidFill>
                  <a:schemeClr val="lt1"/>
                </a:solidFill>
              </a:defRPr>
            </a:lvl7pPr>
            <a:lvl8pPr lvl="7" algn="ctr">
              <a:lnSpc>
                <a:spcPct val="105000"/>
              </a:lnSpc>
              <a:spcBef>
                <a:spcPts val="1000"/>
              </a:spcBef>
              <a:spcAft>
                <a:spcPts val="0"/>
              </a:spcAft>
              <a:buClr>
                <a:schemeClr val="lt1"/>
              </a:buClr>
              <a:buSzPts val="1800"/>
              <a:buNone/>
              <a:defRPr sz="1800">
                <a:solidFill>
                  <a:schemeClr val="lt1"/>
                </a:solidFill>
              </a:defRPr>
            </a:lvl8pPr>
            <a:lvl9pPr lvl="8" algn="ctr">
              <a:lnSpc>
                <a:spcPct val="105000"/>
              </a:lnSpc>
              <a:spcBef>
                <a:spcPts val="1000"/>
              </a:spcBef>
              <a:spcAft>
                <a:spcPts val="1000"/>
              </a:spcAft>
              <a:buClr>
                <a:schemeClr val="lt1"/>
              </a:buClr>
              <a:buSzPts val="1800"/>
              <a:buNone/>
              <a:defRPr sz="1800">
                <a:solidFill>
                  <a:schemeClr val="lt1"/>
                </a:solidFill>
              </a:defRPr>
            </a:lvl9pPr>
          </a:lstStyle>
          <a:p/>
        </p:txBody>
      </p:sp>
      <p:sp>
        <p:nvSpPr>
          <p:cNvPr id="93" name="Google Shape;93;p11"/>
          <p:cNvSpPr txBox="1"/>
          <p:nvPr>
            <p:ph idx="1" type="body"/>
          </p:nvPr>
        </p:nvSpPr>
        <p:spPr>
          <a:xfrm>
            <a:off x="3153100" y="2241150"/>
            <a:ext cx="2834700" cy="2520000"/>
          </a:xfrm>
          <a:prstGeom prst="rect">
            <a:avLst/>
          </a:prstGeom>
          <a:noFill/>
          <a:ln>
            <a:noFill/>
          </a:ln>
        </p:spPr>
        <p:txBody>
          <a:bodyPr anchorCtr="0" anchor="t" bIns="0" lIns="0" spcFirstLastPara="1" rIns="0" wrap="square" tIns="91425">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94" name="Google Shape;94;p11"/>
          <p:cNvGrpSpPr/>
          <p:nvPr/>
        </p:nvGrpSpPr>
        <p:grpSpPr>
          <a:xfrm>
            <a:off x="3153094" y="1909617"/>
            <a:ext cx="2834574" cy="325206"/>
            <a:chOff x="2547316" y="957794"/>
            <a:chExt cx="3059113" cy="325206"/>
          </a:xfrm>
        </p:grpSpPr>
        <p:sp>
          <p:nvSpPr>
            <p:cNvPr id="95" name="Google Shape;95;p11"/>
            <p:cNvSpPr/>
            <p:nvPr/>
          </p:nvSpPr>
          <p:spPr>
            <a:xfrm>
              <a:off x="2547328" y="957800"/>
              <a:ext cx="3059100" cy="325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Solution</a:t>
              </a:r>
              <a:endParaRPr b="1" i="0" sz="1300" u="none" cap="none" strike="noStrike">
                <a:solidFill>
                  <a:schemeClr val="dk1"/>
                </a:solidFill>
                <a:latin typeface="Roboto"/>
                <a:ea typeface="Roboto"/>
                <a:cs typeface="Roboto"/>
                <a:sym typeface="Roboto"/>
              </a:endParaRPr>
            </a:p>
          </p:txBody>
        </p:sp>
        <p:sp>
          <p:nvSpPr>
            <p:cNvPr id="96" name="Google Shape;96;p11"/>
            <p:cNvSpPr/>
            <p:nvPr/>
          </p:nvSpPr>
          <p:spPr>
            <a:xfrm>
              <a:off x="2547316" y="957794"/>
              <a:ext cx="363300" cy="325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97" name="Google Shape;97;p11"/>
          <p:cNvSpPr txBox="1"/>
          <p:nvPr>
            <p:ph idx="2" type="body"/>
          </p:nvPr>
        </p:nvSpPr>
        <p:spPr>
          <a:xfrm>
            <a:off x="6081375" y="2241150"/>
            <a:ext cx="2834700" cy="2520000"/>
          </a:xfrm>
          <a:prstGeom prst="rect">
            <a:avLst/>
          </a:prstGeom>
          <a:noFill/>
          <a:ln>
            <a:noFill/>
          </a:ln>
        </p:spPr>
        <p:txBody>
          <a:bodyPr anchorCtr="0" anchor="t" bIns="0" lIns="0" spcFirstLastPara="1" rIns="0" wrap="square" tIns="91425">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98" name="Google Shape;98;p11"/>
          <p:cNvGrpSpPr/>
          <p:nvPr/>
        </p:nvGrpSpPr>
        <p:grpSpPr>
          <a:xfrm>
            <a:off x="6081688" y="1909630"/>
            <a:ext cx="2834561" cy="325167"/>
            <a:chOff x="236657" y="1466712"/>
            <a:chExt cx="3831005" cy="457209"/>
          </a:xfrm>
        </p:grpSpPr>
        <p:sp>
          <p:nvSpPr>
            <p:cNvPr id="99" name="Google Shape;99;p11"/>
            <p:cNvSpPr/>
            <p:nvPr/>
          </p:nvSpPr>
          <p:spPr>
            <a:xfrm>
              <a:off x="236662" y="1466721"/>
              <a:ext cx="3831000" cy="457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Results</a:t>
              </a:r>
              <a:endParaRPr b="1" i="0" sz="1300" u="none" cap="none" strike="noStrike">
                <a:solidFill>
                  <a:schemeClr val="dk1"/>
                </a:solidFill>
                <a:latin typeface="Roboto"/>
                <a:ea typeface="Roboto"/>
                <a:cs typeface="Roboto"/>
                <a:sym typeface="Roboto"/>
              </a:endParaRPr>
            </a:p>
          </p:txBody>
        </p:sp>
        <p:sp>
          <p:nvSpPr>
            <p:cNvPr id="100" name="Google Shape;100;p11"/>
            <p:cNvSpPr/>
            <p:nvPr/>
          </p:nvSpPr>
          <p:spPr>
            <a:xfrm>
              <a:off x="236657" y="1466712"/>
              <a:ext cx="457200" cy="457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grpSp>
        <p:nvGrpSpPr>
          <p:cNvPr id="101" name="Google Shape;101;p11"/>
          <p:cNvGrpSpPr/>
          <p:nvPr/>
        </p:nvGrpSpPr>
        <p:grpSpPr>
          <a:xfrm>
            <a:off x="224598" y="1900744"/>
            <a:ext cx="2834476" cy="325167"/>
            <a:chOff x="236657" y="1466712"/>
            <a:chExt cx="3435313" cy="457209"/>
          </a:xfrm>
        </p:grpSpPr>
        <p:sp>
          <p:nvSpPr>
            <p:cNvPr id="102" name="Google Shape;102;p11"/>
            <p:cNvSpPr/>
            <p:nvPr/>
          </p:nvSpPr>
          <p:spPr>
            <a:xfrm>
              <a:off x="236670" y="1466721"/>
              <a:ext cx="3435300" cy="457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Problem</a:t>
              </a:r>
              <a:endParaRPr b="1" i="0" sz="1300" u="none" cap="none" strike="noStrike">
                <a:solidFill>
                  <a:schemeClr val="dk1"/>
                </a:solidFill>
                <a:latin typeface="Roboto"/>
                <a:ea typeface="Roboto"/>
                <a:cs typeface="Roboto"/>
                <a:sym typeface="Roboto"/>
              </a:endParaRPr>
            </a:p>
          </p:txBody>
        </p:sp>
        <p:sp>
          <p:nvSpPr>
            <p:cNvPr id="103" name="Google Shape;103;p11"/>
            <p:cNvSpPr/>
            <p:nvPr/>
          </p:nvSpPr>
          <p:spPr>
            <a:xfrm>
              <a:off x="236657" y="1466712"/>
              <a:ext cx="457200" cy="457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104" name="Google Shape;104;p11"/>
          <p:cNvSpPr/>
          <p:nvPr/>
        </p:nvSpPr>
        <p:spPr>
          <a:xfrm flipH="1" rot="10800000">
            <a:off x="203600" y="10450"/>
            <a:ext cx="1593600" cy="861900"/>
          </a:xfrm>
          <a:prstGeom prst="round2SameRect">
            <a:avLst>
              <a:gd fmla="val 32648"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1"/>
          <p:cNvSpPr/>
          <p:nvPr/>
        </p:nvSpPr>
        <p:spPr>
          <a:xfrm>
            <a:off x="224625" y="929293"/>
            <a:ext cx="8691600" cy="7905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200" u="none" cap="none" strike="noStrike">
              <a:solidFill>
                <a:schemeClr val="dk1"/>
              </a:solidFill>
              <a:latin typeface="Roboto"/>
              <a:ea typeface="Roboto"/>
              <a:cs typeface="Roboto"/>
              <a:sym typeface="Roboto"/>
            </a:endParaRPr>
          </a:p>
        </p:txBody>
      </p:sp>
      <p:sp>
        <p:nvSpPr>
          <p:cNvPr id="106" name="Google Shape;106;p11"/>
          <p:cNvSpPr/>
          <p:nvPr/>
        </p:nvSpPr>
        <p:spPr>
          <a:xfrm>
            <a:off x="4140452" y="-1084873"/>
            <a:ext cx="1453923" cy="325199"/>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107" name="Google Shape;107;p11"/>
          <p:cNvSpPr txBox="1"/>
          <p:nvPr>
            <p:ph idx="3" type="body"/>
          </p:nvPr>
        </p:nvSpPr>
        <p:spPr>
          <a:xfrm>
            <a:off x="419214" y="946708"/>
            <a:ext cx="8287200" cy="751800"/>
          </a:xfrm>
          <a:prstGeom prst="rect">
            <a:avLst/>
          </a:prstGeom>
          <a:noFill/>
          <a:ln>
            <a:noFill/>
          </a:ln>
        </p:spPr>
        <p:txBody>
          <a:bodyPr anchorCtr="0" anchor="ctr" bIns="0" lIns="91425"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8" name="Google Shape;108;p11"/>
          <p:cNvSpPr txBox="1"/>
          <p:nvPr>
            <p:ph idx="4" type="body"/>
          </p:nvPr>
        </p:nvSpPr>
        <p:spPr>
          <a:xfrm>
            <a:off x="224825" y="2255825"/>
            <a:ext cx="2834700" cy="2520000"/>
          </a:xfrm>
          <a:prstGeom prst="rect">
            <a:avLst/>
          </a:prstGeom>
          <a:noFill/>
          <a:ln>
            <a:noFill/>
          </a:ln>
        </p:spPr>
        <p:txBody>
          <a:bodyPr anchorCtr="0" anchor="t" bIns="0" lIns="0" spcFirstLastPara="1" rIns="0" wrap="square" tIns="91425">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109" name="Google Shape;109;p11"/>
          <p:cNvGrpSpPr/>
          <p:nvPr/>
        </p:nvGrpSpPr>
        <p:grpSpPr>
          <a:xfrm>
            <a:off x="274320" y="4903516"/>
            <a:ext cx="3723568" cy="216328"/>
            <a:chOff x="544551" y="4903516"/>
            <a:chExt cx="3723568" cy="216328"/>
          </a:xfrm>
        </p:grpSpPr>
        <p:sp>
          <p:nvSpPr>
            <p:cNvPr id="110" name="Google Shape;110;p11"/>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111" name="Google Shape;111;p11"/>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
        <p:nvSpPr>
          <p:cNvPr id="112" name="Google Shape;112;p11"/>
          <p:cNvSpPr/>
          <p:nvPr/>
        </p:nvSpPr>
        <p:spPr>
          <a:xfrm flipH="1" rot="10800000">
            <a:off x="7322475" y="10450"/>
            <a:ext cx="1593600" cy="861900"/>
          </a:xfrm>
          <a:prstGeom prst="round2SameRect">
            <a:avLst>
              <a:gd fmla="val 32648"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3" name="Google Shape;113;p11"/>
          <p:cNvPicPr preferRelativeResize="0"/>
          <p:nvPr/>
        </p:nvPicPr>
        <p:blipFill rotWithShape="1">
          <a:blip r:embed="rId2">
            <a:alphaModFix/>
          </a:blip>
          <a:srcRect b="37532" l="31404" r="32058" t="35443"/>
          <a:stretch/>
        </p:blipFill>
        <p:spPr>
          <a:xfrm>
            <a:off x="7392314" y="200367"/>
            <a:ext cx="1453925" cy="40325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p:cSld name="CUSTOM_1_3">
    <p:spTree>
      <p:nvGrpSpPr>
        <p:cNvPr id="114" name="Shape 114"/>
        <p:cNvGrpSpPr/>
        <p:nvPr/>
      </p:nvGrpSpPr>
      <p:grpSpPr>
        <a:xfrm>
          <a:off x="0" y="0"/>
          <a:ext cx="0" cy="0"/>
          <a:chOff x="0" y="0"/>
          <a:chExt cx="0" cy="0"/>
        </a:xfrm>
      </p:grpSpPr>
      <p:sp>
        <p:nvSpPr>
          <p:cNvPr id="115" name="Google Shape;115;p12"/>
          <p:cNvSpPr/>
          <p:nvPr/>
        </p:nvSpPr>
        <p:spPr>
          <a:xfrm>
            <a:off x="110850" y="126800"/>
            <a:ext cx="2086800" cy="83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2"/>
          <p:cNvSpPr/>
          <p:nvPr/>
        </p:nvSpPr>
        <p:spPr>
          <a:xfrm>
            <a:off x="-9175" y="0"/>
            <a:ext cx="24717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117" name="Google Shape;117;p12"/>
          <p:cNvPicPr preferRelativeResize="0"/>
          <p:nvPr/>
        </p:nvPicPr>
        <p:blipFill rotWithShape="1">
          <a:blip r:embed="rId2">
            <a:alphaModFix/>
          </a:blip>
          <a:srcRect b="37532" l="31404" r="32058" t="35443"/>
          <a:stretch/>
        </p:blipFill>
        <p:spPr>
          <a:xfrm>
            <a:off x="7917475" y="229790"/>
            <a:ext cx="998356" cy="276900"/>
          </a:xfrm>
          <a:prstGeom prst="rect">
            <a:avLst/>
          </a:prstGeom>
          <a:noFill/>
          <a:ln>
            <a:noFill/>
          </a:ln>
        </p:spPr>
      </p:pic>
      <p:pic>
        <p:nvPicPr>
          <p:cNvPr id="118" name="Google Shape;118;p12"/>
          <p:cNvPicPr preferRelativeResize="0"/>
          <p:nvPr/>
        </p:nvPicPr>
        <p:blipFill rotWithShape="1">
          <a:blip r:embed="rId3">
            <a:alphaModFix/>
          </a:blip>
          <a:srcRect b="0" l="0" r="0" t="0"/>
          <a:stretch/>
        </p:blipFill>
        <p:spPr>
          <a:xfrm>
            <a:off x="417108" y="456695"/>
            <a:ext cx="1385426" cy="358275"/>
          </a:xfrm>
          <a:prstGeom prst="rect">
            <a:avLst/>
          </a:prstGeom>
          <a:noFill/>
          <a:ln>
            <a:noFill/>
          </a:ln>
        </p:spPr>
      </p:pic>
      <p:sp>
        <p:nvSpPr>
          <p:cNvPr id="119" name="Google Shape;119;p12"/>
          <p:cNvSpPr/>
          <p:nvPr/>
        </p:nvSpPr>
        <p:spPr>
          <a:xfrm>
            <a:off x="237525"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2025 Snowflake Inc. All Rights Reserved</a:t>
            </a:r>
            <a:endParaRPr b="0" i="0" sz="600" u="none" cap="none" strike="noStrike">
              <a:solidFill>
                <a:schemeClr val="lt1"/>
              </a:solidFill>
              <a:latin typeface="Arial"/>
              <a:ea typeface="Arial"/>
              <a:cs typeface="Arial"/>
              <a:sym typeface="Arial"/>
            </a:endParaRPr>
          </a:p>
        </p:txBody>
      </p:sp>
      <p:sp>
        <p:nvSpPr>
          <p:cNvPr id="120" name="Google Shape;120;p12"/>
          <p:cNvSpPr/>
          <p:nvPr/>
        </p:nvSpPr>
        <p:spPr>
          <a:xfrm>
            <a:off x="110850" y="-432150"/>
            <a:ext cx="2086800" cy="1389900"/>
          </a:xfrm>
          <a:prstGeom prst="roundRect">
            <a:avLst>
              <a:gd fmla="val 33693"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2"/>
          <p:cNvSpPr/>
          <p:nvPr/>
        </p:nvSpPr>
        <p:spPr>
          <a:xfrm>
            <a:off x="-9050" y="-528950"/>
            <a:ext cx="2471700" cy="509700"/>
          </a:xfrm>
          <a:prstGeom prst="rect">
            <a:avLst/>
          </a:prstGeom>
          <a:solidFill>
            <a:srgbClr val="F9FB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2"/>
          <p:cNvSpPr/>
          <p:nvPr/>
        </p:nvSpPr>
        <p:spPr>
          <a:xfrm>
            <a:off x="2689375" y="1177575"/>
            <a:ext cx="2059500" cy="3303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2"/>
                </a:solidFill>
                <a:latin typeface="Roboto"/>
                <a:ea typeface="Roboto"/>
                <a:cs typeface="Roboto"/>
                <a:sym typeface="Roboto"/>
              </a:rPr>
              <a:t>        PROBLEM</a:t>
            </a:r>
            <a:endParaRPr b="1" i="0" sz="1500" u="none" cap="none" strike="noStrike">
              <a:solidFill>
                <a:schemeClr val="dk2"/>
              </a:solidFill>
              <a:latin typeface="Roboto"/>
              <a:ea typeface="Roboto"/>
              <a:cs typeface="Roboto"/>
              <a:sym typeface="Roboto"/>
            </a:endParaRPr>
          </a:p>
          <a:p>
            <a:pPr indent="0" lvl="0" marL="114300" marR="0" rtl="0" algn="l">
              <a:lnSpc>
                <a:spcPct val="115000"/>
              </a:lnSpc>
              <a:spcBef>
                <a:spcPts val="800"/>
              </a:spcBef>
              <a:spcAft>
                <a:spcPts val="800"/>
              </a:spcAft>
              <a:buClr>
                <a:srgbClr val="000000"/>
              </a:buClr>
              <a:buSzPts val="1000"/>
              <a:buFont typeface="Arial"/>
              <a:buNone/>
            </a:pPr>
            <a:r>
              <a:t/>
            </a:r>
            <a:endParaRPr i="0" sz="1000" u="none" cap="none" strike="noStrike">
              <a:solidFill>
                <a:srgbClr val="222222"/>
              </a:solidFill>
              <a:latin typeface="Roboto"/>
              <a:ea typeface="Roboto"/>
              <a:cs typeface="Roboto"/>
              <a:sym typeface="Roboto"/>
            </a:endParaRPr>
          </a:p>
        </p:txBody>
      </p:sp>
      <p:sp>
        <p:nvSpPr>
          <p:cNvPr id="123" name="Google Shape;123;p12"/>
          <p:cNvSpPr/>
          <p:nvPr/>
        </p:nvSpPr>
        <p:spPr>
          <a:xfrm>
            <a:off x="4853875" y="1177575"/>
            <a:ext cx="2059500" cy="3303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2"/>
                </a:solidFill>
                <a:latin typeface="Roboto"/>
                <a:ea typeface="Roboto"/>
                <a:cs typeface="Roboto"/>
                <a:sym typeface="Roboto"/>
              </a:rPr>
              <a:t>        SOLUTION</a:t>
            </a:r>
            <a:endParaRPr b="1" i="0" sz="1500" u="none" cap="none" strike="noStrike">
              <a:solidFill>
                <a:schemeClr val="dk2"/>
              </a:solidFill>
              <a:latin typeface="Roboto"/>
              <a:ea typeface="Roboto"/>
              <a:cs typeface="Roboto"/>
              <a:sym typeface="Roboto"/>
            </a:endParaRPr>
          </a:p>
          <a:p>
            <a:pPr indent="0" lvl="0" marL="114300" marR="0" rtl="0" algn="l">
              <a:lnSpc>
                <a:spcPct val="115000"/>
              </a:lnSpc>
              <a:spcBef>
                <a:spcPts val="800"/>
              </a:spcBef>
              <a:spcAft>
                <a:spcPts val="800"/>
              </a:spcAft>
              <a:buClr>
                <a:srgbClr val="000000"/>
              </a:buClr>
              <a:buSzPts val="1000"/>
              <a:buFont typeface="Arial"/>
              <a:buNone/>
            </a:pPr>
            <a:r>
              <a:t/>
            </a:r>
            <a:endParaRPr i="0" sz="1000" u="none" cap="none" strike="noStrike">
              <a:solidFill>
                <a:srgbClr val="222222"/>
              </a:solidFill>
              <a:latin typeface="Roboto"/>
              <a:ea typeface="Roboto"/>
              <a:cs typeface="Roboto"/>
              <a:sym typeface="Roboto"/>
            </a:endParaRPr>
          </a:p>
        </p:txBody>
      </p:sp>
      <p:sp>
        <p:nvSpPr>
          <p:cNvPr id="124" name="Google Shape;124;p12"/>
          <p:cNvSpPr/>
          <p:nvPr/>
        </p:nvSpPr>
        <p:spPr>
          <a:xfrm>
            <a:off x="7018375" y="1177575"/>
            <a:ext cx="2059500" cy="3303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2"/>
                </a:solidFill>
                <a:latin typeface="Roboto"/>
                <a:ea typeface="Roboto"/>
                <a:cs typeface="Roboto"/>
                <a:sym typeface="Roboto"/>
              </a:rPr>
              <a:t>        RESULTS</a:t>
            </a:r>
            <a:endParaRPr b="1" i="0" sz="1500" u="none" cap="none" strike="noStrike">
              <a:solidFill>
                <a:schemeClr val="dk2"/>
              </a:solidFill>
              <a:latin typeface="Roboto"/>
              <a:ea typeface="Roboto"/>
              <a:cs typeface="Roboto"/>
              <a:sym typeface="Roboto"/>
            </a:endParaRPr>
          </a:p>
          <a:p>
            <a:pPr indent="0" lvl="0" marL="114300" marR="0" rtl="0" algn="l">
              <a:lnSpc>
                <a:spcPct val="115000"/>
              </a:lnSpc>
              <a:spcBef>
                <a:spcPts val="800"/>
              </a:spcBef>
              <a:spcAft>
                <a:spcPts val="800"/>
              </a:spcAft>
              <a:buClr>
                <a:srgbClr val="000000"/>
              </a:buClr>
              <a:buSzPts val="1000"/>
              <a:buFont typeface="Arial"/>
              <a:buNone/>
            </a:pPr>
            <a:r>
              <a:t/>
            </a:r>
            <a:endParaRPr i="0" sz="1000" u="none" cap="none" strike="noStrike">
              <a:solidFill>
                <a:srgbClr val="222222"/>
              </a:solidFill>
              <a:latin typeface="Roboto"/>
              <a:ea typeface="Roboto"/>
              <a:cs typeface="Roboto"/>
              <a:sym typeface="Roboto"/>
            </a:endParaRPr>
          </a:p>
        </p:txBody>
      </p:sp>
      <p:grpSp>
        <p:nvGrpSpPr>
          <p:cNvPr id="125" name="Google Shape;125;p12"/>
          <p:cNvGrpSpPr/>
          <p:nvPr/>
        </p:nvGrpSpPr>
        <p:grpSpPr>
          <a:xfrm>
            <a:off x="4853869" y="1177564"/>
            <a:ext cx="330445" cy="330445"/>
            <a:chOff x="4124995" y="188535"/>
            <a:chExt cx="605100" cy="605100"/>
          </a:xfrm>
        </p:grpSpPr>
        <p:sp>
          <p:nvSpPr>
            <p:cNvPr id="126" name="Google Shape;126;p12"/>
            <p:cNvSpPr/>
            <p:nvPr/>
          </p:nvSpPr>
          <p:spPr>
            <a:xfrm>
              <a:off x="4124995" y="188535"/>
              <a:ext cx="605100" cy="605100"/>
            </a:xfrm>
            <a:prstGeom prst="ellipse">
              <a:avLst/>
            </a:prstGeom>
            <a:solidFill>
              <a:srgbClr val="28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27" name="Google Shape;127;p12"/>
            <p:cNvSpPr/>
            <p:nvPr/>
          </p:nvSpPr>
          <p:spPr>
            <a:xfrm>
              <a:off x="4267781" y="317337"/>
              <a:ext cx="319565" cy="347532"/>
            </a:xfrm>
            <a:custGeom>
              <a:rect b="b" l="l" r="r" t="t"/>
              <a:pathLst>
                <a:path extrusionOk="0" h="8997" w="8273">
                  <a:moveTo>
                    <a:pt x="4202" y="0"/>
                  </a:moveTo>
                  <a:cubicBezTo>
                    <a:pt x="4015" y="0"/>
                    <a:pt x="3862" y="152"/>
                    <a:pt x="3862" y="339"/>
                  </a:cubicBezTo>
                  <a:lnTo>
                    <a:pt x="3862" y="1176"/>
                  </a:lnTo>
                  <a:cubicBezTo>
                    <a:pt x="3862" y="1364"/>
                    <a:pt x="4015" y="1516"/>
                    <a:pt x="4202" y="1516"/>
                  </a:cubicBezTo>
                  <a:cubicBezTo>
                    <a:pt x="4389" y="1516"/>
                    <a:pt x="4542" y="1364"/>
                    <a:pt x="4542" y="1176"/>
                  </a:cubicBezTo>
                  <a:lnTo>
                    <a:pt x="4542" y="339"/>
                  </a:lnTo>
                  <a:cubicBezTo>
                    <a:pt x="4542" y="152"/>
                    <a:pt x="4389" y="0"/>
                    <a:pt x="4202" y="0"/>
                  </a:cubicBezTo>
                  <a:close/>
                  <a:moveTo>
                    <a:pt x="1498" y="1063"/>
                  </a:moveTo>
                  <a:cubicBezTo>
                    <a:pt x="1411" y="1063"/>
                    <a:pt x="1325" y="1096"/>
                    <a:pt x="1258" y="1163"/>
                  </a:cubicBezTo>
                  <a:cubicBezTo>
                    <a:pt x="1124" y="1297"/>
                    <a:pt x="1124" y="1512"/>
                    <a:pt x="1258" y="1644"/>
                  </a:cubicBezTo>
                  <a:lnTo>
                    <a:pt x="1852" y="2237"/>
                  </a:lnTo>
                  <a:cubicBezTo>
                    <a:pt x="1917" y="2304"/>
                    <a:pt x="2005" y="2336"/>
                    <a:pt x="2092" y="2336"/>
                  </a:cubicBezTo>
                  <a:cubicBezTo>
                    <a:pt x="2177" y="2336"/>
                    <a:pt x="2265" y="2304"/>
                    <a:pt x="2331" y="2237"/>
                  </a:cubicBezTo>
                  <a:cubicBezTo>
                    <a:pt x="2465" y="2103"/>
                    <a:pt x="2465" y="1888"/>
                    <a:pt x="2331" y="1756"/>
                  </a:cubicBezTo>
                  <a:lnTo>
                    <a:pt x="1739" y="1163"/>
                  </a:lnTo>
                  <a:cubicBezTo>
                    <a:pt x="1672" y="1096"/>
                    <a:pt x="1585" y="1063"/>
                    <a:pt x="1498" y="1063"/>
                  </a:cubicBezTo>
                  <a:close/>
                  <a:moveTo>
                    <a:pt x="6869" y="1158"/>
                  </a:moveTo>
                  <a:cubicBezTo>
                    <a:pt x="6782" y="1158"/>
                    <a:pt x="6696" y="1191"/>
                    <a:pt x="6629" y="1258"/>
                  </a:cubicBezTo>
                  <a:lnTo>
                    <a:pt x="6036" y="1851"/>
                  </a:lnTo>
                  <a:cubicBezTo>
                    <a:pt x="5903" y="1984"/>
                    <a:pt x="5903" y="2200"/>
                    <a:pt x="6036" y="2332"/>
                  </a:cubicBezTo>
                  <a:cubicBezTo>
                    <a:pt x="6103" y="2399"/>
                    <a:pt x="6191" y="2430"/>
                    <a:pt x="6275" y="2431"/>
                  </a:cubicBezTo>
                  <a:cubicBezTo>
                    <a:pt x="6363" y="2431"/>
                    <a:pt x="6451" y="2399"/>
                    <a:pt x="6517" y="2332"/>
                  </a:cubicBezTo>
                  <a:lnTo>
                    <a:pt x="7108" y="1739"/>
                  </a:lnTo>
                  <a:cubicBezTo>
                    <a:pt x="7242" y="1606"/>
                    <a:pt x="7242" y="1390"/>
                    <a:pt x="7108" y="1258"/>
                  </a:cubicBezTo>
                  <a:cubicBezTo>
                    <a:pt x="7042" y="1191"/>
                    <a:pt x="6955" y="1158"/>
                    <a:pt x="6869" y="1158"/>
                  </a:cubicBezTo>
                  <a:close/>
                  <a:moveTo>
                    <a:pt x="340" y="3731"/>
                  </a:moveTo>
                  <a:cubicBezTo>
                    <a:pt x="151" y="3731"/>
                    <a:pt x="0" y="3884"/>
                    <a:pt x="0" y="4071"/>
                  </a:cubicBezTo>
                  <a:cubicBezTo>
                    <a:pt x="0" y="4258"/>
                    <a:pt x="151" y="4411"/>
                    <a:pt x="340" y="4411"/>
                  </a:cubicBezTo>
                  <a:lnTo>
                    <a:pt x="1176" y="4411"/>
                  </a:lnTo>
                  <a:cubicBezTo>
                    <a:pt x="1365" y="4411"/>
                    <a:pt x="1516" y="4258"/>
                    <a:pt x="1516" y="4071"/>
                  </a:cubicBezTo>
                  <a:cubicBezTo>
                    <a:pt x="1516" y="3884"/>
                    <a:pt x="1365" y="3731"/>
                    <a:pt x="1176" y="3731"/>
                  </a:cubicBezTo>
                  <a:close/>
                  <a:moveTo>
                    <a:pt x="7935" y="3864"/>
                  </a:moveTo>
                  <a:cubicBezTo>
                    <a:pt x="7934" y="3864"/>
                    <a:pt x="7933" y="3864"/>
                    <a:pt x="7933" y="3864"/>
                  </a:cubicBezTo>
                  <a:lnTo>
                    <a:pt x="7097" y="3864"/>
                  </a:lnTo>
                  <a:cubicBezTo>
                    <a:pt x="6908" y="3864"/>
                    <a:pt x="6756" y="4016"/>
                    <a:pt x="6756" y="4204"/>
                  </a:cubicBezTo>
                  <a:cubicBezTo>
                    <a:pt x="6756" y="4391"/>
                    <a:pt x="6908" y="4544"/>
                    <a:pt x="7097" y="4544"/>
                  </a:cubicBezTo>
                  <a:lnTo>
                    <a:pt x="7933" y="4544"/>
                  </a:lnTo>
                  <a:cubicBezTo>
                    <a:pt x="8121" y="4544"/>
                    <a:pt x="8273" y="4391"/>
                    <a:pt x="8273" y="4204"/>
                  </a:cubicBezTo>
                  <a:cubicBezTo>
                    <a:pt x="8273" y="4015"/>
                    <a:pt x="8124" y="3864"/>
                    <a:pt x="7935" y="3864"/>
                  </a:cubicBezTo>
                  <a:close/>
                  <a:moveTo>
                    <a:pt x="4142" y="2342"/>
                  </a:moveTo>
                  <a:cubicBezTo>
                    <a:pt x="5111" y="2342"/>
                    <a:pt x="5903" y="3129"/>
                    <a:pt x="5903" y="4094"/>
                  </a:cubicBezTo>
                  <a:cubicBezTo>
                    <a:pt x="5904" y="4697"/>
                    <a:pt x="5653" y="5201"/>
                    <a:pt x="5199" y="5511"/>
                  </a:cubicBezTo>
                  <a:cubicBezTo>
                    <a:pt x="5116" y="5569"/>
                    <a:pt x="5062" y="5660"/>
                    <a:pt x="5052" y="5762"/>
                  </a:cubicBezTo>
                  <a:lnTo>
                    <a:pt x="3215" y="5762"/>
                  </a:lnTo>
                  <a:cubicBezTo>
                    <a:pt x="3206" y="5661"/>
                    <a:pt x="3154" y="5569"/>
                    <a:pt x="3069" y="5511"/>
                  </a:cubicBezTo>
                  <a:cubicBezTo>
                    <a:pt x="2616" y="5202"/>
                    <a:pt x="2368" y="4700"/>
                    <a:pt x="2368" y="4094"/>
                  </a:cubicBezTo>
                  <a:cubicBezTo>
                    <a:pt x="2368" y="3128"/>
                    <a:pt x="3164" y="2342"/>
                    <a:pt x="4142" y="2342"/>
                  </a:cubicBezTo>
                  <a:close/>
                  <a:moveTo>
                    <a:pt x="5029" y="6196"/>
                  </a:moveTo>
                  <a:lnTo>
                    <a:pt x="4997" y="6816"/>
                  </a:lnTo>
                  <a:lnTo>
                    <a:pt x="3251" y="6524"/>
                  </a:lnTo>
                  <a:lnTo>
                    <a:pt x="3237" y="6196"/>
                  </a:lnTo>
                  <a:close/>
                  <a:moveTo>
                    <a:pt x="3268" y="6969"/>
                  </a:moveTo>
                  <a:lnTo>
                    <a:pt x="4975" y="7254"/>
                  </a:lnTo>
                  <a:lnTo>
                    <a:pt x="4958" y="7566"/>
                  </a:lnTo>
                  <a:lnTo>
                    <a:pt x="3292" y="7566"/>
                  </a:lnTo>
                  <a:lnTo>
                    <a:pt x="3268" y="6969"/>
                  </a:lnTo>
                  <a:close/>
                  <a:moveTo>
                    <a:pt x="4639" y="8245"/>
                  </a:moveTo>
                  <a:cubicBezTo>
                    <a:pt x="4547" y="8430"/>
                    <a:pt x="4358" y="8561"/>
                    <a:pt x="4137" y="8561"/>
                  </a:cubicBezTo>
                  <a:cubicBezTo>
                    <a:pt x="3916" y="8561"/>
                    <a:pt x="3727" y="8430"/>
                    <a:pt x="3634" y="8245"/>
                  </a:cubicBezTo>
                  <a:close/>
                  <a:moveTo>
                    <a:pt x="4143" y="1664"/>
                  </a:moveTo>
                  <a:cubicBezTo>
                    <a:pt x="2790" y="1664"/>
                    <a:pt x="1691" y="2755"/>
                    <a:pt x="1691" y="4094"/>
                  </a:cubicBezTo>
                  <a:cubicBezTo>
                    <a:pt x="1691" y="4856"/>
                    <a:pt x="2000" y="5529"/>
                    <a:pt x="2548" y="5967"/>
                  </a:cubicBezTo>
                  <a:lnTo>
                    <a:pt x="2627" y="7918"/>
                  </a:lnTo>
                  <a:cubicBezTo>
                    <a:pt x="2634" y="8101"/>
                    <a:pt x="2784" y="8245"/>
                    <a:pt x="2965" y="8245"/>
                  </a:cubicBezTo>
                  <a:lnTo>
                    <a:pt x="3176" y="8245"/>
                  </a:lnTo>
                  <a:cubicBezTo>
                    <a:pt x="3285" y="8675"/>
                    <a:pt x="3674" y="8996"/>
                    <a:pt x="4137" y="8996"/>
                  </a:cubicBezTo>
                  <a:cubicBezTo>
                    <a:pt x="4602" y="8996"/>
                    <a:pt x="4989" y="8675"/>
                    <a:pt x="5099" y="8245"/>
                  </a:cubicBezTo>
                  <a:lnTo>
                    <a:pt x="5280" y="8245"/>
                  </a:lnTo>
                  <a:cubicBezTo>
                    <a:pt x="5460" y="8245"/>
                    <a:pt x="5612" y="8104"/>
                    <a:pt x="5620" y="7923"/>
                  </a:cubicBezTo>
                  <a:lnTo>
                    <a:pt x="5723" y="5970"/>
                  </a:lnTo>
                  <a:cubicBezTo>
                    <a:pt x="6272" y="5529"/>
                    <a:pt x="6584" y="4856"/>
                    <a:pt x="6584" y="4094"/>
                  </a:cubicBezTo>
                  <a:cubicBezTo>
                    <a:pt x="6584" y="2752"/>
                    <a:pt x="5488" y="1664"/>
                    <a:pt x="4143" y="1664"/>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52525"/>
                </a:buClr>
                <a:buSzPts val="1800"/>
                <a:buFont typeface="Arial"/>
                <a:buNone/>
              </a:pPr>
              <a:r>
                <a:t/>
              </a:r>
              <a:endParaRPr b="0" i="0" sz="1800" u="none" cap="none" strike="noStrike">
                <a:solidFill>
                  <a:srgbClr val="252525"/>
                </a:solidFill>
                <a:latin typeface="Arial"/>
                <a:ea typeface="Arial"/>
                <a:cs typeface="Arial"/>
                <a:sym typeface="Arial"/>
              </a:endParaRPr>
            </a:p>
          </p:txBody>
        </p:sp>
      </p:grpSp>
      <p:grpSp>
        <p:nvGrpSpPr>
          <p:cNvPr id="128" name="Google Shape;128;p12"/>
          <p:cNvGrpSpPr/>
          <p:nvPr/>
        </p:nvGrpSpPr>
        <p:grpSpPr>
          <a:xfrm>
            <a:off x="7018373" y="1177564"/>
            <a:ext cx="330445" cy="330445"/>
            <a:chOff x="5652137" y="188535"/>
            <a:chExt cx="605100" cy="605100"/>
          </a:xfrm>
        </p:grpSpPr>
        <p:sp>
          <p:nvSpPr>
            <p:cNvPr id="129" name="Google Shape;129;p12"/>
            <p:cNvSpPr/>
            <p:nvPr/>
          </p:nvSpPr>
          <p:spPr>
            <a:xfrm>
              <a:off x="5652137" y="188535"/>
              <a:ext cx="605100" cy="605100"/>
            </a:xfrm>
            <a:prstGeom prst="ellipse">
              <a:avLst/>
            </a:prstGeom>
            <a:solidFill>
              <a:srgbClr val="28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30" name="Google Shape;130;p12"/>
            <p:cNvSpPr/>
            <p:nvPr/>
          </p:nvSpPr>
          <p:spPr>
            <a:xfrm>
              <a:off x="5819453" y="354399"/>
              <a:ext cx="283472" cy="234496"/>
            </a:xfrm>
            <a:custGeom>
              <a:rect b="b" l="l" r="r" t="t"/>
              <a:pathLst>
                <a:path extrusionOk="0" h="7565" w="9145">
                  <a:moveTo>
                    <a:pt x="2329" y="3686"/>
                  </a:moveTo>
                  <a:lnTo>
                    <a:pt x="2329" y="6861"/>
                  </a:lnTo>
                  <a:lnTo>
                    <a:pt x="707" y="6861"/>
                  </a:lnTo>
                  <a:lnTo>
                    <a:pt x="707" y="3686"/>
                  </a:lnTo>
                  <a:close/>
                  <a:moveTo>
                    <a:pt x="5477" y="455"/>
                  </a:moveTo>
                  <a:cubicBezTo>
                    <a:pt x="5515" y="455"/>
                    <a:pt x="5554" y="463"/>
                    <a:pt x="5591" y="479"/>
                  </a:cubicBezTo>
                  <a:cubicBezTo>
                    <a:pt x="5839" y="584"/>
                    <a:pt x="6154" y="1130"/>
                    <a:pt x="5775" y="2497"/>
                  </a:cubicBezTo>
                  <a:cubicBezTo>
                    <a:pt x="5758" y="2565"/>
                    <a:pt x="5769" y="2638"/>
                    <a:pt x="5813" y="2693"/>
                  </a:cubicBezTo>
                  <a:cubicBezTo>
                    <a:pt x="5856" y="2749"/>
                    <a:pt x="5922" y="2783"/>
                    <a:pt x="5992" y="2783"/>
                  </a:cubicBezTo>
                  <a:lnTo>
                    <a:pt x="8092" y="2783"/>
                  </a:lnTo>
                  <a:cubicBezTo>
                    <a:pt x="8601" y="2783"/>
                    <a:pt x="8692" y="2902"/>
                    <a:pt x="8692" y="3236"/>
                  </a:cubicBezTo>
                  <a:cubicBezTo>
                    <a:pt x="8692" y="3446"/>
                    <a:pt x="8655" y="3486"/>
                    <a:pt x="8653" y="3486"/>
                  </a:cubicBezTo>
                  <a:cubicBezTo>
                    <a:pt x="8653" y="3486"/>
                    <a:pt x="8635" y="3496"/>
                    <a:pt x="8583" y="3496"/>
                  </a:cubicBezTo>
                  <a:lnTo>
                    <a:pt x="7140" y="3496"/>
                  </a:lnTo>
                  <a:cubicBezTo>
                    <a:pt x="7015" y="3496"/>
                    <a:pt x="6913" y="3596"/>
                    <a:pt x="6913" y="3722"/>
                  </a:cubicBezTo>
                  <a:cubicBezTo>
                    <a:pt x="6913" y="3848"/>
                    <a:pt x="7014" y="3947"/>
                    <a:pt x="7140" y="3947"/>
                  </a:cubicBezTo>
                  <a:lnTo>
                    <a:pt x="8523" y="3947"/>
                  </a:lnTo>
                  <a:cubicBezTo>
                    <a:pt x="8597" y="3995"/>
                    <a:pt x="8650" y="4094"/>
                    <a:pt x="8664" y="4219"/>
                  </a:cubicBezTo>
                  <a:cubicBezTo>
                    <a:pt x="8677" y="4353"/>
                    <a:pt x="8635" y="4538"/>
                    <a:pt x="8499" y="4659"/>
                  </a:cubicBezTo>
                  <a:lnTo>
                    <a:pt x="7142" y="4659"/>
                  </a:lnTo>
                  <a:cubicBezTo>
                    <a:pt x="7017" y="4659"/>
                    <a:pt x="6916" y="4760"/>
                    <a:pt x="6916" y="4886"/>
                  </a:cubicBezTo>
                  <a:cubicBezTo>
                    <a:pt x="6916" y="5012"/>
                    <a:pt x="7015" y="5112"/>
                    <a:pt x="7142" y="5112"/>
                  </a:cubicBezTo>
                  <a:lnTo>
                    <a:pt x="8433" y="5112"/>
                  </a:lnTo>
                  <a:cubicBezTo>
                    <a:pt x="8465" y="5235"/>
                    <a:pt x="8468" y="5398"/>
                    <a:pt x="8410" y="5550"/>
                  </a:cubicBezTo>
                  <a:cubicBezTo>
                    <a:pt x="8358" y="5685"/>
                    <a:pt x="8270" y="5778"/>
                    <a:pt x="8151" y="5824"/>
                  </a:cubicBezTo>
                  <a:lnTo>
                    <a:pt x="7145" y="5824"/>
                  </a:lnTo>
                  <a:cubicBezTo>
                    <a:pt x="7020" y="5824"/>
                    <a:pt x="6917" y="5925"/>
                    <a:pt x="6917" y="6052"/>
                  </a:cubicBezTo>
                  <a:cubicBezTo>
                    <a:pt x="6917" y="6178"/>
                    <a:pt x="7017" y="6277"/>
                    <a:pt x="7145" y="6277"/>
                  </a:cubicBezTo>
                  <a:lnTo>
                    <a:pt x="7995" y="6277"/>
                  </a:lnTo>
                  <a:cubicBezTo>
                    <a:pt x="7989" y="6405"/>
                    <a:pt x="7949" y="6554"/>
                    <a:pt x="7850" y="6687"/>
                  </a:cubicBezTo>
                  <a:cubicBezTo>
                    <a:pt x="7743" y="6822"/>
                    <a:pt x="7540" y="6987"/>
                    <a:pt x="7162" y="6987"/>
                  </a:cubicBezTo>
                  <a:lnTo>
                    <a:pt x="3986" y="6987"/>
                  </a:lnTo>
                  <a:cubicBezTo>
                    <a:pt x="3939" y="6987"/>
                    <a:pt x="3820" y="6946"/>
                    <a:pt x="3723" y="6861"/>
                  </a:cubicBezTo>
                  <a:cubicBezTo>
                    <a:pt x="3532" y="6693"/>
                    <a:pt x="3288" y="6601"/>
                    <a:pt x="3034" y="6600"/>
                  </a:cubicBezTo>
                  <a:lnTo>
                    <a:pt x="3034" y="3928"/>
                  </a:lnTo>
                  <a:cubicBezTo>
                    <a:pt x="3297" y="3885"/>
                    <a:pt x="3538" y="3756"/>
                    <a:pt x="3717" y="3538"/>
                  </a:cubicBezTo>
                  <a:cubicBezTo>
                    <a:pt x="3731" y="3526"/>
                    <a:pt x="3747" y="3514"/>
                    <a:pt x="3762" y="3500"/>
                  </a:cubicBezTo>
                  <a:lnTo>
                    <a:pt x="3787" y="3481"/>
                  </a:lnTo>
                  <a:cubicBezTo>
                    <a:pt x="4461" y="2951"/>
                    <a:pt x="4890" y="2402"/>
                    <a:pt x="5098" y="1803"/>
                  </a:cubicBezTo>
                  <a:cubicBezTo>
                    <a:pt x="5107" y="1778"/>
                    <a:pt x="5121" y="1756"/>
                    <a:pt x="5135" y="1730"/>
                  </a:cubicBezTo>
                  <a:cubicBezTo>
                    <a:pt x="5180" y="1652"/>
                    <a:pt x="5233" y="1554"/>
                    <a:pt x="5233" y="1432"/>
                  </a:cubicBezTo>
                  <a:lnTo>
                    <a:pt x="5233" y="580"/>
                  </a:lnTo>
                  <a:cubicBezTo>
                    <a:pt x="5299" y="498"/>
                    <a:pt x="5387" y="455"/>
                    <a:pt x="5477" y="455"/>
                  </a:cubicBezTo>
                  <a:close/>
                  <a:moveTo>
                    <a:pt x="5476" y="1"/>
                  </a:moveTo>
                  <a:cubicBezTo>
                    <a:pt x="5216" y="1"/>
                    <a:pt x="4968" y="140"/>
                    <a:pt x="4816" y="389"/>
                  </a:cubicBezTo>
                  <a:cubicBezTo>
                    <a:pt x="4794" y="425"/>
                    <a:pt x="4782" y="467"/>
                    <a:pt x="4782" y="507"/>
                  </a:cubicBezTo>
                  <a:lnTo>
                    <a:pt x="4782" y="1425"/>
                  </a:lnTo>
                  <a:cubicBezTo>
                    <a:pt x="4779" y="1441"/>
                    <a:pt x="4757" y="1481"/>
                    <a:pt x="4742" y="1509"/>
                  </a:cubicBezTo>
                  <a:cubicBezTo>
                    <a:pt x="4715" y="1558"/>
                    <a:pt x="4690" y="1604"/>
                    <a:pt x="4674" y="1652"/>
                  </a:cubicBezTo>
                  <a:cubicBezTo>
                    <a:pt x="4492" y="2168"/>
                    <a:pt x="4112" y="2650"/>
                    <a:pt x="3489" y="3140"/>
                  </a:cubicBezTo>
                  <a:cubicBezTo>
                    <a:pt x="3451" y="3166"/>
                    <a:pt x="3405" y="3202"/>
                    <a:pt x="3370" y="3247"/>
                  </a:cubicBezTo>
                  <a:cubicBezTo>
                    <a:pt x="3279" y="3358"/>
                    <a:pt x="3162" y="3431"/>
                    <a:pt x="3034" y="3468"/>
                  </a:cubicBezTo>
                  <a:lnTo>
                    <a:pt x="3034" y="3333"/>
                  </a:lnTo>
                  <a:cubicBezTo>
                    <a:pt x="3034" y="3137"/>
                    <a:pt x="2877" y="2979"/>
                    <a:pt x="2681" y="2979"/>
                  </a:cubicBezTo>
                  <a:lnTo>
                    <a:pt x="354" y="2979"/>
                  </a:lnTo>
                  <a:cubicBezTo>
                    <a:pt x="159" y="2979"/>
                    <a:pt x="0" y="3137"/>
                    <a:pt x="0" y="3333"/>
                  </a:cubicBezTo>
                  <a:lnTo>
                    <a:pt x="0" y="7211"/>
                  </a:lnTo>
                  <a:cubicBezTo>
                    <a:pt x="0" y="7406"/>
                    <a:pt x="159" y="7565"/>
                    <a:pt x="354" y="7565"/>
                  </a:cubicBezTo>
                  <a:lnTo>
                    <a:pt x="2681" y="7565"/>
                  </a:lnTo>
                  <a:cubicBezTo>
                    <a:pt x="2877" y="7565"/>
                    <a:pt x="3034" y="7406"/>
                    <a:pt x="3034" y="7211"/>
                  </a:cubicBezTo>
                  <a:lnTo>
                    <a:pt x="3034" y="7049"/>
                  </a:lnTo>
                  <a:cubicBezTo>
                    <a:pt x="3177" y="7052"/>
                    <a:pt x="3316" y="7104"/>
                    <a:pt x="3423" y="7198"/>
                  </a:cubicBezTo>
                  <a:cubicBezTo>
                    <a:pt x="3587" y="7344"/>
                    <a:pt x="3808" y="7439"/>
                    <a:pt x="3986" y="7439"/>
                  </a:cubicBezTo>
                  <a:lnTo>
                    <a:pt x="7162" y="7439"/>
                  </a:lnTo>
                  <a:cubicBezTo>
                    <a:pt x="7600" y="7439"/>
                    <a:pt x="7972" y="7268"/>
                    <a:pt x="8205" y="6957"/>
                  </a:cubicBezTo>
                  <a:cubicBezTo>
                    <a:pt x="8367" y="6744"/>
                    <a:pt x="8450" y="6475"/>
                    <a:pt x="8445" y="6222"/>
                  </a:cubicBezTo>
                  <a:cubicBezTo>
                    <a:pt x="8475" y="6199"/>
                    <a:pt x="8500" y="6169"/>
                    <a:pt x="8514" y="6132"/>
                  </a:cubicBezTo>
                  <a:cubicBezTo>
                    <a:pt x="8653" y="6028"/>
                    <a:pt x="8762" y="5887"/>
                    <a:pt x="8828" y="5710"/>
                  </a:cubicBezTo>
                  <a:cubicBezTo>
                    <a:pt x="8913" y="5490"/>
                    <a:pt x="8922" y="5238"/>
                    <a:pt x="8870" y="5020"/>
                  </a:cubicBezTo>
                  <a:cubicBezTo>
                    <a:pt x="8898" y="4982"/>
                    <a:pt x="8918" y="4938"/>
                    <a:pt x="8918" y="4886"/>
                  </a:cubicBezTo>
                  <a:cubicBezTo>
                    <a:pt x="8918" y="4880"/>
                    <a:pt x="8916" y="4877"/>
                    <a:pt x="8916" y="4873"/>
                  </a:cubicBezTo>
                  <a:cubicBezTo>
                    <a:pt x="9063" y="4681"/>
                    <a:pt x="9139" y="4436"/>
                    <a:pt x="9115" y="4176"/>
                  </a:cubicBezTo>
                  <a:cubicBezTo>
                    <a:pt x="9100" y="4031"/>
                    <a:pt x="9057" y="3898"/>
                    <a:pt x="8990" y="3789"/>
                  </a:cubicBezTo>
                  <a:cubicBezTo>
                    <a:pt x="9145" y="3616"/>
                    <a:pt x="9145" y="3349"/>
                    <a:pt x="9145" y="3233"/>
                  </a:cubicBezTo>
                  <a:cubicBezTo>
                    <a:pt x="9145" y="2330"/>
                    <a:pt x="8381" y="2330"/>
                    <a:pt x="8093" y="2330"/>
                  </a:cubicBezTo>
                  <a:lnTo>
                    <a:pt x="6285" y="2330"/>
                  </a:lnTo>
                  <a:cubicBezTo>
                    <a:pt x="6594" y="964"/>
                    <a:pt x="6236" y="263"/>
                    <a:pt x="5772" y="63"/>
                  </a:cubicBezTo>
                  <a:cubicBezTo>
                    <a:pt x="5675" y="21"/>
                    <a:pt x="5575" y="1"/>
                    <a:pt x="547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52525"/>
                </a:buClr>
                <a:buSzPts val="1800"/>
                <a:buFont typeface="Arial"/>
                <a:buNone/>
              </a:pPr>
              <a:r>
                <a:t/>
              </a:r>
              <a:endParaRPr b="0" i="0" sz="1800" u="none" cap="none" strike="noStrike">
                <a:solidFill>
                  <a:srgbClr val="252525"/>
                </a:solidFill>
                <a:latin typeface="Arial"/>
                <a:ea typeface="Arial"/>
                <a:cs typeface="Arial"/>
                <a:sym typeface="Arial"/>
              </a:endParaRPr>
            </a:p>
          </p:txBody>
        </p:sp>
      </p:grpSp>
      <p:grpSp>
        <p:nvGrpSpPr>
          <p:cNvPr id="131" name="Google Shape;131;p12"/>
          <p:cNvGrpSpPr/>
          <p:nvPr/>
        </p:nvGrpSpPr>
        <p:grpSpPr>
          <a:xfrm>
            <a:off x="2689364" y="1177564"/>
            <a:ext cx="330445" cy="330445"/>
            <a:chOff x="2674555" y="825408"/>
            <a:chExt cx="605100" cy="605100"/>
          </a:xfrm>
        </p:grpSpPr>
        <p:sp>
          <p:nvSpPr>
            <p:cNvPr id="132" name="Google Shape;132;p12"/>
            <p:cNvSpPr/>
            <p:nvPr/>
          </p:nvSpPr>
          <p:spPr>
            <a:xfrm>
              <a:off x="2674555" y="825408"/>
              <a:ext cx="605100" cy="605100"/>
            </a:xfrm>
            <a:prstGeom prst="ellipse">
              <a:avLst/>
            </a:prstGeom>
            <a:solidFill>
              <a:srgbClr val="28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133" name="Google Shape;133;p12"/>
            <p:cNvSpPr/>
            <p:nvPr/>
          </p:nvSpPr>
          <p:spPr>
            <a:xfrm>
              <a:off x="2852937" y="1000063"/>
              <a:ext cx="292892" cy="289868"/>
            </a:xfrm>
            <a:custGeom>
              <a:rect b="b" l="l" r="r" t="t"/>
              <a:pathLst>
                <a:path extrusionOk="0" h="286289" w="285053">
                  <a:moveTo>
                    <a:pt x="180518" y="31124"/>
                  </a:moveTo>
                  <a:cubicBezTo>
                    <a:pt x="139453" y="-10195"/>
                    <a:pt x="72667" y="-10400"/>
                    <a:pt x="31348" y="30665"/>
                  </a:cubicBezTo>
                  <a:cubicBezTo>
                    <a:pt x="31195" y="30817"/>
                    <a:pt x="31041" y="30971"/>
                    <a:pt x="30889" y="31124"/>
                  </a:cubicBezTo>
                  <a:cubicBezTo>
                    <a:pt x="-10296" y="72643"/>
                    <a:pt x="-10296" y="139604"/>
                    <a:pt x="30889" y="181123"/>
                  </a:cubicBezTo>
                  <a:cubicBezTo>
                    <a:pt x="62164" y="212669"/>
                    <a:pt x="109885" y="221171"/>
                    <a:pt x="150130" y="202367"/>
                  </a:cubicBezTo>
                  <a:lnTo>
                    <a:pt x="154287" y="206523"/>
                  </a:lnTo>
                  <a:lnTo>
                    <a:pt x="223282" y="275796"/>
                  </a:lnTo>
                  <a:cubicBezTo>
                    <a:pt x="237176" y="289747"/>
                    <a:pt x="259751" y="289793"/>
                    <a:pt x="273703" y="275898"/>
                  </a:cubicBezTo>
                  <a:cubicBezTo>
                    <a:pt x="273737" y="275864"/>
                    <a:pt x="273771" y="275830"/>
                    <a:pt x="273805" y="275796"/>
                  </a:cubicBezTo>
                  <a:lnTo>
                    <a:pt x="274636" y="274872"/>
                  </a:lnTo>
                  <a:cubicBezTo>
                    <a:pt x="288526" y="260895"/>
                    <a:pt x="288526" y="238326"/>
                    <a:pt x="274636" y="224349"/>
                  </a:cubicBezTo>
                  <a:lnTo>
                    <a:pt x="205641" y="155076"/>
                  </a:lnTo>
                  <a:lnTo>
                    <a:pt x="201392" y="150828"/>
                  </a:lnTo>
                  <a:cubicBezTo>
                    <a:pt x="220141" y="110486"/>
                    <a:pt x="211815" y="62739"/>
                    <a:pt x="180518" y="31124"/>
                  </a:cubicBezTo>
                  <a:close/>
                  <a:moveTo>
                    <a:pt x="105703" y="189436"/>
                  </a:moveTo>
                  <a:cubicBezTo>
                    <a:pt x="83680" y="189473"/>
                    <a:pt x="62558" y="180692"/>
                    <a:pt x="47052" y="165052"/>
                  </a:cubicBezTo>
                  <a:cubicBezTo>
                    <a:pt x="14747" y="132408"/>
                    <a:pt x="14747" y="79839"/>
                    <a:pt x="47052" y="47196"/>
                  </a:cubicBezTo>
                  <a:cubicBezTo>
                    <a:pt x="79486" y="14904"/>
                    <a:pt x="131921" y="14904"/>
                    <a:pt x="164354" y="47196"/>
                  </a:cubicBezTo>
                  <a:lnTo>
                    <a:pt x="164354" y="47196"/>
                  </a:lnTo>
                  <a:cubicBezTo>
                    <a:pt x="196660" y="79839"/>
                    <a:pt x="196660" y="132408"/>
                    <a:pt x="164354" y="165052"/>
                  </a:cubicBezTo>
                  <a:cubicBezTo>
                    <a:pt x="148849" y="180692"/>
                    <a:pt x="127726" y="189473"/>
                    <a:pt x="105703" y="189436"/>
                  </a:cubicBezTo>
                  <a:close/>
                  <a:moveTo>
                    <a:pt x="258565" y="240605"/>
                  </a:moveTo>
                  <a:cubicBezTo>
                    <a:pt x="263666" y="245603"/>
                    <a:pt x="263749" y="253790"/>
                    <a:pt x="258752" y="258891"/>
                  </a:cubicBezTo>
                  <a:cubicBezTo>
                    <a:pt x="258690" y="258954"/>
                    <a:pt x="258628" y="259016"/>
                    <a:pt x="258565" y="259078"/>
                  </a:cubicBezTo>
                  <a:lnTo>
                    <a:pt x="257641" y="260001"/>
                  </a:lnTo>
                  <a:cubicBezTo>
                    <a:pt x="252717" y="265103"/>
                    <a:pt x="244589" y="265246"/>
                    <a:pt x="239487" y="260320"/>
                  </a:cubicBezTo>
                  <a:cubicBezTo>
                    <a:pt x="239379" y="260216"/>
                    <a:pt x="239273" y="260109"/>
                    <a:pt x="239169" y="260001"/>
                  </a:cubicBezTo>
                  <a:lnTo>
                    <a:pt x="170173" y="190729"/>
                  </a:lnTo>
                  <a:lnTo>
                    <a:pt x="180333" y="181492"/>
                  </a:lnTo>
                  <a:cubicBezTo>
                    <a:pt x="183196" y="178906"/>
                    <a:pt x="189569" y="171425"/>
                    <a:pt x="189569" y="17142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52525"/>
                </a:buClr>
                <a:buSzPts val="1350"/>
                <a:buFont typeface="Arial"/>
                <a:buNone/>
              </a:pPr>
              <a:r>
                <a:t/>
              </a:r>
              <a:endParaRPr b="0" i="0" sz="400" u="none" cap="none" strike="noStrike">
                <a:solidFill>
                  <a:srgbClr val="FFFFFF"/>
                </a:solidFill>
                <a:latin typeface="Arial"/>
                <a:ea typeface="Arial"/>
                <a:cs typeface="Arial"/>
                <a:sym typeface="Arial"/>
              </a:endParaRPr>
            </a:p>
          </p:txBody>
        </p:sp>
        <p:sp>
          <p:nvSpPr>
            <p:cNvPr id="134" name="Google Shape;134;p12"/>
            <p:cNvSpPr txBox="1"/>
            <p:nvPr/>
          </p:nvSpPr>
          <p:spPr>
            <a:xfrm>
              <a:off x="2890781" y="1003328"/>
              <a:ext cx="140100" cy="199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grpSp>
      <p:grpSp>
        <p:nvGrpSpPr>
          <p:cNvPr id="135" name="Google Shape;135;p12"/>
          <p:cNvGrpSpPr/>
          <p:nvPr/>
        </p:nvGrpSpPr>
        <p:grpSpPr>
          <a:xfrm>
            <a:off x="237510" y="1267288"/>
            <a:ext cx="330392" cy="240643"/>
            <a:chOff x="865451" y="2114550"/>
            <a:chExt cx="3399093" cy="2475755"/>
          </a:xfrm>
        </p:grpSpPr>
        <p:sp>
          <p:nvSpPr>
            <p:cNvPr id="136" name="Google Shape;136;p12"/>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37" name="Google Shape;137;p12"/>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138" name="Google Shape;138;p12"/>
          <p:cNvSpPr txBox="1"/>
          <p:nvPr>
            <p:ph type="title"/>
          </p:nvPr>
        </p:nvSpPr>
        <p:spPr>
          <a:xfrm>
            <a:off x="2613600" y="152750"/>
            <a:ext cx="5121300" cy="626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sz="2100">
                <a:solidFill>
                  <a:schemeClr val="accent1"/>
                </a:solidFill>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39" name="Google Shape;139;p12"/>
          <p:cNvSpPr/>
          <p:nvPr>
            <p:ph idx="2" type="pic"/>
          </p:nvPr>
        </p:nvSpPr>
        <p:spPr>
          <a:xfrm>
            <a:off x="461550" y="126800"/>
            <a:ext cx="1385400" cy="641100"/>
          </a:xfrm>
          <a:prstGeom prst="rect">
            <a:avLst/>
          </a:prstGeom>
          <a:noFill/>
          <a:ln>
            <a:noFill/>
          </a:ln>
        </p:spPr>
      </p:sp>
      <p:sp>
        <p:nvSpPr>
          <p:cNvPr id="140" name="Google Shape;140;p12"/>
          <p:cNvSpPr txBox="1"/>
          <p:nvPr>
            <p:ph idx="1" type="body"/>
          </p:nvPr>
        </p:nvSpPr>
        <p:spPr>
          <a:xfrm>
            <a:off x="2690425" y="1630891"/>
            <a:ext cx="2057400" cy="3358800"/>
          </a:xfrm>
          <a:prstGeom prst="rect">
            <a:avLst/>
          </a:prstGeom>
          <a:noFill/>
          <a:ln>
            <a:noFill/>
          </a:ln>
        </p:spPr>
        <p:txBody>
          <a:bodyPr anchorCtr="0" anchor="t" bIns="0" lIns="0" spcFirstLastPara="1" rIns="0" wrap="square" tIns="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sp>
        <p:nvSpPr>
          <p:cNvPr id="141" name="Google Shape;141;p12"/>
          <p:cNvSpPr txBox="1"/>
          <p:nvPr>
            <p:ph idx="3" type="body"/>
          </p:nvPr>
        </p:nvSpPr>
        <p:spPr>
          <a:xfrm>
            <a:off x="237525" y="1630900"/>
            <a:ext cx="2164800" cy="2441400"/>
          </a:xfrm>
          <a:prstGeom prst="rect">
            <a:avLst/>
          </a:prstGeom>
          <a:noFill/>
          <a:ln>
            <a:noFill/>
          </a:ln>
        </p:spPr>
        <p:txBody>
          <a:bodyPr anchorCtr="0" anchor="t" bIns="0" lIns="0" spcFirstLastPara="1" rIns="0" wrap="square" tIns="0">
            <a:noAutofit/>
          </a:bodyPr>
          <a:lstStyle>
            <a:lvl1pPr indent="-406400" lvl="0" marL="457200" marR="0" algn="l">
              <a:lnSpc>
                <a:spcPct val="115000"/>
              </a:lnSpc>
              <a:spcBef>
                <a:spcPts val="0"/>
              </a:spcBef>
              <a:spcAft>
                <a:spcPts val="0"/>
              </a:spcAft>
              <a:buClr>
                <a:schemeClr val="lt1"/>
              </a:buClr>
              <a:buSzPts val="2800"/>
              <a:buFont typeface="Roboto"/>
              <a:buChar char="•"/>
              <a:defRPr sz="1200">
                <a:solidFill>
                  <a:schemeClr val="lt1"/>
                </a:solidFill>
                <a:latin typeface="Roboto"/>
                <a:ea typeface="Roboto"/>
                <a:cs typeface="Roboto"/>
                <a:sym typeface="Roboto"/>
              </a:defRPr>
            </a:lvl1pPr>
            <a:lvl2pPr indent="-406400" lvl="1" marL="9144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2pPr>
            <a:lvl3pPr indent="-406400" lvl="2" marL="13716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3pPr>
            <a:lvl4pPr indent="-406400" lvl="3" marL="18288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4pPr>
            <a:lvl5pPr indent="-406400" lvl="4" marL="22860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5pPr>
            <a:lvl6pPr indent="-406400" lvl="5" marL="27432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6pPr>
            <a:lvl7pPr indent="-406400" lvl="6" marL="32004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7pPr>
            <a:lvl8pPr indent="-406400" lvl="7" marL="36576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8pPr>
            <a:lvl9pPr indent="-406400" lvl="8" marL="4114800" marR="0" algn="l">
              <a:lnSpc>
                <a:spcPct val="115000"/>
              </a:lnSpc>
              <a:spcBef>
                <a:spcPts val="500"/>
              </a:spcBef>
              <a:spcAft>
                <a:spcPts val="500"/>
              </a:spcAft>
              <a:buClr>
                <a:schemeClr val="lt1"/>
              </a:buClr>
              <a:buSzPts val="2800"/>
              <a:buFont typeface="Roboto"/>
              <a:buChar char="•"/>
              <a:defRPr sz="1200">
                <a:solidFill>
                  <a:schemeClr val="lt1"/>
                </a:solidFill>
                <a:latin typeface="Roboto"/>
                <a:ea typeface="Roboto"/>
                <a:cs typeface="Roboto"/>
                <a:sym typeface="Roboto"/>
              </a:defRPr>
            </a:lvl9pPr>
          </a:lstStyle>
          <a:p/>
        </p:txBody>
      </p:sp>
      <p:sp>
        <p:nvSpPr>
          <p:cNvPr id="142" name="Google Shape;142;p12"/>
          <p:cNvSpPr txBox="1"/>
          <p:nvPr>
            <p:ph idx="4" type="body"/>
          </p:nvPr>
        </p:nvSpPr>
        <p:spPr>
          <a:xfrm>
            <a:off x="4854400" y="1630891"/>
            <a:ext cx="2057400" cy="3358800"/>
          </a:xfrm>
          <a:prstGeom prst="rect">
            <a:avLst/>
          </a:prstGeom>
          <a:noFill/>
          <a:ln>
            <a:noFill/>
          </a:ln>
        </p:spPr>
        <p:txBody>
          <a:bodyPr anchorCtr="0" anchor="t" bIns="0" lIns="0" spcFirstLastPara="1" rIns="0" wrap="square" tIns="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sp>
        <p:nvSpPr>
          <p:cNvPr id="143" name="Google Shape;143;p12"/>
          <p:cNvSpPr txBox="1"/>
          <p:nvPr>
            <p:ph idx="5" type="body"/>
          </p:nvPr>
        </p:nvSpPr>
        <p:spPr>
          <a:xfrm>
            <a:off x="7018375" y="1630891"/>
            <a:ext cx="2057400" cy="3358800"/>
          </a:xfrm>
          <a:prstGeom prst="rect">
            <a:avLst/>
          </a:prstGeom>
          <a:noFill/>
          <a:ln>
            <a:noFill/>
          </a:ln>
        </p:spPr>
        <p:txBody>
          <a:bodyPr anchorCtr="0" anchor="t" bIns="0" lIns="0" spcFirstLastPara="1" rIns="0" wrap="square" tIns="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sp>
        <p:nvSpPr>
          <p:cNvPr id="144" name="Google Shape;144;p12"/>
          <p:cNvSpPr txBox="1"/>
          <p:nvPr>
            <p:ph idx="6" type="body"/>
          </p:nvPr>
        </p:nvSpPr>
        <p:spPr>
          <a:xfrm>
            <a:off x="237500" y="4471650"/>
            <a:ext cx="1790100" cy="146100"/>
          </a:xfrm>
          <a:prstGeom prst="rect">
            <a:avLst/>
          </a:prstGeom>
          <a:noFill/>
          <a:ln>
            <a:noFill/>
          </a:ln>
        </p:spPr>
        <p:txBody>
          <a:bodyPr anchorCtr="0" anchor="t" bIns="0" lIns="0" spcFirstLastPara="1" rIns="91425" wrap="square" tIns="0">
            <a:noAutofit/>
          </a:bodyPr>
          <a:lstStyle>
            <a:lvl1pPr indent="-228600" lvl="0" marL="457200" marR="0" algn="l">
              <a:lnSpc>
                <a:spcPct val="100000"/>
              </a:lnSpc>
              <a:spcBef>
                <a:spcPts val="0"/>
              </a:spcBef>
              <a:spcAft>
                <a:spcPts val="0"/>
              </a:spcAft>
              <a:buClr>
                <a:srgbClr val="000000"/>
              </a:buClr>
              <a:buSzPts val="1800"/>
              <a:buFont typeface="Arial"/>
              <a:buNone/>
              <a:defRPr b="1" sz="1000">
                <a:solidFill>
                  <a:schemeClr val="dk2"/>
                </a:solidFill>
              </a:defRPr>
            </a:lvl1pPr>
            <a:lvl2pPr indent="-228600" lvl="1" marL="914400" marR="0" algn="l">
              <a:lnSpc>
                <a:spcPct val="100000"/>
              </a:lnSpc>
              <a:spcBef>
                <a:spcPts val="0"/>
              </a:spcBef>
              <a:spcAft>
                <a:spcPts val="0"/>
              </a:spcAft>
              <a:buClr>
                <a:srgbClr val="000000"/>
              </a:buClr>
              <a:buSzPts val="1800"/>
              <a:buFont typeface="Arial"/>
              <a:buNone/>
              <a:defRPr b="1" sz="1000">
                <a:solidFill>
                  <a:schemeClr val="dk2"/>
                </a:solidFill>
              </a:defRPr>
            </a:lvl2pPr>
            <a:lvl3pPr indent="-228600" lvl="2" marL="1371600" marR="0" algn="l">
              <a:lnSpc>
                <a:spcPct val="100000"/>
              </a:lnSpc>
              <a:spcBef>
                <a:spcPts val="0"/>
              </a:spcBef>
              <a:spcAft>
                <a:spcPts val="0"/>
              </a:spcAft>
              <a:buClr>
                <a:srgbClr val="000000"/>
              </a:buClr>
              <a:buSzPts val="1400"/>
              <a:buFont typeface="Arial"/>
              <a:buNone/>
              <a:defRPr b="1" sz="1000">
                <a:solidFill>
                  <a:schemeClr val="dk2"/>
                </a:solidFill>
              </a:defRPr>
            </a:lvl3pPr>
            <a:lvl4pPr indent="-228600" lvl="3" marL="1828800" marR="0" algn="l">
              <a:lnSpc>
                <a:spcPct val="100000"/>
              </a:lnSpc>
              <a:spcBef>
                <a:spcPts val="0"/>
              </a:spcBef>
              <a:spcAft>
                <a:spcPts val="0"/>
              </a:spcAft>
              <a:buClr>
                <a:srgbClr val="000000"/>
              </a:buClr>
              <a:buSzPts val="1400"/>
              <a:buFont typeface="Arial"/>
              <a:buNone/>
              <a:defRPr b="1" sz="1000">
                <a:solidFill>
                  <a:schemeClr val="dk2"/>
                </a:solidFill>
              </a:defRPr>
            </a:lvl4pPr>
            <a:lvl5pPr indent="-228600" lvl="4" marL="2286000" marR="0" algn="l">
              <a:lnSpc>
                <a:spcPct val="100000"/>
              </a:lnSpc>
              <a:spcBef>
                <a:spcPts val="0"/>
              </a:spcBef>
              <a:spcAft>
                <a:spcPts val="0"/>
              </a:spcAft>
              <a:buClr>
                <a:srgbClr val="000000"/>
              </a:buClr>
              <a:buSzPts val="1400"/>
              <a:buFont typeface="Arial"/>
              <a:buNone/>
              <a:defRPr b="1" sz="1000">
                <a:solidFill>
                  <a:schemeClr val="dk2"/>
                </a:solidFill>
              </a:defRPr>
            </a:lvl5pPr>
            <a:lvl6pPr indent="-228600" lvl="5" marL="2743200" marR="0" algn="l">
              <a:lnSpc>
                <a:spcPct val="100000"/>
              </a:lnSpc>
              <a:spcBef>
                <a:spcPts val="0"/>
              </a:spcBef>
              <a:spcAft>
                <a:spcPts val="0"/>
              </a:spcAft>
              <a:buClr>
                <a:srgbClr val="000000"/>
              </a:buClr>
              <a:buSzPts val="1400"/>
              <a:buFont typeface="Arial"/>
              <a:buNone/>
              <a:defRPr b="1" sz="1000">
                <a:solidFill>
                  <a:schemeClr val="dk2"/>
                </a:solidFill>
              </a:defRPr>
            </a:lvl6pPr>
            <a:lvl7pPr indent="-228600" lvl="6" marL="3200400" marR="0" algn="l">
              <a:lnSpc>
                <a:spcPct val="100000"/>
              </a:lnSpc>
              <a:spcBef>
                <a:spcPts val="0"/>
              </a:spcBef>
              <a:spcAft>
                <a:spcPts val="0"/>
              </a:spcAft>
              <a:buClr>
                <a:srgbClr val="000000"/>
              </a:buClr>
              <a:buSzPts val="1400"/>
              <a:buFont typeface="Arial"/>
              <a:buNone/>
              <a:defRPr b="1" sz="1000">
                <a:solidFill>
                  <a:schemeClr val="dk2"/>
                </a:solidFill>
              </a:defRPr>
            </a:lvl7pPr>
            <a:lvl8pPr indent="-228600" lvl="7" marL="3657600" marR="0" algn="l">
              <a:lnSpc>
                <a:spcPct val="100000"/>
              </a:lnSpc>
              <a:spcBef>
                <a:spcPts val="0"/>
              </a:spcBef>
              <a:spcAft>
                <a:spcPts val="0"/>
              </a:spcAft>
              <a:buClr>
                <a:srgbClr val="000000"/>
              </a:buClr>
              <a:buSzPts val="1400"/>
              <a:buFont typeface="Arial"/>
              <a:buNone/>
              <a:defRPr b="1" sz="1000">
                <a:solidFill>
                  <a:schemeClr val="dk2"/>
                </a:solidFill>
              </a:defRPr>
            </a:lvl8pPr>
            <a:lvl9pPr indent="-228600" lvl="8" marL="4114800" marR="0" algn="l">
              <a:lnSpc>
                <a:spcPct val="100000"/>
              </a:lnSpc>
              <a:spcBef>
                <a:spcPts val="0"/>
              </a:spcBef>
              <a:spcAft>
                <a:spcPts val="0"/>
              </a:spcAft>
              <a:buClr>
                <a:srgbClr val="000000"/>
              </a:buClr>
              <a:buSzPts val="1400"/>
              <a:buFont typeface="Arial"/>
              <a:buNone/>
              <a:defRPr b="1" sz="1000">
                <a:solidFill>
                  <a:schemeClr val="dk2"/>
                </a:solidFill>
              </a:defRPr>
            </a:lvl9pPr>
          </a:lstStyle>
          <a:p/>
        </p:txBody>
      </p:sp>
      <p:sp>
        <p:nvSpPr>
          <p:cNvPr id="145" name="Google Shape;145;p12"/>
          <p:cNvSpPr txBox="1"/>
          <p:nvPr>
            <p:ph idx="12" type="sldNum"/>
          </p:nvPr>
        </p:nvSpPr>
        <p:spPr>
          <a:xfrm>
            <a:off x="8556784" y="4749851"/>
            <a:ext cx="548700" cy="200100"/>
          </a:xfrm>
          <a:prstGeom prst="rect">
            <a:avLst/>
          </a:prstGeom>
        </p:spPr>
        <p:txBody>
          <a:bodyPr anchorCtr="0" anchor="t" bIns="91425" lIns="91425" spcFirstLastPara="1" rIns="91425" wrap="square" tIns="91425">
            <a:noAutofit/>
          </a:bodyPr>
          <a:lstStyle>
            <a:lvl1pPr lvl="0">
              <a:buNone/>
              <a:defRPr sz="1300">
                <a:solidFill>
                  <a:srgbClr val="222222"/>
                </a:solidFill>
              </a:defRPr>
            </a:lvl1pPr>
            <a:lvl2pPr lvl="1">
              <a:buNone/>
              <a:defRPr sz="1300">
                <a:solidFill>
                  <a:srgbClr val="222222"/>
                </a:solidFill>
              </a:defRPr>
            </a:lvl2pPr>
            <a:lvl3pPr lvl="2">
              <a:buNone/>
              <a:defRPr sz="1300">
                <a:solidFill>
                  <a:srgbClr val="222222"/>
                </a:solidFill>
              </a:defRPr>
            </a:lvl3pPr>
            <a:lvl4pPr lvl="3">
              <a:buNone/>
              <a:defRPr sz="1300">
                <a:solidFill>
                  <a:srgbClr val="222222"/>
                </a:solidFill>
              </a:defRPr>
            </a:lvl4pPr>
            <a:lvl5pPr lvl="4">
              <a:buNone/>
              <a:defRPr sz="1300">
                <a:solidFill>
                  <a:srgbClr val="222222"/>
                </a:solidFill>
              </a:defRPr>
            </a:lvl5pPr>
            <a:lvl6pPr lvl="5">
              <a:buNone/>
              <a:defRPr sz="1300">
                <a:solidFill>
                  <a:srgbClr val="222222"/>
                </a:solidFill>
              </a:defRPr>
            </a:lvl6pPr>
            <a:lvl7pPr lvl="6">
              <a:buNone/>
              <a:defRPr sz="1300">
                <a:solidFill>
                  <a:srgbClr val="222222"/>
                </a:solidFill>
              </a:defRPr>
            </a:lvl7pPr>
            <a:lvl8pPr lvl="7">
              <a:buNone/>
              <a:defRPr sz="1300">
                <a:solidFill>
                  <a:srgbClr val="222222"/>
                </a:solidFill>
              </a:defRPr>
            </a:lvl8pPr>
            <a:lvl9pPr lvl="8">
              <a:buNone/>
              <a:defRPr sz="1300">
                <a:solidFill>
                  <a:srgbClr val="22222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46" name="Shape 146"/>
        <p:cNvGrpSpPr/>
        <p:nvPr/>
      </p:nvGrpSpPr>
      <p:grpSpPr>
        <a:xfrm>
          <a:off x="0" y="0"/>
          <a:ext cx="0" cy="0"/>
          <a:chOff x="0" y="0"/>
          <a:chExt cx="0" cy="0"/>
        </a:xfrm>
      </p:grpSpPr>
    </p:spTree>
  </p:cSld>
  <p:clrMapOvr>
    <a:masterClrMapping/>
  </p:clrMapOvr>
  <p:transition>
    <p:fade/>
  </p:transition>
  <p:extLst>
    <p:ext uri="{DCECCB84-F9BA-43D5-87BE-67443E8EF086}">
      <p15:sldGuideLst>
        <p15:guide id="1" pos="438">
          <p15:clr>
            <a:srgbClr val="A4A3A4"/>
          </p15:clr>
        </p15:guide>
        <p15:guide id="2" pos="541">
          <p15:clr>
            <a:srgbClr val="A4A3A4"/>
          </p15:clr>
        </p15:guide>
        <p15:guide id="3" pos="773">
          <p15:clr>
            <a:srgbClr val="A4A3A4"/>
          </p15:clr>
        </p15:guide>
        <p15:guide id="4" pos="875">
          <p15:clr>
            <a:srgbClr val="A4A3A4"/>
          </p15:clr>
        </p15:guide>
        <p15:guide id="5" pos="1106">
          <p15:clr>
            <a:srgbClr val="A4A3A4"/>
          </p15:clr>
        </p15:guide>
        <p15:guide id="6" pos="1210">
          <p15:clr>
            <a:srgbClr val="A4A3A4"/>
          </p15:clr>
        </p15:guide>
        <p15:guide id="7" pos="1441">
          <p15:clr>
            <a:srgbClr val="A4A3A4"/>
          </p15:clr>
        </p15:guide>
        <p15:guide id="8" pos="1543">
          <p15:clr>
            <a:srgbClr val="A4A3A4"/>
          </p15:clr>
        </p15:guide>
        <p15:guide id="9" pos="1778">
          <p15:clr>
            <a:srgbClr val="A4A3A4"/>
          </p15:clr>
        </p15:guide>
        <p15:guide id="10" pos="1883">
          <p15:clr>
            <a:srgbClr val="A4A3A4"/>
          </p15:clr>
        </p15:guide>
        <p15:guide id="11" pos="2111">
          <p15:clr>
            <a:srgbClr val="A4A3A4"/>
          </p15:clr>
        </p15:guide>
        <p15:guide id="12" pos="2211">
          <p15:clr>
            <a:srgbClr val="A4A3A4"/>
          </p15:clr>
        </p15:guide>
        <p15:guide id="13" pos="2443">
          <p15:clr>
            <a:srgbClr val="A4A3A4"/>
          </p15:clr>
        </p15:guide>
        <p15:guide id="14" pos="2549">
          <p15:clr>
            <a:srgbClr val="A4A3A4"/>
          </p15:clr>
        </p15:guide>
        <p15:guide id="15" pos="2777">
          <p15:clr>
            <a:srgbClr val="A4A3A4"/>
          </p15:clr>
        </p15:guide>
        <p15:guide id="16" pos="2880">
          <p15:clr>
            <a:srgbClr val="A4A3A4"/>
          </p15:clr>
        </p15:guide>
        <p15:guide id="17" pos="3110">
          <p15:clr>
            <a:srgbClr val="A4A3A4"/>
          </p15:clr>
        </p15:guide>
        <p15:guide id="18" pos="3214">
          <p15:clr>
            <a:srgbClr val="A4A3A4"/>
          </p15:clr>
        </p15:guide>
        <p15:guide id="19" pos="3444">
          <p15:clr>
            <a:srgbClr val="A4A3A4"/>
          </p15:clr>
        </p15:guide>
        <p15:guide id="20" pos="3548">
          <p15:clr>
            <a:srgbClr val="A4A3A4"/>
          </p15:clr>
        </p15:guide>
        <p15:guide id="21" pos="3779">
          <p15:clr>
            <a:srgbClr val="A4A3A4"/>
          </p15:clr>
        </p15:guide>
        <p15:guide id="22" pos="3881">
          <p15:clr>
            <a:srgbClr val="A4A3A4"/>
          </p15:clr>
        </p15:guide>
        <p15:guide id="23" orient="horz" pos="509">
          <p15:clr>
            <a:srgbClr val="5ACBF0"/>
          </p15:clr>
        </p15:guide>
        <p15:guide id="24" orient="horz" pos="715">
          <p15:clr>
            <a:srgbClr val="5ACBF0"/>
          </p15:clr>
        </p15:guide>
        <p15:guide id="25" orient="horz" pos="16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7" name="Shape 147"/>
        <p:cNvGrpSpPr/>
        <p:nvPr/>
      </p:nvGrpSpPr>
      <p:grpSpPr>
        <a:xfrm>
          <a:off x="0" y="0"/>
          <a:ext cx="0" cy="0"/>
          <a:chOff x="0" y="0"/>
          <a:chExt cx="0" cy="0"/>
        </a:xfrm>
      </p:grpSpPr>
      <p:sp>
        <p:nvSpPr>
          <p:cNvPr id="148" name="Google Shape;148;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149" name="Google Shape;14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55" name="Shape 155"/>
        <p:cNvGrpSpPr/>
        <p:nvPr/>
      </p:nvGrpSpPr>
      <p:grpSpPr>
        <a:xfrm>
          <a:off x="0" y="0"/>
          <a:ext cx="0" cy="0"/>
          <a:chOff x="0" y="0"/>
          <a:chExt cx="0" cy="0"/>
        </a:xfrm>
      </p:grpSpPr>
    </p:spTree>
  </p:cSld>
  <p:clrMapOvr>
    <a:masterClrMapping/>
  </p:clrMapOvr>
  <p:transition>
    <p:fade/>
  </p:transition>
  <p:extLst>
    <p:ext uri="{DCECCB84-F9BA-43D5-87BE-67443E8EF086}">
      <p15:sldGuideLst>
        <p15:guide id="1" pos="438">
          <p15:clr>
            <a:srgbClr val="A4A3A4"/>
          </p15:clr>
        </p15:guide>
        <p15:guide id="2" pos="541">
          <p15:clr>
            <a:srgbClr val="A4A3A4"/>
          </p15:clr>
        </p15:guide>
        <p15:guide id="3" pos="773">
          <p15:clr>
            <a:srgbClr val="A4A3A4"/>
          </p15:clr>
        </p15:guide>
        <p15:guide id="4" pos="875">
          <p15:clr>
            <a:srgbClr val="A4A3A4"/>
          </p15:clr>
        </p15:guide>
        <p15:guide id="5" pos="1106">
          <p15:clr>
            <a:srgbClr val="A4A3A4"/>
          </p15:clr>
        </p15:guide>
        <p15:guide id="6" pos="1210">
          <p15:clr>
            <a:srgbClr val="A4A3A4"/>
          </p15:clr>
        </p15:guide>
        <p15:guide id="7" pos="1441">
          <p15:clr>
            <a:srgbClr val="A4A3A4"/>
          </p15:clr>
        </p15:guide>
        <p15:guide id="8" pos="1543">
          <p15:clr>
            <a:srgbClr val="A4A3A4"/>
          </p15:clr>
        </p15:guide>
        <p15:guide id="9" pos="1778">
          <p15:clr>
            <a:srgbClr val="A4A3A4"/>
          </p15:clr>
        </p15:guide>
        <p15:guide id="10" pos="1883">
          <p15:clr>
            <a:srgbClr val="A4A3A4"/>
          </p15:clr>
        </p15:guide>
        <p15:guide id="11" pos="2111">
          <p15:clr>
            <a:srgbClr val="A4A3A4"/>
          </p15:clr>
        </p15:guide>
        <p15:guide id="12" pos="2211">
          <p15:clr>
            <a:srgbClr val="A4A3A4"/>
          </p15:clr>
        </p15:guide>
        <p15:guide id="13" pos="2443">
          <p15:clr>
            <a:srgbClr val="A4A3A4"/>
          </p15:clr>
        </p15:guide>
        <p15:guide id="14" pos="2549">
          <p15:clr>
            <a:srgbClr val="A4A3A4"/>
          </p15:clr>
        </p15:guide>
        <p15:guide id="15" pos="2777">
          <p15:clr>
            <a:srgbClr val="A4A3A4"/>
          </p15:clr>
        </p15:guide>
        <p15:guide id="16" pos="2880">
          <p15:clr>
            <a:srgbClr val="A4A3A4"/>
          </p15:clr>
        </p15:guide>
        <p15:guide id="17" pos="3110">
          <p15:clr>
            <a:srgbClr val="A4A3A4"/>
          </p15:clr>
        </p15:guide>
        <p15:guide id="18" pos="3214">
          <p15:clr>
            <a:srgbClr val="A4A3A4"/>
          </p15:clr>
        </p15:guide>
        <p15:guide id="19" pos="3444">
          <p15:clr>
            <a:srgbClr val="A4A3A4"/>
          </p15:clr>
        </p15:guide>
        <p15:guide id="20" pos="3548">
          <p15:clr>
            <a:srgbClr val="A4A3A4"/>
          </p15:clr>
        </p15:guide>
        <p15:guide id="21" pos="3779">
          <p15:clr>
            <a:srgbClr val="A4A3A4"/>
          </p15:clr>
        </p15:guide>
        <p15:guide id="22" pos="3881">
          <p15:clr>
            <a:srgbClr val="A4A3A4"/>
          </p15:clr>
        </p15:guide>
        <p15:guide id="23" orient="horz" pos="509">
          <p15:clr>
            <a:srgbClr val="5ACBF0"/>
          </p15:clr>
        </p15:guide>
        <p15:guide id="24" orient="horz" pos="715">
          <p15:clr>
            <a:srgbClr val="5ACBF0"/>
          </p15:clr>
        </p15:guide>
        <p15:guide id="25" orient="horz" pos="16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Multi-use layout">
    <p:spTree>
      <p:nvGrpSpPr>
        <p:cNvPr id="156" name="Shape 156"/>
        <p:cNvGrpSpPr/>
        <p:nvPr/>
      </p:nvGrpSpPr>
      <p:grpSpPr>
        <a:xfrm>
          <a:off x="0" y="0"/>
          <a:ext cx="0" cy="0"/>
          <a:chOff x="0" y="0"/>
          <a:chExt cx="0" cy="0"/>
        </a:xfrm>
      </p:grpSpPr>
      <p:sp>
        <p:nvSpPr>
          <p:cNvPr id="157" name="Google Shape;157;p17"/>
          <p:cNvSpPr txBox="1"/>
          <p:nvPr>
            <p:ph idx="1" type="subTitle"/>
          </p:nvPr>
        </p:nvSpPr>
        <p:spPr>
          <a:xfrm>
            <a:off x="161375" y="655175"/>
            <a:ext cx="8795400" cy="4170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1pPr>
            <a:lvl2pPr lvl="1">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2pPr>
            <a:lvl3pPr lvl="2">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3pPr>
            <a:lvl4pPr lvl="3">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4pPr>
            <a:lvl5pPr lvl="4">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5pPr>
            <a:lvl6pPr lvl="5">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6pPr>
            <a:lvl7pPr lvl="6">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7pPr>
            <a:lvl8pPr lvl="7">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8pPr>
            <a:lvl9pPr lvl="8">
              <a:spcBef>
                <a:spcPts val="0"/>
              </a:spcBef>
              <a:spcAft>
                <a:spcPts val="0"/>
              </a:spcAft>
              <a:buClr>
                <a:srgbClr val="5B5B5B"/>
              </a:buClr>
              <a:buSzPts val="1400"/>
              <a:buFont typeface="Roboto"/>
              <a:buNone/>
              <a:defRPr>
                <a:solidFill>
                  <a:srgbClr val="5B5B5B"/>
                </a:solidFill>
                <a:latin typeface="Roboto"/>
                <a:ea typeface="Roboto"/>
                <a:cs typeface="Roboto"/>
                <a:sym typeface="Roboto"/>
              </a:defRPr>
            </a:lvl9pPr>
          </a:lstStyle>
          <a:p/>
        </p:txBody>
      </p:sp>
      <p:sp>
        <p:nvSpPr>
          <p:cNvPr id="158" name="Google Shape;158;p1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9" name="Google Shape;159;p17"/>
          <p:cNvSpPr txBox="1"/>
          <p:nvPr>
            <p:ph type="title"/>
          </p:nvPr>
        </p:nvSpPr>
        <p:spPr>
          <a:xfrm>
            <a:off x="386675" y="-2"/>
            <a:ext cx="8344800" cy="365700"/>
          </a:xfrm>
          <a:prstGeom prst="rect">
            <a:avLst/>
          </a:prstGeom>
        </p:spPr>
        <p:txBody>
          <a:bodyPr anchorCtr="0" anchor="t" bIns="0" lIns="0" spcFirstLastPara="1" rIns="0" wrap="square" tIns="0">
            <a:noAutofit/>
          </a:bodyPr>
          <a:lstStyle>
            <a:lvl1pPr lvl="0">
              <a:lnSpc>
                <a:spcPct val="85000"/>
              </a:lnSpc>
              <a:spcBef>
                <a:spcPts val="0"/>
              </a:spcBef>
              <a:spcAft>
                <a:spcPts val="0"/>
              </a:spcAft>
              <a:buSzPts val="2200"/>
              <a:buNone/>
              <a:defRPr/>
            </a:lvl1pPr>
            <a:lvl2pPr lvl="1">
              <a:lnSpc>
                <a:spcPct val="85000"/>
              </a:lnSpc>
              <a:spcBef>
                <a:spcPts val="0"/>
              </a:spcBef>
              <a:spcAft>
                <a:spcPts val="0"/>
              </a:spcAft>
              <a:buSzPts val="2200"/>
              <a:buNone/>
              <a:defRPr/>
            </a:lvl2pPr>
            <a:lvl3pPr lvl="2">
              <a:lnSpc>
                <a:spcPct val="85000"/>
              </a:lnSpc>
              <a:spcBef>
                <a:spcPts val="0"/>
              </a:spcBef>
              <a:spcAft>
                <a:spcPts val="0"/>
              </a:spcAft>
              <a:buSzPts val="2200"/>
              <a:buNone/>
              <a:defRPr/>
            </a:lvl3pPr>
            <a:lvl4pPr lvl="3">
              <a:lnSpc>
                <a:spcPct val="85000"/>
              </a:lnSpc>
              <a:spcBef>
                <a:spcPts val="0"/>
              </a:spcBef>
              <a:spcAft>
                <a:spcPts val="0"/>
              </a:spcAft>
              <a:buSzPts val="2200"/>
              <a:buNone/>
              <a:defRPr/>
            </a:lvl4pPr>
            <a:lvl5pPr lvl="4">
              <a:lnSpc>
                <a:spcPct val="85000"/>
              </a:lnSpc>
              <a:spcBef>
                <a:spcPts val="0"/>
              </a:spcBef>
              <a:spcAft>
                <a:spcPts val="0"/>
              </a:spcAft>
              <a:buSzPts val="2200"/>
              <a:buNone/>
              <a:defRPr/>
            </a:lvl5pPr>
            <a:lvl6pPr lvl="5">
              <a:lnSpc>
                <a:spcPct val="85000"/>
              </a:lnSpc>
              <a:spcBef>
                <a:spcPts val="0"/>
              </a:spcBef>
              <a:spcAft>
                <a:spcPts val="0"/>
              </a:spcAft>
              <a:buSzPts val="2200"/>
              <a:buNone/>
              <a:defRPr/>
            </a:lvl6pPr>
            <a:lvl7pPr lvl="6">
              <a:lnSpc>
                <a:spcPct val="85000"/>
              </a:lnSpc>
              <a:spcBef>
                <a:spcPts val="0"/>
              </a:spcBef>
              <a:spcAft>
                <a:spcPts val="0"/>
              </a:spcAft>
              <a:buSzPts val="2200"/>
              <a:buNone/>
              <a:defRPr/>
            </a:lvl7pPr>
            <a:lvl8pPr lvl="7">
              <a:lnSpc>
                <a:spcPct val="85000"/>
              </a:lnSpc>
              <a:spcBef>
                <a:spcPts val="0"/>
              </a:spcBef>
              <a:spcAft>
                <a:spcPts val="0"/>
              </a:spcAft>
              <a:buSzPts val="2200"/>
              <a:buNone/>
              <a:defRPr/>
            </a:lvl8pPr>
            <a:lvl9pPr lvl="8">
              <a:lnSpc>
                <a:spcPct val="85000"/>
              </a:lnSpc>
              <a:spcBef>
                <a:spcPts val="0"/>
              </a:spcBef>
              <a:spcAft>
                <a:spcPts val="0"/>
              </a:spcAft>
              <a:buSzPts val="2200"/>
              <a:buNone/>
              <a:defRPr/>
            </a:lvl9pPr>
          </a:lstStyle>
          <a:p/>
        </p:txBody>
      </p:sp>
      <p:sp>
        <p:nvSpPr>
          <p:cNvPr id="160" name="Google Shape;160;p17"/>
          <p:cNvSpPr txBox="1"/>
          <p:nvPr>
            <p:ph idx="12" type="sldNum"/>
          </p:nvPr>
        </p:nvSpPr>
        <p:spPr>
          <a:xfrm>
            <a:off x="8595309" y="4825476"/>
            <a:ext cx="548700" cy="200100"/>
          </a:xfrm>
          <a:prstGeom prst="rect">
            <a:avLst/>
          </a:prstGeom>
        </p:spPr>
        <p:txBody>
          <a:bodyPr anchorCtr="0" anchor="t" bIns="0" lIns="0" spcFirstLastPara="1" rIns="0" wrap="square" tIns="0">
            <a:noAutofit/>
          </a:bodyPr>
          <a:lstStyle>
            <a:lvl1pPr lvl="0">
              <a:buNone/>
              <a:defRPr sz="1200">
                <a:solidFill>
                  <a:srgbClr val="5B5B5B"/>
                </a:solidFill>
                <a:latin typeface="Roboto"/>
                <a:ea typeface="Roboto"/>
                <a:cs typeface="Roboto"/>
                <a:sym typeface="Roboto"/>
              </a:defRPr>
            </a:lvl1pPr>
            <a:lvl2pPr lvl="1">
              <a:buNone/>
              <a:defRPr sz="1200">
                <a:solidFill>
                  <a:srgbClr val="5B5B5B"/>
                </a:solidFill>
                <a:latin typeface="Roboto"/>
                <a:ea typeface="Roboto"/>
                <a:cs typeface="Roboto"/>
                <a:sym typeface="Roboto"/>
              </a:defRPr>
            </a:lvl2pPr>
            <a:lvl3pPr lvl="2">
              <a:buNone/>
              <a:defRPr sz="1200">
                <a:solidFill>
                  <a:srgbClr val="5B5B5B"/>
                </a:solidFill>
                <a:latin typeface="Roboto"/>
                <a:ea typeface="Roboto"/>
                <a:cs typeface="Roboto"/>
                <a:sym typeface="Roboto"/>
              </a:defRPr>
            </a:lvl3pPr>
            <a:lvl4pPr lvl="3">
              <a:buNone/>
              <a:defRPr sz="1200">
                <a:solidFill>
                  <a:srgbClr val="5B5B5B"/>
                </a:solidFill>
                <a:latin typeface="Roboto"/>
                <a:ea typeface="Roboto"/>
                <a:cs typeface="Roboto"/>
                <a:sym typeface="Roboto"/>
              </a:defRPr>
            </a:lvl4pPr>
            <a:lvl5pPr lvl="4">
              <a:buNone/>
              <a:defRPr sz="1200">
                <a:solidFill>
                  <a:srgbClr val="5B5B5B"/>
                </a:solidFill>
                <a:latin typeface="Roboto"/>
                <a:ea typeface="Roboto"/>
                <a:cs typeface="Roboto"/>
                <a:sym typeface="Roboto"/>
              </a:defRPr>
            </a:lvl5pPr>
            <a:lvl6pPr lvl="5">
              <a:buNone/>
              <a:defRPr sz="1200">
                <a:solidFill>
                  <a:srgbClr val="5B5B5B"/>
                </a:solidFill>
                <a:latin typeface="Roboto"/>
                <a:ea typeface="Roboto"/>
                <a:cs typeface="Roboto"/>
                <a:sym typeface="Roboto"/>
              </a:defRPr>
            </a:lvl6pPr>
            <a:lvl7pPr lvl="6">
              <a:buNone/>
              <a:defRPr sz="1200">
                <a:solidFill>
                  <a:srgbClr val="5B5B5B"/>
                </a:solidFill>
                <a:latin typeface="Roboto"/>
                <a:ea typeface="Roboto"/>
                <a:cs typeface="Roboto"/>
                <a:sym typeface="Roboto"/>
              </a:defRPr>
            </a:lvl7pPr>
            <a:lvl8pPr lvl="7">
              <a:buNone/>
              <a:defRPr sz="1200">
                <a:solidFill>
                  <a:srgbClr val="5B5B5B"/>
                </a:solidFill>
                <a:latin typeface="Roboto"/>
                <a:ea typeface="Roboto"/>
                <a:cs typeface="Roboto"/>
                <a:sym typeface="Roboto"/>
              </a:defRPr>
            </a:lvl8pPr>
            <a:lvl9pPr lvl="8">
              <a:buNone/>
              <a:defRPr sz="1200">
                <a:solidFill>
                  <a:srgbClr val="5B5B5B"/>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grpSp>
        <p:nvGrpSpPr>
          <p:cNvPr id="161" name="Google Shape;161;p17"/>
          <p:cNvGrpSpPr/>
          <p:nvPr/>
        </p:nvGrpSpPr>
        <p:grpSpPr>
          <a:xfrm>
            <a:off x="274320" y="4903516"/>
            <a:ext cx="3723568" cy="216328"/>
            <a:chOff x="544551" y="4903516"/>
            <a:chExt cx="3723568" cy="216328"/>
          </a:xfrm>
        </p:grpSpPr>
        <p:sp>
          <p:nvSpPr>
            <p:cNvPr id="162" name="Google Shape;162;p17"/>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163" name="Google Shape;163;p17"/>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164" name="Shape 164"/>
        <p:cNvGrpSpPr/>
        <p:nvPr/>
      </p:nvGrpSpPr>
      <p:grpSpPr>
        <a:xfrm>
          <a:off x="0" y="0"/>
          <a:ext cx="0" cy="0"/>
          <a:chOff x="0" y="0"/>
          <a:chExt cx="0" cy="0"/>
        </a:xfrm>
      </p:grpSpPr>
      <p:sp>
        <p:nvSpPr>
          <p:cNvPr id="165" name="Google Shape;165;p18"/>
          <p:cNvSpPr txBox="1"/>
          <p:nvPr>
            <p:ph type="title"/>
          </p:nvPr>
        </p:nvSpPr>
        <p:spPr>
          <a:xfrm>
            <a:off x="397800" y="-2"/>
            <a:ext cx="8348400" cy="3657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166" name="Google Shape;166;p18"/>
          <p:cNvSpPr txBox="1"/>
          <p:nvPr>
            <p:ph idx="1" type="body"/>
          </p:nvPr>
        </p:nvSpPr>
        <p:spPr>
          <a:xfrm>
            <a:off x="365750" y="560925"/>
            <a:ext cx="4160400" cy="41253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Font typeface="Roboto"/>
              <a:buChar char="●"/>
              <a:defRPr>
                <a:latin typeface="Roboto"/>
                <a:ea typeface="Roboto"/>
                <a:cs typeface="Roboto"/>
                <a:sym typeface="Roboto"/>
              </a:defRPr>
            </a:lvl1pPr>
            <a:lvl2pPr indent="-317500" lvl="1" marL="914400">
              <a:spcBef>
                <a:spcPts val="0"/>
              </a:spcBef>
              <a:spcAft>
                <a:spcPts val="0"/>
              </a:spcAft>
              <a:buSzPts val="1400"/>
              <a:buFont typeface="Roboto"/>
              <a:buChar char="○"/>
              <a:defRPr>
                <a:latin typeface="Roboto"/>
                <a:ea typeface="Roboto"/>
                <a:cs typeface="Roboto"/>
                <a:sym typeface="Roboto"/>
              </a:defRPr>
            </a:lvl2pPr>
            <a:lvl3pPr indent="-317500" lvl="2" marL="1371600">
              <a:spcBef>
                <a:spcPts val="0"/>
              </a:spcBef>
              <a:spcAft>
                <a:spcPts val="0"/>
              </a:spcAft>
              <a:buSzPts val="1400"/>
              <a:buFont typeface="Roboto"/>
              <a:buChar char="■"/>
              <a:defRPr>
                <a:latin typeface="Roboto"/>
                <a:ea typeface="Roboto"/>
                <a:cs typeface="Roboto"/>
                <a:sym typeface="Roboto"/>
              </a:defRPr>
            </a:lvl3pPr>
            <a:lvl4pPr indent="-317500" lvl="3" marL="1828800">
              <a:spcBef>
                <a:spcPts val="0"/>
              </a:spcBef>
              <a:spcAft>
                <a:spcPts val="0"/>
              </a:spcAft>
              <a:buSzPts val="1400"/>
              <a:buFont typeface="Roboto"/>
              <a:buChar char="●"/>
              <a:defRPr>
                <a:latin typeface="Roboto"/>
                <a:ea typeface="Roboto"/>
                <a:cs typeface="Roboto"/>
                <a:sym typeface="Roboto"/>
              </a:defRPr>
            </a:lvl4pPr>
            <a:lvl5pPr indent="-317500" lvl="4" marL="2286000">
              <a:spcBef>
                <a:spcPts val="0"/>
              </a:spcBef>
              <a:spcAft>
                <a:spcPts val="0"/>
              </a:spcAft>
              <a:buSzPts val="1400"/>
              <a:buFont typeface="Roboto"/>
              <a:buChar char="○"/>
              <a:defRPr>
                <a:latin typeface="Roboto"/>
                <a:ea typeface="Roboto"/>
                <a:cs typeface="Roboto"/>
                <a:sym typeface="Roboto"/>
              </a:defRPr>
            </a:lvl5pPr>
            <a:lvl6pPr indent="-317500" lvl="5" marL="2743200">
              <a:spcBef>
                <a:spcPts val="0"/>
              </a:spcBef>
              <a:spcAft>
                <a:spcPts val="0"/>
              </a:spcAft>
              <a:buSzPts val="1400"/>
              <a:buFont typeface="Roboto"/>
              <a:buChar char="■"/>
              <a:defRPr>
                <a:latin typeface="Roboto"/>
                <a:ea typeface="Roboto"/>
                <a:cs typeface="Roboto"/>
                <a:sym typeface="Roboto"/>
              </a:defRPr>
            </a:lvl6pPr>
            <a:lvl7pPr indent="-317500" lvl="6" marL="3200400">
              <a:spcBef>
                <a:spcPts val="0"/>
              </a:spcBef>
              <a:spcAft>
                <a:spcPts val="0"/>
              </a:spcAft>
              <a:buSzPts val="1400"/>
              <a:buFont typeface="Roboto"/>
              <a:buChar char="●"/>
              <a:defRPr>
                <a:latin typeface="Roboto"/>
                <a:ea typeface="Roboto"/>
                <a:cs typeface="Roboto"/>
                <a:sym typeface="Roboto"/>
              </a:defRPr>
            </a:lvl7pPr>
            <a:lvl8pPr indent="-317500" lvl="7" marL="3657600">
              <a:spcBef>
                <a:spcPts val="0"/>
              </a:spcBef>
              <a:spcAft>
                <a:spcPts val="0"/>
              </a:spcAft>
              <a:buSzPts val="1400"/>
              <a:buFont typeface="Roboto"/>
              <a:buChar char="○"/>
              <a:defRPr>
                <a:latin typeface="Roboto"/>
                <a:ea typeface="Roboto"/>
                <a:cs typeface="Roboto"/>
                <a:sym typeface="Roboto"/>
              </a:defRPr>
            </a:lvl8pPr>
            <a:lvl9pPr indent="-317500" lvl="8" marL="4114800">
              <a:spcBef>
                <a:spcPts val="0"/>
              </a:spcBef>
              <a:spcAft>
                <a:spcPts val="0"/>
              </a:spcAft>
              <a:buSzPts val="1400"/>
              <a:buFont typeface="Roboto"/>
              <a:buChar char="■"/>
              <a:defRPr>
                <a:latin typeface="Roboto"/>
                <a:ea typeface="Roboto"/>
                <a:cs typeface="Roboto"/>
                <a:sym typeface="Roboto"/>
              </a:defRPr>
            </a:lvl9pPr>
          </a:lstStyle>
          <a:p/>
        </p:txBody>
      </p:sp>
      <p:sp>
        <p:nvSpPr>
          <p:cNvPr id="167" name="Google Shape;167;p18"/>
          <p:cNvSpPr txBox="1"/>
          <p:nvPr>
            <p:ph idx="2" type="body"/>
          </p:nvPr>
        </p:nvSpPr>
        <p:spPr>
          <a:xfrm>
            <a:off x="4617725" y="561000"/>
            <a:ext cx="4160400" cy="41253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Font typeface="Roboto"/>
              <a:buChar char="●"/>
              <a:defRPr>
                <a:latin typeface="Roboto"/>
                <a:ea typeface="Roboto"/>
                <a:cs typeface="Roboto"/>
                <a:sym typeface="Roboto"/>
              </a:defRPr>
            </a:lvl1pPr>
            <a:lvl2pPr indent="-317500" lvl="1" marL="914400">
              <a:spcBef>
                <a:spcPts val="0"/>
              </a:spcBef>
              <a:spcAft>
                <a:spcPts val="0"/>
              </a:spcAft>
              <a:buSzPts val="1400"/>
              <a:buFont typeface="Roboto"/>
              <a:buChar char="○"/>
              <a:defRPr>
                <a:latin typeface="Roboto"/>
                <a:ea typeface="Roboto"/>
                <a:cs typeface="Roboto"/>
                <a:sym typeface="Roboto"/>
              </a:defRPr>
            </a:lvl2pPr>
            <a:lvl3pPr indent="-317500" lvl="2" marL="1371600">
              <a:spcBef>
                <a:spcPts val="0"/>
              </a:spcBef>
              <a:spcAft>
                <a:spcPts val="0"/>
              </a:spcAft>
              <a:buSzPts val="1400"/>
              <a:buFont typeface="Roboto"/>
              <a:buChar char="■"/>
              <a:defRPr>
                <a:latin typeface="Roboto"/>
                <a:ea typeface="Roboto"/>
                <a:cs typeface="Roboto"/>
                <a:sym typeface="Roboto"/>
              </a:defRPr>
            </a:lvl3pPr>
            <a:lvl4pPr indent="-317500" lvl="3" marL="1828800">
              <a:spcBef>
                <a:spcPts val="0"/>
              </a:spcBef>
              <a:spcAft>
                <a:spcPts val="0"/>
              </a:spcAft>
              <a:buSzPts val="1400"/>
              <a:buFont typeface="Roboto"/>
              <a:buChar char="●"/>
              <a:defRPr>
                <a:latin typeface="Roboto"/>
                <a:ea typeface="Roboto"/>
                <a:cs typeface="Roboto"/>
                <a:sym typeface="Roboto"/>
              </a:defRPr>
            </a:lvl4pPr>
            <a:lvl5pPr indent="-317500" lvl="4" marL="2286000">
              <a:spcBef>
                <a:spcPts val="0"/>
              </a:spcBef>
              <a:spcAft>
                <a:spcPts val="0"/>
              </a:spcAft>
              <a:buSzPts val="1400"/>
              <a:buFont typeface="Roboto"/>
              <a:buChar char="○"/>
              <a:defRPr>
                <a:latin typeface="Roboto"/>
                <a:ea typeface="Roboto"/>
                <a:cs typeface="Roboto"/>
                <a:sym typeface="Roboto"/>
              </a:defRPr>
            </a:lvl5pPr>
            <a:lvl6pPr indent="-317500" lvl="5" marL="2743200">
              <a:spcBef>
                <a:spcPts val="0"/>
              </a:spcBef>
              <a:spcAft>
                <a:spcPts val="0"/>
              </a:spcAft>
              <a:buSzPts val="1400"/>
              <a:buFont typeface="Roboto"/>
              <a:buChar char="■"/>
              <a:defRPr>
                <a:latin typeface="Roboto"/>
                <a:ea typeface="Roboto"/>
                <a:cs typeface="Roboto"/>
                <a:sym typeface="Roboto"/>
              </a:defRPr>
            </a:lvl6pPr>
            <a:lvl7pPr indent="-317500" lvl="6" marL="3200400">
              <a:spcBef>
                <a:spcPts val="0"/>
              </a:spcBef>
              <a:spcAft>
                <a:spcPts val="0"/>
              </a:spcAft>
              <a:buSzPts val="1400"/>
              <a:buFont typeface="Roboto"/>
              <a:buChar char="●"/>
              <a:defRPr>
                <a:latin typeface="Roboto"/>
                <a:ea typeface="Roboto"/>
                <a:cs typeface="Roboto"/>
                <a:sym typeface="Roboto"/>
              </a:defRPr>
            </a:lvl7pPr>
            <a:lvl8pPr indent="-317500" lvl="7" marL="3657600">
              <a:spcBef>
                <a:spcPts val="0"/>
              </a:spcBef>
              <a:spcAft>
                <a:spcPts val="0"/>
              </a:spcAft>
              <a:buSzPts val="1400"/>
              <a:buFont typeface="Roboto"/>
              <a:buChar char="○"/>
              <a:defRPr>
                <a:latin typeface="Roboto"/>
                <a:ea typeface="Roboto"/>
                <a:cs typeface="Roboto"/>
                <a:sym typeface="Roboto"/>
              </a:defRPr>
            </a:lvl8pPr>
            <a:lvl9pPr indent="-317500" lvl="8" marL="4114800">
              <a:spcBef>
                <a:spcPts val="0"/>
              </a:spcBef>
              <a:spcAft>
                <a:spcPts val="0"/>
              </a:spcAft>
              <a:buSzPts val="1400"/>
              <a:buFont typeface="Roboto"/>
              <a:buChar char="■"/>
              <a:defRPr>
                <a:latin typeface="Roboto"/>
                <a:ea typeface="Roboto"/>
                <a:cs typeface="Roboto"/>
                <a:sym typeface="Roboto"/>
              </a:defRPr>
            </a:lvl9pPr>
          </a:lstStyle>
          <a:p/>
        </p:txBody>
      </p:sp>
      <p:sp>
        <p:nvSpPr>
          <p:cNvPr id="168" name="Google Shape;168;p18"/>
          <p:cNvSpPr txBox="1"/>
          <p:nvPr>
            <p:ph idx="12" type="sldNum"/>
          </p:nvPr>
        </p:nvSpPr>
        <p:spPr>
          <a:xfrm>
            <a:off x="8483150" y="49774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grpSp>
        <p:nvGrpSpPr>
          <p:cNvPr id="169" name="Google Shape;169;p18"/>
          <p:cNvGrpSpPr/>
          <p:nvPr/>
        </p:nvGrpSpPr>
        <p:grpSpPr>
          <a:xfrm>
            <a:off x="274320" y="4903516"/>
            <a:ext cx="3723568" cy="216328"/>
            <a:chOff x="544551" y="4903516"/>
            <a:chExt cx="3723568" cy="216328"/>
          </a:xfrm>
        </p:grpSpPr>
        <p:sp>
          <p:nvSpPr>
            <p:cNvPr id="170" name="Google Shape;170;p18"/>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171" name="Google Shape;171;p18"/>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72" name="Shape 172"/>
        <p:cNvGrpSpPr/>
        <p:nvPr/>
      </p:nvGrpSpPr>
      <p:grpSpPr>
        <a:xfrm>
          <a:off x="0" y="0"/>
          <a:ext cx="0" cy="0"/>
          <a:chOff x="0" y="0"/>
          <a:chExt cx="0" cy="0"/>
        </a:xfrm>
      </p:grpSpPr>
      <p:sp>
        <p:nvSpPr>
          <p:cNvPr id="173" name="Google Shape;173;p19"/>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75" name="Google Shape;175;p19"/>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4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pic>
        <p:nvPicPr>
          <p:cNvPr id="176" name="Google Shape;176;p19"/>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
        <p:nvSpPr>
          <p:cNvPr id="177" name="Google Shape;177;p19"/>
          <p:cNvSpPr txBox="1"/>
          <p:nvPr/>
        </p:nvSpPr>
        <p:spPr>
          <a:xfrm>
            <a:off x="261225" y="759425"/>
            <a:ext cx="13908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Roboto"/>
                <a:ea typeface="Roboto"/>
                <a:cs typeface="Roboto"/>
                <a:sym typeface="Roboto"/>
              </a:rPr>
              <a:t>Content</a:t>
            </a:r>
            <a:endParaRPr sz="2400">
              <a:latin typeface="Roboto"/>
              <a:ea typeface="Roboto"/>
              <a:cs typeface="Roboto"/>
              <a:sym typeface="Roboto"/>
            </a:endParaRPr>
          </a:p>
        </p:txBody>
      </p:sp>
      <p:sp>
        <p:nvSpPr>
          <p:cNvPr id="178" name="Google Shape;178;p19"/>
          <p:cNvSpPr txBox="1"/>
          <p:nvPr>
            <p:ph idx="1" type="body"/>
          </p:nvPr>
        </p:nvSpPr>
        <p:spPr>
          <a:xfrm>
            <a:off x="2589100" y="759425"/>
            <a:ext cx="6154200" cy="4140600"/>
          </a:xfrm>
          <a:prstGeom prst="rect">
            <a:avLst/>
          </a:prstGeom>
          <a:noFill/>
          <a:ln>
            <a:noFill/>
          </a:ln>
        </p:spPr>
        <p:txBody>
          <a:bodyPr anchorCtr="0" anchor="t" bIns="91425" lIns="91425" spcFirstLastPara="1" rIns="91425" wrap="square" tIns="91425">
            <a:noAutofit/>
          </a:bodyPr>
          <a:lstStyle>
            <a:lvl1pPr indent="-381000" lvl="0" marL="4572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1pPr>
            <a:lvl2pPr indent="-381000" lvl="1" marL="9144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2pPr>
            <a:lvl3pPr indent="-381000" lvl="2" marL="13716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3pPr>
            <a:lvl4pPr indent="-381000" lvl="3" marL="18288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4pPr>
            <a:lvl5pPr indent="-381000" lvl="4" marL="22860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5pPr>
            <a:lvl6pPr indent="-381000" lvl="5" marL="27432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6pPr>
            <a:lvl7pPr indent="-381000" lvl="6" marL="32004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7pPr>
            <a:lvl8pPr indent="-381000" lvl="7" marL="36576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8pPr>
            <a:lvl9pPr indent="-381000" lvl="8" marL="4114800">
              <a:lnSpc>
                <a:spcPct val="150000"/>
              </a:lnSpc>
              <a:spcBef>
                <a:spcPts val="0"/>
              </a:spcBef>
              <a:spcAft>
                <a:spcPts val="0"/>
              </a:spcAft>
              <a:buClr>
                <a:schemeClr val="lt1"/>
              </a:buClr>
              <a:buSzPts val="2400"/>
              <a:buFont typeface="Roboto"/>
              <a:buChar char="■"/>
              <a:defRPr sz="2400">
                <a:solidFill>
                  <a:schemeClr val="lt1"/>
                </a:solidFill>
                <a:latin typeface="Roboto"/>
                <a:ea typeface="Roboto"/>
                <a:cs typeface="Roboto"/>
                <a:sym typeface="Roboto"/>
              </a:defRPr>
            </a:lvl9pPr>
          </a:lstStyle>
          <a:p/>
        </p:txBody>
      </p:sp>
      <p:sp>
        <p:nvSpPr>
          <p:cNvPr id="179" name="Google Shape;179;p19"/>
          <p:cNvSpPr txBox="1"/>
          <p:nvPr>
            <p:ph idx="12" type="sldNum"/>
          </p:nvPr>
        </p:nvSpPr>
        <p:spPr>
          <a:xfrm>
            <a:off x="8556784" y="4749851"/>
            <a:ext cx="548700" cy="200100"/>
          </a:xfrm>
          <a:prstGeom prst="rect">
            <a:avLst/>
          </a:prstGeom>
        </p:spPr>
        <p:txBody>
          <a:bodyPr anchorCtr="0" anchor="t" bIns="91425" lIns="91425" spcFirstLastPara="1" rIns="91425" wrap="square" tIns="91425">
            <a:noAutofit/>
          </a:bodyPr>
          <a:lstStyle>
            <a:lvl1pPr lvl="0">
              <a:buNone/>
              <a:defRPr sz="1300">
                <a:solidFill>
                  <a:schemeClr val="lt1"/>
                </a:solidFill>
              </a:defRPr>
            </a:lvl1pPr>
            <a:lvl2pPr lvl="1">
              <a:buNone/>
              <a:defRPr sz="1300">
                <a:solidFill>
                  <a:schemeClr val="lt1"/>
                </a:solidFill>
              </a:defRPr>
            </a:lvl2pPr>
            <a:lvl3pPr lvl="2">
              <a:buNone/>
              <a:defRPr sz="1300">
                <a:solidFill>
                  <a:schemeClr val="lt1"/>
                </a:solidFill>
              </a:defRPr>
            </a:lvl3pPr>
            <a:lvl4pPr lvl="3">
              <a:buNone/>
              <a:defRPr sz="1300">
                <a:solidFill>
                  <a:schemeClr val="lt1"/>
                </a:solidFill>
              </a:defRPr>
            </a:lvl4pPr>
            <a:lvl5pPr lvl="4">
              <a:buNone/>
              <a:defRPr sz="1300">
                <a:solidFill>
                  <a:schemeClr val="lt1"/>
                </a:solidFill>
              </a:defRPr>
            </a:lvl5pPr>
            <a:lvl6pPr lvl="5">
              <a:buNone/>
              <a:defRPr sz="1300">
                <a:solidFill>
                  <a:schemeClr val="lt1"/>
                </a:solidFill>
              </a:defRPr>
            </a:lvl6pPr>
            <a:lvl7pPr lvl="6">
              <a:buNone/>
              <a:defRPr sz="1300">
                <a:solidFill>
                  <a:schemeClr val="lt1"/>
                </a:solidFill>
              </a:defRPr>
            </a:lvl7pPr>
            <a:lvl8pPr lvl="7">
              <a:buNone/>
              <a:defRPr sz="1300">
                <a:solidFill>
                  <a:schemeClr val="lt1"/>
                </a:solidFill>
              </a:defRPr>
            </a:lvl8pPr>
            <a:lvl9pPr lvl="8">
              <a:buNone/>
              <a:defRPr sz="13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grpSp>
        <p:nvGrpSpPr>
          <p:cNvPr id="180" name="Google Shape;180;p19"/>
          <p:cNvGrpSpPr/>
          <p:nvPr/>
        </p:nvGrpSpPr>
        <p:grpSpPr>
          <a:xfrm>
            <a:off x="274320" y="4903516"/>
            <a:ext cx="3723568" cy="216328"/>
            <a:chOff x="544551" y="4903516"/>
            <a:chExt cx="3723568" cy="216328"/>
          </a:xfrm>
        </p:grpSpPr>
        <p:sp>
          <p:nvSpPr>
            <p:cNvPr id="181" name="Google Shape;181;p19"/>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182" name="Google Shape;182;p19"/>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83" name="Shape 183"/>
        <p:cNvGrpSpPr/>
        <p:nvPr/>
      </p:nvGrpSpPr>
      <p:grpSpPr>
        <a:xfrm>
          <a:off x="0" y="0"/>
          <a:ext cx="0" cy="0"/>
          <a:chOff x="0" y="0"/>
          <a:chExt cx="0" cy="0"/>
        </a:xfrm>
      </p:grpSpPr>
      <p:grpSp>
        <p:nvGrpSpPr>
          <p:cNvPr id="184" name="Google Shape;184;p20"/>
          <p:cNvGrpSpPr/>
          <p:nvPr/>
        </p:nvGrpSpPr>
        <p:grpSpPr>
          <a:xfrm>
            <a:off x="274320" y="4903516"/>
            <a:ext cx="3723568" cy="216328"/>
            <a:chOff x="544551" y="4903516"/>
            <a:chExt cx="3723568" cy="216328"/>
          </a:xfrm>
        </p:grpSpPr>
        <p:sp>
          <p:nvSpPr>
            <p:cNvPr id="185" name="Google Shape;185;p20"/>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186" name="Google Shape;186;p20"/>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
        <p:nvSpPr>
          <p:cNvPr id="187" name="Google Shape;187;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only">
  <p:cSld name="CUSTOM_1">
    <p:spTree>
      <p:nvGrpSpPr>
        <p:cNvPr id="188" name="Shape 188"/>
        <p:cNvGrpSpPr/>
        <p:nvPr/>
      </p:nvGrpSpPr>
      <p:grpSpPr>
        <a:xfrm>
          <a:off x="0" y="0"/>
          <a:ext cx="0" cy="0"/>
          <a:chOff x="0" y="0"/>
          <a:chExt cx="0" cy="0"/>
        </a:xfrm>
      </p:grpSpPr>
      <p:sp>
        <p:nvSpPr>
          <p:cNvPr id="189" name="Google Shape;189;p21"/>
          <p:cNvSpPr txBox="1"/>
          <p:nvPr>
            <p:ph type="title"/>
          </p:nvPr>
        </p:nvSpPr>
        <p:spPr>
          <a:xfrm>
            <a:off x="274325" y="91450"/>
            <a:ext cx="8682600" cy="3813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190" name="Google Shape;190;p21"/>
          <p:cNvSpPr txBox="1"/>
          <p:nvPr>
            <p:ph idx="12" type="sldNum"/>
          </p:nvPr>
        </p:nvSpPr>
        <p:spPr>
          <a:xfrm>
            <a:off x="8595360" y="4937760"/>
            <a:ext cx="473700" cy="123000"/>
          </a:xfrm>
          <a:prstGeom prst="rect">
            <a:avLst/>
          </a:prstGeom>
        </p:spPr>
        <p:txBody>
          <a:bodyPr anchorCtr="0" anchor="t" bIns="91425" lIns="91425" spcFirstLastPara="1" rIns="91425" wrap="square" tIns="91425">
            <a:no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
              <a:t>‹#›</a:t>
            </a:fld>
            <a:endParaRPr/>
          </a:p>
        </p:txBody>
      </p:sp>
      <p:grpSp>
        <p:nvGrpSpPr>
          <p:cNvPr id="191" name="Google Shape;191;p21"/>
          <p:cNvGrpSpPr/>
          <p:nvPr/>
        </p:nvGrpSpPr>
        <p:grpSpPr>
          <a:xfrm>
            <a:off x="274320" y="4903516"/>
            <a:ext cx="3723568" cy="216328"/>
            <a:chOff x="544551" y="4903516"/>
            <a:chExt cx="3723568" cy="216328"/>
          </a:xfrm>
        </p:grpSpPr>
        <p:sp>
          <p:nvSpPr>
            <p:cNvPr id="192" name="Google Shape;192;p21"/>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193" name="Google Shape;193;p21"/>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cSld name="CUSTOM_2">
    <p:bg>
      <p:bgPr>
        <a:solidFill>
          <a:schemeClr val="dk2"/>
        </a:solidFill>
      </p:bgPr>
    </p:bg>
    <p:spTree>
      <p:nvGrpSpPr>
        <p:cNvPr id="194" name="Shape 194"/>
        <p:cNvGrpSpPr/>
        <p:nvPr/>
      </p:nvGrpSpPr>
      <p:grpSpPr>
        <a:xfrm>
          <a:off x="0" y="0"/>
          <a:ext cx="0" cy="0"/>
          <a:chOff x="0" y="0"/>
          <a:chExt cx="0" cy="0"/>
        </a:xfrm>
      </p:grpSpPr>
      <p:sp>
        <p:nvSpPr>
          <p:cNvPr id="195" name="Google Shape;195;p22"/>
          <p:cNvSpPr txBox="1"/>
          <p:nvPr>
            <p:ph type="title"/>
          </p:nvPr>
        </p:nvSpPr>
        <p:spPr>
          <a:xfrm>
            <a:off x="410975" y="2283876"/>
            <a:ext cx="7305000" cy="7881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4000"/>
              <a:buNone/>
              <a:defRPr sz="4000">
                <a:solidFill>
                  <a:schemeClr val="lt1"/>
                </a:solidFill>
              </a:defRPr>
            </a:lvl1pPr>
            <a:lvl2pPr lvl="1">
              <a:spcBef>
                <a:spcPts val="0"/>
              </a:spcBef>
              <a:spcAft>
                <a:spcPts val="0"/>
              </a:spcAft>
              <a:buClr>
                <a:schemeClr val="lt1"/>
              </a:buClr>
              <a:buSzPts val="4000"/>
              <a:buNone/>
              <a:defRPr sz="4000">
                <a:solidFill>
                  <a:schemeClr val="lt1"/>
                </a:solidFill>
              </a:defRPr>
            </a:lvl2pPr>
            <a:lvl3pPr lvl="2">
              <a:spcBef>
                <a:spcPts val="0"/>
              </a:spcBef>
              <a:spcAft>
                <a:spcPts val="0"/>
              </a:spcAft>
              <a:buClr>
                <a:schemeClr val="lt1"/>
              </a:buClr>
              <a:buSzPts val="4000"/>
              <a:buNone/>
              <a:defRPr sz="4000">
                <a:solidFill>
                  <a:schemeClr val="lt1"/>
                </a:solidFill>
              </a:defRPr>
            </a:lvl3pPr>
            <a:lvl4pPr lvl="3">
              <a:spcBef>
                <a:spcPts val="0"/>
              </a:spcBef>
              <a:spcAft>
                <a:spcPts val="0"/>
              </a:spcAft>
              <a:buClr>
                <a:schemeClr val="lt1"/>
              </a:buClr>
              <a:buSzPts val="4000"/>
              <a:buNone/>
              <a:defRPr sz="4000">
                <a:solidFill>
                  <a:schemeClr val="lt1"/>
                </a:solidFill>
              </a:defRPr>
            </a:lvl4pPr>
            <a:lvl5pPr lvl="4">
              <a:spcBef>
                <a:spcPts val="0"/>
              </a:spcBef>
              <a:spcAft>
                <a:spcPts val="0"/>
              </a:spcAft>
              <a:buClr>
                <a:schemeClr val="lt1"/>
              </a:buClr>
              <a:buSzPts val="4000"/>
              <a:buNone/>
              <a:defRPr sz="4000">
                <a:solidFill>
                  <a:schemeClr val="lt1"/>
                </a:solidFill>
              </a:defRPr>
            </a:lvl5pPr>
            <a:lvl6pPr lvl="5">
              <a:spcBef>
                <a:spcPts val="0"/>
              </a:spcBef>
              <a:spcAft>
                <a:spcPts val="0"/>
              </a:spcAft>
              <a:buClr>
                <a:schemeClr val="lt1"/>
              </a:buClr>
              <a:buSzPts val="4000"/>
              <a:buNone/>
              <a:defRPr sz="4000">
                <a:solidFill>
                  <a:schemeClr val="lt1"/>
                </a:solidFill>
              </a:defRPr>
            </a:lvl6pPr>
            <a:lvl7pPr lvl="6">
              <a:spcBef>
                <a:spcPts val="0"/>
              </a:spcBef>
              <a:spcAft>
                <a:spcPts val="0"/>
              </a:spcAft>
              <a:buClr>
                <a:schemeClr val="lt1"/>
              </a:buClr>
              <a:buSzPts val="4000"/>
              <a:buNone/>
              <a:defRPr sz="4000">
                <a:solidFill>
                  <a:schemeClr val="lt1"/>
                </a:solidFill>
              </a:defRPr>
            </a:lvl7pPr>
            <a:lvl8pPr lvl="7">
              <a:spcBef>
                <a:spcPts val="0"/>
              </a:spcBef>
              <a:spcAft>
                <a:spcPts val="0"/>
              </a:spcAft>
              <a:buClr>
                <a:schemeClr val="lt1"/>
              </a:buClr>
              <a:buSzPts val="4000"/>
              <a:buNone/>
              <a:defRPr sz="4000">
                <a:solidFill>
                  <a:schemeClr val="lt1"/>
                </a:solidFill>
              </a:defRPr>
            </a:lvl8pPr>
            <a:lvl9pPr lvl="8">
              <a:spcBef>
                <a:spcPts val="0"/>
              </a:spcBef>
              <a:spcAft>
                <a:spcPts val="0"/>
              </a:spcAft>
              <a:buClr>
                <a:schemeClr val="lt1"/>
              </a:buClr>
              <a:buSzPts val="4000"/>
              <a:buNone/>
              <a:defRPr sz="4000">
                <a:solidFill>
                  <a:schemeClr val="lt1"/>
                </a:solidFill>
              </a:defRPr>
            </a:lvl9pPr>
          </a:lstStyle>
          <a:p/>
        </p:txBody>
      </p:sp>
      <p:sp>
        <p:nvSpPr>
          <p:cNvPr id="196" name="Google Shape;196;p22"/>
          <p:cNvSpPr txBox="1"/>
          <p:nvPr>
            <p:ph idx="12" type="sldNum"/>
          </p:nvPr>
        </p:nvSpPr>
        <p:spPr>
          <a:xfrm>
            <a:off x="8595350" y="4844418"/>
            <a:ext cx="473700" cy="216300"/>
          </a:xfrm>
          <a:prstGeom prst="rect">
            <a:avLst/>
          </a:prstGeom>
        </p:spPr>
        <p:txBody>
          <a:bodyPr anchorCtr="0" anchor="t" bIns="0" lIns="0" spcFirstLastPara="1" rIns="0" wrap="square" tIns="0">
            <a:noAutofit/>
          </a:bodyPr>
          <a:lstStyle>
            <a:lvl1pPr lvl="0">
              <a:buClr>
                <a:srgbClr val="000000"/>
              </a:buClr>
              <a:buFont typeface="Arial"/>
              <a:buNone/>
              <a:defRPr>
                <a:solidFill>
                  <a:schemeClr val="lt1"/>
                </a:solidFill>
              </a:defRPr>
            </a:lvl1pPr>
            <a:lvl2pPr lvl="1">
              <a:buClr>
                <a:srgbClr val="000000"/>
              </a:buClr>
              <a:buFont typeface="Arial"/>
              <a:buNone/>
              <a:defRPr>
                <a:solidFill>
                  <a:schemeClr val="lt1"/>
                </a:solidFill>
              </a:defRPr>
            </a:lvl2pPr>
            <a:lvl3pPr lvl="2">
              <a:buClr>
                <a:srgbClr val="000000"/>
              </a:buClr>
              <a:buFont typeface="Arial"/>
              <a:buNone/>
              <a:defRPr>
                <a:solidFill>
                  <a:schemeClr val="lt1"/>
                </a:solidFill>
              </a:defRPr>
            </a:lvl3pPr>
            <a:lvl4pPr lvl="3">
              <a:buClr>
                <a:srgbClr val="000000"/>
              </a:buClr>
              <a:buFont typeface="Arial"/>
              <a:buNone/>
              <a:defRPr>
                <a:solidFill>
                  <a:schemeClr val="lt1"/>
                </a:solidFill>
              </a:defRPr>
            </a:lvl4pPr>
            <a:lvl5pPr lvl="4">
              <a:buClr>
                <a:srgbClr val="000000"/>
              </a:buClr>
              <a:buFont typeface="Arial"/>
              <a:buNone/>
              <a:defRPr>
                <a:solidFill>
                  <a:schemeClr val="lt1"/>
                </a:solidFill>
              </a:defRPr>
            </a:lvl5pPr>
            <a:lvl6pPr lvl="5">
              <a:buClr>
                <a:srgbClr val="000000"/>
              </a:buClr>
              <a:buFont typeface="Arial"/>
              <a:buNone/>
              <a:defRPr>
                <a:solidFill>
                  <a:schemeClr val="lt1"/>
                </a:solidFill>
              </a:defRPr>
            </a:lvl6pPr>
            <a:lvl7pPr lvl="6">
              <a:buClr>
                <a:srgbClr val="000000"/>
              </a:buClr>
              <a:buFont typeface="Arial"/>
              <a:buNone/>
              <a:defRPr>
                <a:solidFill>
                  <a:schemeClr val="lt1"/>
                </a:solidFill>
              </a:defRPr>
            </a:lvl7pPr>
            <a:lvl8pPr lvl="7">
              <a:buClr>
                <a:srgbClr val="000000"/>
              </a:buClr>
              <a:buFont typeface="Arial"/>
              <a:buNone/>
              <a:defRPr>
                <a:solidFill>
                  <a:schemeClr val="lt1"/>
                </a:solidFill>
              </a:defRPr>
            </a:lvl8pPr>
            <a:lvl9pPr lvl="8">
              <a:buClr>
                <a:srgbClr val="000000"/>
              </a:buClr>
              <a:buFont typeface="Arial"/>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7" name="Google Shape;197;p22"/>
          <p:cNvSpPr txBox="1"/>
          <p:nvPr>
            <p:ph idx="1" type="subTitle"/>
          </p:nvPr>
        </p:nvSpPr>
        <p:spPr>
          <a:xfrm>
            <a:off x="410975" y="3020625"/>
            <a:ext cx="7305000" cy="626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1pPr>
            <a:lvl2pPr lvl="1">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2pPr>
            <a:lvl3pPr lvl="2">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3pPr>
            <a:lvl4pPr lvl="3">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4pPr>
            <a:lvl5pPr lvl="4">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5pPr>
            <a:lvl6pPr lvl="5">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6pPr>
            <a:lvl7pPr lvl="6">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7pPr>
            <a:lvl8pPr lvl="7">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8pPr>
            <a:lvl9pPr lvl="8">
              <a:spcBef>
                <a:spcPts val="0"/>
              </a:spcBef>
              <a:spcAft>
                <a:spcPts val="0"/>
              </a:spcAft>
              <a:buClr>
                <a:schemeClr val="accent1"/>
              </a:buClr>
              <a:buSzPts val="2800"/>
              <a:buFont typeface="Roboto"/>
              <a:buNone/>
              <a:defRPr sz="2800">
                <a:solidFill>
                  <a:schemeClr val="accent1"/>
                </a:solidFill>
                <a:latin typeface="Roboto"/>
                <a:ea typeface="Roboto"/>
                <a:cs typeface="Roboto"/>
                <a:sym typeface="Roboto"/>
              </a:defRPr>
            </a:lvl9pPr>
          </a:lstStyle>
          <a:p/>
        </p:txBody>
      </p:sp>
      <p:sp>
        <p:nvSpPr>
          <p:cNvPr id="198" name="Google Shape;198;p22"/>
          <p:cNvSpPr/>
          <p:nvPr/>
        </p:nvSpPr>
        <p:spPr>
          <a:xfrm>
            <a:off x="457200" y="91440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199" name="Google Shape;199;p22"/>
          <p:cNvSpPr/>
          <p:nvPr/>
        </p:nvSpPr>
        <p:spPr>
          <a:xfrm>
            <a:off x="6400800" y="4572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pic>
        <p:nvPicPr>
          <p:cNvPr id="200" name="Google Shape;200;p22"/>
          <p:cNvPicPr preferRelativeResize="0"/>
          <p:nvPr/>
        </p:nvPicPr>
        <p:blipFill rotWithShape="1">
          <a:blip r:embed="rId2">
            <a:alphaModFix/>
          </a:blip>
          <a:srcRect b="0" l="16764" r="0" t="0"/>
          <a:stretch/>
        </p:blipFill>
        <p:spPr>
          <a:xfrm rot="10800000">
            <a:off x="7338076" y="1759900"/>
            <a:ext cx="1805925" cy="2369900"/>
          </a:xfrm>
          <a:prstGeom prst="rect">
            <a:avLst/>
          </a:prstGeom>
          <a:noFill/>
          <a:ln>
            <a:noFill/>
          </a:ln>
        </p:spPr>
      </p:pic>
      <p:grpSp>
        <p:nvGrpSpPr>
          <p:cNvPr id="201" name="Google Shape;201;p22"/>
          <p:cNvGrpSpPr/>
          <p:nvPr/>
        </p:nvGrpSpPr>
        <p:grpSpPr>
          <a:xfrm>
            <a:off x="274320" y="4903516"/>
            <a:ext cx="3723568" cy="216328"/>
            <a:chOff x="544551" y="4903516"/>
            <a:chExt cx="3723568" cy="216328"/>
          </a:xfrm>
        </p:grpSpPr>
        <p:sp>
          <p:nvSpPr>
            <p:cNvPr id="202" name="Google Shape;202;p22"/>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lt1"/>
                </a:solidFill>
                <a:latin typeface="Roboto"/>
                <a:ea typeface="Roboto"/>
                <a:cs typeface="Roboto"/>
                <a:sym typeface="Roboto"/>
              </a:endParaRPr>
            </a:p>
          </p:txBody>
        </p:sp>
        <p:sp>
          <p:nvSpPr>
            <p:cNvPr id="203" name="Google Shape;203;p22"/>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lt1"/>
                  </a:solidFill>
                  <a:latin typeface="Roboto"/>
                  <a:ea typeface="Roboto"/>
                  <a:cs typeface="Roboto"/>
                  <a:sym typeface="Roboto"/>
                </a:rPr>
                <a:t>© </a:t>
              </a:r>
              <a:r>
                <a:rPr lang="en" sz="1000">
                  <a:solidFill>
                    <a:schemeClr val="lt1"/>
                  </a:solidFill>
                  <a:latin typeface="Roboto"/>
                  <a:ea typeface="Roboto"/>
                  <a:cs typeface="Roboto"/>
                  <a:sym typeface="Roboto"/>
                </a:rPr>
                <a:t>2025</a:t>
              </a:r>
              <a:r>
                <a:rPr i="0" lang="en" sz="1000">
                  <a:solidFill>
                    <a:schemeClr val="lt1"/>
                  </a:solidFill>
                  <a:latin typeface="Roboto"/>
                  <a:ea typeface="Roboto"/>
                  <a:cs typeface="Roboto"/>
                  <a:sym typeface="Roboto"/>
                </a:rPr>
                <a:t> Snowflake Inc. All Rights Reserved</a:t>
              </a:r>
              <a:endParaRPr sz="1000">
                <a:solidFill>
                  <a:schemeClr val="lt1"/>
                </a:solidFill>
                <a:latin typeface="Roboto"/>
                <a:ea typeface="Roboto"/>
                <a:cs typeface="Roboto"/>
                <a:sym typeface="Roboto"/>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p:cSld name="CUSTOM_2_1">
    <p:bg>
      <p:bgPr>
        <a:solidFill>
          <a:schemeClr val="accent1"/>
        </a:solidFill>
      </p:bgPr>
    </p:bg>
    <p:spTree>
      <p:nvGrpSpPr>
        <p:cNvPr id="204" name="Shape 204"/>
        <p:cNvGrpSpPr/>
        <p:nvPr/>
      </p:nvGrpSpPr>
      <p:grpSpPr>
        <a:xfrm>
          <a:off x="0" y="0"/>
          <a:ext cx="0" cy="0"/>
          <a:chOff x="0" y="0"/>
          <a:chExt cx="0" cy="0"/>
        </a:xfrm>
      </p:grpSpPr>
      <p:sp>
        <p:nvSpPr>
          <p:cNvPr id="205" name="Google Shape;205;p23"/>
          <p:cNvSpPr txBox="1"/>
          <p:nvPr>
            <p:ph type="title"/>
          </p:nvPr>
        </p:nvSpPr>
        <p:spPr>
          <a:xfrm>
            <a:off x="457200" y="2286000"/>
            <a:ext cx="7305000" cy="7881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4000"/>
              <a:buNone/>
              <a:defRPr sz="4000">
                <a:solidFill>
                  <a:schemeClr val="lt1"/>
                </a:solidFill>
              </a:defRPr>
            </a:lvl1pPr>
            <a:lvl2pPr lvl="1">
              <a:spcBef>
                <a:spcPts val="0"/>
              </a:spcBef>
              <a:spcAft>
                <a:spcPts val="0"/>
              </a:spcAft>
              <a:buClr>
                <a:schemeClr val="lt1"/>
              </a:buClr>
              <a:buSzPts val="4000"/>
              <a:buNone/>
              <a:defRPr sz="4000">
                <a:solidFill>
                  <a:schemeClr val="lt1"/>
                </a:solidFill>
              </a:defRPr>
            </a:lvl2pPr>
            <a:lvl3pPr lvl="2">
              <a:spcBef>
                <a:spcPts val="0"/>
              </a:spcBef>
              <a:spcAft>
                <a:spcPts val="0"/>
              </a:spcAft>
              <a:buClr>
                <a:schemeClr val="lt1"/>
              </a:buClr>
              <a:buSzPts val="4000"/>
              <a:buNone/>
              <a:defRPr sz="4000">
                <a:solidFill>
                  <a:schemeClr val="lt1"/>
                </a:solidFill>
              </a:defRPr>
            </a:lvl3pPr>
            <a:lvl4pPr lvl="3">
              <a:spcBef>
                <a:spcPts val="0"/>
              </a:spcBef>
              <a:spcAft>
                <a:spcPts val="0"/>
              </a:spcAft>
              <a:buClr>
                <a:schemeClr val="lt1"/>
              </a:buClr>
              <a:buSzPts val="4000"/>
              <a:buNone/>
              <a:defRPr sz="4000">
                <a:solidFill>
                  <a:schemeClr val="lt1"/>
                </a:solidFill>
              </a:defRPr>
            </a:lvl4pPr>
            <a:lvl5pPr lvl="4">
              <a:spcBef>
                <a:spcPts val="0"/>
              </a:spcBef>
              <a:spcAft>
                <a:spcPts val="0"/>
              </a:spcAft>
              <a:buClr>
                <a:schemeClr val="lt1"/>
              </a:buClr>
              <a:buSzPts val="4000"/>
              <a:buNone/>
              <a:defRPr sz="4000">
                <a:solidFill>
                  <a:schemeClr val="lt1"/>
                </a:solidFill>
              </a:defRPr>
            </a:lvl5pPr>
            <a:lvl6pPr lvl="5">
              <a:spcBef>
                <a:spcPts val="0"/>
              </a:spcBef>
              <a:spcAft>
                <a:spcPts val="0"/>
              </a:spcAft>
              <a:buClr>
                <a:schemeClr val="lt1"/>
              </a:buClr>
              <a:buSzPts val="4000"/>
              <a:buNone/>
              <a:defRPr sz="4000">
                <a:solidFill>
                  <a:schemeClr val="lt1"/>
                </a:solidFill>
              </a:defRPr>
            </a:lvl6pPr>
            <a:lvl7pPr lvl="6">
              <a:spcBef>
                <a:spcPts val="0"/>
              </a:spcBef>
              <a:spcAft>
                <a:spcPts val="0"/>
              </a:spcAft>
              <a:buClr>
                <a:schemeClr val="lt1"/>
              </a:buClr>
              <a:buSzPts val="4000"/>
              <a:buNone/>
              <a:defRPr sz="4000">
                <a:solidFill>
                  <a:schemeClr val="lt1"/>
                </a:solidFill>
              </a:defRPr>
            </a:lvl7pPr>
            <a:lvl8pPr lvl="7">
              <a:spcBef>
                <a:spcPts val="0"/>
              </a:spcBef>
              <a:spcAft>
                <a:spcPts val="0"/>
              </a:spcAft>
              <a:buClr>
                <a:schemeClr val="lt1"/>
              </a:buClr>
              <a:buSzPts val="4000"/>
              <a:buNone/>
              <a:defRPr sz="4000">
                <a:solidFill>
                  <a:schemeClr val="lt1"/>
                </a:solidFill>
              </a:defRPr>
            </a:lvl8pPr>
            <a:lvl9pPr lvl="8">
              <a:spcBef>
                <a:spcPts val="0"/>
              </a:spcBef>
              <a:spcAft>
                <a:spcPts val="0"/>
              </a:spcAft>
              <a:buClr>
                <a:schemeClr val="lt1"/>
              </a:buClr>
              <a:buSzPts val="4000"/>
              <a:buNone/>
              <a:defRPr sz="4000">
                <a:solidFill>
                  <a:schemeClr val="lt1"/>
                </a:solidFill>
              </a:defRPr>
            </a:lvl9pPr>
          </a:lstStyle>
          <a:p/>
        </p:txBody>
      </p:sp>
      <p:sp>
        <p:nvSpPr>
          <p:cNvPr id="206" name="Google Shape;206;p23"/>
          <p:cNvSpPr txBox="1"/>
          <p:nvPr>
            <p:ph idx="12" type="sldNum"/>
          </p:nvPr>
        </p:nvSpPr>
        <p:spPr>
          <a:xfrm>
            <a:off x="8595360" y="4901184"/>
            <a:ext cx="473700" cy="123000"/>
          </a:xfrm>
          <a:prstGeom prst="rect">
            <a:avLst/>
          </a:prstGeom>
        </p:spPr>
        <p:txBody>
          <a:bodyPr anchorCtr="0" anchor="t" bIns="91425" lIns="91425" spcFirstLastPara="1" rIns="91425" wrap="square" tIns="91425">
            <a:noAutofit/>
          </a:bodyPr>
          <a:lstStyle>
            <a:lvl1pPr lvl="0">
              <a:buNone/>
              <a:defRPr sz="1000">
                <a:solidFill>
                  <a:schemeClr val="lt1"/>
                </a:solidFill>
              </a:defRPr>
            </a:lvl1pPr>
            <a:lvl2pPr lvl="1">
              <a:buNone/>
              <a:defRPr sz="1000">
                <a:solidFill>
                  <a:schemeClr val="lt1"/>
                </a:solidFill>
              </a:defRPr>
            </a:lvl2pPr>
            <a:lvl3pPr lvl="2">
              <a:buNone/>
              <a:defRPr sz="1000">
                <a:solidFill>
                  <a:schemeClr val="lt1"/>
                </a:solidFill>
              </a:defRPr>
            </a:lvl3pPr>
            <a:lvl4pPr lvl="3">
              <a:buNone/>
              <a:defRPr sz="1000">
                <a:solidFill>
                  <a:schemeClr val="lt1"/>
                </a:solidFill>
              </a:defRPr>
            </a:lvl4pPr>
            <a:lvl5pPr lvl="4">
              <a:buNone/>
              <a:defRPr sz="1000">
                <a:solidFill>
                  <a:schemeClr val="lt1"/>
                </a:solidFill>
              </a:defRPr>
            </a:lvl5pPr>
            <a:lvl6pPr lvl="5">
              <a:buNone/>
              <a:defRPr sz="1000">
                <a:solidFill>
                  <a:schemeClr val="lt1"/>
                </a:solidFill>
              </a:defRPr>
            </a:lvl6pPr>
            <a:lvl7pPr lvl="6">
              <a:buNone/>
              <a:defRPr sz="1000">
                <a:solidFill>
                  <a:schemeClr val="lt1"/>
                </a:solidFill>
              </a:defRPr>
            </a:lvl7pPr>
            <a:lvl8pPr lvl="7">
              <a:buNone/>
              <a:defRPr sz="1000">
                <a:solidFill>
                  <a:schemeClr val="lt1"/>
                </a:solidFill>
              </a:defRPr>
            </a:lvl8pPr>
            <a:lvl9pPr lvl="8">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07" name="Google Shape;207;p23"/>
          <p:cNvSpPr txBox="1"/>
          <p:nvPr>
            <p:ph idx="1" type="subTitle"/>
          </p:nvPr>
        </p:nvSpPr>
        <p:spPr>
          <a:xfrm>
            <a:off x="457200" y="3017520"/>
            <a:ext cx="7305000" cy="626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pic>
        <p:nvPicPr>
          <p:cNvPr id="208" name="Google Shape;208;p23"/>
          <p:cNvPicPr preferRelativeResize="0"/>
          <p:nvPr/>
        </p:nvPicPr>
        <p:blipFill rotWithShape="1">
          <a:blip r:embed="rId2">
            <a:alphaModFix/>
          </a:blip>
          <a:srcRect b="0" l="16764" r="0" t="0"/>
          <a:stretch/>
        </p:blipFill>
        <p:spPr>
          <a:xfrm rot="10800000">
            <a:off x="7338076" y="1759900"/>
            <a:ext cx="1805925" cy="2369900"/>
          </a:xfrm>
          <a:prstGeom prst="rect">
            <a:avLst/>
          </a:prstGeom>
          <a:noFill/>
          <a:ln>
            <a:noFill/>
          </a:ln>
        </p:spPr>
      </p:pic>
      <p:grpSp>
        <p:nvGrpSpPr>
          <p:cNvPr id="209" name="Google Shape;209;p23"/>
          <p:cNvGrpSpPr/>
          <p:nvPr/>
        </p:nvGrpSpPr>
        <p:grpSpPr>
          <a:xfrm>
            <a:off x="274320" y="4903516"/>
            <a:ext cx="3723568" cy="216328"/>
            <a:chOff x="544551" y="4903516"/>
            <a:chExt cx="3723568" cy="216328"/>
          </a:xfrm>
        </p:grpSpPr>
        <p:sp>
          <p:nvSpPr>
            <p:cNvPr id="210" name="Google Shape;210;p23"/>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lt1"/>
                </a:solidFill>
                <a:latin typeface="Roboto"/>
                <a:ea typeface="Roboto"/>
                <a:cs typeface="Roboto"/>
                <a:sym typeface="Roboto"/>
              </a:endParaRPr>
            </a:p>
          </p:txBody>
        </p:sp>
        <p:sp>
          <p:nvSpPr>
            <p:cNvPr id="211" name="Google Shape;211;p23"/>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lt1"/>
                  </a:solidFill>
                  <a:latin typeface="Roboto"/>
                  <a:ea typeface="Roboto"/>
                  <a:cs typeface="Roboto"/>
                  <a:sym typeface="Roboto"/>
                </a:rPr>
                <a:t>© </a:t>
              </a:r>
              <a:r>
                <a:rPr lang="en" sz="1000">
                  <a:solidFill>
                    <a:schemeClr val="lt1"/>
                  </a:solidFill>
                  <a:latin typeface="Roboto"/>
                  <a:ea typeface="Roboto"/>
                  <a:cs typeface="Roboto"/>
                  <a:sym typeface="Roboto"/>
                </a:rPr>
                <a:t>2025</a:t>
              </a:r>
              <a:r>
                <a:rPr i="0" lang="en" sz="1000">
                  <a:solidFill>
                    <a:schemeClr val="lt1"/>
                  </a:solidFill>
                  <a:latin typeface="Roboto"/>
                  <a:ea typeface="Roboto"/>
                  <a:cs typeface="Roboto"/>
                  <a:sym typeface="Roboto"/>
                </a:rPr>
                <a:t> Snowflake Inc. All Rights Reserved</a:t>
              </a:r>
              <a:endParaRPr sz="1000">
                <a:solidFill>
                  <a:schemeClr val="lt1"/>
                </a:solidFill>
                <a:latin typeface="Roboto"/>
                <a:ea typeface="Roboto"/>
                <a:cs typeface="Roboto"/>
                <a:sym typeface="Roboto"/>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1">
  <p:cSld name="CUSTOM_1_3_1">
    <p:spTree>
      <p:nvGrpSpPr>
        <p:cNvPr id="212" name="Shape 212"/>
        <p:cNvGrpSpPr/>
        <p:nvPr/>
      </p:nvGrpSpPr>
      <p:grpSpPr>
        <a:xfrm>
          <a:off x="0" y="0"/>
          <a:ext cx="0" cy="0"/>
          <a:chOff x="0" y="0"/>
          <a:chExt cx="0" cy="0"/>
        </a:xfrm>
      </p:grpSpPr>
      <p:sp>
        <p:nvSpPr>
          <p:cNvPr id="213" name="Google Shape;213;p24"/>
          <p:cNvSpPr/>
          <p:nvPr/>
        </p:nvSpPr>
        <p:spPr>
          <a:xfrm>
            <a:off x="110850" y="126800"/>
            <a:ext cx="2086800" cy="83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4"/>
          <p:cNvSpPr/>
          <p:nvPr/>
        </p:nvSpPr>
        <p:spPr>
          <a:xfrm>
            <a:off x="-9175" y="0"/>
            <a:ext cx="24717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215" name="Google Shape;215;p24"/>
          <p:cNvPicPr preferRelativeResize="0"/>
          <p:nvPr/>
        </p:nvPicPr>
        <p:blipFill rotWithShape="1">
          <a:blip r:embed="rId2">
            <a:alphaModFix/>
          </a:blip>
          <a:srcRect b="37532" l="31404" r="32058" t="35443"/>
          <a:stretch/>
        </p:blipFill>
        <p:spPr>
          <a:xfrm>
            <a:off x="7917475" y="229790"/>
            <a:ext cx="998356" cy="276900"/>
          </a:xfrm>
          <a:prstGeom prst="rect">
            <a:avLst/>
          </a:prstGeom>
          <a:noFill/>
          <a:ln>
            <a:noFill/>
          </a:ln>
        </p:spPr>
      </p:pic>
      <p:sp>
        <p:nvSpPr>
          <p:cNvPr id="216" name="Google Shape;216;p24"/>
          <p:cNvSpPr/>
          <p:nvPr/>
        </p:nvSpPr>
        <p:spPr>
          <a:xfrm>
            <a:off x="237525"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2025 Snowflake Inc. All Rights Reserved</a:t>
            </a:r>
            <a:endParaRPr b="0" i="0" sz="600" u="none" cap="none" strike="noStrike">
              <a:solidFill>
                <a:schemeClr val="lt1"/>
              </a:solidFill>
              <a:latin typeface="Arial"/>
              <a:ea typeface="Arial"/>
              <a:cs typeface="Arial"/>
              <a:sym typeface="Arial"/>
            </a:endParaRPr>
          </a:p>
        </p:txBody>
      </p:sp>
      <p:grpSp>
        <p:nvGrpSpPr>
          <p:cNvPr id="217" name="Google Shape;217;p24"/>
          <p:cNvGrpSpPr/>
          <p:nvPr/>
        </p:nvGrpSpPr>
        <p:grpSpPr>
          <a:xfrm>
            <a:off x="237510" y="1267288"/>
            <a:ext cx="330392" cy="240643"/>
            <a:chOff x="865451" y="2114550"/>
            <a:chExt cx="3399093" cy="2475755"/>
          </a:xfrm>
        </p:grpSpPr>
        <p:sp>
          <p:nvSpPr>
            <p:cNvPr id="218" name="Google Shape;218;p24"/>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9" name="Google Shape;219;p24"/>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220" name="Google Shape;220;p24"/>
          <p:cNvSpPr txBox="1"/>
          <p:nvPr>
            <p:ph type="title"/>
          </p:nvPr>
        </p:nvSpPr>
        <p:spPr>
          <a:xfrm>
            <a:off x="2613600" y="152750"/>
            <a:ext cx="5121300" cy="626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sz="2100">
                <a:solidFill>
                  <a:schemeClr val="accent1"/>
                </a:solidFill>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21" name="Google Shape;221;p24"/>
          <p:cNvSpPr txBox="1"/>
          <p:nvPr>
            <p:ph idx="1" type="body"/>
          </p:nvPr>
        </p:nvSpPr>
        <p:spPr>
          <a:xfrm>
            <a:off x="2537300" y="1154225"/>
            <a:ext cx="2093100" cy="3812100"/>
          </a:xfrm>
          <a:prstGeom prst="rect">
            <a:avLst/>
          </a:prstGeom>
          <a:noFill/>
          <a:ln>
            <a:noFill/>
          </a:ln>
        </p:spPr>
        <p:txBody>
          <a:bodyPr anchorCtr="0" anchor="t" bIns="0" lIns="0" spcFirstLastPara="1" rIns="0" wrap="square" tIns="27430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sp>
        <p:nvSpPr>
          <p:cNvPr id="222" name="Google Shape;222;p24"/>
          <p:cNvSpPr txBox="1"/>
          <p:nvPr>
            <p:ph idx="2" type="body"/>
          </p:nvPr>
        </p:nvSpPr>
        <p:spPr>
          <a:xfrm>
            <a:off x="237525" y="1630900"/>
            <a:ext cx="2164800" cy="2441400"/>
          </a:xfrm>
          <a:prstGeom prst="rect">
            <a:avLst/>
          </a:prstGeom>
          <a:noFill/>
          <a:ln>
            <a:noFill/>
          </a:ln>
        </p:spPr>
        <p:txBody>
          <a:bodyPr anchorCtr="0" anchor="t" bIns="0" lIns="0" spcFirstLastPara="1" rIns="0" wrap="square" tIns="0">
            <a:noAutofit/>
          </a:bodyPr>
          <a:lstStyle>
            <a:lvl1pPr indent="-406400" lvl="0" marL="457200" marR="0" algn="l">
              <a:lnSpc>
                <a:spcPct val="150000"/>
              </a:lnSpc>
              <a:spcBef>
                <a:spcPts val="0"/>
              </a:spcBef>
              <a:spcAft>
                <a:spcPts val="0"/>
              </a:spcAft>
              <a:buClr>
                <a:schemeClr val="lt1"/>
              </a:buClr>
              <a:buSzPts val="2800"/>
              <a:buFont typeface="Roboto"/>
              <a:buChar char="•"/>
              <a:defRPr b="1" sz="1200">
                <a:solidFill>
                  <a:schemeClr val="lt1"/>
                </a:solidFill>
                <a:latin typeface="Roboto"/>
                <a:ea typeface="Roboto"/>
                <a:cs typeface="Roboto"/>
                <a:sym typeface="Roboto"/>
              </a:defRPr>
            </a:lvl1pPr>
            <a:lvl2pPr indent="-406400" lvl="1" marL="9144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2pPr>
            <a:lvl3pPr indent="-406400" lvl="2" marL="13716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3pPr>
            <a:lvl4pPr indent="-406400" lvl="3" marL="18288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4pPr>
            <a:lvl5pPr indent="-406400" lvl="4" marL="22860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5pPr>
            <a:lvl6pPr indent="-406400" lvl="5" marL="27432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6pPr>
            <a:lvl7pPr indent="-406400" lvl="6" marL="32004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7pPr>
            <a:lvl8pPr indent="-406400" lvl="7" marL="3657600" marR="0" algn="l">
              <a:lnSpc>
                <a:spcPct val="150000"/>
              </a:lnSpc>
              <a:spcBef>
                <a:spcPts val="500"/>
              </a:spcBef>
              <a:spcAft>
                <a:spcPts val="0"/>
              </a:spcAft>
              <a:buClr>
                <a:schemeClr val="lt1"/>
              </a:buClr>
              <a:buSzPts val="2800"/>
              <a:buFont typeface="Roboto"/>
              <a:buChar char="•"/>
              <a:defRPr b="1" sz="1200">
                <a:solidFill>
                  <a:schemeClr val="lt1"/>
                </a:solidFill>
                <a:latin typeface="Roboto"/>
                <a:ea typeface="Roboto"/>
                <a:cs typeface="Roboto"/>
                <a:sym typeface="Roboto"/>
              </a:defRPr>
            </a:lvl8pPr>
            <a:lvl9pPr indent="-406400" lvl="8" marL="4114800" marR="0" algn="l">
              <a:lnSpc>
                <a:spcPct val="150000"/>
              </a:lnSpc>
              <a:spcBef>
                <a:spcPts val="500"/>
              </a:spcBef>
              <a:spcAft>
                <a:spcPts val="500"/>
              </a:spcAft>
              <a:buClr>
                <a:schemeClr val="lt1"/>
              </a:buClr>
              <a:buSzPts val="2800"/>
              <a:buFont typeface="Roboto"/>
              <a:buChar char="•"/>
              <a:defRPr b="1" sz="1200">
                <a:solidFill>
                  <a:schemeClr val="lt1"/>
                </a:solidFill>
                <a:latin typeface="Roboto"/>
                <a:ea typeface="Roboto"/>
                <a:cs typeface="Roboto"/>
                <a:sym typeface="Roboto"/>
              </a:defRPr>
            </a:lvl9pPr>
          </a:lstStyle>
          <a:p/>
        </p:txBody>
      </p:sp>
      <p:grpSp>
        <p:nvGrpSpPr>
          <p:cNvPr id="223" name="Google Shape;223;p24"/>
          <p:cNvGrpSpPr/>
          <p:nvPr/>
        </p:nvGrpSpPr>
        <p:grpSpPr>
          <a:xfrm>
            <a:off x="2547316" y="957794"/>
            <a:ext cx="2093100" cy="325200"/>
            <a:chOff x="2547316" y="957794"/>
            <a:chExt cx="2093100" cy="325200"/>
          </a:xfrm>
        </p:grpSpPr>
        <p:sp>
          <p:nvSpPr>
            <p:cNvPr id="224" name="Google Shape;224;p24"/>
            <p:cNvSpPr/>
            <p:nvPr/>
          </p:nvSpPr>
          <p:spPr>
            <a:xfrm>
              <a:off x="2547316" y="957794"/>
              <a:ext cx="2093100" cy="325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Problem</a:t>
              </a:r>
              <a:endParaRPr b="1" i="0" sz="1300" u="none" cap="none" strike="noStrike">
                <a:solidFill>
                  <a:schemeClr val="dk1"/>
                </a:solidFill>
                <a:latin typeface="Roboto"/>
                <a:ea typeface="Roboto"/>
                <a:cs typeface="Roboto"/>
                <a:sym typeface="Roboto"/>
              </a:endParaRPr>
            </a:p>
          </p:txBody>
        </p:sp>
        <p:sp>
          <p:nvSpPr>
            <p:cNvPr id="225" name="Google Shape;225;p24"/>
            <p:cNvSpPr/>
            <p:nvPr/>
          </p:nvSpPr>
          <p:spPr>
            <a:xfrm>
              <a:off x="2547316" y="957794"/>
              <a:ext cx="363300" cy="325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226" name="Google Shape;226;p24"/>
          <p:cNvSpPr txBox="1"/>
          <p:nvPr>
            <p:ph idx="3" type="body"/>
          </p:nvPr>
        </p:nvSpPr>
        <p:spPr>
          <a:xfrm>
            <a:off x="4739454" y="1154225"/>
            <a:ext cx="2103000" cy="3812100"/>
          </a:xfrm>
          <a:prstGeom prst="rect">
            <a:avLst/>
          </a:prstGeom>
          <a:noFill/>
          <a:ln>
            <a:noFill/>
          </a:ln>
        </p:spPr>
        <p:txBody>
          <a:bodyPr anchorCtr="0" anchor="t" bIns="0" lIns="0" spcFirstLastPara="1" rIns="0" wrap="square" tIns="27430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227" name="Google Shape;227;p24"/>
          <p:cNvGrpSpPr/>
          <p:nvPr/>
        </p:nvGrpSpPr>
        <p:grpSpPr>
          <a:xfrm>
            <a:off x="4739523" y="957794"/>
            <a:ext cx="2103009" cy="325161"/>
            <a:chOff x="236657" y="1466712"/>
            <a:chExt cx="2633700" cy="457200"/>
          </a:xfrm>
        </p:grpSpPr>
        <p:sp>
          <p:nvSpPr>
            <p:cNvPr id="228" name="Google Shape;228;p24"/>
            <p:cNvSpPr/>
            <p:nvPr/>
          </p:nvSpPr>
          <p:spPr>
            <a:xfrm>
              <a:off x="236657" y="1466712"/>
              <a:ext cx="2633700" cy="457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Solution</a:t>
              </a:r>
              <a:endParaRPr b="1" i="0" sz="1300" u="none" cap="none" strike="noStrike">
                <a:solidFill>
                  <a:schemeClr val="dk1"/>
                </a:solidFill>
                <a:latin typeface="Roboto"/>
                <a:ea typeface="Roboto"/>
                <a:cs typeface="Roboto"/>
                <a:sym typeface="Roboto"/>
              </a:endParaRPr>
            </a:p>
          </p:txBody>
        </p:sp>
        <p:sp>
          <p:nvSpPr>
            <p:cNvPr id="229" name="Google Shape;229;p24"/>
            <p:cNvSpPr/>
            <p:nvPr/>
          </p:nvSpPr>
          <p:spPr>
            <a:xfrm>
              <a:off x="236657" y="1466712"/>
              <a:ext cx="457200" cy="457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230" name="Google Shape;230;p24"/>
          <p:cNvSpPr txBox="1"/>
          <p:nvPr>
            <p:ph idx="4" type="body"/>
          </p:nvPr>
        </p:nvSpPr>
        <p:spPr>
          <a:xfrm>
            <a:off x="6942269" y="1154175"/>
            <a:ext cx="2103000" cy="3812100"/>
          </a:xfrm>
          <a:prstGeom prst="rect">
            <a:avLst/>
          </a:prstGeom>
          <a:noFill/>
          <a:ln>
            <a:noFill/>
          </a:ln>
        </p:spPr>
        <p:txBody>
          <a:bodyPr anchorCtr="0" anchor="t" bIns="0" lIns="0" spcFirstLastPara="1" rIns="0" wrap="square" tIns="27430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231" name="Google Shape;231;p24"/>
          <p:cNvGrpSpPr/>
          <p:nvPr/>
        </p:nvGrpSpPr>
        <p:grpSpPr>
          <a:xfrm>
            <a:off x="6942341" y="957744"/>
            <a:ext cx="2103009" cy="325161"/>
            <a:chOff x="236657" y="1466712"/>
            <a:chExt cx="2633700" cy="457200"/>
          </a:xfrm>
        </p:grpSpPr>
        <p:sp>
          <p:nvSpPr>
            <p:cNvPr id="232" name="Google Shape;232;p24"/>
            <p:cNvSpPr/>
            <p:nvPr/>
          </p:nvSpPr>
          <p:spPr>
            <a:xfrm>
              <a:off x="236657" y="1466712"/>
              <a:ext cx="2633700" cy="457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Results</a:t>
              </a:r>
              <a:endParaRPr b="1" i="0" sz="1300" u="none" cap="none" strike="noStrike">
                <a:solidFill>
                  <a:schemeClr val="dk1"/>
                </a:solidFill>
                <a:latin typeface="Roboto"/>
                <a:ea typeface="Roboto"/>
                <a:cs typeface="Roboto"/>
                <a:sym typeface="Roboto"/>
              </a:endParaRPr>
            </a:p>
          </p:txBody>
        </p:sp>
        <p:sp>
          <p:nvSpPr>
            <p:cNvPr id="233" name="Google Shape;233;p24"/>
            <p:cNvSpPr/>
            <p:nvPr/>
          </p:nvSpPr>
          <p:spPr>
            <a:xfrm>
              <a:off x="236657" y="1466712"/>
              <a:ext cx="457200" cy="457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234" name="Google Shape;234;p24"/>
          <p:cNvSpPr/>
          <p:nvPr/>
        </p:nvSpPr>
        <p:spPr>
          <a:xfrm flipH="1" rot="10800000">
            <a:off x="287675" y="10350"/>
            <a:ext cx="1880100" cy="1006800"/>
          </a:xfrm>
          <a:prstGeom prst="round2SameRect">
            <a:avLst>
              <a:gd fmla="val 32648"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1 1">
  <p:cSld name="CUSTOM_1_3_1_1">
    <p:spTree>
      <p:nvGrpSpPr>
        <p:cNvPr id="235" name="Shape 235"/>
        <p:cNvGrpSpPr/>
        <p:nvPr/>
      </p:nvGrpSpPr>
      <p:grpSpPr>
        <a:xfrm>
          <a:off x="0" y="0"/>
          <a:ext cx="0" cy="0"/>
          <a:chOff x="0" y="0"/>
          <a:chExt cx="0" cy="0"/>
        </a:xfrm>
      </p:grpSpPr>
      <p:sp>
        <p:nvSpPr>
          <p:cNvPr id="236" name="Google Shape;236;p25"/>
          <p:cNvSpPr/>
          <p:nvPr/>
        </p:nvSpPr>
        <p:spPr>
          <a:xfrm>
            <a:off x="110850" y="126800"/>
            <a:ext cx="2086800" cy="83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5"/>
          <p:cNvSpPr/>
          <p:nvPr/>
        </p:nvSpPr>
        <p:spPr>
          <a:xfrm>
            <a:off x="-9175" y="0"/>
            <a:ext cx="9144000" cy="1819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38" name="Google Shape;238;p25"/>
          <p:cNvSpPr/>
          <p:nvPr/>
        </p:nvSpPr>
        <p:spPr>
          <a:xfrm>
            <a:off x="237525"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2025 Snowflake Inc. All Rights Reserved</a:t>
            </a:r>
            <a:endParaRPr b="0" i="0" sz="600" u="none" cap="none" strike="noStrike">
              <a:solidFill>
                <a:schemeClr val="lt1"/>
              </a:solidFill>
              <a:latin typeface="Arial"/>
              <a:ea typeface="Arial"/>
              <a:cs typeface="Arial"/>
              <a:sym typeface="Arial"/>
            </a:endParaRPr>
          </a:p>
        </p:txBody>
      </p:sp>
      <p:sp>
        <p:nvSpPr>
          <p:cNvPr id="239" name="Google Shape;239;p25"/>
          <p:cNvSpPr txBox="1"/>
          <p:nvPr>
            <p:ph type="title"/>
          </p:nvPr>
        </p:nvSpPr>
        <p:spPr>
          <a:xfrm>
            <a:off x="1842800" y="30625"/>
            <a:ext cx="5427000" cy="831000"/>
          </a:xfrm>
          <a:prstGeom prst="rect">
            <a:avLst/>
          </a:prstGeom>
          <a:noFill/>
          <a:ln>
            <a:noFill/>
          </a:ln>
        </p:spPr>
        <p:txBody>
          <a:bodyPr anchorCtr="0" anchor="t" bIns="91425" lIns="91425" spcFirstLastPara="1" rIns="91425" wrap="square" tIns="91425">
            <a:noAutofit/>
          </a:bodyPr>
          <a:lstStyle>
            <a:lvl1pPr lvl="0">
              <a:lnSpc>
                <a:spcPct val="105000"/>
              </a:lnSpc>
              <a:spcBef>
                <a:spcPts val="0"/>
              </a:spcBef>
              <a:spcAft>
                <a:spcPts val="0"/>
              </a:spcAft>
              <a:buClr>
                <a:schemeClr val="lt1"/>
              </a:buClr>
              <a:buSzPts val="1800"/>
              <a:buNone/>
              <a:defRPr sz="1800">
                <a:solidFill>
                  <a:schemeClr val="lt1"/>
                </a:solidFill>
              </a:defRPr>
            </a:lvl1pPr>
            <a:lvl2pPr lvl="1" algn="ctr">
              <a:lnSpc>
                <a:spcPct val="105000"/>
              </a:lnSpc>
              <a:spcBef>
                <a:spcPts val="1000"/>
              </a:spcBef>
              <a:spcAft>
                <a:spcPts val="0"/>
              </a:spcAft>
              <a:buClr>
                <a:schemeClr val="lt1"/>
              </a:buClr>
              <a:buSzPts val="1800"/>
              <a:buNone/>
              <a:defRPr sz="1800">
                <a:solidFill>
                  <a:schemeClr val="lt1"/>
                </a:solidFill>
              </a:defRPr>
            </a:lvl2pPr>
            <a:lvl3pPr lvl="2" algn="ctr">
              <a:lnSpc>
                <a:spcPct val="105000"/>
              </a:lnSpc>
              <a:spcBef>
                <a:spcPts val="1000"/>
              </a:spcBef>
              <a:spcAft>
                <a:spcPts val="0"/>
              </a:spcAft>
              <a:buClr>
                <a:schemeClr val="lt1"/>
              </a:buClr>
              <a:buSzPts val="1800"/>
              <a:buNone/>
              <a:defRPr sz="1800">
                <a:solidFill>
                  <a:schemeClr val="lt1"/>
                </a:solidFill>
              </a:defRPr>
            </a:lvl3pPr>
            <a:lvl4pPr lvl="3" algn="ctr">
              <a:lnSpc>
                <a:spcPct val="105000"/>
              </a:lnSpc>
              <a:spcBef>
                <a:spcPts val="1000"/>
              </a:spcBef>
              <a:spcAft>
                <a:spcPts val="0"/>
              </a:spcAft>
              <a:buClr>
                <a:schemeClr val="lt1"/>
              </a:buClr>
              <a:buSzPts val="1800"/>
              <a:buNone/>
              <a:defRPr sz="1800">
                <a:solidFill>
                  <a:schemeClr val="lt1"/>
                </a:solidFill>
              </a:defRPr>
            </a:lvl4pPr>
            <a:lvl5pPr lvl="4" algn="ctr">
              <a:lnSpc>
                <a:spcPct val="105000"/>
              </a:lnSpc>
              <a:spcBef>
                <a:spcPts val="1000"/>
              </a:spcBef>
              <a:spcAft>
                <a:spcPts val="0"/>
              </a:spcAft>
              <a:buClr>
                <a:schemeClr val="lt1"/>
              </a:buClr>
              <a:buSzPts val="1800"/>
              <a:buNone/>
              <a:defRPr sz="1800">
                <a:solidFill>
                  <a:schemeClr val="lt1"/>
                </a:solidFill>
              </a:defRPr>
            </a:lvl5pPr>
            <a:lvl6pPr lvl="5" algn="ctr">
              <a:lnSpc>
                <a:spcPct val="105000"/>
              </a:lnSpc>
              <a:spcBef>
                <a:spcPts val="1000"/>
              </a:spcBef>
              <a:spcAft>
                <a:spcPts val="0"/>
              </a:spcAft>
              <a:buClr>
                <a:schemeClr val="lt1"/>
              </a:buClr>
              <a:buSzPts val="1800"/>
              <a:buNone/>
              <a:defRPr sz="1800">
                <a:solidFill>
                  <a:schemeClr val="lt1"/>
                </a:solidFill>
              </a:defRPr>
            </a:lvl6pPr>
            <a:lvl7pPr lvl="6" algn="ctr">
              <a:lnSpc>
                <a:spcPct val="105000"/>
              </a:lnSpc>
              <a:spcBef>
                <a:spcPts val="1000"/>
              </a:spcBef>
              <a:spcAft>
                <a:spcPts val="0"/>
              </a:spcAft>
              <a:buClr>
                <a:schemeClr val="lt1"/>
              </a:buClr>
              <a:buSzPts val="1800"/>
              <a:buNone/>
              <a:defRPr sz="1800">
                <a:solidFill>
                  <a:schemeClr val="lt1"/>
                </a:solidFill>
              </a:defRPr>
            </a:lvl7pPr>
            <a:lvl8pPr lvl="7" algn="ctr">
              <a:lnSpc>
                <a:spcPct val="105000"/>
              </a:lnSpc>
              <a:spcBef>
                <a:spcPts val="1000"/>
              </a:spcBef>
              <a:spcAft>
                <a:spcPts val="0"/>
              </a:spcAft>
              <a:buClr>
                <a:schemeClr val="lt1"/>
              </a:buClr>
              <a:buSzPts val="1800"/>
              <a:buNone/>
              <a:defRPr sz="1800">
                <a:solidFill>
                  <a:schemeClr val="lt1"/>
                </a:solidFill>
              </a:defRPr>
            </a:lvl8pPr>
            <a:lvl9pPr lvl="8" algn="ctr">
              <a:lnSpc>
                <a:spcPct val="105000"/>
              </a:lnSpc>
              <a:spcBef>
                <a:spcPts val="1000"/>
              </a:spcBef>
              <a:spcAft>
                <a:spcPts val="1000"/>
              </a:spcAft>
              <a:buClr>
                <a:schemeClr val="lt1"/>
              </a:buClr>
              <a:buSzPts val="1800"/>
              <a:buNone/>
              <a:defRPr sz="1800">
                <a:solidFill>
                  <a:schemeClr val="lt1"/>
                </a:solidFill>
              </a:defRPr>
            </a:lvl9pPr>
          </a:lstStyle>
          <a:p/>
        </p:txBody>
      </p:sp>
      <p:sp>
        <p:nvSpPr>
          <p:cNvPr id="240" name="Google Shape;240;p25"/>
          <p:cNvSpPr txBox="1"/>
          <p:nvPr>
            <p:ph idx="1" type="body"/>
          </p:nvPr>
        </p:nvSpPr>
        <p:spPr>
          <a:xfrm>
            <a:off x="3153100" y="2241150"/>
            <a:ext cx="2834700" cy="2520000"/>
          </a:xfrm>
          <a:prstGeom prst="rect">
            <a:avLst/>
          </a:prstGeom>
          <a:noFill/>
          <a:ln>
            <a:noFill/>
          </a:ln>
        </p:spPr>
        <p:txBody>
          <a:bodyPr anchorCtr="0" anchor="t" bIns="0" lIns="0" spcFirstLastPara="1" rIns="0" wrap="square" tIns="91425">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241" name="Google Shape;241;p25"/>
          <p:cNvGrpSpPr/>
          <p:nvPr/>
        </p:nvGrpSpPr>
        <p:grpSpPr>
          <a:xfrm>
            <a:off x="3153094" y="1909617"/>
            <a:ext cx="2834574" cy="325206"/>
            <a:chOff x="2547316" y="957794"/>
            <a:chExt cx="3059113" cy="325206"/>
          </a:xfrm>
        </p:grpSpPr>
        <p:sp>
          <p:nvSpPr>
            <p:cNvPr id="242" name="Google Shape;242;p25"/>
            <p:cNvSpPr/>
            <p:nvPr/>
          </p:nvSpPr>
          <p:spPr>
            <a:xfrm>
              <a:off x="2547328" y="957800"/>
              <a:ext cx="3059100" cy="325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Solution</a:t>
              </a:r>
              <a:endParaRPr b="1" i="0" sz="1300" u="none" cap="none" strike="noStrike">
                <a:solidFill>
                  <a:schemeClr val="dk1"/>
                </a:solidFill>
                <a:latin typeface="Roboto"/>
                <a:ea typeface="Roboto"/>
                <a:cs typeface="Roboto"/>
                <a:sym typeface="Roboto"/>
              </a:endParaRPr>
            </a:p>
          </p:txBody>
        </p:sp>
        <p:sp>
          <p:nvSpPr>
            <p:cNvPr id="243" name="Google Shape;243;p25"/>
            <p:cNvSpPr/>
            <p:nvPr/>
          </p:nvSpPr>
          <p:spPr>
            <a:xfrm>
              <a:off x="2547316" y="957794"/>
              <a:ext cx="363300" cy="325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244" name="Google Shape;244;p25"/>
          <p:cNvSpPr txBox="1"/>
          <p:nvPr>
            <p:ph idx="2" type="body"/>
          </p:nvPr>
        </p:nvSpPr>
        <p:spPr>
          <a:xfrm>
            <a:off x="6081375" y="2241150"/>
            <a:ext cx="2834700" cy="2520000"/>
          </a:xfrm>
          <a:prstGeom prst="rect">
            <a:avLst/>
          </a:prstGeom>
          <a:noFill/>
          <a:ln>
            <a:noFill/>
          </a:ln>
        </p:spPr>
        <p:txBody>
          <a:bodyPr anchorCtr="0" anchor="t" bIns="0" lIns="0" spcFirstLastPara="1" rIns="0" wrap="square" tIns="91425">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245" name="Google Shape;245;p25"/>
          <p:cNvGrpSpPr/>
          <p:nvPr/>
        </p:nvGrpSpPr>
        <p:grpSpPr>
          <a:xfrm>
            <a:off x="6081688" y="1909630"/>
            <a:ext cx="2834561" cy="325167"/>
            <a:chOff x="236657" y="1466712"/>
            <a:chExt cx="3831005" cy="457209"/>
          </a:xfrm>
        </p:grpSpPr>
        <p:sp>
          <p:nvSpPr>
            <p:cNvPr id="246" name="Google Shape;246;p25"/>
            <p:cNvSpPr/>
            <p:nvPr/>
          </p:nvSpPr>
          <p:spPr>
            <a:xfrm>
              <a:off x="236662" y="1466721"/>
              <a:ext cx="3831000" cy="457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Results</a:t>
              </a:r>
              <a:endParaRPr b="1" i="0" sz="1300" u="none" cap="none" strike="noStrike">
                <a:solidFill>
                  <a:schemeClr val="dk1"/>
                </a:solidFill>
                <a:latin typeface="Roboto"/>
                <a:ea typeface="Roboto"/>
                <a:cs typeface="Roboto"/>
                <a:sym typeface="Roboto"/>
              </a:endParaRPr>
            </a:p>
          </p:txBody>
        </p:sp>
        <p:sp>
          <p:nvSpPr>
            <p:cNvPr id="247" name="Google Shape;247;p25"/>
            <p:cNvSpPr/>
            <p:nvPr/>
          </p:nvSpPr>
          <p:spPr>
            <a:xfrm>
              <a:off x="236657" y="1466712"/>
              <a:ext cx="457200" cy="457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grpSp>
        <p:nvGrpSpPr>
          <p:cNvPr id="248" name="Google Shape;248;p25"/>
          <p:cNvGrpSpPr/>
          <p:nvPr/>
        </p:nvGrpSpPr>
        <p:grpSpPr>
          <a:xfrm>
            <a:off x="224598" y="1900744"/>
            <a:ext cx="2834476" cy="325167"/>
            <a:chOff x="236657" y="1466712"/>
            <a:chExt cx="3435313" cy="457209"/>
          </a:xfrm>
        </p:grpSpPr>
        <p:sp>
          <p:nvSpPr>
            <p:cNvPr id="249" name="Google Shape;249;p25"/>
            <p:cNvSpPr/>
            <p:nvPr/>
          </p:nvSpPr>
          <p:spPr>
            <a:xfrm>
              <a:off x="236670" y="1466721"/>
              <a:ext cx="3435300" cy="4572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300">
                  <a:solidFill>
                    <a:schemeClr val="dk1"/>
                  </a:solidFill>
                  <a:latin typeface="Roboto"/>
                  <a:ea typeface="Roboto"/>
                  <a:cs typeface="Roboto"/>
                  <a:sym typeface="Roboto"/>
                </a:rPr>
                <a:t>Problem</a:t>
              </a:r>
              <a:endParaRPr b="1" i="0" sz="1300" u="none" cap="none" strike="noStrike">
                <a:solidFill>
                  <a:schemeClr val="dk1"/>
                </a:solidFill>
                <a:latin typeface="Roboto"/>
                <a:ea typeface="Roboto"/>
                <a:cs typeface="Roboto"/>
                <a:sym typeface="Roboto"/>
              </a:endParaRPr>
            </a:p>
          </p:txBody>
        </p:sp>
        <p:sp>
          <p:nvSpPr>
            <p:cNvPr id="250" name="Google Shape;250;p25"/>
            <p:cNvSpPr/>
            <p:nvPr/>
          </p:nvSpPr>
          <p:spPr>
            <a:xfrm>
              <a:off x="236657" y="1466712"/>
              <a:ext cx="457200" cy="457200"/>
            </a:xfrm>
            <a:prstGeom prst="ellipse">
              <a:avLst/>
            </a:prstGeom>
            <a:solidFill>
              <a:schemeClr val="accen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lang="en" sz="2300">
                  <a:solidFill>
                    <a:schemeClr val="lt1"/>
                  </a:solidFill>
                </a:rPr>
                <a:t>$</a:t>
              </a:r>
              <a:endParaRPr b="1" i="0" sz="2300" u="none" cap="none" strike="noStrike">
                <a:solidFill>
                  <a:schemeClr val="lt1"/>
                </a:solidFill>
              </a:endParaRPr>
            </a:p>
          </p:txBody>
        </p:sp>
      </p:grpSp>
      <p:sp>
        <p:nvSpPr>
          <p:cNvPr id="251" name="Google Shape;251;p25"/>
          <p:cNvSpPr/>
          <p:nvPr/>
        </p:nvSpPr>
        <p:spPr>
          <a:xfrm flipH="1" rot="10800000">
            <a:off x="203600" y="10450"/>
            <a:ext cx="1593600" cy="861900"/>
          </a:xfrm>
          <a:prstGeom prst="round2SameRect">
            <a:avLst>
              <a:gd fmla="val 32648"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25"/>
          <p:cNvSpPr/>
          <p:nvPr/>
        </p:nvSpPr>
        <p:spPr>
          <a:xfrm>
            <a:off x="224625" y="929293"/>
            <a:ext cx="8691600" cy="790500"/>
          </a:xfrm>
          <a:prstGeom prst="roundRect">
            <a:avLst>
              <a:gd fmla="val 50000" name="adj"/>
            </a:avLst>
          </a:prstGeom>
          <a:solidFill>
            <a:schemeClr val="lt1"/>
          </a:solidFill>
          <a:ln cap="flat" cmpd="sng" w="2540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274300" spcFirstLastPara="1" rIns="0"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1200" u="none" cap="none" strike="noStrike">
              <a:solidFill>
                <a:schemeClr val="dk1"/>
              </a:solidFill>
              <a:latin typeface="Roboto"/>
              <a:ea typeface="Roboto"/>
              <a:cs typeface="Roboto"/>
              <a:sym typeface="Roboto"/>
            </a:endParaRPr>
          </a:p>
        </p:txBody>
      </p:sp>
      <p:sp>
        <p:nvSpPr>
          <p:cNvPr id="253" name="Google Shape;253;p25"/>
          <p:cNvSpPr/>
          <p:nvPr/>
        </p:nvSpPr>
        <p:spPr>
          <a:xfrm>
            <a:off x="4140452" y="-1084873"/>
            <a:ext cx="1453923" cy="325199"/>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54" name="Google Shape;254;p25"/>
          <p:cNvSpPr txBox="1"/>
          <p:nvPr>
            <p:ph idx="3" type="body"/>
          </p:nvPr>
        </p:nvSpPr>
        <p:spPr>
          <a:xfrm>
            <a:off x="419214" y="946708"/>
            <a:ext cx="8287200" cy="751800"/>
          </a:xfrm>
          <a:prstGeom prst="rect">
            <a:avLst/>
          </a:prstGeom>
          <a:noFill/>
          <a:ln>
            <a:noFill/>
          </a:ln>
        </p:spPr>
        <p:txBody>
          <a:bodyPr anchorCtr="0" anchor="ctr" bIns="0" lIns="91425"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5" name="Google Shape;255;p25"/>
          <p:cNvSpPr txBox="1"/>
          <p:nvPr>
            <p:ph idx="4" type="body"/>
          </p:nvPr>
        </p:nvSpPr>
        <p:spPr>
          <a:xfrm>
            <a:off x="224825" y="2255825"/>
            <a:ext cx="2834700" cy="2520000"/>
          </a:xfrm>
          <a:prstGeom prst="rect">
            <a:avLst/>
          </a:prstGeom>
          <a:noFill/>
          <a:ln>
            <a:noFill/>
          </a:ln>
        </p:spPr>
        <p:txBody>
          <a:bodyPr anchorCtr="0" anchor="t" bIns="0" lIns="0" spcFirstLastPara="1" rIns="0" wrap="square" tIns="91425">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grpSp>
        <p:nvGrpSpPr>
          <p:cNvPr id="256" name="Google Shape;256;p25"/>
          <p:cNvGrpSpPr/>
          <p:nvPr/>
        </p:nvGrpSpPr>
        <p:grpSpPr>
          <a:xfrm>
            <a:off x="274320" y="4903516"/>
            <a:ext cx="3723568" cy="216328"/>
            <a:chOff x="544551" y="4903516"/>
            <a:chExt cx="3723568" cy="216328"/>
          </a:xfrm>
        </p:grpSpPr>
        <p:sp>
          <p:nvSpPr>
            <p:cNvPr id="257" name="Google Shape;257;p25"/>
            <p:cNvSpPr/>
            <p:nvPr/>
          </p:nvSpPr>
          <p:spPr>
            <a:xfrm>
              <a:off x="544551" y="4903516"/>
              <a:ext cx="189349" cy="180022"/>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Roboto"/>
                <a:ea typeface="Roboto"/>
                <a:cs typeface="Roboto"/>
                <a:sym typeface="Roboto"/>
              </a:endParaRPr>
            </a:p>
          </p:txBody>
        </p:sp>
        <p:sp>
          <p:nvSpPr>
            <p:cNvPr id="258" name="Google Shape;258;p25"/>
            <p:cNvSpPr/>
            <p:nvPr/>
          </p:nvSpPr>
          <p:spPr>
            <a:xfrm>
              <a:off x="805819" y="4919743"/>
              <a:ext cx="3462300" cy="2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 sz="1000">
                  <a:solidFill>
                    <a:schemeClr val="dk1"/>
                  </a:solidFill>
                  <a:latin typeface="Roboto"/>
                  <a:ea typeface="Roboto"/>
                  <a:cs typeface="Roboto"/>
                  <a:sym typeface="Roboto"/>
                </a:rPr>
                <a:t>© </a:t>
              </a:r>
              <a:r>
                <a:rPr lang="en" sz="1000">
                  <a:solidFill>
                    <a:schemeClr val="dk1"/>
                  </a:solidFill>
                  <a:latin typeface="Roboto"/>
                  <a:ea typeface="Roboto"/>
                  <a:cs typeface="Roboto"/>
                  <a:sym typeface="Roboto"/>
                </a:rPr>
                <a:t>2025</a:t>
              </a:r>
              <a:r>
                <a:rPr i="0" lang="en" sz="1000">
                  <a:solidFill>
                    <a:schemeClr val="dk1"/>
                  </a:solidFill>
                  <a:latin typeface="Roboto"/>
                  <a:ea typeface="Roboto"/>
                  <a:cs typeface="Roboto"/>
                  <a:sym typeface="Roboto"/>
                </a:rPr>
                <a:t> Snowflake Inc. All Rights Reserved</a:t>
              </a:r>
              <a:endParaRPr sz="1000">
                <a:solidFill>
                  <a:schemeClr val="dk1"/>
                </a:solidFill>
                <a:latin typeface="Roboto"/>
                <a:ea typeface="Roboto"/>
                <a:cs typeface="Roboto"/>
                <a:sym typeface="Roboto"/>
              </a:endParaRPr>
            </a:p>
          </p:txBody>
        </p:sp>
      </p:grpSp>
      <p:sp>
        <p:nvSpPr>
          <p:cNvPr id="259" name="Google Shape;259;p25"/>
          <p:cNvSpPr/>
          <p:nvPr/>
        </p:nvSpPr>
        <p:spPr>
          <a:xfrm flipH="1" rot="10800000">
            <a:off x="7322475" y="10450"/>
            <a:ext cx="1593600" cy="861900"/>
          </a:xfrm>
          <a:prstGeom prst="round2SameRect">
            <a:avLst>
              <a:gd fmla="val 32648"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0" name="Google Shape;260;p25"/>
          <p:cNvPicPr preferRelativeResize="0"/>
          <p:nvPr/>
        </p:nvPicPr>
        <p:blipFill rotWithShape="1">
          <a:blip r:embed="rId2">
            <a:alphaModFix/>
          </a:blip>
          <a:srcRect b="37532" l="31404" r="32058" t="35443"/>
          <a:stretch/>
        </p:blipFill>
        <p:spPr>
          <a:xfrm>
            <a:off x="7392314" y="200367"/>
            <a:ext cx="1453925" cy="40325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p:cSld name="CUSTOM_1_3">
    <p:spTree>
      <p:nvGrpSpPr>
        <p:cNvPr id="261" name="Shape 261"/>
        <p:cNvGrpSpPr/>
        <p:nvPr/>
      </p:nvGrpSpPr>
      <p:grpSpPr>
        <a:xfrm>
          <a:off x="0" y="0"/>
          <a:ext cx="0" cy="0"/>
          <a:chOff x="0" y="0"/>
          <a:chExt cx="0" cy="0"/>
        </a:xfrm>
      </p:grpSpPr>
      <p:sp>
        <p:nvSpPr>
          <p:cNvPr id="262" name="Google Shape;262;p26"/>
          <p:cNvSpPr/>
          <p:nvPr/>
        </p:nvSpPr>
        <p:spPr>
          <a:xfrm>
            <a:off x="110850" y="126800"/>
            <a:ext cx="2086800" cy="83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6"/>
          <p:cNvSpPr/>
          <p:nvPr/>
        </p:nvSpPr>
        <p:spPr>
          <a:xfrm>
            <a:off x="-9175" y="0"/>
            <a:ext cx="24717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264" name="Google Shape;264;p26"/>
          <p:cNvPicPr preferRelativeResize="0"/>
          <p:nvPr/>
        </p:nvPicPr>
        <p:blipFill rotWithShape="1">
          <a:blip r:embed="rId2">
            <a:alphaModFix/>
          </a:blip>
          <a:srcRect b="37532" l="31404" r="32058" t="35443"/>
          <a:stretch/>
        </p:blipFill>
        <p:spPr>
          <a:xfrm>
            <a:off x="7917475" y="229790"/>
            <a:ext cx="998356" cy="276900"/>
          </a:xfrm>
          <a:prstGeom prst="rect">
            <a:avLst/>
          </a:prstGeom>
          <a:noFill/>
          <a:ln>
            <a:noFill/>
          </a:ln>
        </p:spPr>
      </p:pic>
      <p:pic>
        <p:nvPicPr>
          <p:cNvPr id="265" name="Google Shape;265;p26"/>
          <p:cNvPicPr preferRelativeResize="0"/>
          <p:nvPr/>
        </p:nvPicPr>
        <p:blipFill rotWithShape="1">
          <a:blip r:embed="rId3">
            <a:alphaModFix/>
          </a:blip>
          <a:srcRect b="0" l="0" r="0" t="0"/>
          <a:stretch/>
        </p:blipFill>
        <p:spPr>
          <a:xfrm>
            <a:off x="417108" y="456695"/>
            <a:ext cx="1385426" cy="358275"/>
          </a:xfrm>
          <a:prstGeom prst="rect">
            <a:avLst/>
          </a:prstGeom>
          <a:noFill/>
          <a:ln>
            <a:noFill/>
          </a:ln>
        </p:spPr>
      </p:pic>
      <p:sp>
        <p:nvSpPr>
          <p:cNvPr id="266" name="Google Shape;266;p26"/>
          <p:cNvSpPr/>
          <p:nvPr/>
        </p:nvSpPr>
        <p:spPr>
          <a:xfrm>
            <a:off x="237525"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2025 Snowflake Inc. All Rights Reserved</a:t>
            </a:r>
            <a:endParaRPr b="0" i="0" sz="600" u="none" cap="none" strike="noStrike">
              <a:solidFill>
                <a:schemeClr val="lt1"/>
              </a:solidFill>
              <a:latin typeface="Arial"/>
              <a:ea typeface="Arial"/>
              <a:cs typeface="Arial"/>
              <a:sym typeface="Arial"/>
            </a:endParaRPr>
          </a:p>
        </p:txBody>
      </p:sp>
      <p:sp>
        <p:nvSpPr>
          <p:cNvPr id="267" name="Google Shape;267;p26"/>
          <p:cNvSpPr/>
          <p:nvPr/>
        </p:nvSpPr>
        <p:spPr>
          <a:xfrm>
            <a:off x="110850" y="-432150"/>
            <a:ext cx="2086800" cy="1389900"/>
          </a:xfrm>
          <a:prstGeom prst="roundRect">
            <a:avLst>
              <a:gd fmla="val 33693"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6"/>
          <p:cNvSpPr/>
          <p:nvPr/>
        </p:nvSpPr>
        <p:spPr>
          <a:xfrm>
            <a:off x="-9050" y="-528950"/>
            <a:ext cx="2471700" cy="509700"/>
          </a:xfrm>
          <a:prstGeom prst="rect">
            <a:avLst/>
          </a:prstGeom>
          <a:solidFill>
            <a:srgbClr val="F9FB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6"/>
          <p:cNvSpPr/>
          <p:nvPr/>
        </p:nvSpPr>
        <p:spPr>
          <a:xfrm>
            <a:off x="2689375" y="1177575"/>
            <a:ext cx="2059500" cy="3303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2"/>
                </a:solidFill>
                <a:latin typeface="Roboto"/>
                <a:ea typeface="Roboto"/>
                <a:cs typeface="Roboto"/>
                <a:sym typeface="Roboto"/>
              </a:rPr>
              <a:t>        PROBLEM</a:t>
            </a:r>
            <a:endParaRPr b="1" i="0" sz="1500" u="none" cap="none" strike="noStrike">
              <a:solidFill>
                <a:schemeClr val="dk2"/>
              </a:solidFill>
              <a:latin typeface="Roboto"/>
              <a:ea typeface="Roboto"/>
              <a:cs typeface="Roboto"/>
              <a:sym typeface="Roboto"/>
            </a:endParaRPr>
          </a:p>
          <a:p>
            <a:pPr indent="0" lvl="0" marL="114300" marR="0" rtl="0" algn="l">
              <a:lnSpc>
                <a:spcPct val="115000"/>
              </a:lnSpc>
              <a:spcBef>
                <a:spcPts val="800"/>
              </a:spcBef>
              <a:spcAft>
                <a:spcPts val="800"/>
              </a:spcAft>
              <a:buClr>
                <a:srgbClr val="000000"/>
              </a:buClr>
              <a:buSzPts val="1000"/>
              <a:buFont typeface="Arial"/>
              <a:buNone/>
            </a:pPr>
            <a:r>
              <a:t/>
            </a:r>
            <a:endParaRPr i="0" sz="1000" u="none" cap="none" strike="noStrike">
              <a:solidFill>
                <a:srgbClr val="222222"/>
              </a:solidFill>
              <a:latin typeface="Roboto"/>
              <a:ea typeface="Roboto"/>
              <a:cs typeface="Roboto"/>
              <a:sym typeface="Roboto"/>
            </a:endParaRPr>
          </a:p>
        </p:txBody>
      </p:sp>
      <p:sp>
        <p:nvSpPr>
          <p:cNvPr id="270" name="Google Shape;270;p26"/>
          <p:cNvSpPr/>
          <p:nvPr/>
        </p:nvSpPr>
        <p:spPr>
          <a:xfrm>
            <a:off x="4853875" y="1177575"/>
            <a:ext cx="2059500" cy="3303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2"/>
                </a:solidFill>
                <a:latin typeface="Roboto"/>
                <a:ea typeface="Roboto"/>
                <a:cs typeface="Roboto"/>
                <a:sym typeface="Roboto"/>
              </a:rPr>
              <a:t>        SOLUTION</a:t>
            </a:r>
            <a:endParaRPr b="1" i="0" sz="1500" u="none" cap="none" strike="noStrike">
              <a:solidFill>
                <a:schemeClr val="dk2"/>
              </a:solidFill>
              <a:latin typeface="Roboto"/>
              <a:ea typeface="Roboto"/>
              <a:cs typeface="Roboto"/>
              <a:sym typeface="Roboto"/>
            </a:endParaRPr>
          </a:p>
          <a:p>
            <a:pPr indent="0" lvl="0" marL="114300" marR="0" rtl="0" algn="l">
              <a:lnSpc>
                <a:spcPct val="115000"/>
              </a:lnSpc>
              <a:spcBef>
                <a:spcPts val="800"/>
              </a:spcBef>
              <a:spcAft>
                <a:spcPts val="800"/>
              </a:spcAft>
              <a:buClr>
                <a:srgbClr val="000000"/>
              </a:buClr>
              <a:buSzPts val="1000"/>
              <a:buFont typeface="Arial"/>
              <a:buNone/>
            </a:pPr>
            <a:r>
              <a:t/>
            </a:r>
            <a:endParaRPr i="0" sz="1000" u="none" cap="none" strike="noStrike">
              <a:solidFill>
                <a:srgbClr val="222222"/>
              </a:solidFill>
              <a:latin typeface="Roboto"/>
              <a:ea typeface="Roboto"/>
              <a:cs typeface="Roboto"/>
              <a:sym typeface="Roboto"/>
            </a:endParaRPr>
          </a:p>
        </p:txBody>
      </p:sp>
      <p:sp>
        <p:nvSpPr>
          <p:cNvPr id="271" name="Google Shape;271;p26"/>
          <p:cNvSpPr/>
          <p:nvPr/>
        </p:nvSpPr>
        <p:spPr>
          <a:xfrm>
            <a:off x="7018375" y="1177575"/>
            <a:ext cx="2059500" cy="3303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2"/>
                </a:solidFill>
                <a:latin typeface="Roboto"/>
                <a:ea typeface="Roboto"/>
                <a:cs typeface="Roboto"/>
                <a:sym typeface="Roboto"/>
              </a:rPr>
              <a:t>        RESULTS</a:t>
            </a:r>
            <a:endParaRPr b="1" i="0" sz="1500" u="none" cap="none" strike="noStrike">
              <a:solidFill>
                <a:schemeClr val="dk2"/>
              </a:solidFill>
              <a:latin typeface="Roboto"/>
              <a:ea typeface="Roboto"/>
              <a:cs typeface="Roboto"/>
              <a:sym typeface="Roboto"/>
            </a:endParaRPr>
          </a:p>
          <a:p>
            <a:pPr indent="0" lvl="0" marL="114300" marR="0" rtl="0" algn="l">
              <a:lnSpc>
                <a:spcPct val="115000"/>
              </a:lnSpc>
              <a:spcBef>
                <a:spcPts val="800"/>
              </a:spcBef>
              <a:spcAft>
                <a:spcPts val="800"/>
              </a:spcAft>
              <a:buClr>
                <a:srgbClr val="000000"/>
              </a:buClr>
              <a:buSzPts val="1000"/>
              <a:buFont typeface="Arial"/>
              <a:buNone/>
            </a:pPr>
            <a:r>
              <a:t/>
            </a:r>
            <a:endParaRPr i="0" sz="1000" u="none" cap="none" strike="noStrike">
              <a:solidFill>
                <a:srgbClr val="222222"/>
              </a:solidFill>
              <a:latin typeface="Roboto"/>
              <a:ea typeface="Roboto"/>
              <a:cs typeface="Roboto"/>
              <a:sym typeface="Roboto"/>
            </a:endParaRPr>
          </a:p>
        </p:txBody>
      </p:sp>
      <p:grpSp>
        <p:nvGrpSpPr>
          <p:cNvPr id="272" name="Google Shape;272;p26"/>
          <p:cNvGrpSpPr/>
          <p:nvPr/>
        </p:nvGrpSpPr>
        <p:grpSpPr>
          <a:xfrm>
            <a:off x="4853869" y="1177564"/>
            <a:ext cx="330445" cy="330445"/>
            <a:chOff x="4124995" y="188535"/>
            <a:chExt cx="605100" cy="605100"/>
          </a:xfrm>
        </p:grpSpPr>
        <p:sp>
          <p:nvSpPr>
            <p:cNvPr id="273" name="Google Shape;273;p26"/>
            <p:cNvSpPr/>
            <p:nvPr/>
          </p:nvSpPr>
          <p:spPr>
            <a:xfrm>
              <a:off x="4124995" y="188535"/>
              <a:ext cx="605100" cy="605100"/>
            </a:xfrm>
            <a:prstGeom prst="ellipse">
              <a:avLst/>
            </a:prstGeom>
            <a:solidFill>
              <a:srgbClr val="28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74" name="Google Shape;274;p26"/>
            <p:cNvSpPr/>
            <p:nvPr/>
          </p:nvSpPr>
          <p:spPr>
            <a:xfrm>
              <a:off x="4267781" y="317337"/>
              <a:ext cx="319565" cy="347532"/>
            </a:xfrm>
            <a:custGeom>
              <a:rect b="b" l="l" r="r" t="t"/>
              <a:pathLst>
                <a:path extrusionOk="0" h="8997" w="8273">
                  <a:moveTo>
                    <a:pt x="4202" y="0"/>
                  </a:moveTo>
                  <a:cubicBezTo>
                    <a:pt x="4015" y="0"/>
                    <a:pt x="3862" y="152"/>
                    <a:pt x="3862" y="339"/>
                  </a:cubicBezTo>
                  <a:lnTo>
                    <a:pt x="3862" y="1176"/>
                  </a:lnTo>
                  <a:cubicBezTo>
                    <a:pt x="3862" y="1364"/>
                    <a:pt x="4015" y="1516"/>
                    <a:pt x="4202" y="1516"/>
                  </a:cubicBezTo>
                  <a:cubicBezTo>
                    <a:pt x="4389" y="1516"/>
                    <a:pt x="4542" y="1364"/>
                    <a:pt x="4542" y="1176"/>
                  </a:cubicBezTo>
                  <a:lnTo>
                    <a:pt x="4542" y="339"/>
                  </a:lnTo>
                  <a:cubicBezTo>
                    <a:pt x="4542" y="152"/>
                    <a:pt x="4389" y="0"/>
                    <a:pt x="4202" y="0"/>
                  </a:cubicBezTo>
                  <a:close/>
                  <a:moveTo>
                    <a:pt x="1498" y="1063"/>
                  </a:moveTo>
                  <a:cubicBezTo>
                    <a:pt x="1411" y="1063"/>
                    <a:pt x="1325" y="1096"/>
                    <a:pt x="1258" y="1163"/>
                  </a:cubicBezTo>
                  <a:cubicBezTo>
                    <a:pt x="1124" y="1297"/>
                    <a:pt x="1124" y="1512"/>
                    <a:pt x="1258" y="1644"/>
                  </a:cubicBezTo>
                  <a:lnTo>
                    <a:pt x="1852" y="2237"/>
                  </a:lnTo>
                  <a:cubicBezTo>
                    <a:pt x="1917" y="2304"/>
                    <a:pt x="2005" y="2336"/>
                    <a:pt x="2092" y="2336"/>
                  </a:cubicBezTo>
                  <a:cubicBezTo>
                    <a:pt x="2177" y="2336"/>
                    <a:pt x="2265" y="2304"/>
                    <a:pt x="2331" y="2237"/>
                  </a:cubicBezTo>
                  <a:cubicBezTo>
                    <a:pt x="2465" y="2103"/>
                    <a:pt x="2465" y="1888"/>
                    <a:pt x="2331" y="1756"/>
                  </a:cubicBezTo>
                  <a:lnTo>
                    <a:pt x="1739" y="1163"/>
                  </a:lnTo>
                  <a:cubicBezTo>
                    <a:pt x="1672" y="1096"/>
                    <a:pt x="1585" y="1063"/>
                    <a:pt x="1498" y="1063"/>
                  </a:cubicBezTo>
                  <a:close/>
                  <a:moveTo>
                    <a:pt x="6869" y="1158"/>
                  </a:moveTo>
                  <a:cubicBezTo>
                    <a:pt x="6782" y="1158"/>
                    <a:pt x="6696" y="1191"/>
                    <a:pt x="6629" y="1258"/>
                  </a:cubicBezTo>
                  <a:lnTo>
                    <a:pt x="6036" y="1851"/>
                  </a:lnTo>
                  <a:cubicBezTo>
                    <a:pt x="5903" y="1984"/>
                    <a:pt x="5903" y="2200"/>
                    <a:pt x="6036" y="2332"/>
                  </a:cubicBezTo>
                  <a:cubicBezTo>
                    <a:pt x="6103" y="2399"/>
                    <a:pt x="6191" y="2430"/>
                    <a:pt x="6275" y="2431"/>
                  </a:cubicBezTo>
                  <a:cubicBezTo>
                    <a:pt x="6363" y="2431"/>
                    <a:pt x="6451" y="2399"/>
                    <a:pt x="6517" y="2332"/>
                  </a:cubicBezTo>
                  <a:lnTo>
                    <a:pt x="7108" y="1739"/>
                  </a:lnTo>
                  <a:cubicBezTo>
                    <a:pt x="7242" y="1606"/>
                    <a:pt x="7242" y="1390"/>
                    <a:pt x="7108" y="1258"/>
                  </a:cubicBezTo>
                  <a:cubicBezTo>
                    <a:pt x="7042" y="1191"/>
                    <a:pt x="6955" y="1158"/>
                    <a:pt x="6869" y="1158"/>
                  </a:cubicBezTo>
                  <a:close/>
                  <a:moveTo>
                    <a:pt x="340" y="3731"/>
                  </a:moveTo>
                  <a:cubicBezTo>
                    <a:pt x="151" y="3731"/>
                    <a:pt x="0" y="3884"/>
                    <a:pt x="0" y="4071"/>
                  </a:cubicBezTo>
                  <a:cubicBezTo>
                    <a:pt x="0" y="4258"/>
                    <a:pt x="151" y="4411"/>
                    <a:pt x="340" y="4411"/>
                  </a:cubicBezTo>
                  <a:lnTo>
                    <a:pt x="1176" y="4411"/>
                  </a:lnTo>
                  <a:cubicBezTo>
                    <a:pt x="1365" y="4411"/>
                    <a:pt x="1516" y="4258"/>
                    <a:pt x="1516" y="4071"/>
                  </a:cubicBezTo>
                  <a:cubicBezTo>
                    <a:pt x="1516" y="3884"/>
                    <a:pt x="1365" y="3731"/>
                    <a:pt x="1176" y="3731"/>
                  </a:cubicBezTo>
                  <a:close/>
                  <a:moveTo>
                    <a:pt x="7935" y="3864"/>
                  </a:moveTo>
                  <a:cubicBezTo>
                    <a:pt x="7934" y="3864"/>
                    <a:pt x="7933" y="3864"/>
                    <a:pt x="7933" y="3864"/>
                  </a:cubicBezTo>
                  <a:lnTo>
                    <a:pt x="7097" y="3864"/>
                  </a:lnTo>
                  <a:cubicBezTo>
                    <a:pt x="6908" y="3864"/>
                    <a:pt x="6756" y="4016"/>
                    <a:pt x="6756" y="4204"/>
                  </a:cubicBezTo>
                  <a:cubicBezTo>
                    <a:pt x="6756" y="4391"/>
                    <a:pt x="6908" y="4544"/>
                    <a:pt x="7097" y="4544"/>
                  </a:cubicBezTo>
                  <a:lnTo>
                    <a:pt x="7933" y="4544"/>
                  </a:lnTo>
                  <a:cubicBezTo>
                    <a:pt x="8121" y="4544"/>
                    <a:pt x="8273" y="4391"/>
                    <a:pt x="8273" y="4204"/>
                  </a:cubicBezTo>
                  <a:cubicBezTo>
                    <a:pt x="8273" y="4015"/>
                    <a:pt x="8124" y="3864"/>
                    <a:pt x="7935" y="3864"/>
                  </a:cubicBezTo>
                  <a:close/>
                  <a:moveTo>
                    <a:pt x="4142" y="2342"/>
                  </a:moveTo>
                  <a:cubicBezTo>
                    <a:pt x="5111" y="2342"/>
                    <a:pt x="5903" y="3129"/>
                    <a:pt x="5903" y="4094"/>
                  </a:cubicBezTo>
                  <a:cubicBezTo>
                    <a:pt x="5904" y="4697"/>
                    <a:pt x="5653" y="5201"/>
                    <a:pt x="5199" y="5511"/>
                  </a:cubicBezTo>
                  <a:cubicBezTo>
                    <a:pt x="5116" y="5569"/>
                    <a:pt x="5062" y="5660"/>
                    <a:pt x="5052" y="5762"/>
                  </a:cubicBezTo>
                  <a:lnTo>
                    <a:pt x="3215" y="5762"/>
                  </a:lnTo>
                  <a:cubicBezTo>
                    <a:pt x="3206" y="5661"/>
                    <a:pt x="3154" y="5569"/>
                    <a:pt x="3069" y="5511"/>
                  </a:cubicBezTo>
                  <a:cubicBezTo>
                    <a:pt x="2616" y="5202"/>
                    <a:pt x="2368" y="4700"/>
                    <a:pt x="2368" y="4094"/>
                  </a:cubicBezTo>
                  <a:cubicBezTo>
                    <a:pt x="2368" y="3128"/>
                    <a:pt x="3164" y="2342"/>
                    <a:pt x="4142" y="2342"/>
                  </a:cubicBezTo>
                  <a:close/>
                  <a:moveTo>
                    <a:pt x="5029" y="6196"/>
                  </a:moveTo>
                  <a:lnTo>
                    <a:pt x="4997" y="6816"/>
                  </a:lnTo>
                  <a:lnTo>
                    <a:pt x="3251" y="6524"/>
                  </a:lnTo>
                  <a:lnTo>
                    <a:pt x="3237" y="6196"/>
                  </a:lnTo>
                  <a:close/>
                  <a:moveTo>
                    <a:pt x="3268" y="6969"/>
                  </a:moveTo>
                  <a:lnTo>
                    <a:pt x="4975" y="7254"/>
                  </a:lnTo>
                  <a:lnTo>
                    <a:pt x="4958" y="7566"/>
                  </a:lnTo>
                  <a:lnTo>
                    <a:pt x="3292" y="7566"/>
                  </a:lnTo>
                  <a:lnTo>
                    <a:pt x="3268" y="6969"/>
                  </a:lnTo>
                  <a:close/>
                  <a:moveTo>
                    <a:pt x="4639" y="8245"/>
                  </a:moveTo>
                  <a:cubicBezTo>
                    <a:pt x="4547" y="8430"/>
                    <a:pt x="4358" y="8561"/>
                    <a:pt x="4137" y="8561"/>
                  </a:cubicBezTo>
                  <a:cubicBezTo>
                    <a:pt x="3916" y="8561"/>
                    <a:pt x="3727" y="8430"/>
                    <a:pt x="3634" y="8245"/>
                  </a:cubicBezTo>
                  <a:close/>
                  <a:moveTo>
                    <a:pt x="4143" y="1664"/>
                  </a:moveTo>
                  <a:cubicBezTo>
                    <a:pt x="2790" y="1664"/>
                    <a:pt x="1691" y="2755"/>
                    <a:pt x="1691" y="4094"/>
                  </a:cubicBezTo>
                  <a:cubicBezTo>
                    <a:pt x="1691" y="4856"/>
                    <a:pt x="2000" y="5529"/>
                    <a:pt x="2548" y="5967"/>
                  </a:cubicBezTo>
                  <a:lnTo>
                    <a:pt x="2627" y="7918"/>
                  </a:lnTo>
                  <a:cubicBezTo>
                    <a:pt x="2634" y="8101"/>
                    <a:pt x="2784" y="8245"/>
                    <a:pt x="2965" y="8245"/>
                  </a:cubicBezTo>
                  <a:lnTo>
                    <a:pt x="3176" y="8245"/>
                  </a:lnTo>
                  <a:cubicBezTo>
                    <a:pt x="3285" y="8675"/>
                    <a:pt x="3674" y="8996"/>
                    <a:pt x="4137" y="8996"/>
                  </a:cubicBezTo>
                  <a:cubicBezTo>
                    <a:pt x="4602" y="8996"/>
                    <a:pt x="4989" y="8675"/>
                    <a:pt x="5099" y="8245"/>
                  </a:cubicBezTo>
                  <a:lnTo>
                    <a:pt x="5280" y="8245"/>
                  </a:lnTo>
                  <a:cubicBezTo>
                    <a:pt x="5460" y="8245"/>
                    <a:pt x="5612" y="8104"/>
                    <a:pt x="5620" y="7923"/>
                  </a:cubicBezTo>
                  <a:lnTo>
                    <a:pt x="5723" y="5970"/>
                  </a:lnTo>
                  <a:cubicBezTo>
                    <a:pt x="6272" y="5529"/>
                    <a:pt x="6584" y="4856"/>
                    <a:pt x="6584" y="4094"/>
                  </a:cubicBezTo>
                  <a:cubicBezTo>
                    <a:pt x="6584" y="2752"/>
                    <a:pt x="5488" y="1664"/>
                    <a:pt x="4143" y="1664"/>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52525"/>
                </a:buClr>
                <a:buSzPts val="1800"/>
                <a:buFont typeface="Arial"/>
                <a:buNone/>
              </a:pPr>
              <a:r>
                <a:t/>
              </a:r>
              <a:endParaRPr b="0" i="0" sz="1800" u="none" cap="none" strike="noStrike">
                <a:solidFill>
                  <a:srgbClr val="252525"/>
                </a:solidFill>
                <a:latin typeface="Arial"/>
                <a:ea typeface="Arial"/>
                <a:cs typeface="Arial"/>
                <a:sym typeface="Arial"/>
              </a:endParaRPr>
            </a:p>
          </p:txBody>
        </p:sp>
      </p:grpSp>
      <p:grpSp>
        <p:nvGrpSpPr>
          <p:cNvPr id="275" name="Google Shape;275;p26"/>
          <p:cNvGrpSpPr/>
          <p:nvPr/>
        </p:nvGrpSpPr>
        <p:grpSpPr>
          <a:xfrm>
            <a:off x="7018373" y="1177564"/>
            <a:ext cx="330445" cy="330445"/>
            <a:chOff x="5652137" y="188535"/>
            <a:chExt cx="605100" cy="605100"/>
          </a:xfrm>
        </p:grpSpPr>
        <p:sp>
          <p:nvSpPr>
            <p:cNvPr id="276" name="Google Shape;276;p26"/>
            <p:cNvSpPr/>
            <p:nvPr/>
          </p:nvSpPr>
          <p:spPr>
            <a:xfrm>
              <a:off x="5652137" y="188535"/>
              <a:ext cx="605100" cy="605100"/>
            </a:xfrm>
            <a:prstGeom prst="ellipse">
              <a:avLst/>
            </a:prstGeom>
            <a:solidFill>
              <a:srgbClr val="28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77" name="Google Shape;277;p26"/>
            <p:cNvSpPr/>
            <p:nvPr/>
          </p:nvSpPr>
          <p:spPr>
            <a:xfrm>
              <a:off x="5819453" y="354399"/>
              <a:ext cx="283472" cy="234496"/>
            </a:xfrm>
            <a:custGeom>
              <a:rect b="b" l="l" r="r" t="t"/>
              <a:pathLst>
                <a:path extrusionOk="0" h="7565" w="9145">
                  <a:moveTo>
                    <a:pt x="2329" y="3686"/>
                  </a:moveTo>
                  <a:lnTo>
                    <a:pt x="2329" y="6861"/>
                  </a:lnTo>
                  <a:lnTo>
                    <a:pt x="707" y="6861"/>
                  </a:lnTo>
                  <a:lnTo>
                    <a:pt x="707" y="3686"/>
                  </a:lnTo>
                  <a:close/>
                  <a:moveTo>
                    <a:pt x="5477" y="455"/>
                  </a:moveTo>
                  <a:cubicBezTo>
                    <a:pt x="5515" y="455"/>
                    <a:pt x="5554" y="463"/>
                    <a:pt x="5591" y="479"/>
                  </a:cubicBezTo>
                  <a:cubicBezTo>
                    <a:pt x="5839" y="584"/>
                    <a:pt x="6154" y="1130"/>
                    <a:pt x="5775" y="2497"/>
                  </a:cubicBezTo>
                  <a:cubicBezTo>
                    <a:pt x="5758" y="2565"/>
                    <a:pt x="5769" y="2638"/>
                    <a:pt x="5813" y="2693"/>
                  </a:cubicBezTo>
                  <a:cubicBezTo>
                    <a:pt x="5856" y="2749"/>
                    <a:pt x="5922" y="2783"/>
                    <a:pt x="5992" y="2783"/>
                  </a:cubicBezTo>
                  <a:lnTo>
                    <a:pt x="8092" y="2783"/>
                  </a:lnTo>
                  <a:cubicBezTo>
                    <a:pt x="8601" y="2783"/>
                    <a:pt x="8692" y="2902"/>
                    <a:pt x="8692" y="3236"/>
                  </a:cubicBezTo>
                  <a:cubicBezTo>
                    <a:pt x="8692" y="3446"/>
                    <a:pt x="8655" y="3486"/>
                    <a:pt x="8653" y="3486"/>
                  </a:cubicBezTo>
                  <a:cubicBezTo>
                    <a:pt x="8653" y="3486"/>
                    <a:pt x="8635" y="3496"/>
                    <a:pt x="8583" y="3496"/>
                  </a:cubicBezTo>
                  <a:lnTo>
                    <a:pt x="7140" y="3496"/>
                  </a:lnTo>
                  <a:cubicBezTo>
                    <a:pt x="7015" y="3496"/>
                    <a:pt x="6913" y="3596"/>
                    <a:pt x="6913" y="3722"/>
                  </a:cubicBezTo>
                  <a:cubicBezTo>
                    <a:pt x="6913" y="3848"/>
                    <a:pt x="7014" y="3947"/>
                    <a:pt x="7140" y="3947"/>
                  </a:cubicBezTo>
                  <a:lnTo>
                    <a:pt x="8523" y="3947"/>
                  </a:lnTo>
                  <a:cubicBezTo>
                    <a:pt x="8597" y="3995"/>
                    <a:pt x="8650" y="4094"/>
                    <a:pt x="8664" y="4219"/>
                  </a:cubicBezTo>
                  <a:cubicBezTo>
                    <a:pt x="8677" y="4353"/>
                    <a:pt x="8635" y="4538"/>
                    <a:pt x="8499" y="4659"/>
                  </a:cubicBezTo>
                  <a:lnTo>
                    <a:pt x="7142" y="4659"/>
                  </a:lnTo>
                  <a:cubicBezTo>
                    <a:pt x="7017" y="4659"/>
                    <a:pt x="6916" y="4760"/>
                    <a:pt x="6916" y="4886"/>
                  </a:cubicBezTo>
                  <a:cubicBezTo>
                    <a:pt x="6916" y="5012"/>
                    <a:pt x="7015" y="5112"/>
                    <a:pt x="7142" y="5112"/>
                  </a:cubicBezTo>
                  <a:lnTo>
                    <a:pt x="8433" y="5112"/>
                  </a:lnTo>
                  <a:cubicBezTo>
                    <a:pt x="8465" y="5235"/>
                    <a:pt x="8468" y="5398"/>
                    <a:pt x="8410" y="5550"/>
                  </a:cubicBezTo>
                  <a:cubicBezTo>
                    <a:pt x="8358" y="5685"/>
                    <a:pt x="8270" y="5778"/>
                    <a:pt x="8151" y="5824"/>
                  </a:cubicBezTo>
                  <a:lnTo>
                    <a:pt x="7145" y="5824"/>
                  </a:lnTo>
                  <a:cubicBezTo>
                    <a:pt x="7020" y="5824"/>
                    <a:pt x="6917" y="5925"/>
                    <a:pt x="6917" y="6052"/>
                  </a:cubicBezTo>
                  <a:cubicBezTo>
                    <a:pt x="6917" y="6178"/>
                    <a:pt x="7017" y="6277"/>
                    <a:pt x="7145" y="6277"/>
                  </a:cubicBezTo>
                  <a:lnTo>
                    <a:pt x="7995" y="6277"/>
                  </a:lnTo>
                  <a:cubicBezTo>
                    <a:pt x="7989" y="6405"/>
                    <a:pt x="7949" y="6554"/>
                    <a:pt x="7850" y="6687"/>
                  </a:cubicBezTo>
                  <a:cubicBezTo>
                    <a:pt x="7743" y="6822"/>
                    <a:pt x="7540" y="6987"/>
                    <a:pt x="7162" y="6987"/>
                  </a:cubicBezTo>
                  <a:lnTo>
                    <a:pt x="3986" y="6987"/>
                  </a:lnTo>
                  <a:cubicBezTo>
                    <a:pt x="3939" y="6987"/>
                    <a:pt x="3820" y="6946"/>
                    <a:pt x="3723" y="6861"/>
                  </a:cubicBezTo>
                  <a:cubicBezTo>
                    <a:pt x="3532" y="6693"/>
                    <a:pt x="3288" y="6601"/>
                    <a:pt x="3034" y="6600"/>
                  </a:cubicBezTo>
                  <a:lnTo>
                    <a:pt x="3034" y="3928"/>
                  </a:lnTo>
                  <a:cubicBezTo>
                    <a:pt x="3297" y="3885"/>
                    <a:pt x="3538" y="3756"/>
                    <a:pt x="3717" y="3538"/>
                  </a:cubicBezTo>
                  <a:cubicBezTo>
                    <a:pt x="3731" y="3526"/>
                    <a:pt x="3747" y="3514"/>
                    <a:pt x="3762" y="3500"/>
                  </a:cubicBezTo>
                  <a:lnTo>
                    <a:pt x="3787" y="3481"/>
                  </a:lnTo>
                  <a:cubicBezTo>
                    <a:pt x="4461" y="2951"/>
                    <a:pt x="4890" y="2402"/>
                    <a:pt x="5098" y="1803"/>
                  </a:cubicBezTo>
                  <a:cubicBezTo>
                    <a:pt x="5107" y="1778"/>
                    <a:pt x="5121" y="1756"/>
                    <a:pt x="5135" y="1730"/>
                  </a:cubicBezTo>
                  <a:cubicBezTo>
                    <a:pt x="5180" y="1652"/>
                    <a:pt x="5233" y="1554"/>
                    <a:pt x="5233" y="1432"/>
                  </a:cubicBezTo>
                  <a:lnTo>
                    <a:pt x="5233" y="580"/>
                  </a:lnTo>
                  <a:cubicBezTo>
                    <a:pt x="5299" y="498"/>
                    <a:pt x="5387" y="455"/>
                    <a:pt x="5477" y="455"/>
                  </a:cubicBezTo>
                  <a:close/>
                  <a:moveTo>
                    <a:pt x="5476" y="1"/>
                  </a:moveTo>
                  <a:cubicBezTo>
                    <a:pt x="5216" y="1"/>
                    <a:pt x="4968" y="140"/>
                    <a:pt x="4816" y="389"/>
                  </a:cubicBezTo>
                  <a:cubicBezTo>
                    <a:pt x="4794" y="425"/>
                    <a:pt x="4782" y="467"/>
                    <a:pt x="4782" y="507"/>
                  </a:cubicBezTo>
                  <a:lnTo>
                    <a:pt x="4782" y="1425"/>
                  </a:lnTo>
                  <a:cubicBezTo>
                    <a:pt x="4779" y="1441"/>
                    <a:pt x="4757" y="1481"/>
                    <a:pt x="4742" y="1509"/>
                  </a:cubicBezTo>
                  <a:cubicBezTo>
                    <a:pt x="4715" y="1558"/>
                    <a:pt x="4690" y="1604"/>
                    <a:pt x="4674" y="1652"/>
                  </a:cubicBezTo>
                  <a:cubicBezTo>
                    <a:pt x="4492" y="2168"/>
                    <a:pt x="4112" y="2650"/>
                    <a:pt x="3489" y="3140"/>
                  </a:cubicBezTo>
                  <a:cubicBezTo>
                    <a:pt x="3451" y="3166"/>
                    <a:pt x="3405" y="3202"/>
                    <a:pt x="3370" y="3247"/>
                  </a:cubicBezTo>
                  <a:cubicBezTo>
                    <a:pt x="3279" y="3358"/>
                    <a:pt x="3162" y="3431"/>
                    <a:pt x="3034" y="3468"/>
                  </a:cubicBezTo>
                  <a:lnTo>
                    <a:pt x="3034" y="3333"/>
                  </a:lnTo>
                  <a:cubicBezTo>
                    <a:pt x="3034" y="3137"/>
                    <a:pt x="2877" y="2979"/>
                    <a:pt x="2681" y="2979"/>
                  </a:cubicBezTo>
                  <a:lnTo>
                    <a:pt x="354" y="2979"/>
                  </a:lnTo>
                  <a:cubicBezTo>
                    <a:pt x="159" y="2979"/>
                    <a:pt x="0" y="3137"/>
                    <a:pt x="0" y="3333"/>
                  </a:cubicBezTo>
                  <a:lnTo>
                    <a:pt x="0" y="7211"/>
                  </a:lnTo>
                  <a:cubicBezTo>
                    <a:pt x="0" y="7406"/>
                    <a:pt x="159" y="7565"/>
                    <a:pt x="354" y="7565"/>
                  </a:cubicBezTo>
                  <a:lnTo>
                    <a:pt x="2681" y="7565"/>
                  </a:lnTo>
                  <a:cubicBezTo>
                    <a:pt x="2877" y="7565"/>
                    <a:pt x="3034" y="7406"/>
                    <a:pt x="3034" y="7211"/>
                  </a:cubicBezTo>
                  <a:lnTo>
                    <a:pt x="3034" y="7049"/>
                  </a:lnTo>
                  <a:cubicBezTo>
                    <a:pt x="3177" y="7052"/>
                    <a:pt x="3316" y="7104"/>
                    <a:pt x="3423" y="7198"/>
                  </a:cubicBezTo>
                  <a:cubicBezTo>
                    <a:pt x="3587" y="7344"/>
                    <a:pt x="3808" y="7439"/>
                    <a:pt x="3986" y="7439"/>
                  </a:cubicBezTo>
                  <a:lnTo>
                    <a:pt x="7162" y="7439"/>
                  </a:lnTo>
                  <a:cubicBezTo>
                    <a:pt x="7600" y="7439"/>
                    <a:pt x="7972" y="7268"/>
                    <a:pt x="8205" y="6957"/>
                  </a:cubicBezTo>
                  <a:cubicBezTo>
                    <a:pt x="8367" y="6744"/>
                    <a:pt x="8450" y="6475"/>
                    <a:pt x="8445" y="6222"/>
                  </a:cubicBezTo>
                  <a:cubicBezTo>
                    <a:pt x="8475" y="6199"/>
                    <a:pt x="8500" y="6169"/>
                    <a:pt x="8514" y="6132"/>
                  </a:cubicBezTo>
                  <a:cubicBezTo>
                    <a:pt x="8653" y="6028"/>
                    <a:pt x="8762" y="5887"/>
                    <a:pt x="8828" y="5710"/>
                  </a:cubicBezTo>
                  <a:cubicBezTo>
                    <a:pt x="8913" y="5490"/>
                    <a:pt x="8922" y="5238"/>
                    <a:pt x="8870" y="5020"/>
                  </a:cubicBezTo>
                  <a:cubicBezTo>
                    <a:pt x="8898" y="4982"/>
                    <a:pt x="8918" y="4938"/>
                    <a:pt x="8918" y="4886"/>
                  </a:cubicBezTo>
                  <a:cubicBezTo>
                    <a:pt x="8918" y="4880"/>
                    <a:pt x="8916" y="4877"/>
                    <a:pt x="8916" y="4873"/>
                  </a:cubicBezTo>
                  <a:cubicBezTo>
                    <a:pt x="9063" y="4681"/>
                    <a:pt x="9139" y="4436"/>
                    <a:pt x="9115" y="4176"/>
                  </a:cubicBezTo>
                  <a:cubicBezTo>
                    <a:pt x="9100" y="4031"/>
                    <a:pt x="9057" y="3898"/>
                    <a:pt x="8990" y="3789"/>
                  </a:cubicBezTo>
                  <a:cubicBezTo>
                    <a:pt x="9145" y="3616"/>
                    <a:pt x="9145" y="3349"/>
                    <a:pt x="9145" y="3233"/>
                  </a:cubicBezTo>
                  <a:cubicBezTo>
                    <a:pt x="9145" y="2330"/>
                    <a:pt x="8381" y="2330"/>
                    <a:pt x="8093" y="2330"/>
                  </a:cubicBezTo>
                  <a:lnTo>
                    <a:pt x="6285" y="2330"/>
                  </a:lnTo>
                  <a:cubicBezTo>
                    <a:pt x="6594" y="964"/>
                    <a:pt x="6236" y="263"/>
                    <a:pt x="5772" y="63"/>
                  </a:cubicBezTo>
                  <a:cubicBezTo>
                    <a:pt x="5675" y="21"/>
                    <a:pt x="5575" y="1"/>
                    <a:pt x="547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52525"/>
                </a:buClr>
                <a:buSzPts val="1800"/>
                <a:buFont typeface="Arial"/>
                <a:buNone/>
              </a:pPr>
              <a:r>
                <a:t/>
              </a:r>
              <a:endParaRPr b="0" i="0" sz="1800" u="none" cap="none" strike="noStrike">
                <a:solidFill>
                  <a:srgbClr val="252525"/>
                </a:solidFill>
                <a:latin typeface="Arial"/>
                <a:ea typeface="Arial"/>
                <a:cs typeface="Arial"/>
                <a:sym typeface="Arial"/>
              </a:endParaRPr>
            </a:p>
          </p:txBody>
        </p:sp>
      </p:grpSp>
      <p:grpSp>
        <p:nvGrpSpPr>
          <p:cNvPr id="278" name="Google Shape;278;p26"/>
          <p:cNvGrpSpPr/>
          <p:nvPr/>
        </p:nvGrpSpPr>
        <p:grpSpPr>
          <a:xfrm>
            <a:off x="2689364" y="1177564"/>
            <a:ext cx="330445" cy="330445"/>
            <a:chOff x="2674555" y="825408"/>
            <a:chExt cx="605100" cy="605100"/>
          </a:xfrm>
        </p:grpSpPr>
        <p:sp>
          <p:nvSpPr>
            <p:cNvPr id="279" name="Google Shape;279;p26"/>
            <p:cNvSpPr/>
            <p:nvPr/>
          </p:nvSpPr>
          <p:spPr>
            <a:xfrm>
              <a:off x="2674555" y="825408"/>
              <a:ext cx="605100" cy="605100"/>
            </a:xfrm>
            <a:prstGeom prst="ellipse">
              <a:avLst/>
            </a:prstGeom>
            <a:solidFill>
              <a:srgbClr val="28B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280" name="Google Shape;280;p26"/>
            <p:cNvSpPr/>
            <p:nvPr/>
          </p:nvSpPr>
          <p:spPr>
            <a:xfrm>
              <a:off x="2852937" y="1000063"/>
              <a:ext cx="292892" cy="289868"/>
            </a:xfrm>
            <a:custGeom>
              <a:rect b="b" l="l" r="r" t="t"/>
              <a:pathLst>
                <a:path extrusionOk="0" h="286289" w="285053">
                  <a:moveTo>
                    <a:pt x="180518" y="31124"/>
                  </a:moveTo>
                  <a:cubicBezTo>
                    <a:pt x="139453" y="-10195"/>
                    <a:pt x="72667" y="-10400"/>
                    <a:pt x="31348" y="30665"/>
                  </a:cubicBezTo>
                  <a:cubicBezTo>
                    <a:pt x="31195" y="30817"/>
                    <a:pt x="31041" y="30971"/>
                    <a:pt x="30889" y="31124"/>
                  </a:cubicBezTo>
                  <a:cubicBezTo>
                    <a:pt x="-10296" y="72643"/>
                    <a:pt x="-10296" y="139604"/>
                    <a:pt x="30889" y="181123"/>
                  </a:cubicBezTo>
                  <a:cubicBezTo>
                    <a:pt x="62164" y="212669"/>
                    <a:pt x="109885" y="221171"/>
                    <a:pt x="150130" y="202367"/>
                  </a:cubicBezTo>
                  <a:lnTo>
                    <a:pt x="154287" y="206523"/>
                  </a:lnTo>
                  <a:lnTo>
                    <a:pt x="223282" y="275796"/>
                  </a:lnTo>
                  <a:cubicBezTo>
                    <a:pt x="237176" y="289747"/>
                    <a:pt x="259751" y="289793"/>
                    <a:pt x="273703" y="275898"/>
                  </a:cubicBezTo>
                  <a:cubicBezTo>
                    <a:pt x="273737" y="275864"/>
                    <a:pt x="273771" y="275830"/>
                    <a:pt x="273805" y="275796"/>
                  </a:cubicBezTo>
                  <a:lnTo>
                    <a:pt x="274636" y="274872"/>
                  </a:lnTo>
                  <a:cubicBezTo>
                    <a:pt x="288526" y="260895"/>
                    <a:pt x="288526" y="238326"/>
                    <a:pt x="274636" y="224349"/>
                  </a:cubicBezTo>
                  <a:lnTo>
                    <a:pt x="205641" y="155076"/>
                  </a:lnTo>
                  <a:lnTo>
                    <a:pt x="201392" y="150828"/>
                  </a:lnTo>
                  <a:cubicBezTo>
                    <a:pt x="220141" y="110486"/>
                    <a:pt x="211815" y="62739"/>
                    <a:pt x="180518" y="31124"/>
                  </a:cubicBezTo>
                  <a:close/>
                  <a:moveTo>
                    <a:pt x="105703" y="189436"/>
                  </a:moveTo>
                  <a:cubicBezTo>
                    <a:pt x="83680" y="189473"/>
                    <a:pt x="62558" y="180692"/>
                    <a:pt x="47052" y="165052"/>
                  </a:cubicBezTo>
                  <a:cubicBezTo>
                    <a:pt x="14747" y="132408"/>
                    <a:pt x="14747" y="79839"/>
                    <a:pt x="47052" y="47196"/>
                  </a:cubicBezTo>
                  <a:cubicBezTo>
                    <a:pt x="79486" y="14904"/>
                    <a:pt x="131921" y="14904"/>
                    <a:pt x="164354" y="47196"/>
                  </a:cubicBezTo>
                  <a:lnTo>
                    <a:pt x="164354" y="47196"/>
                  </a:lnTo>
                  <a:cubicBezTo>
                    <a:pt x="196660" y="79839"/>
                    <a:pt x="196660" y="132408"/>
                    <a:pt x="164354" y="165052"/>
                  </a:cubicBezTo>
                  <a:cubicBezTo>
                    <a:pt x="148849" y="180692"/>
                    <a:pt x="127726" y="189473"/>
                    <a:pt x="105703" y="189436"/>
                  </a:cubicBezTo>
                  <a:close/>
                  <a:moveTo>
                    <a:pt x="258565" y="240605"/>
                  </a:moveTo>
                  <a:cubicBezTo>
                    <a:pt x="263666" y="245603"/>
                    <a:pt x="263749" y="253790"/>
                    <a:pt x="258752" y="258891"/>
                  </a:cubicBezTo>
                  <a:cubicBezTo>
                    <a:pt x="258690" y="258954"/>
                    <a:pt x="258628" y="259016"/>
                    <a:pt x="258565" y="259078"/>
                  </a:cubicBezTo>
                  <a:lnTo>
                    <a:pt x="257641" y="260001"/>
                  </a:lnTo>
                  <a:cubicBezTo>
                    <a:pt x="252717" y="265103"/>
                    <a:pt x="244589" y="265246"/>
                    <a:pt x="239487" y="260320"/>
                  </a:cubicBezTo>
                  <a:cubicBezTo>
                    <a:pt x="239379" y="260216"/>
                    <a:pt x="239273" y="260109"/>
                    <a:pt x="239169" y="260001"/>
                  </a:cubicBezTo>
                  <a:lnTo>
                    <a:pt x="170173" y="190729"/>
                  </a:lnTo>
                  <a:lnTo>
                    <a:pt x="180333" y="181492"/>
                  </a:lnTo>
                  <a:cubicBezTo>
                    <a:pt x="183196" y="178906"/>
                    <a:pt x="189569" y="171425"/>
                    <a:pt x="189569" y="17142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52525"/>
                </a:buClr>
                <a:buSzPts val="1350"/>
                <a:buFont typeface="Arial"/>
                <a:buNone/>
              </a:pPr>
              <a:r>
                <a:t/>
              </a:r>
              <a:endParaRPr b="0" i="0" sz="400" u="none" cap="none" strike="noStrike">
                <a:solidFill>
                  <a:srgbClr val="FFFFFF"/>
                </a:solidFill>
                <a:latin typeface="Arial"/>
                <a:ea typeface="Arial"/>
                <a:cs typeface="Arial"/>
                <a:sym typeface="Arial"/>
              </a:endParaRPr>
            </a:p>
          </p:txBody>
        </p:sp>
        <p:sp>
          <p:nvSpPr>
            <p:cNvPr id="281" name="Google Shape;281;p26"/>
            <p:cNvSpPr txBox="1"/>
            <p:nvPr/>
          </p:nvSpPr>
          <p:spPr>
            <a:xfrm>
              <a:off x="2890781" y="1003328"/>
              <a:ext cx="140100" cy="199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grpSp>
      <p:grpSp>
        <p:nvGrpSpPr>
          <p:cNvPr id="282" name="Google Shape;282;p26"/>
          <p:cNvGrpSpPr/>
          <p:nvPr/>
        </p:nvGrpSpPr>
        <p:grpSpPr>
          <a:xfrm>
            <a:off x="237510" y="1267288"/>
            <a:ext cx="330392" cy="240643"/>
            <a:chOff x="865451" y="2114550"/>
            <a:chExt cx="3399093" cy="2475755"/>
          </a:xfrm>
        </p:grpSpPr>
        <p:sp>
          <p:nvSpPr>
            <p:cNvPr id="283" name="Google Shape;283;p2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84" name="Google Shape;284;p2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285" name="Google Shape;285;p26"/>
          <p:cNvSpPr txBox="1"/>
          <p:nvPr>
            <p:ph type="title"/>
          </p:nvPr>
        </p:nvSpPr>
        <p:spPr>
          <a:xfrm>
            <a:off x="2613600" y="152750"/>
            <a:ext cx="5121300" cy="626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sz="2100">
                <a:solidFill>
                  <a:schemeClr val="accent1"/>
                </a:solidFill>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86" name="Google Shape;286;p26"/>
          <p:cNvSpPr/>
          <p:nvPr>
            <p:ph idx="2" type="pic"/>
          </p:nvPr>
        </p:nvSpPr>
        <p:spPr>
          <a:xfrm>
            <a:off x="461550" y="126800"/>
            <a:ext cx="1385400" cy="641100"/>
          </a:xfrm>
          <a:prstGeom prst="rect">
            <a:avLst/>
          </a:prstGeom>
          <a:noFill/>
          <a:ln>
            <a:noFill/>
          </a:ln>
        </p:spPr>
      </p:sp>
      <p:sp>
        <p:nvSpPr>
          <p:cNvPr id="287" name="Google Shape;287;p26"/>
          <p:cNvSpPr txBox="1"/>
          <p:nvPr>
            <p:ph idx="1" type="body"/>
          </p:nvPr>
        </p:nvSpPr>
        <p:spPr>
          <a:xfrm>
            <a:off x="2690425" y="1630891"/>
            <a:ext cx="2057400" cy="3358800"/>
          </a:xfrm>
          <a:prstGeom prst="rect">
            <a:avLst/>
          </a:prstGeom>
          <a:noFill/>
          <a:ln>
            <a:noFill/>
          </a:ln>
        </p:spPr>
        <p:txBody>
          <a:bodyPr anchorCtr="0" anchor="t" bIns="0" lIns="0" spcFirstLastPara="1" rIns="0" wrap="square" tIns="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sp>
        <p:nvSpPr>
          <p:cNvPr id="288" name="Google Shape;288;p26"/>
          <p:cNvSpPr txBox="1"/>
          <p:nvPr>
            <p:ph idx="3" type="body"/>
          </p:nvPr>
        </p:nvSpPr>
        <p:spPr>
          <a:xfrm>
            <a:off x="237525" y="1630900"/>
            <a:ext cx="2164800" cy="2441400"/>
          </a:xfrm>
          <a:prstGeom prst="rect">
            <a:avLst/>
          </a:prstGeom>
          <a:noFill/>
          <a:ln>
            <a:noFill/>
          </a:ln>
        </p:spPr>
        <p:txBody>
          <a:bodyPr anchorCtr="0" anchor="t" bIns="0" lIns="0" spcFirstLastPara="1" rIns="0" wrap="square" tIns="0">
            <a:noAutofit/>
          </a:bodyPr>
          <a:lstStyle>
            <a:lvl1pPr indent="-406400" lvl="0" marL="457200" marR="0" algn="l">
              <a:lnSpc>
                <a:spcPct val="115000"/>
              </a:lnSpc>
              <a:spcBef>
                <a:spcPts val="0"/>
              </a:spcBef>
              <a:spcAft>
                <a:spcPts val="0"/>
              </a:spcAft>
              <a:buClr>
                <a:schemeClr val="lt1"/>
              </a:buClr>
              <a:buSzPts val="2800"/>
              <a:buFont typeface="Roboto"/>
              <a:buChar char="•"/>
              <a:defRPr sz="1200">
                <a:solidFill>
                  <a:schemeClr val="lt1"/>
                </a:solidFill>
                <a:latin typeface="Roboto"/>
                <a:ea typeface="Roboto"/>
                <a:cs typeface="Roboto"/>
                <a:sym typeface="Roboto"/>
              </a:defRPr>
            </a:lvl1pPr>
            <a:lvl2pPr indent="-406400" lvl="1" marL="9144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2pPr>
            <a:lvl3pPr indent="-406400" lvl="2" marL="13716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3pPr>
            <a:lvl4pPr indent="-406400" lvl="3" marL="18288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4pPr>
            <a:lvl5pPr indent="-406400" lvl="4" marL="22860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5pPr>
            <a:lvl6pPr indent="-406400" lvl="5" marL="27432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6pPr>
            <a:lvl7pPr indent="-406400" lvl="6" marL="32004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7pPr>
            <a:lvl8pPr indent="-406400" lvl="7" marL="3657600" marR="0" algn="l">
              <a:lnSpc>
                <a:spcPct val="115000"/>
              </a:lnSpc>
              <a:spcBef>
                <a:spcPts val="500"/>
              </a:spcBef>
              <a:spcAft>
                <a:spcPts val="0"/>
              </a:spcAft>
              <a:buClr>
                <a:schemeClr val="lt1"/>
              </a:buClr>
              <a:buSzPts val="2800"/>
              <a:buFont typeface="Roboto"/>
              <a:buChar char="•"/>
              <a:defRPr sz="1200">
                <a:solidFill>
                  <a:schemeClr val="lt1"/>
                </a:solidFill>
                <a:latin typeface="Roboto"/>
                <a:ea typeface="Roboto"/>
                <a:cs typeface="Roboto"/>
                <a:sym typeface="Roboto"/>
              </a:defRPr>
            </a:lvl8pPr>
            <a:lvl9pPr indent="-406400" lvl="8" marL="4114800" marR="0" algn="l">
              <a:lnSpc>
                <a:spcPct val="115000"/>
              </a:lnSpc>
              <a:spcBef>
                <a:spcPts val="500"/>
              </a:spcBef>
              <a:spcAft>
                <a:spcPts val="500"/>
              </a:spcAft>
              <a:buClr>
                <a:schemeClr val="lt1"/>
              </a:buClr>
              <a:buSzPts val="2800"/>
              <a:buFont typeface="Roboto"/>
              <a:buChar char="•"/>
              <a:defRPr sz="1200">
                <a:solidFill>
                  <a:schemeClr val="lt1"/>
                </a:solidFill>
                <a:latin typeface="Roboto"/>
                <a:ea typeface="Roboto"/>
                <a:cs typeface="Roboto"/>
                <a:sym typeface="Roboto"/>
              </a:defRPr>
            </a:lvl9pPr>
          </a:lstStyle>
          <a:p/>
        </p:txBody>
      </p:sp>
      <p:sp>
        <p:nvSpPr>
          <p:cNvPr id="289" name="Google Shape;289;p26"/>
          <p:cNvSpPr txBox="1"/>
          <p:nvPr>
            <p:ph idx="4" type="body"/>
          </p:nvPr>
        </p:nvSpPr>
        <p:spPr>
          <a:xfrm>
            <a:off x="4854400" y="1630891"/>
            <a:ext cx="2057400" cy="3358800"/>
          </a:xfrm>
          <a:prstGeom prst="rect">
            <a:avLst/>
          </a:prstGeom>
          <a:noFill/>
          <a:ln>
            <a:noFill/>
          </a:ln>
        </p:spPr>
        <p:txBody>
          <a:bodyPr anchorCtr="0" anchor="t" bIns="0" lIns="0" spcFirstLastPara="1" rIns="0" wrap="square" tIns="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sp>
        <p:nvSpPr>
          <p:cNvPr id="290" name="Google Shape;290;p26"/>
          <p:cNvSpPr txBox="1"/>
          <p:nvPr>
            <p:ph idx="5" type="body"/>
          </p:nvPr>
        </p:nvSpPr>
        <p:spPr>
          <a:xfrm>
            <a:off x="7018375" y="1630891"/>
            <a:ext cx="2057400" cy="3358800"/>
          </a:xfrm>
          <a:prstGeom prst="rect">
            <a:avLst/>
          </a:prstGeom>
          <a:noFill/>
          <a:ln>
            <a:noFill/>
          </a:ln>
        </p:spPr>
        <p:txBody>
          <a:bodyPr anchorCtr="0" anchor="t" bIns="0" lIns="0" spcFirstLastPara="1" rIns="0" wrap="square" tIns="0">
            <a:noAutofit/>
          </a:bodyPr>
          <a:lstStyle>
            <a:lvl1pPr indent="-292100" lvl="0" marL="457200" marR="0" algn="l">
              <a:lnSpc>
                <a:spcPct val="115000"/>
              </a:lnSpc>
              <a:spcBef>
                <a:spcPts val="0"/>
              </a:spcBef>
              <a:spcAft>
                <a:spcPts val="0"/>
              </a:spcAft>
              <a:buSzPts val="1000"/>
              <a:buFont typeface="Roboto"/>
              <a:buChar char="•"/>
              <a:defRPr sz="1000">
                <a:solidFill>
                  <a:srgbClr val="222222"/>
                </a:solidFill>
                <a:latin typeface="Roboto"/>
                <a:ea typeface="Roboto"/>
                <a:cs typeface="Roboto"/>
                <a:sym typeface="Roboto"/>
              </a:defRPr>
            </a:lvl1pPr>
            <a:lvl2pPr indent="-292100" lvl="1" marL="9144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2pPr>
            <a:lvl3pPr indent="-292100" lvl="2" marL="13716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3pPr>
            <a:lvl4pPr indent="-292100" lvl="3" marL="1828800" marR="0" algn="l">
              <a:lnSpc>
                <a:spcPct val="115000"/>
              </a:lnSpc>
              <a:spcBef>
                <a:spcPts val="500"/>
              </a:spcBef>
              <a:spcAft>
                <a:spcPts val="0"/>
              </a:spcAft>
              <a:buClr>
                <a:schemeClr val="lt2"/>
              </a:buClr>
              <a:buSzPts val="1000"/>
              <a:buFont typeface="Roboto"/>
              <a:buChar char="•"/>
              <a:defRPr sz="1000">
                <a:solidFill>
                  <a:srgbClr val="222222"/>
                </a:solidFill>
                <a:latin typeface="Roboto"/>
                <a:ea typeface="Roboto"/>
                <a:cs typeface="Roboto"/>
                <a:sym typeface="Roboto"/>
              </a:defRPr>
            </a:lvl4pPr>
            <a:lvl5pPr indent="-292100" lvl="4" marL="22860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5pPr>
            <a:lvl6pPr indent="-292100" lvl="5" marL="2743200" marR="0" algn="l">
              <a:lnSpc>
                <a:spcPct val="115000"/>
              </a:lnSpc>
              <a:spcBef>
                <a:spcPts val="500"/>
              </a:spcBef>
              <a:spcAft>
                <a:spcPts val="0"/>
              </a:spcAft>
              <a:buSzPts val="1000"/>
              <a:buFont typeface="Roboto"/>
              <a:buChar char="•"/>
              <a:defRPr sz="1000">
                <a:solidFill>
                  <a:srgbClr val="222222"/>
                </a:solidFill>
                <a:latin typeface="Roboto"/>
                <a:ea typeface="Roboto"/>
                <a:cs typeface="Roboto"/>
                <a:sym typeface="Roboto"/>
              </a:defRPr>
            </a:lvl6pPr>
            <a:lvl7pPr indent="-292100" lvl="6" marL="32004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7pPr>
            <a:lvl8pPr indent="-292100" lvl="7" marL="3657600" marR="0" algn="l">
              <a:lnSpc>
                <a:spcPct val="115000"/>
              </a:lnSpc>
              <a:spcBef>
                <a:spcPts val="500"/>
              </a:spcBef>
              <a:spcAft>
                <a:spcPts val="0"/>
              </a:spcAft>
              <a:buClr>
                <a:schemeClr val="dk1"/>
              </a:buClr>
              <a:buSzPts val="1000"/>
              <a:buFont typeface="Roboto"/>
              <a:buChar char="•"/>
              <a:defRPr sz="1000">
                <a:solidFill>
                  <a:srgbClr val="222222"/>
                </a:solidFill>
                <a:latin typeface="Roboto"/>
                <a:ea typeface="Roboto"/>
                <a:cs typeface="Roboto"/>
                <a:sym typeface="Roboto"/>
              </a:defRPr>
            </a:lvl8pPr>
            <a:lvl9pPr indent="-292100" lvl="8" marL="4114800" marR="0" algn="l">
              <a:lnSpc>
                <a:spcPct val="115000"/>
              </a:lnSpc>
              <a:spcBef>
                <a:spcPts val="500"/>
              </a:spcBef>
              <a:spcAft>
                <a:spcPts val="500"/>
              </a:spcAft>
              <a:buClr>
                <a:schemeClr val="dk1"/>
              </a:buClr>
              <a:buSzPts val="1000"/>
              <a:buFont typeface="Roboto"/>
              <a:buChar char="•"/>
              <a:defRPr sz="1000">
                <a:solidFill>
                  <a:srgbClr val="222222"/>
                </a:solidFill>
                <a:latin typeface="Roboto"/>
                <a:ea typeface="Roboto"/>
                <a:cs typeface="Roboto"/>
                <a:sym typeface="Roboto"/>
              </a:defRPr>
            </a:lvl9pPr>
          </a:lstStyle>
          <a:p/>
        </p:txBody>
      </p:sp>
      <p:sp>
        <p:nvSpPr>
          <p:cNvPr id="291" name="Google Shape;291;p26"/>
          <p:cNvSpPr txBox="1"/>
          <p:nvPr>
            <p:ph idx="6" type="body"/>
          </p:nvPr>
        </p:nvSpPr>
        <p:spPr>
          <a:xfrm>
            <a:off x="237500" y="4471650"/>
            <a:ext cx="1790100" cy="146100"/>
          </a:xfrm>
          <a:prstGeom prst="rect">
            <a:avLst/>
          </a:prstGeom>
          <a:noFill/>
          <a:ln>
            <a:noFill/>
          </a:ln>
        </p:spPr>
        <p:txBody>
          <a:bodyPr anchorCtr="0" anchor="t" bIns="0" lIns="0" spcFirstLastPara="1" rIns="91425" wrap="square" tIns="0">
            <a:noAutofit/>
          </a:bodyPr>
          <a:lstStyle>
            <a:lvl1pPr indent="-228600" lvl="0" marL="457200" marR="0" algn="l">
              <a:lnSpc>
                <a:spcPct val="100000"/>
              </a:lnSpc>
              <a:spcBef>
                <a:spcPts val="0"/>
              </a:spcBef>
              <a:spcAft>
                <a:spcPts val="0"/>
              </a:spcAft>
              <a:buClr>
                <a:srgbClr val="000000"/>
              </a:buClr>
              <a:buSzPts val="1800"/>
              <a:buFont typeface="Arial"/>
              <a:buNone/>
              <a:defRPr b="1" sz="1000">
                <a:solidFill>
                  <a:schemeClr val="dk2"/>
                </a:solidFill>
              </a:defRPr>
            </a:lvl1pPr>
            <a:lvl2pPr indent="-228600" lvl="1" marL="914400" marR="0" algn="l">
              <a:lnSpc>
                <a:spcPct val="100000"/>
              </a:lnSpc>
              <a:spcBef>
                <a:spcPts val="0"/>
              </a:spcBef>
              <a:spcAft>
                <a:spcPts val="0"/>
              </a:spcAft>
              <a:buClr>
                <a:srgbClr val="000000"/>
              </a:buClr>
              <a:buSzPts val="1800"/>
              <a:buFont typeface="Arial"/>
              <a:buNone/>
              <a:defRPr b="1" sz="1000">
                <a:solidFill>
                  <a:schemeClr val="dk2"/>
                </a:solidFill>
              </a:defRPr>
            </a:lvl2pPr>
            <a:lvl3pPr indent="-228600" lvl="2" marL="1371600" marR="0" algn="l">
              <a:lnSpc>
                <a:spcPct val="100000"/>
              </a:lnSpc>
              <a:spcBef>
                <a:spcPts val="0"/>
              </a:spcBef>
              <a:spcAft>
                <a:spcPts val="0"/>
              </a:spcAft>
              <a:buClr>
                <a:srgbClr val="000000"/>
              </a:buClr>
              <a:buSzPts val="1400"/>
              <a:buFont typeface="Arial"/>
              <a:buNone/>
              <a:defRPr b="1" sz="1000">
                <a:solidFill>
                  <a:schemeClr val="dk2"/>
                </a:solidFill>
              </a:defRPr>
            </a:lvl3pPr>
            <a:lvl4pPr indent="-228600" lvl="3" marL="1828800" marR="0" algn="l">
              <a:lnSpc>
                <a:spcPct val="100000"/>
              </a:lnSpc>
              <a:spcBef>
                <a:spcPts val="0"/>
              </a:spcBef>
              <a:spcAft>
                <a:spcPts val="0"/>
              </a:spcAft>
              <a:buClr>
                <a:srgbClr val="000000"/>
              </a:buClr>
              <a:buSzPts val="1400"/>
              <a:buFont typeface="Arial"/>
              <a:buNone/>
              <a:defRPr b="1" sz="1000">
                <a:solidFill>
                  <a:schemeClr val="dk2"/>
                </a:solidFill>
              </a:defRPr>
            </a:lvl4pPr>
            <a:lvl5pPr indent="-228600" lvl="4" marL="2286000" marR="0" algn="l">
              <a:lnSpc>
                <a:spcPct val="100000"/>
              </a:lnSpc>
              <a:spcBef>
                <a:spcPts val="0"/>
              </a:spcBef>
              <a:spcAft>
                <a:spcPts val="0"/>
              </a:spcAft>
              <a:buClr>
                <a:srgbClr val="000000"/>
              </a:buClr>
              <a:buSzPts val="1400"/>
              <a:buFont typeface="Arial"/>
              <a:buNone/>
              <a:defRPr b="1" sz="1000">
                <a:solidFill>
                  <a:schemeClr val="dk2"/>
                </a:solidFill>
              </a:defRPr>
            </a:lvl5pPr>
            <a:lvl6pPr indent="-228600" lvl="5" marL="2743200" marR="0" algn="l">
              <a:lnSpc>
                <a:spcPct val="100000"/>
              </a:lnSpc>
              <a:spcBef>
                <a:spcPts val="0"/>
              </a:spcBef>
              <a:spcAft>
                <a:spcPts val="0"/>
              </a:spcAft>
              <a:buClr>
                <a:srgbClr val="000000"/>
              </a:buClr>
              <a:buSzPts val="1400"/>
              <a:buFont typeface="Arial"/>
              <a:buNone/>
              <a:defRPr b="1" sz="1000">
                <a:solidFill>
                  <a:schemeClr val="dk2"/>
                </a:solidFill>
              </a:defRPr>
            </a:lvl6pPr>
            <a:lvl7pPr indent="-228600" lvl="6" marL="3200400" marR="0" algn="l">
              <a:lnSpc>
                <a:spcPct val="100000"/>
              </a:lnSpc>
              <a:spcBef>
                <a:spcPts val="0"/>
              </a:spcBef>
              <a:spcAft>
                <a:spcPts val="0"/>
              </a:spcAft>
              <a:buClr>
                <a:srgbClr val="000000"/>
              </a:buClr>
              <a:buSzPts val="1400"/>
              <a:buFont typeface="Arial"/>
              <a:buNone/>
              <a:defRPr b="1" sz="1000">
                <a:solidFill>
                  <a:schemeClr val="dk2"/>
                </a:solidFill>
              </a:defRPr>
            </a:lvl7pPr>
            <a:lvl8pPr indent="-228600" lvl="7" marL="3657600" marR="0" algn="l">
              <a:lnSpc>
                <a:spcPct val="100000"/>
              </a:lnSpc>
              <a:spcBef>
                <a:spcPts val="0"/>
              </a:spcBef>
              <a:spcAft>
                <a:spcPts val="0"/>
              </a:spcAft>
              <a:buClr>
                <a:srgbClr val="000000"/>
              </a:buClr>
              <a:buSzPts val="1400"/>
              <a:buFont typeface="Arial"/>
              <a:buNone/>
              <a:defRPr b="1" sz="1000">
                <a:solidFill>
                  <a:schemeClr val="dk2"/>
                </a:solidFill>
              </a:defRPr>
            </a:lvl8pPr>
            <a:lvl9pPr indent="-228600" lvl="8" marL="4114800" marR="0" algn="l">
              <a:lnSpc>
                <a:spcPct val="100000"/>
              </a:lnSpc>
              <a:spcBef>
                <a:spcPts val="0"/>
              </a:spcBef>
              <a:spcAft>
                <a:spcPts val="0"/>
              </a:spcAft>
              <a:buClr>
                <a:srgbClr val="000000"/>
              </a:buClr>
              <a:buSzPts val="1400"/>
              <a:buFont typeface="Arial"/>
              <a:buNone/>
              <a:defRPr b="1" sz="1000">
                <a:solidFill>
                  <a:schemeClr val="dk2"/>
                </a:solidFill>
              </a:defRPr>
            </a:lvl9pPr>
          </a:lstStyle>
          <a:p/>
        </p:txBody>
      </p:sp>
      <p:sp>
        <p:nvSpPr>
          <p:cNvPr id="292" name="Google Shape;292;p26"/>
          <p:cNvSpPr txBox="1"/>
          <p:nvPr>
            <p:ph idx="12" type="sldNum"/>
          </p:nvPr>
        </p:nvSpPr>
        <p:spPr>
          <a:xfrm>
            <a:off x="8556784" y="4749851"/>
            <a:ext cx="548700" cy="200100"/>
          </a:xfrm>
          <a:prstGeom prst="rect">
            <a:avLst/>
          </a:prstGeom>
        </p:spPr>
        <p:txBody>
          <a:bodyPr anchorCtr="0" anchor="t" bIns="91425" lIns="91425" spcFirstLastPara="1" rIns="91425" wrap="square" tIns="91425">
            <a:noAutofit/>
          </a:bodyPr>
          <a:lstStyle>
            <a:lvl1pPr lvl="0">
              <a:buNone/>
              <a:defRPr sz="1300">
                <a:solidFill>
                  <a:srgbClr val="222222"/>
                </a:solidFill>
              </a:defRPr>
            </a:lvl1pPr>
            <a:lvl2pPr lvl="1">
              <a:buNone/>
              <a:defRPr sz="1300">
                <a:solidFill>
                  <a:srgbClr val="222222"/>
                </a:solidFill>
              </a:defRPr>
            </a:lvl2pPr>
            <a:lvl3pPr lvl="2">
              <a:buNone/>
              <a:defRPr sz="1300">
                <a:solidFill>
                  <a:srgbClr val="222222"/>
                </a:solidFill>
              </a:defRPr>
            </a:lvl3pPr>
            <a:lvl4pPr lvl="3">
              <a:buNone/>
              <a:defRPr sz="1300">
                <a:solidFill>
                  <a:srgbClr val="222222"/>
                </a:solidFill>
              </a:defRPr>
            </a:lvl4pPr>
            <a:lvl5pPr lvl="4">
              <a:buNone/>
              <a:defRPr sz="1300">
                <a:solidFill>
                  <a:srgbClr val="222222"/>
                </a:solidFill>
              </a:defRPr>
            </a:lvl5pPr>
            <a:lvl6pPr lvl="5">
              <a:buNone/>
              <a:defRPr sz="1300">
                <a:solidFill>
                  <a:srgbClr val="222222"/>
                </a:solidFill>
              </a:defRPr>
            </a:lvl6pPr>
            <a:lvl7pPr lvl="6">
              <a:buNone/>
              <a:defRPr sz="1300">
                <a:solidFill>
                  <a:srgbClr val="222222"/>
                </a:solidFill>
              </a:defRPr>
            </a:lvl7pPr>
            <a:lvl8pPr lvl="7">
              <a:buNone/>
              <a:defRPr sz="1300">
                <a:solidFill>
                  <a:srgbClr val="222222"/>
                </a:solidFill>
              </a:defRPr>
            </a:lvl8pPr>
            <a:lvl9pPr lvl="8">
              <a:buNone/>
              <a:defRPr sz="1300">
                <a:solidFill>
                  <a:srgbClr val="22222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93" name="Shape 293"/>
        <p:cNvGrpSpPr/>
        <p:nvPr/>
      </p:nvGrpSpPr>
      <p:grpSpPr>
        <a:xfrm>
          <a:off x="0" y="0"/>
          <a:ext cx="0" cy="0"/>
          <a:chOff x="0" y="0"/>
          <a:chExt cx="0" cy="0"/>
        </a:xfrm>
      </p:grpSpPr>
    </p:spTree>
  </p:cSld>
  <p:clrMapOvr>
    <a:masterClrMapping/>
  </p:clrMapOvr>
  <p:transition>
    <p:fade/>
  </p:transition>
  <p:extLst>
    <p:ext uri="{DCECCB84-F9BA-43D5-87BE-67443E8EF086}">
      <p15:sldGuideLst>
        <p15:guide id="1" pos="438">
          <p15:clr>
            <a:srgbClr val="A4A3A4"/>
          </p15:clr>
        </p15:guide>
        <p15:guide id="2" pos="541">
          <p15:clr>
            <a:srgbClr val="A4A3A4"/>
          </p15:clr>
        </p15:guide>
        <p15:guide id="3" pos="773">
          <p15:clr>
            <a:srgbClr val="A4A3A4"/>
          </p15:clr>
        </p15:guide>
        <p15:guide id="4" pos="875">
          <p15:clr>
            <a:srgbClr val="A4A3A4"/>
          </p15:clr>
        </p15:guide>
        <p15:guide id="5" pos="1106">
          <p15:clr>
            <a:srgbClr val="A4A3A4"/>
          </p15:clr>
        </p15:guide>
        <p15:guide id="6" pos="1210">
          <p15:clr>
            <a:srgbClr val="A4A3A4"/>
          </p15:clr>
        </p15:guide>
        <p15:guide id="7" pos="1441">
          <p15:clr>
            <a:srgbClr val="A4A3A4"/>
          </p15:clr>
        </p15:guide>
        <p15:guide id="8" pos="1543">
          <p15:clr>
            <a:srgbClr val="A4A3A4"/>
          </p15:clr>
        </p15:guide>
        <p15:guide id="9" pos="1778">
          <p15:clr>
            <a:srgbClr val="A4A3A4"/>
          </p15:clr>
        </p15:guide>
        <p15:guide id="10" pos="1883">
          <p15:clr>
            <a:srgbClr val="A4A3A4"/>
          </p15:clr>
        </p15:guide>
        <p15:guide id="11" pos="2111">
          <p15:clr>
            <a:srgbClr val="A4A3A4"/>
          </p15:clr>
        </p15:guide>
        <p15:guide id="12" pos="2211">
          <p15:clr>
            <a:srgbClr val="A4A3A4"/>
          </p15:clr>
        </p15:guide>
        <p15:guide id="13" pos="2443">
          <p15:clr>
            <a:srgbClr val="A4A3A4"/>
          </p15:clr>
        </p15:guide>
        <p15:guide id="14" pos="2549">
          <p15:clr>
            <a:srgbClr val="A4A3A4"/>
          </p15:clr>
        </p15:guide>
        <p15:guide id="15" pos="2777">
          <p15:clr>
            <a:srgbClr val="A4A3A4"/>
          </p15:clr>
        </p15:guide>
        <p15:guide id="16" pos="2880">
          <p15:clr>
            <a:srgbClr val="A4A3A4"/>
          </p15:clr>
        </p15:guide>
        <p15:guide id="17" pos="3110">
          <p15:clr>
            <a:srgbClr val="A4A3A4"/>
          </p15:clr>
        </p15:guide>
        <p15:guide id="18" pos="3214">
          <p15:clr>
            <a:srgbClr val="A4A3A4"/>
          </p15:clr>
        </p15:guide>
        <p15:guide id="19" pos="3444">
          <p15:clr>
            <a:srgbClr val="A4A3A4"/>
          </p15:clr>
        </p15:guide>
        <p15:guide id="20" pos="3548">
          <p15:clr>
            <a:srgbClr val="A4A3A4"/>
          </p15:clr>
        </p15:guide>
        <p15:guide id="21" pos="3779">
          <p15:clr>
            <a:srgbClr val="A4A3A4"/>
          </p15:clr>
        </p15:guide>
        <p15:guide id="22" pos="3881">
          <p15:clr>
            <a:srgbClr val="A4A3A4"/>
          </p15:clr>
        </p15:guide>
        <p15:guide id="23" orient="horz" pos="509">
          <p15:clr>
            <a:srgbClr val="5ACBF0"/>
          </p15:clr>
        </p15:guide>
        <p15:guide id="24" orient="horz" pos="715">
          <p15:clr>
            <a:srgbClr val="5ACBF0"/>
          </p15:clr>
        </p15:guide>
        <p15:guide id="25" orient="horz" pos="16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4" name="Shape 294"/>
        <p:cNvGrpSpPr/>
        <p:nvPr/>
      </p:nvGrpSpPr>
      <p:grpSpPr>
        <a:xfrm>
          <a:off x="0" y="0"/>
          <a:ext cx="0" cy="0"/>
          <a:chOff x="0" y="0"/>
          <a:chExt cx="0" cy="0"/>
        </a:xfrm>
      </p:grpSpPr>
      <p:sp>
        <p:nvSpPr>
          <p:cNvPr id="295" name="Google Shape;295;p2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296" name="Google Shape;296;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5" name="Shape 305"/>
        <p:cNvGrpSpPr/>
        <p:nvPr/>
      </p:nvGrpSpPr>
      <p:grpSpPr>
        <a:xfrm>
          <a:off x="0" y="0"/>
          <a:ext cx="0" cy="0"/>
          <a:chOff x="0" y="0"/>
          <a:chExt cx="0" cy="0"/>
        </a:xfrm>
      </p:grpSpPr>
      <p:sp>
        <p:nvSpPr>
          <p:cNvPr id="306" name="Google Shape;306;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7" name="Google Shape;307;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8" name="Google Shape;308;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9" name="Google Shape;309;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0" name="Shape 310"/>
        <p:cNvGrpSpPr/>
        <p:nvPr/>
      </p:nvGrpSpPr>
      <p:grpSpPr>
        <a:xfrm>
          <a:off x="0" y="0"/>
          <a:ext cx="0" cy="0"/>
          <a:chOff x="0" y="0"/>
          <a:chExt cx="0" cy="0"/>
        </a:xfrm>
      </p:grpSpPr>
      <p:sp>
        <p:nvSpPr>
          <p:cNvPr id="311" name="Google Shape;311;p3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2" name="Google Shape;312;p3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13" name="Google Shape;313;p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4" name="Google Shape;314;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5" name="Google Shape;315;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6" name="Shape 316"/>
        <p:cNvGrpSpPr/>
        <p:nvPr/>
      </p:nvGrpSpPr>
      <p:grpSpPr>
        <a:xfrm>
          <a:off x="0" y="0"/>
          <a:ext cx="0" cy="0"/>
          <a:chOff x="0" y="0"/>
          <a:chExt cx="0" cy="0"/>
        </a:xfrm>
      </p:grpSpPr>
      <p:sp>
        <p:nvSpPr>
          <p:cNvPr id="317" name="Google Shape;317;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8" name="Google Shape;318;p3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9" name="Google Shape;319;p3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0" name="Google Shape;320;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1" name="Google Shape;321;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2" name="Shape 322"/>
        <p:cNvGrpSpPr/>
        <p:nvPr/>
      </p:nvGrpSpPr>
      <p:grpSpPr>
        <a:xfrm>
          <a:off x="0" y="0"/>
          <a:ext cx="0" cy="0"/>
          <a:chOff x="0" y="0"/>
          <a:chExt cx="0" cy="0"/>
        </a:xfrm>
      </p:grpSpPr>
      <p:sp>
        <p:nvSpPr>
          <p:cNvPr id="323" name="Google Shape;323;p3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4" name="Google Shape;324;p3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325" name="Google Shape;325;p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6" name="Google Shape;326;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7" name="Google Shape;327;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8" name="Shape 328"/>
        <p:cNvGrpSpPr/>
        <p:nvPr/>
      </p:nvGrpSpPr>
      <p:grpSpPr>
        <a:xfrm>
          <a:off x="0" y="0"/>
          <a:ext cx="0" cy="0"/>
          <a:chOff x="0" y="0"/>
          <a:chExt cx="0" cy="0"/>
        </a:xfrm>
      </p:grpSpPr>
      <p:sp>
        <p:nvSpPr>
          <p:cNvPr id="329" name="Google Shape;329;p3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0" name="Google Shape;330;p3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1" name="Google Shape;331;p3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2" name="Google Shape;332;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33" name="Google Shape;333;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34" name="Google Shape;334;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5" name="Shape 335"/>
        <p:cNvGrpSpPr/>
        <p:nvPr/>
      </p:nvGrpSpPr>
      <p:grpSpPr>
        <a:xfrm>
          <a:off x="0" y="0"/>
          <a:ext cx="0" cy="0"/>
          <a:chOff x="0" y="0"/>
          <a:chExt cx="0" cy="0"/>
        </a:xfrm>
      </p:grpSpPr>
      <p:sp>
        <p:nvSpPr>
          <p:cNvPr id="336" name="Google Shape;336;p3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7" name="Google Shape;337;p3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38" name="Google Shape;338;p3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9" name="Google Shape;339;p3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40" name="Google Shape;340;p3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1" name="Google Shape;341;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2" name="Google Shape;342;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3" name="Google Shape;343;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4" name="Shape 344"/>
        <p:cNvGrpSpPr/>
        <p:nvPr/>
      </p:nvGrpSpPr>
      <p:grpSpPr>
        <a:xfrm>
          <a:off x="0" y="0"/>
          <a:ext cx="0" cy="0"/>
          <a:chOff x="0" y="0"/>
          <a:chExt cx="0" cy="0"/>
        </a:xfrm>
      </p:grpSpPr>
      <p:sp>
        <p:nvSpPr>
          <p:cNvPr id="345" name="Google Shape;345;p3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6" name="Google Shape;346;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7" name="Google Shape;347;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8" name="Shape 348"/>
        <p:cNvGrpSpPr/>
        <p:nvPr/>
      </p:nvGrpSpPr>
      <p:grpSpPr>
        <a:xfrm>
          <a:off x="0" y="0"/>
          <a:ext cx="0" cy="0"/>
          <a:chOff x="0" y="0"/>
          <a:chExt cx="0" cy="0"/>
        </a:xfrm>
      </p:grpSpPr>
      <p:sp>
        <p:nvSpPr>
          <p:cNvPr id="349" name="Google Shape;349;p37"/>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0" name="Google Shape;350;p37"/>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351" name="Google Shape;351;p37"/>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52" name="Google Shape;352;p3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3" name="Google Shape;353;p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4" name="Google Shape;354;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5" name="Shape 355"/>
        <p:cNvGrpSpPr/>
        <p:nvPr/>
      </p:nvGrpSpPr>
      <p:grpSpPr>
        <a:xfrm>
          <a:off x="0" y="0"/>
          <a:ext cx="0" cy="0"/>
          <a:chOff x="0" y="0"/>
          <a:chExt cx="0" cy="0"/>
        </a:xfrm>
      </p:grpSpPr>
      <p:sp>
        <p:nvSpPr>
          <p:cNvPr id="356" name="Google Shape;356;p3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7" name="Google Shape;357;p38"/>
          <p:cNvSpPr/>
          <p:nvPr>
            <p:ph idx="2" type="pic"/>
          </p:nvPr>
        </p:nvSpPr>
        <p:spPr>
          <a:xfrm>
            <a:off x="3887391" y="740569"/>
            <a:ext cx="4629300" cy="3655200"/>
          </a:xfrm>
          <a:prstGeom prst="rect">
            <a:avLst/>
          </a:prstGeom>
          <a:noFill/>
          <a:ln>
            <a:noFill/>
          </a:ln>
        </p:spPr>
      </p:sp>
      <p:sp>
        <p:nvSpPr>
          <p:cNvPr id="358" name="Google Shape;358;p38"/>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59" name="Google Shape;359;p3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0" name="Google Shape;360;p3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1" name="Google Shape;361;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62" name="Shape 362"/>
        <p:cNvGrpSpPr/>
        <p:nvPr/>
      </p:nvGrpSpPr>
      <p:grpSpPr>
        <a:xfrm>
          <a:off x="0" y="0"/>
          <a:ext cx="0" cy="0"/>
          <a:chOff x="0" y="0"/>
          <a:chExt cx="0" cy="0"/>
        </a:xfrm>
      </p:grpSpPr>
      <p:sp>
        <p:nvSpPr>
          <p:cNvPr id="363" name="Google Shape;363;p3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4" name="Google Shape;364;p39"/>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5" name="Google Shape;365;p3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6" name="Google Shape;366;p3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7" name="Google Shape;367;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68" name="Shape 368"/>
        <p:cNvGrpSpPr/>
        <p:nvPr/>
      </p:nvGrpSpPr>
      <p:grpSpPr>
        <a:xfrm>
          <a:off x="0" y="0"/>
          <a:ext cx="0" cy="0"/>
          <a:chOff x="0" y="0"/>
          <a:chExt cx="0" cy="0"/>
        </a:xfrm>
      </p:grpSpPr>
      <p:sp>
        <p:nvSpPr>
          <p:cNvPr id="369" name="Google Shape;369;p40"/>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0" name="Google Shape;370;p40"/>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1" name="Google Shape;371;p4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2" name="Google Shape;372;p4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3" name="Google Shape;373;p4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374" name="Shape 374"/>
        <p:cNvGrpSpPr/>
        <p:nvPr/>
      </p:nvGrpSpPr>
      <p:grpSpPr>
        <a:xfrm>
          <a:off x="0" y="0"/>
          <a:ext cx="0" cy="0"/>
          <a:chOff x="0" y="0"/>
          <a:chExt cx="0" cy="0"/>
        </a:xfrm>
      </p:grpSpPr>
      <p:sp>
        <p:nvSpPr>
          <p:cNvPr id="375" name="Google Shape;375;p4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76" name="Google Shape;376;p4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77" name="Google Shape;377;p41"/>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800"/>
              </a:spcBef>
              <a:spcAft>
                <a:spcPts val="0"/>
              </a:spcAft>
              <a:buClr>
                <a:srgbClr val="5B5B5B"/>
              </a:buClr>
              <a:buSzPts val="2100"/>
              <a:buNone/>
              <a:defRPr>
                <a:solidFill>
                  <a:srgbClr val="5B5B5B"/>
                </a:solidFill>
              </a:defRPr>
            </a:lvl1pPr>
            <a:lvl2pPr lvl="1">
              <a:spcBef>
                <a:spcPts val="400"/>
              </a:spcBef>
              <a:spcAft>
                <a:spcPts val="0"/>
              </a:spcAft>
              <a:buClr>
                <a:srgbClr val="5B5B5B"/>
              </a:buClr>
              <a:buSzPts val="1800"/>
              <a:buNone/>
              <a:defRPr>
                <a:solidFill>
                  <a:srgbClr val="5B5B5B"/>
                </a:solidFill>
              </a:defRPr>
            </a:lvl2pPr>
            <a:lvl3pPr lvl="2">
              <a:spcBef>
                <a:spcPts val="400"/>
              </a:spcBef>
              <a:spcAft>
                <a:spcPts val="0"/>
              </a:spcAft>
              <a:buClr>
                <a:srgbClr val="5B5B5B"/>
              </a:buClr>
              <a:buSzPts val="1500"/>
              <a:buNone/>
              <a:defRPr>
                <a:solidFill>
                  <a:srgbClr val="5B5B5B"/>
                </a:solidFill>
              </a:defRPr>
            </a:lvl3pPr>
            <a:lvl4pPr lvl="3">
              <a:spcBef>
                <a:spcPts val="400"/>
              </a:spcBef>
              <a:spcAft>
                <a:spcPts val="0"/>
              </a:spcAft>
              <a:buClr>
                <a:srgbClr val="5B5B5B"/>
              </a:buClr>
              <a:buSzPts val="1400"/>
              <a:buNone/>
              <a:defRPr>
                <a:solidFill>
                  <a:srgbClr val="5B5B5B"/>
                </a:solidFill>
              </a:defRPr>
            </a:lvl4pPr>
            <a:lvl5pPr lvl="4">
              <a:spcBef>
                <a:spcPts val="400"/>
              </a:spcBef>
              <a:spcAft>
                <a:spcPts val="0"/>
              </a:spcAft>
              <a:buClr>
                <a:srgbClr val="5B5B5B"/>
              </a:buClr>
              <a:buSzPts val="1400"/>
              <a:buNone/>
              <a:defRPr>
                <a:solidFill>
                  <a:srgbClr val="5B5B5B"/>
                </a:solidFill>
              </a:defRPr>
            </a:lvl5pPr>
            <a:lvl6pPr lvl="5">
              <a:spcBef>
                <a:spcPts val="400"/>
              </a:spcBef>
              <a:spcAft>
                <a:spcPts val="0"/>
              </a:spcAft>
              <a:buClr>
                <a:srgbClr val="5B5B5B"/>
              </a:buClr>
              <a:buSzPts val="1400"/>
              <a:buNone/>
              <a:defRPr>
                <a:solidFill>
                  <a:srgbClr val="5B5B5B"/>
                </a:solidFill>
              </a:defRPr>
            </a:lvl6pPr>
            <a:lvl7pPr lvl="6">
              <a:spcBef>
                <a:spcPts val="400"/>
              </a:spcBef>
              <a:spcAft>
                <a:spcPts val="0"/>
              </a:spcAft>
              <a:buClr>
                <a:srgbClr val="5B5B5B"/>
              </a:buClr>
              <a:buSzPts val="1400"/>
              <a:buNone/>
              <a:defRPr>
                <a:solidFill>
                  <a:srgbClr val="5B5B5B"/>
                </a:solidFill>
              </a:defRPr>
            </a:lvl7pPr>
            <a:lvl8pPr lvl="7">
              <a:spcBef>
                <a:spcPts val="400"/>
              </a:spcBef>
              <a:spcAft>
                <a:spcPts val="0"/>
              </a:spcAft>
              <a:buClr>
                <a:srgbClr val="5B5B5B"/>
              </a:buClr>
              <a:buSzPts val="1400"/>
              <a:buNone/>
              <a:defRPr>
                <a:solidFill>
                  <a:srgbClr val="5B5B5B"/>
                </a:solidFill>
              </a:defRPr>
            </a:lvl8pPr>
            <a:lvl9pPr lvl="8">
              <a:spcBef>
                <a:spcPts val="400"/>
              </a:spcBef>
              <a:spcAft>
                <a:spcPts val="0"/>
              </a:spcAft>
              <a:buClr>
                <a:srgbClr val="5B5B5B"/>
              </a:buClr>
              <a:buSzPts val="1400"/>
              <a:buNone/>
              <a:defRPr>
                <a:solidFill>
                  <a:srgbClr val="5B5B5B"/>
                </a:solidFill>
              </a:defRPr>
            </a:lvl9pPr>
          </a:lstStyle>
          <a:p/>
        </p:txBody>
      </p:sp>
      <p:sp>
        <p:nvSpPr>
          <p:cNvPr id="378" name="Google Shape;378;p4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79" name="Google Shape;379;p4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380" name="Google Shape;380;p4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41"/>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lvl1pPr lvl="0">
              <a:lnSpc>
                <a:spcPct val="85000"/>
              </a:lnSpc>
              <a:spcBef>
                <a:spcPts val="0"/>
              </a:spcBef>
              <a:spcAft>
                <a:spcPts val="0"/>
              </a:spcAft>
              <a:buSzPts val="3300"/>
              <a:buNone/>
              <a:defRPr/>
            </a:lvl1pPr>
            <a:lvl2pPr lvl="1">
              <a:lnSpc>
                <a:spcPct val="85000"/>
              </a:lnSpc>
              <a:spcBef>
                <a:spcPts val="0"/>
              </a:spcBef>
              <a:spcAft>
                <a:spcPts val="0"/>
              </a:spcAft>
              <a:buSzPts val="1100"/>
              <a:buNone/>
              <a:defRPr/>
            </a:lvl2pPr>
            <a:lvl3pPr lvl="2">
              <a:lnSpc>
                <a:spcPct val="85000"/>
              </a:lnSpc>
              <a:spcBef>
                <a:spcPts val="0"/>
              </a:spcBef>
              <a:spcAft>
                <a:spcPts val="0"/>
              </a:spcAft>
              <a:buSzPts val="1100"/>
              <a:buNone/>
              <a:defRPr/>
            </a:lvl3pPr>
            <a:lvl4pPr lvl="3">
              <a:lnSpc>
                <a:spcPct val="85000"/>
              </a:lnSpc>
              <a:spcBef>
                <a:spcPts val="0"/>
              </a:spcBef>
              <a:spcAft>
                <a:spcPts val="0"/>
              </a:spcAft>
              <a:buSzPts val="1100"/>
              <a:buNone/>
              <a:defRPr/>
            </a:lvl4pPr>
            <a:lvl5pPr lvl="4">
              <a:lnSpc>
                <a:spcPct val="85000"/>
              </a:lnSpc>
              <a:spcBef>
                <a:spcPts val="0"/>
              </a:spcBef>
              <a:spcAft>
                <a:spcPts val="0"/>
              </a:spcAft>
              <a:buSzPts val="1100"/>
              <a:buNone/>
              <a:defRPr/>
            </a:lvl5pPr>
            <a:lvl6pPr lvl="5">
              <a:lnSpc>
                <a:spcPct val="85000"/>
              </a:lnSpc>
              <a:spcBef>
                <a:spcPts val="0"/>
              </a:spcBef>
              <a:spcAft>
                <a:spcPts val="0"/>
              </a:spcAft>
              <a:buSzPts val="1100"/>
              <a:buNone/>
              <a:defRPr/>
            </a:lvl6pPr>
            <a:lvl7pPr lvl="6">
              <a:lnSpc>
                <a:spcPct val="85000"/>
              </a:lnSpc>
              <a:spcBef>
                <a:spcPts val="0"/>
              </a:spcBef>
              <a:spcAft>
                <a:spcPts val="0"/>
              </a:spcAft>
              <a:buSzPts val="1100"/>
              <a:buNone/>
              <a:defRPr/>
            </a:lvl7pPr>
            <a:lvl8pPr lvl="7">
              <a:lnSpc>
                <a:spcPct val="85000"/>
              </a:lnSpc>
              <a:spcBef>
                <a:spcPts val="0"/>
              </a:spcBef>
              <a:spcAft>
                <a:spcPts val="0"/>
              </a:spcAft>
              <a:buSzPts val="1100"/>
              <a:buNone/>
              <a:defRPr/>
            </a:lvl8pPr>
            <a:lvl9pPr lvl="8">
              <a:lnSpc>
                <a:spcPct val="85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4.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3" Type="http://schemas.openxmlformats.org/officeDocument/2006/relationships/theme" Target="../theme/theme3.xml"/><Relationship Id="rId12" Type="http://schemas.openxmlformats.org/officeDocument/2006/relationships/slideLayout" Target="../slideLayouts/slideLayout38.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74325" y="91450"/>
            <a:ext cx="8682600" cy="3813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2200"/>
              <a:buFont typeface="Roboto"/>
              <a:buNone/>
              <a:defRPr sz="2200">
                <a:latin typeface="Roboto"/>
                <a:ea typeface="Roboto"/>
                <a:cs typeface="Roboto"/>
                <a:sym typeface="Roboto"/>
              </a:defRPr>
            </a:lvl1pPr>
            <a:lvl2pPr lvl="1">
              <a:spcBef>
                <a:spcPts val="0"/>
              </a:spcBef>
              <a:spcAft>
                <a:spcPts val="0"/>
              </a:spcAft>
              <a:buSzPts val="2200"/>
              <a:buFont typeface="Roboto"/>
              <a:buNone/>
              <a:defRPr sz="2200">
                <a:latin typeface="Roboto"/>
                <a:ea typeface="Roboto"/>
                <a:cs typeface="Roboto"/>
                <a:sym typeface="Roboto"/>
              </a:defRPr>
            </a:lvl2pPr>
            <a:lvl3pPr lvl="2">
              <a:spcBef>
                <a:spcPts val="0"/>
              </a:spcBef>
              <a:spcAft>
                <a:spcPts val="0"/>
              </a:spcAft>
              <a:buSzPts val="2200"/>
              <a:buFont typeface="Roboto"/>
              <a:buNone/>
              <a:defRPr sz="2200">
                <a:latin typeface="Roboto"/>
                <a:ea typeface="Roboto"/>
                <a:cs typeface="Roboto"/>
                <a:sym typeface="Roboto"/>
              </a:defRPr>
            </a:lvl3pPr>
            <a:lvl4pPr lvl="3">
              <a:spcBef>
                <a:spcPts val="0"/>
              </a:spcBef>
              <a:spcAft>
                <a:spcPts val="0"/>
              </a:spcAft>
              <a:buSzPts val="2200"/>
              <a:buFont typeface="Roboto"/>
              <a:buNone/>
              <a:defRPr sz="2200">
                <a:latin typeface="Roboto"/>
                <a:ea typeface="Roboto"/>
                <a:cs typeface="Roboto"/>
                <a:sym typeface="Roboto"/>
              </a:defRPr>
            </a:lvl4pPr>
            <a:lvl5pPr lvl="4">
              <a:spcBef>
                <a:spcPts val="0"/>
              </a:spcBef>
              <a:spcAft>
                <a:spcPts val="0"/>
              </a:spcAft>
              <a:buSzPts val="2200"/>
              <a:buFont typeface="Roboto"/>
              <a:buNone/>
              <a:defRPr sz="2200">
                <a:latin typeface="Roboto"/>
                <a:ea typeface="Roboto"/>
                <a:cs typeface="Roboto"/>
                <a:sym typeface="Roboto"/>
              </a:defRPr>
            </a:lvl5pPr>
            <a:lvl6pPr lvl="5">
              <a:spcBef>
                <a:spcPts val="0"/>
              </a:spcBef>
              <a:spcAft>
                <a:spcPts val="0"/>
              </a:spcAft>
              <a:buSzPts val="2200"/>
              <a:buFont typeface="Roboto"/>
              <a:buNone/>
              <a:defRPr sz="2200">
                <a:latin typeface="Roboto"/>
                <a:ea typeface="Roboto"/>
                <a:cs typeface="Roboto"/>
                <a:sym typeface="Roboto"/>
              </a:defRPr>
            </a:lvl6pPr>
            <a:lvl7pPr lvl="6">
              <a:spcBef>
                <a:spcPts val="0"/>
              </a:spcBef>
              <a:spcAft>
                <a:spcPts val="0"/>
              </a:spcAft>
              <a:buSzPts val="2200"/>
              <a:buFont typeface="Roboto"/>
              <a:buNone/>
              <a:defRPr sz="2200">
                <a:latin typeface="Roboto"/>
                <a:ea typeface="Roboto"/>
                <a:cs typeface="Roboto"/>
                <a:sym typeface="Roboto"/>
              </a:defRPr>
            </a:lvl7pPr>
            <a:lvl8pPr lvl="7">
              <a:spcBef>
                <a:spcPts val="0"/>
              </a:spcBef>
              <a:spcAft>
                <a:spcPts val="0"/>
              </a:spcAft>
              <a:buSzPts val="2200"/>
              <a:buFont typeface="Roboto"/>
              <a:buNone/>
              <a:defRPr sz="2200">
                <a:latin typeface="Roboto"/>
                <a:ea typeface="Roboto"/>
                <a:cs typeface="Roboto"/>
                <a:sym typeface="Roboto"/>
              </a:defRPr>
            </a:lvl8pPr>
            <a:lvl9pPr lvl="8">
              <a:spcBef>
                <a:spcPts val="0"/>
              </a:spcBef>
              <a:spcAft>
                <a:spcPts val="0"/>
              </a:spcAft>
              <a:buSzPts val="2200"/>
              <a:buFont typeface="Roboto"/>
              <a:buNone/>
              <a:defRPr sz="2200">
                <a:latin typeface="Roboto"/>
                <a:ea typeface="Roboto"/>
                <a:cs typeface="Roboto"/>
                <a:sym typeface="Roboto"/>
              </a:defRPr>
            </a:lvl9pPr>
          </a:lstStyle>
          <a:p/>
        </p:txBody>
      </p:sp>
      <p:sp>
        <p:nvSpPr>
          <p:cNvPr id="7" name="Google Shape;7;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latin typeface="Roboto"/>
                <a:ea typeface="Roboto"/>
                <a:cs typeface="Roboto"/>
                <a:sym typeface="Roboto"/>
              </a:defRPr>
            </a:lvl1pPr>
            <a:lvl2pPr lvl="1" algn="r">
              <a:buNone/>
              <a:defRPr sz="1300">
                <a:latin typeface="Roboto"/>
                <a:ea typeface="Roboto"/>
                <a:cs typeface="Roboto"/>
                <a:sym typeface="Roboto"/>
              </a:defRPr>
            </a:lvl2pPr>
            <a:lvl3pPr lvl="2" algn="r">
              <a:buNone/>
              <a:defRPr sz="1300">
                <a:latin typeface="Roboto"/>
                <a:ea typeface="Roboto"/>
                <a:cs typeface="Roboto"/>
                <a:sym typeface="Roboto"/>
              </a:defRPr>
            </a:lvl3pPr>
            <a:lvl4pPr lvl="3" algn="r">
              <a:buNone/>
              <a:defRPr sz="1300">
                <a:latin typeface="Roboto"/>
                <a:ea typeface="Roboto"/>
                <a:cs typeface="Roboto"/>
                <a:sym typeface="Roboto"/>
              </a:defRPr>
            </a:lvl4pPr>
            <a:lvl5pPr lvl="4" algn="r">
              <a:buNone/>
              <a:defRPr sz="1300">
                <a:latin typeface="Roboto"/>
                <a:ea typeface="Roboto"/>
                <a:cs typeface="Roboto"/>
                <a:sym typeface="Roboto"/>
              </a:defRPr>
            </a:lvl5pPr>
            <a:lvl6pPr lvl="5" algn="r">
              <a:buNone/>
              <a:defRPr sz="1300">
                <a:latin typeface="Roboto"/>
                <a:ea typeface="Roboto"/>
                <a:cs typeface="Roboto"/>
                <a:sym typeface="Roboto"/>
              </a:defRPr>
            </a:lvl6pPr>
            <a:lvl7pPr lvl="6" algn="r">
              <a:buNone/>
              <a:defRPr sz="1300">
                <a:latin typeface="Roboto"/>
                <a:ea typeface="Roboto"/>
                <a:cs typeface="Roboto"/>
                <a:sym typeface="Roboto"/>
              </a:defRPr>
            </a:lvl7pPr>
            <a:lvl8pPr lvl="7" algn="r">
              <a:buNone/>
              <a:defRPr sz="1300">
                <a:latin typeface="Roboto"/>
                <a:ea typeface="Roboto"/>
                <a:cs typeface="Roboto"/>
                <a:sym typeface="Roboto"/>
              </a:defRPr>
            </a:lvl8pPr>
            <a:lvl9pPr lvl="8" algn="r">
              <a:buNone/>
              <a:defRPr sz="1300">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15"/>
          <p:cNvSpPr txBox="1"/>
          <p:nvPr>
            <p:ph type="title"/>
          </p:nvPr>
        </p:nvSpPr>
        <p:spPr>
          <a:xfrm>
            <a:off x="274325" y="91450"/>
            <a:ext cx="8682600" cy="381300"/>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2200"/>
              <a:buFont typeface="Roboto"/>
              <a:buNone/>
              <a:defRPr sz="2200">
                <a:latin typeface="Roboto"/>
                <a:ea typeface="Roboto"/>
                <a:cs typeface="Roboto"/>
                <a:sym typeface="Roboto"/>
              </a:defRPr>
            </a:lvl1pPr>
            <a:lvl2pPr lvl="1">
              <a:spcBef>
                <a:spcPts val="0"/>
              </a:spcBef>
              <a:spcAft>
                <a:spcPts val="0"/>
              </a:spcAft>
              <a:buSzPts val="2200"/>
              <a:buFont typeface="Roboto"/>
              <a:buNone/>
              <a:defRPr sz="2200">
                <a:latin typeface="Roboto"/>
                <a:ea typeface="Roboto"/>
                <a:cs typeface="Roboto"/>
                <a:sym typeface="Roboto"/>
              </a:defRPr>
            </a:lvl2pPr>
            <a:lvl3pPr lvl="2">
              <a:spcBef>
                <a:spcPts val="0"/>
              </a:spcBef>
              <a:spcAft>
                <a:spcPts val="0"/>
              </a:spcAft>
              <a:buSzPts val="2200"/>
              <a:buFont typeface="Roboto"/>
              <a:buNone/>
              <a:defRPr sz="2200">
                <a:latin typeface="Roboto"/>
                <a:ea typeface="Roboto"/>
                <a:cs typeface="Roboto"/>
                <a:sym typeface="Roboto"/>
              </a:defRPr>
            </a:lvl3pPr>
            <a:lvl4pPr lvl="3">
              <a:spcBef>
                <a:spcPts val="0"/>
              </a:spcBef>
              <a:spcAft>
                <a:spcPts val="0"/>
              </a:spcAft>
              <a:buSzPts val="2200"/>
              <a:buFont typeface="Roboto"/>
              <a:buNone/>
              <a:defRPr sz="2200">
                <a:latin typeface="Roboto"/>
                <a:ea typeface="Roboto"/>
                <a:cs typeface="Roboto"/>
                <a:sym typeface="Roboto"/>
              </a:defRPr>
            </a:lvl4pPr>
            <a:lvl5pPr lvl="4">
              <a:spcBef>
                <a:spcPts val="0"/>
              </a:spcBef>
              <a:spcAft>
                <a:spcPts val="0"/>
              </a:spcAft>
              <a:buSzPts val="2200"/>
              <a:buFont typeface="Roboto"/>
              <a:buNone/>
              <a:defRPr sz="2200">
                <a:latin typeface="Roboto"/>
                <a:ea typeface="Roboto"/>
                <a:cs typeface="Roboto"/>
                <a:sym typeface="Roboto"/>
              </a:defRPr>
            </a:lvl5pPr>
            <a:lvl6pPr lvl="5">
              <a:spcBef>
                <a:spcPts val="0"/>
              </a:spcBef>
              <a:spcAft>
                <a:spcPts val="0"/>
              </a:spcAft>
              <a:buSzPts val="2200"/>
              <a:buFont typeface="Roboto"/>
              <a:buNone/>
              <a:defRPr sz="2200">
                <a:latin typeface="Roboto"/>
                <a:ea typeface="Roboto"/>
                <a:cs typeface="Roboto"/>
                <a:sym typeface="Roboto"/>
              </a:defRPr>
            </a:lvl6pPr>
            <a:lvl7pPr lvl="6">
              <a:spcBef>
                <a:spcPts val="0"/>
              </a:spcBef>
              <a:spcAft>
                <a:spcPts val="0"/>
              </a:spcAft>
              <a:buSzPts val="2200"/>
              <a:buFont typeface="Roboto"/>
              <a:buNone/>
              <a:defRPr sz="2200">
                <a:latin typeface="Roboto"/>
                <a:ea typeface="Roboto"/>
                <a:cs typeface="Roboto"/>
                <a:sym typeface="Roboto"/>
              </a:defRPr>
            </a:lvl7pPr>
            <a:lvl8pPr lvl="7">
              <a:spcBef>
                <a:spcPts val="0"/>
              </a:spcBef>
              <a:spcAft>
                <a:spcPts val="0"/>
              </a:spcAft>
              <a:buSzPts val="2200"/>
              <a:buFont typeface="Roboto"/>
              <a:buNone/>
              <a:defRPr sz="2200">
                <a:latin typeface="Roboto"/>
                <a:ea typeface="Roboto"/>
                <a:cs typeface="Roboto"/>
                <a:sym typeface="Roboto"/>
              </a:defRPr>
            </a:lvl8pPr>
            <a:lvl9pPr lvl="8">
              <a:spcBef>
                <a:spcPts val="0"/>
              </a:spcBef>
              <a:spcAft>
                <a:spcPts val="0"/>
              </a:spcAft>
              <a:buSzPts val="2200"/>
              <a:buFont typeface="Roboto"/>
              <a:buNone/>
              <a:defRPr sz="2200">
                <a:latin typeface="Roboto"/>
                <a:ea typeface="Roboto"/>
                <a:cs typeface="Roboto"/>
                <a:sym typeface="Roboto"/>
              </a:defRPr>
            </a:lvl9pPr>
          </a:lstStyle>
          <a:p/>
        </p:txBody>
      </p:sp>
      <p:sp>
        <p:nvSpPr>
          <p:cNvPr id="154" name="Google Shape;15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latin typeface="Roboto"/>
                <a:ea typeface="Roboto"/>
                <a:cs typeface="Roboto"/>
                <a:sym typeface="Roboto"/>
              </a:defRPr>
            </a:lvl1pPr>
            <a:lvl2pPr lvl="1" algn="r">
              <a:buNone/>
              <a:defRPr sz="1300">
                <a:latin typeface="Roboto"/>
                <a:ea typeface="Roboto"/>
                <a:cs typeface="Roboto"/>
                <a:sym typeface="Roboto"/>
              </a:defRPr>
            </a:lvl2pPr>
            <a:lvl3pPr lvl="2" algn="r">
              <a:buNone/>
              <a:defRPr sz="1300">
                <a:latin typeface="Roboto"/>
                <a:ea typeface="Roboto"/>
                <a:cs typeface="Roboto"/>
                <a:sym typeface="Roboto"/>
              </a:defRPr>
            </a:lvl3pPr>
            <a:lvl4pPr lvl="3" algn="r">
              <a:buNone/>
              <a:defRPr sz="1300">
                <a:latin typeface="Roboto"/>
                <a:ea typeface="Roboto"/>
                <a:cs typeface="Roboto"/>
                <a:sym typeface="Roboto"/>
              </a:defRPr>
            </a:lvl4pPr>
            <a:lvl5pPr lvl="4" algn="r">
              <a:buNone/>
              <a:defRPr sz="1300">
                <a:latin typeface="Roboto"/>
                <a:ea typeface="Roboto"/>
                <a:cs typeface="Roboto"/>
                <a:sym typeface="Roboto"/>
              </a:defRPr>
            </a:lvl5pPr>
            <a:lvl6pPr lvl="5" algn="r">
              <a:buNone/>
              <a:defRPr sz="1300">
                <a:latin typeface="Roboto"/>
                <a:ea typeface="Roboto"/>
                <a:cs typeface="Roboto"/>
                <a:sym typeface="Roboto"/>
              </a:defRPr>
            </a:lvl6pPr>
            <a:lvl7pPr lvl="6" algn="r">
              <a:buNone/>
              <a:defRPr sz="1300">
                <a:latin typeface="Roboto"/>
                <a:ea typeface="Roboto"/>
                <a:cs typeface="Roboto"/>
                <a:sym typeface="Roboto"/>
              </a:defRPr>
            </a:lvl7pPr>
            <a:lvl8pPr lvl="7" algn="r">
              <a:buNone/>
              <a:defRPr sz="1300">
                <a:latin typeface="Roboto"/>
                <a:ea typeface="Roboto"/>
                <a:cs typeface="Roboto"/>
                <a:sym typeface="Roboto"/>
              </a:defRPr>
            </a:lvl8pPr>
            <a:lvl9pPr lvl="8" algn="r">
              <a:buNone/>
              <a:defRPr sz="1300">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 name="Shape 299"/>
        <p:cNvGrpSpPr/>
        <p:nvPr/>
      </p:nvGrpSpPr>
      <p:grpSpPr>
        <a:xfrm>
          <a:off x="0" y="0"/>
          <a:ext cx="0" cy="0"/>
          <a:chOff x="0" y="0"/>
          <a:chExt cx="0" cy="0"/>
        </a:xfrm>
      </p:grpSpPr>
      <p:sp>
        <p:nvSpPr>
          <p:cNvPr id="300" name="Google Shape;300;p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301" name="Google Shape;301;p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302" name="Google Shape;302;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303" name="Google Shape;303;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304" name="Google Shape;304;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757575"/>
                </a:solidFill>
                <a:latin typeface="Arial"/>
                <a:ea typeface="Arial"/>
                <a:cs typeface="Arial"/>
                <a:sym typeface="Arial"/>
              </a:defRPr>
            </a:lvl1pPr>
            <a:lvl2pPr indent="0" lvl="1" marL="0" marR="0" algn="r">
              <a:spcBef>
                <a:spcPts val="0"/>
              </a:spcBef>
              <a:buNone/>
              <a:defRPr b="0" i="0" sz="900" u="none" cap="none" strike="noStrike">
                <a:solidFill>
                  <a:srgbClr val="757575"/>
                </a:solidFill>
                <a:latin typeface="Arial"/>
                <a:ea typeface="Arial"/>
                <a:cs typeface="Arial"/>
                <a:sym typeface="Arial"/>
              </a:defRPr>
            </a:lvl2pPr>
            <a:lvl3pPr indent="0" lvl="2" marL="0" marR="0" algn="r">
              <a:spcBef>
                <a:spcPts val="0"/>
              </a:spcBef>
              <a:buNone/>
              <a:defRPr b="0" i="0" sz="900" u="none" cap="none" strike="noStrike">
                <a:solidFill>
                  <a:srgbClr val="757575"/>
                </a:solidFill>
                <a:latin typeface="Arial"/>
                <a:ea typeface="Arial"/>
                <a:cs typeface="Arial"/>
                <a:sym typeface="Arial"/>
              </a:defRPr>
            </a:lvl3pPr>
            <a:lvl4pPr indent="0" lvl="3" marL="0" marR="0" algn="r">
              <a:spcBef>
                <a:spcPts val="0"/>
              </a:spcBef>
              <a:buNone/>
              <a:defRPr b="0" i="0" sz="900" u="none" cap="none" strike="noStrike">
                <a:solidFill>
                  <a:srgbClr val="757575"/>
                </a:solidFill>
                <a:latin typeface="Arial"/>
                <a:ea typeface="Arial"/>
                <a:cs typeface="Arial"/>
                <a:sym typeface="Arial"/>
              </a:defRPr>
            </a:lvl4pPr>
            <a:lvl5pPr indent="0" lvl="4" marL="0" marR="0" algn="r">
              <a:spcBef>
                <a:spcPts val="0"/>
              </a:spcBef>
              <a:buNone/>
              <a:defRPr b="0" i="0" sz="900" u="none" cap="none" strike="noStrike">
                <a:solidFill>
                  <a:srgbClr val="757575"/>
                </a:solidFill>
                <a:latin typeface="Arial"/>
                <a:ea typeface="Arial"/>
                <a:cs typeface="Arial"/>
                <a:sym typeface="Arial"/>
              </a:defRPr>
            </a:lvl5pPr>
            <a:lvl6pPr indent="0" lvl="5" marL="0" marR="0" algn="r">
              <a:spcBef>
                <a:spcPts val="0"/>
              </a:spcBef>
              <a:buNone/>
              <a:defRPr b="0" i="0" sz="900" u="none" cap="none" strike="noStrike">
                <a:solidFill>
                  <a:srgbClr val="757575"/>
                </a:solidFill>
                <a:latin typeface="Arial"/>
                <a:ea typeface="Arial"/>
                <a:cs typeface="Arial"/>
                <a:sym typeface="Arial"/>
              </a:defRPr>
            </a:lvl6pPr>
            <a:lvl7pPr indent="0" lvl="6" marL="0" marR="0" algn="r">
              <a:spcBef>
                <a:spcPts val="0"/>
              </a:spcBef>
              <a:buNone/>
              <a:defRPr b="0" i="0" sz="900" u="none" cap="none" strike="noStrike">
                <a:solidFill>
                  <a:srgbClr val="757575"/>
                </a:solidFill>
                <a:latin typeface="Arial"/>
                <a:ea typeface="Arial"/>
                <a:cs typeface="Arial"/>
                <a:sym typeface="Arial"/>
              </a:defRPr>
            </a:lvl7pPr>
            <a:lvl8pPr indent="0" lvl="7" marL="0" marR="0" algn="r">
              <a:spcBef>
                <a:spcPts val="0"/>
              </a:spcBef>
              <a:buNone/>
              <a:defRPr b="0" i="0" sz="900" u="none" cap="none" strike="noStrike">
                <a:solidFill>
                  <a:srgbClr val="757575"/>
                </a:solidFill>
                <a:latin typeface="Arial"/>
                <a:ea typeface="Arial"/>
                <a:cs typeface="Arial"/>
                <a:sym typeface="Arial"/>
              </a:defRPr>
            </a:lvl8pPr>
            <a:lvl9pPr indent="0" lvl="8" marL="0" marR="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hyperlink" Target="mailto:ali.khosro@snowflake.com" TargetMode="External"/><Relationship Id="rId4" Type="http://schemas.openxmlformats.org/officeDocument/2006/relationships/hyperlink" Target="https://drive.google.com/drive/folders/0AN3C-oCS45MsUk9PVA?lfhs=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4.jpg"/><Relationship Id="rId9" Type="http://schemas.openxmlformats.org/officeDocument/2006/relationships/image" Target="../media/image25.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5.png"/><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3.png"/><Relationship Id="rId5" Type="http://schemas.openxmlformats.org/officeDocument/2006/relationships/image" Target="../media/image33.png"/><Relationship Id="rId6" Type="http://schemas.openxmlformats.org/officeDocument/2006/relationships/image" Target="../media/image15.png"/><Relationship Id="rId7" Type="http://schemas.openxmlformats.org/officeDocument/2006/relationships/image" Target="../media/image18.png"/><Relationship Id="rId8"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20.png"/><Relationship Id="rId12" Type="http://schemas.openxmlformats.org/officeDocument/2006/relationships/image" Target="../media/image23.png"/><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8.png"/><Relationship Id="rId5" Type="http://schemas.openxmlformats.org/officeDocument/2006/relationships/image" Target="../media/image22.png"/><Relationship Id="rId6" Type="http://schemas.openxmlformats.org/officeDocument/2006/relationships/image" Target="../media/image14.png"/><Relationship Id="rId7" Type="http://schemas.openxmlformats.org/officeDocument/2006/relationships/image" Target="../media/image26.png"/><Relationship Id="rId8" Type="http://schemas.openxmlformats.org/officeDocument/2006/relationships/image" Target="../media/image19.png"/></Relationships>
</file>

<file path=ppt/slides/_rels/slide10.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23.png"/><Relationship Id="rId12" Type="http://schemas.openxmlformats.org/officeDocument/2006/relationships/image" Target="../media/image36.png"/><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44.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28.png"/><Relationship Id="rId8"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6.png"/></Relationships>
</file>

<file path=ppt/slides/_rels/slide15.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23.png"/><Relationship Id="rId13" Type="http://schemas.openxmlformats.org/officeDocument/2006/relationships/image" Target="../media/image5.png"/><Relationship Id="rId12" Type="http://schemas.openxmlformats.org/officeDocument/2006/relationships/image" Target="../media/image10.png"/><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35.png"/><Relationship Id="rId9" Type="http://schemas.openxmlformats.org/officeDocument/2006/relationships/image" Target="../media/image41.png"/><Relationship Id="rId15" Type="http://schemas.openxmlformats.org/officeDocument/2006/relationships/image" Target="../media/image45.png"/><Relationship Id="rId14" Type="http://schemas.openxmlformats.org/officeDocument/2006/relationships/image" Target="../media/image12.png"/><Relationship Id="rId5" Type="http://schemas.openxmlformats.org/officeDocument/2006/relationships/image" Target="../media/image34.png"/><Relationship Id="rId6" Type="http://schemas.openxmlformats.org/officeDocument/2006/relationships/image" Target="../media/image30.png"/><Relationship Id="rId7" Type="http://schemas.openxmlformats.org/officeDocument/2006/relationships/image" Target="../media/image29.png"/><Relationship Id="rId8"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blog.dataengineerthings.org/bigquerys-ridiculous-pricing-model-cost-us-10-000-in-just-22-seconds-7d52e3e4ae6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9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6.png"/><Relationship Id="rId6" Type="http://schemas.openxmlformats.org/officeDocument/2006/relationships/image" Target="../media/image7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hyperlink" Target="https://github.com/mattfeks/Snowflake-PowerBI" TargetMode="External"/><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62.png"/><Relationship Id="rId7" Type="http://schemas.openxmlformats.org/officeDocument/2006/relationships/image" Target="../media/image6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cs.google.com/spreadsheets/d/1ZdglXZXytGhC_2V1M5uB_9KRMF3S9JbLSon0Plm-0Lc/edit?usp=sharing" TargetMode="External"/><Relationship Id="rId4" Type="http://schemas.openxmlformats.org/officeDocument/2006/relationships/hyperlink" Target="https://docs.google.com/presentation/d/1tkZv4RQV9WOLui2_ioC27DFBtkl7xU2hMOF8I5ZIR0w/edit?usp=shar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50.png"/><Relationship Id="rId4" Type="http://schemas.openxmlformats.org/officeDocument/2006/relationships/hyperlink" Target="https://resources.snowflake.com/case-study/okta-elevates-data-analytics-by-ingesting-500-million-events-per-day-into-snowflake" TargetMode="External"/><Relationship Id="rId5" Type="http://schemas.openxmlformats.org/officeDocument/2006/relationships/image" Target="../media/image53.png"/><Relationship Id="rId6" Type="http://schemas.openxmlformats.org/officeDocument/2006/relationships/image" Target="../media/image52.png"/><Relationship Id="rId7"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54.jpg"/><Relationship Id="rId4" Type="http://schemas.openxmlformats.org/officeDocument/2006/relationships/hyperlink" Target="https://www.snowflake.com/en/customers/all-customers/case-study/wargaming/" TargetMode="External"/><Relationship Id="rId5"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54.jpg"/><Relationship Id="rId4" Type="http://schemas.openxmlformats.org/officeDocument/2006/relationships/hyperlink" Target="https://www.snowflake.com/en/customers/all-customers/case-study/big-fish-games/" TargetMode="External"/><Relationship Id="rId5" Type="http://schemas.openxmlformats.org/officeDocument/2006/relationships/image" Target="../media/image5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63.jpg"/><Relationship Id="rId4" Type="http://schemas.openxmlformats.org/officeDocument/2006/relationships/hyperlink" Target="https://www.snowflake.com/en/customers/all-customers/case-study/bumble/" TargetMode="External"/><Relationship Id="rId5" Type="http://schemas.openxmlformats.org/officeDocument/2006/relationships/image" Target="../media/image5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hyperlink" Target="https://www.snowflake.com/en/customers/all-customers/case-study/wargaming/" TargetMode="External"/><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57.png"/><Relationship Id="rId4" Type="http://schemas.openxmlformats.org/officeDocument/2006/relationships/hyperlink" Target="https://www.snowflake.com/en/customers/all-customers/case-study/big-fish-game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hyperlink" Target="https://resources.snowflake.com/case-study/bumble-scales-up-while-keeping-costs-down-with-snowflake-s-data-cloud" TargetMode="External"/><Relationship Id="rId4" Type="http://schemas.openxmlformats.org/officeDocument/2006/relationships/image" Target="../media/image6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 Id="rId3" Type="http://schemas.openxmlformats.org/officeDocument/2006/relationships/image" Target="../media/image6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6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9.png"/><Relationship Id="rId4" Type="http://schemas.openxmlformats.org/officeDocument/2006/relationships/image" Target="../media/image24.jp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5.png"/><Relationship Id="rId8"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9.png"/><Relationship Id="rId4" Type="http://schemas.openxmlformats.org/officeDocument/2006/relationships/image" Target="../media/image24.jp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5.png"/><Relationship Id="rId8"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9.png"/><Relationship Id="rId4" Type="http://schemas.openxmlformats.org/officeDocument/2006/relationships/image" Target="../media/image24.jp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15.png"/><Relationship Id="rId8" Type="http://schemas.openxmlformats.org/officeDocument/2006/relationships/image" Target="../media/image13.png"/></Relationships>
</file>

<file path=ppt/slides/_rels/slide40.xml.rels><?xml version="1.0" encoding="UTF-8" standalone="yes"?><Relationships xmlns="http://schemas.openxmlformats.org/package/2006/relationships"><Relationship Id="rId20" Type="http://schemas.openxmlformats.org/officeDocument/2006/relationships/image" Target="../media/image25.png"/><Relationship Id="rId11" Type="http://schemas.openxmlformats.org/officeDocument/2006/relationships/image" Target="../media/image72.png"/><Relationship Id="rId22" Type="http://schemas.openxmlformats.org/officeDocument/2006/relationships/image" Target="../media/image80.png"/><Relationship Id="rId10" Type="http://schemas.openxmlformats.org/officeDocument/2006/relationships/image" Target="../media/image79.png"/><Relationship Id="rId21" Type="http://schemas.openxmlformats.org/officeDocument/2006/relationships/image" Target="../media/image15.png"/><Relationship Id="rId13" Type="http://schemas.openxmlformats.org/officeDocument/2006/relationships/image" Target="../media/image75.png"/><Relationship Id="rId12" Type="http://schemas.openxmlformats.org/officeDocument/2006/relationships/image" Target="../media/image23.png"/><Relationship Id="rId1" Type="http://schemas.openxmlformats.org/officeDocument/2006/relationships/slideLayout" Target="../slideLayouts/slideLayout26.xml"/><Relationship Id="rId2" Type="http://schemas.openxmlformats.org/officeDocument/2006/relationships/notesSlide" Target="../notesSlides/notesSlide40.xml"/><Relationship Id="rId3" Type="http://schemas.openxmlformats.org/officeDocument/2006/relationships/image" Target="../media/image69.png"/><Relationship Id="rId4" Type="http://schemas.openxmlformats.org/officeDocument/2006/relationships/image" Target="../media/image64.png"/><Relationship Id="rId9" Type="http://schemas.openxmlformats.org/officeDocument/2006/relationships/image" Target="../media/image76.png"/><Relationship Id="rId15" Type="http://schemas.openxmlformats.org/officeDocument/2006/relationships/image" Target="../media/image83.png"/><Relationship Id="rId14" Type="http://schemas.openxmlformats.org/officeDocument/2006/relationships/image" Target="../media/image45.png"/><Relationship Id="rId17" Type="http://schemas.openxmlformats.org/officeDocument/2006/relationships/image" Target="../media/image85.png"/><Relationship Id="rId16" Type="http://schemas.openxmlformats.org/officeDocument/2006/relationships/image" Target="../media/image84.png"/><Relationship Id="rId5" Type="http://schemas.openxmlformats.org/officeDocument/2006/relationships/image" Target="../media/image82.jpg"/><Relationship Id="rId19" Type="http://schemas.openxmlformats.org/officeDocument/2006/relationships/image" Target="../media/image16.png"/><Relationship Id="rId6" Type="http://schemas.openxmlformats.org/officeDocument/2006/relationships/image" Target="../media/image71.png"/><Relationship Id="rId18" Type="http://schemas.openxmlformats.org/officeDocument/2006/relationships/image" Target="../media/image13.png"/><Relationship Id="rId7" Type="http://schemas.openxmlformats.org/officeDocument/2006/relationships/image" Target="../media/image70.png"/><Relationship Id="rId8"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2.xml"/><Relationship Id="rId3" Type="http://schemas.openxmlformats.org/officeDocument/2006/relationships/image" Target="../media/image9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3.xml"/><Relationship Id="rId3" Type="http://schemas.openxmlformats.org/officeDocument/2006/relationships/image" Target="../media/image90.png"/></Relationships>
</file>

<file path=ppt/slides/_rels/slide44.xml.rels><?xml version="1.0" encoding="UTF-8" standalone="yes"?><Relationships xmlns="http://schemas.openxmlformats.org/package/2006/relationships"><Relationship Id="rId11" Type="http://schemas.openxmlformats.org/officeDocument/2006/relationships/image" Target="../media/image93.png"/><Relationship Id="rId10" Type="http://schemas.openxmlformats.org/officeDocument/2006/relationships/image" Target="../media/image89.png"/><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9.png"/><Relationship Id="rId4" Type="http://schemas.openxmlformats.org/officeDocument/2006/relationships/image" Target="../media/image91.png"/><Relationship Id="rId9" Type="http://schemas.openxmlformats.org/officeDocument/2006/relationships/image" Target="../media/image87.png"/><Relationship Id="rId5" Type="http://schemas.openxmlformats.org/officeDocument/2006/relationships/image" Target="../media/image8.png"/><Relationship Id="rId6" Type="http://schemas.openxmlformats.org/officeDocument/2006/relationships/image" Target="../media/image95.png"/><Relationship Id="rId7" Type="http://schemas.openxmlformats.org/officeDocument/2006/relationships/image" Target="../media/image88.png"/><Relationship Id="rId8"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2"/>
          <p:cNvSpPr txBox="1"/>
          <p:nvPr>
            <p:ph type="title"/>
          </p:nvPr>
        </p:nvSpPr>
        <p:spPr>
          <a:xfrm>
            <a:off x="457200" y="2286000"/>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800"/>
              <a:t>Architecture References for GCP-Snowflake</a:t>
            </a:r>
            <a:endParaRPr sz="2800"/>
          </a:p>
        </p:txBody>
      </p:sp>
      <p:sp>
        <p:nvSpPr>
          <p:cNvPr id="387" name="Google Shape;387;p42"/>
          <p:cNvSpPr txBox="1"/>
          <p:nvPr>
            <p:ph idx="1" type="subTitle"/>
          </p:nvPr>
        </p:nvSpPr>
        <p:spPr>
          <a:xfrm>
            <a:off x="457200" y="3017520"/>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Contact: </a:t>
            </a:r>
            <a:r>
              <a:rPr lang="en" sz="1400" u="sng">
                <a:hlinkClick r:id="rId3"/>
              </a:rPr>
              <a:t>ali.khosro@snowflake.com</a:t>
            </a:r>
            <a:endParaRPr sz="1400"/>
          </a:p>
          <a:p>
            <a:pPr indent="0" lvl="0" marL="0" rtl="0" algn="l">
              <a:spcBef>
                <a:spcPts val="0"/>
              </a:spcBef>
              <a:spcAft>
                <a:spcPts val="0"/>
              </a:spcAft>
              <a:buNone/>
            </a:pPr>
            <a:r>
              <a:rPr lang="en" u="sng">
                <a:solidFill>
                  <a:schemeClr val="hlink"/>
                </a:solidFill>
                <a:hlinkClick r:id="rId4"/>
              </a:rPr>
              <a:t>More Content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3"/>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Independent Slides</a:t>
            </a:r>
            <a:endParaRPr/>
          </a:p>
        </p:txBody>
      </p:sp>
      <p:sp>
        <p:nvSpPr>
          <p:cNvPr id="393" name="Google Shape;393;p43"/>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One Slider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4"/>
          <p:cNvSpPr/>
          <p:nvPr/>
        </p:nvSpPr>
        <p:spPr>
          <a:xfrm>
            <a:off x="367425" y="1116738"/>
            <a:ext cx="1371600" cy="34284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399" name="Google Shape;399;p44"/>
          <p:cNvSpPr/>
          <p:nvPr/>
        </p:nvSpPr>
        <p:spPr>
          <a:xfrm>
            <a:off x="2124847" y="1116738"/>
            <a:ext cx="1371600" cy="34284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400" name="Google Shape;400;p44"/>
          <p:cNvSpPr/>
          <p:nvPr/>
        </p:nvSpPr>
        <p:spPr>
          <a:xfrm>
            <a:off x="3882268" y="1116663"/>
            <a:ext cx="1371600" cy="34284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401" name="Google Shape;401;p44"/>
          <p:cNvSpPr/>
          <p:nvPr/>
        </p:nvSpPr>
        <p:spPr>
          <a:xfrm>
            <a:off x="5639690" y="1116663"/>
            <a:ext cx="1371600" cy="33828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402" name="Google Shape;402;p44"/>
          <p:cNvSpPr/>
          <p:nvPr/>
        </p:nvSpPr>
        <p:spPr>
          <a:xfrm>
            <a:off x="7397112" y="1116788"/>
            <a:ext cx="1371600" cy="33828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403" name="Google Shape;403;p44"/>
          <p:cNvSpPr/>
          <p:nvPr/>
        </p:nvSpPr>
        <p:spPr>
          <a:xfrm>
            <a:off x="7519875" y="1411810"/>
            <a:ext cx="1143000" cy="4572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Snowflake Intelligence</a:t>
            </a:r>
            <a:endParaRPr sz="1200"/>
          </a:p>
        </p:txBody>
      </p:sp>
      <p:sp>
        <p:nvSpPr>
          <p:cNvPr id="404" name="Google Shape;404;p44"/>
          <p:cNvSpPr/>
          <p:nvPr/>
        </p:nvSpPr>
        <p:spPr>
          <a:xfrm>
            <a:off x="7519875" y="2652823"/>
            <a:ext cx="1143000" cy="4572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Gemini Enterprise</a:t>
            </a:r>
            <a:endParaRPr sz="1200"/>
          </a:p>
        </p:txBody>
      </p:sp>
      <p:sp>
        <p:nvSpPr>
          <p:cNvPr id="405" name="Google Shape;405;p44"/>
          <p:cNvSpPr/>
          <p:nvPr/>
        </p:nvSpPr>
        <p:spPr>
          <a:xfrm>
            <a:off x="7519875" y="2032316"/>
            <a:ext cx="1143000" cy="4572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Slack/Teams</a:t>
            </a:r>
            <a:endParaRPr sz="1200"/>
          </a:p>
        </p:txBody>
      </p:sp>
      <p:sp>
        <p:nvSpPr>
          <p:cNvPr id="406" name="Google Shape;406;p44"/>
          <p:cNvSpPr/>
          <p:nvPr/>
        </p:nvSpPr>
        <p:spPr>
          <a:xfrm>
            <a:off x="7519875" y="3273330"/>
            <a:ext cx="1143000" cy="4572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Chat Bots</a:t>
            </a:r>
            <a:endParaRPr sz="1200"/>
          </a:p>
        </p:txBody>
      </p:sp>
      <p:sp>
        <p:nvSpPr>
          <p:cNvPr id="407" name="Google Shape;407;p44"/>
          <p:cNvSpPr/>
          <p:nvPr/>
        </p:nvSpPr>
        <p:spPr>
          <a:xfrm>
            <a:off x="7519875" y="3893837"/>
            <a:ext cx="1143000" cy="4572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AI </a:t>
            </a:r>
            <a:endParaRPr sz="1200"/>
          </a:p>
          <a:p>
            <a:pPr indent="0" lvl="0" marL="0" rtl="0" algn="ctr">
              <a:spcBef>
                <a:spcPts val="0"/>
              </a:spcBef>
              <a:spcAft>
                <a:spcPts val="0"/>
              </a:spcAft>
              <a:buNone/>
            </a:pPr>
            <a:r>
              <a:rPr lang="en" sz="1200"/>
              <a:t>Workflows</a:t>
            </a:r>
            <a:endParaRPr sz="1200"/>
          </a:p>
        </p:txBody>
      </p:sp>
      <p:sp>
        <p:nvSpPr>
          <p:cNvPr id="408" name="Google Shape;408;p44"/>
          <p:cNvSpPr/>
          <p:nvPr/>
        </p:nvSpPr>
        <p:spPr>
          <a:xfrm>
            <a:off x="5783385" y="2711698"/>
            <a:ext cx="1101000" cy="3300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Cortex Agents</a:t>
            </a:r>
            <a:endParaRPr sz="1200"/>
          </a:p>
        </p:txBody>
      </p:sp>
      <p:sp>
        <p:nvSpPr>
          <p:cNvPr id="409" name="Google Shape;409;p44"/>
          <p:cNvSpPr/>
          <p:nvPr/>
        </p:nvSpPr>
        <p:spPr>
          <a:xfrm>
            <a:off x="3984669" y="3054637"/>
            <a:ext cx="1143000" cy="330000"/>
          </a:xfrm>
          <a:prstGeom prst="roundRect">
            <a:avLst>
              <a:gd fmla="val 1528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Cortex </a:t>
            </a:r>
            <a:r>
              <a:rPr lang="en" sz="1200"/>
              <a:t>Search</a:t>
            </a:r>
            <a:endParaRPr sz="1200"/>
          </a:p>
        </p:txBody>
      </p:sp>
      <p:sp>
        <p:nvSpPr>
          <p:cNvPr id="410" name="Google Shape;410;p44"/>
          <p:cNvSpPr/>
          <p:nvPr/>
        </p:nvSpPr>
        <p:spPr>
          <a:xfrm>
            <a:off x="3992247" y="2303338"/>
            <a:ext cx="1143000" cy="3300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Cortex Analyst</a:t>
            </a:r>
            <a:endParaRPr sz="1200"/>
          </a:p>
        </p:txBody>
      </p:sp>
      <p:grpSp>
        <p:nvGrpSpPr>
          <p:cNvPr id="411" name="Google Shape;411;p44"/>
          <p:cNvGrpSpPr/>
          <p:nvPr/>
        </p:nvGrpSpPr>
        <p:grpSpPr>
          <a:xfrm>
            <a:off x="2463987" y="2334452"/>
            <a:ext cx="241526" cy="267778"/>
            <a:chOff x="4266174" y="2401351"/>
            <a:chExt cx="241526" cy="267778"/>
          </a:xfrm>
        </p:grpSpPr>
        <p:sp>
          <p:nvSpPr>
            <p:cNvPr id="412" name="Google Shape;412;p44"/>
            <p:cNvSpPr/>
            <p:nvPr/>
          </p:nvSpPr>
          <p:spPr>
            <a:xfrm>
              <a:off x="4266174" y="2452981"/>
              <a:ext cx="241526" cy="216148"/>
            </a:xfrm>
            <a:custGeom>
              <a:rect b="b" l="l" r="r" t="t"/>
              <a:pathLst>
                <a:path extrusionOk="0" h="68" w="76">
                  <a:moveTo>
                    <a:pt x="0" y="0"/>
                  </a:moveTo>
                  <a:cubicBezTo>
                    <a:pt x="0" y="52"/>
                    <a:pt x="0" y="52"/>
                    <a:pt x="0" y="52"/>
                  </a:cubicBezTo>
                  <a:cubicBezTo>
                    <a:pt x="0" y="61"/>
                    <a:pt x="17" y="68"/>
                    <a:pt x="38" y="68"/>
                  </a:cubicBezTo>
                  <a:cubicBezTo>
                    <a:pt x="59" y="68"/>
                    <a:pt x="76" y="61"/>
                    <a:pt x="76" y="52"/>
                  </a:cubicBezTo>
                  <a:cubicBezTo>
                    <a:pt x="76" y="0"/>
                    <a:pt x="76" y="0"/>
                    <a:pt x="76"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13" name="Google Shape;413;p44"/>
            <p:cNvSpPr/>
            <p:nvPr/>
          </p:nvSpPr>
          <p:spPr>
            <a:xfrm>
              <a:off x="4266174" y="2560618"/>
              <a:ext cx="241526" cy="51630"/>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14" name="Google Shape;414;p44"/>
            <p:cNvSpPr/>
            <p:nvPr/>
          </p:nvSpPr>
          <p:spPr>
            <a:xfrm>
              <a:off x="4266174" y="2503737"/>
              <a:ext cx="241526" cy="50755"/>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15" name="Google Shape;415;p44"/>
            <p:cNvSpPr/>
            <p:nvPr/>
          </p:nvSpPr>
          <p:spPr>
            <a:xfrm>
              <a:off x="4266174" y="2401351"/>
              <a:ext cx="241500" cy="102300"/>
            </a:xfrm>
            <a:prstGeom prst="ellipse">
              <a:avLst/>
            </a:pr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16" name="Google Shape;416;p44"/>
            <p:cNvSpPr/>
            <p:nvPr/>
          </p:nvSpPr>
          <p:spPr>
            <a:xfrm>
              <a:off x="4324360" y="2423096"/>
              <a:ext cx="136054" cy="68025"/>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7CD2F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Times New Roman"/>
                <a:buNone/>
              </a:pPr>
              <a:r>
                <a:t/>
              </a:r>
              <a:endParaRPr b="0" i="0" sz="2800" u="none" cap="none" strike="noStrike">
                <a:solidFill>
                  <a:srgbClr val="FFFFFF"/>
                </a:solidFill>
                <a:latin typeface="Arial"/>
                <a:ea typeface="Arial"/>
                <a:cs typeface="Arial"/>
                <a:sym typeface="Arial"/>
              </a:endParaRPr>
            </a:p>
          </p:txBody>
        </p:sp>
      </p:grpSp>
      <p:grpSp>
        <p:nvGrpSpPr>
          <p:cNvPr id="417" name="Google Shape;417;p44"/>
          <p:cNvGrpSpPr/>
          <p:nvPr/>
        </p:nvGrpSpPr>
        <p:grpSpPr>
          <a:xfrm>
            <a:off x="2890318" y="2334452"/>
            <a:ext cx="241526" cy="267778"/>
            <a:chOff x="4635130" y="2401351"/>
            <a:chExt cx="241526" cy="267778"/>
          </a:xfrm>
        </p:grpSpPr>
        <p:sp>
          <p:nvSpPr>
            <p:cNvPr id="418" name="Google Shape;418;p44"/>
            <p:cNvSpPr/>
            <p:nvPr/>
          </p:nvSpPr>
          <p:spPr>
            <a:xfrm>
              <a:off x="4635130" y="2452981"/>
              <a:ext cx="241526" cy="216148"/>
            </a:xfrm>
            <a:custGeom>
              <a:rect b="b" l="l" r="r" t="t"/>
              <a:pathLst>
                <a:path extrusionOk="0" h="68" w="76">
                  <a:moveTo>
                    <a:pt x="0" y="0"/>
                  </a:moveTo>
                  <a:cubicBezTo>
                    <a:pt x="0" y="52"/>
                    <a:pt x="0" y="52"/>
                    <a:pt x="0" y="52"/>
                  </a:cubicBezTo>
                  <a:cubicBezTo>
                    <a:pt x="0" y="61"/>
                    <a:pt x="17" y="68"/>
                    <a:pt x="38" y="68"/>
                  </a:cubicBezTo>
                  <a:cubicBezTo>
                    <a:pt x="59" y="68"/>
                    <a:pt x="76" y="61"/>
                    <a:pt x="76" y="52"/>
                  </a:cubicBezTo>
                  <a:cubicBezTo>
                    <a:pt x="76" y="0"/>
                    <a:pt x="76" y="0"/>
                    <a:pt x="76"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19" name="Google Shape;419;p44"/>
            <p:cNvSpPr/>
            <p:nvPr/>
          </p:nvSpPr>
          <p:spPr>
            <a:xfrm>
              <a:off x="4635130" y="2560618"/>
              <a:ext cx="241526" cy="51630"/>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20" name="Google Shape;420;p44"/>
            <p:cNvSpPr/>
            <p:nvPr/>
          </p:nvSpPr>
          <p:spPr>
            <a:xfrm>
              <a:off x="4635130" y="2503737"/>
              <a:ext cx="241526" cy="50755"/>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21" name="Google Shape;421;p44"/>
            <p:cNvSpPr/>
            <p:nvPr/>
          </p:nvSpPr>
          <p:spPr>
            <a:xfrm>
              <a:off x="4635130" y="2401351"/>
              <a:ext cx="241500" cy="102300"/>
            </a:xfrm>
            <a:prstGeom prst="ellipse">
              <a:avLst/>
            </a:pr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22" name="Google Shape;422;p44"/>
            <p:cNvSpPr/>
            <p:nvPr/>
          </p:nvSpPr>
          <p:spPr>
            <a:xfrm>
              <a:off x="4693316" y="2423096"/>
              <a:ext cx="136054" cy="68025"/>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7CD2F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Times New Roman"/>
                <a:buNone/>
              </a:pPr>
              <a:r>
                <a:t/>
              </a:r>
              <a:endParaRPr b="0" i="0" sz="2800" u="none" cap="none" strike="noStrike">
                <a:solidFill>
                  <a:srgbClr val="FFFFFF"/>
                </a:solidFill>
                <a:latin typeface="Arial"/>
                <a:ea typeface="Arial"/>
                <a:cs typeface="Arial"/>
                <a:sym typeface="Arial"/>
              </a:endParaRPr>
            </a:p>
          </p:txBody>
        </p:sp>
      </p:grpSp>
      <p:grpSp>
        <p:nvGrpSpPr>
          <p:cNvPr id="423" name="Google Shape;423;p44"/>
          <p:cNvGrpSpPr/>
          <p:nvPr/>
        </p:nvGrpSpPr>
        <p:grpSpPr>
          <a:xfrm>
            <a:off x="2610975" y="2281281"/>
            <a:ext cx="337500" cy="374109"/>
            <a:chOff x="4402960" y="2400418"/>
            <a:chExt cx="337500" cy="374109"/>
          </a:xfrm>
        </p:grpSpPr>
        <p:sp>
          <p:nvSpPr>
            <p:cNvPr id="424" name="Google Shape;424;p44"/>
            <p:cNvSpPr/>
            <p:nvPr/>
          </p:nvSpPr>
          <p:spPr>
            <a:xfrm>
              <a:off x="4402960" y="2472550"/>
              <a:ext cx="337433" cy="301977"/>
            </a:xfrm>
            <a:custGeom>
              <a:rect b="b" l="l" r="r" t="t"/>
              <a:pathLst>
                <a:path extrusionOk="0" h="68" w="76">
                  <a:moveTo>
                    <a:pt x="0" y="0"/>
                  </a:moveTo>
                  <a:cubicBezTo>
                    <a:pt x="0" y="52"/>
                    <a:pt x="0" y="52"/>
                    <a:pt x="0" y="52"/>
                  </a:cubicBezTo>
                  <a:cubicBezTo>
                    <a:pt x="0" y="61"/>
                    <a:pt x="17" y="68"/>
                    <a:pt x="38" y="68"/>
                  </a:cubicBezTo>
                  <a:cubicBezTo>
                    <a:pt x="59" y="68"/>
                    <a:pt x="76" y="61"/>
                    <a:pt x="76" y="52"/>
                  </a:cubicBezTo>
                  <a:cubicBezTo>
                    <a:pt x="76" y="0"/>
                    <a:pt x="76" y="0"/>
                    <a:pt x="76" y="0"/>
                  </a:cubicBezTo>
                </a:path>
              </a:pathLst>
            </a:custGeom>
            <a:solidFill>
              <a:srgbClr val="FFFFFF"/>
            </a:solidFill>
            <a:ln cap="rnd" cmpd="sng" w="22225">
              <a:solidFill>
                <a:srgbClr val="29B5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25" name="Google Shape;425;p44"/>
            <p:cNvSpPr/>
            <p:nvPr/>
          </p:nvSpPr>
          <p:spPr>
            <a:xfrm>
              <a:off x="4402960" y="2622928"/>
              <a:ext cx="337433" cy="72132"/>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22225">
              <a:solidFill>
                <a:srgbClr val="29B5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26" name="Google Shape;426;p44"/>
            <p:cNvSpPr/>
            <p:nvPr/>
          </p:nvSpPr>
          <p:spPr>
            <a:xfrm>
              <a:off x="4402960" y="2543460"/>
              <a:ext cx="337433" cy="70910"/>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22225">
              <a:solidFill>
                <a:srgbClr val="29B5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27" name="Google Shape;427;p44"/>
            <p:cNvSpPr/>
            <p:nvPr/>
          </p:nvSpPr>
          <p:spPr>
            <a:xfrm>
              <a:off x="4402960" y="2400418"/>
              <a:ext cx="337500" cy="143100"/>
            </a:xfrm>
            <a:prstGeom prst="ellipse">
              <a:avLst/>
            </a:prstGeom>
            <a:solidFill>
              <a:srgbClr val="FFFFFF"/>
            </a:solidFill>
            <a:ln cap="rnd" cmpd="sng" w="22225">
              <a:solidFill>
                <a:srgbClr val="29B5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428" name="Google Shape;428;p44"/>
            <p:cNvSpPr/>
            <p:nvPr/>
          </p:nvSpPr>
          <p:spPr>
            <a:xfrm>
              <a:off x="4580831" y="2484162"/>
              <a:ext cx="60797" cy="33666"/>
            </a:xfrm>
            <a:custGeom>
              <a:rect b="b" l="l" r="r" t="t"/>
              <a:pathLst>
                <a:path extrusionOk="0" h="31835" w="57491">
                  <a:moveTo>
                    <a:pt x="52153" y="11430"/>
                  </a:moveTo>
                  <a:lnTo>
                    <a:pt x="15913" y="750"/>
                  </a:lnTo>
                  <a:cubicBezTo>
                    <a:pt x="13953" y="152"/>
                    <a:pt x="11901" y="-92"/>
                    <a:pt x="9856" y="31"/>
                  </a:cubicBezTo>
                  <a:cubicBezTo>
                    <a:pt x="4312" y="236"/>
                    <a:pt x="0" y="2598"/>
                    <a:pt x="0" y="5473"/>
                  </a:cubicBezTo>
                  <a:lnTo>
                    <a:pt x="0" y="26731"/>
                  </a:lnTo>
                  <a:cubicBezTo>
                    <a:pt x="0" y="29812"/>
                    <a:pt x="4825" y="32174"/>
                    <a:pt x="10780" y="32174"/>
                  </a:cubicBezTo>
                  <a:cubicBezTo>
                    <a:pt x="16734" y="32174"/>
                    <a:pt x="21354" y="29709"/>
                    <a:pt x="21354" y="26731"/>
                  </a:cubicBezTo>
                  <a:lnTo>
                    <a:pt x="21354" y="14819"/>
                  </a:lnTo>
                  <a:lnTo>
                    <a:pt x="41681" y="20775"/>
                  </a:lnTo>
                  <a:cubicBezTo>
                    <a:pt x="46609" y="22315"/>
                    <a:pt x="53282" y="21391"/>
                    <a:pt x="56157" y="18824"/>
                  </a:cubicBezTo>
                  <a:cubicBezTo>
                    <a:pt x="59032" y="16256"/>
                    <a:pt x="57286" y="12867"/>
                    <a:pt x="52153" y="1143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429" name="Google Shape;429;p44"/>
            <p:cNvSpPr/>
            <p:nvPr/>
          </p:nvSpPr>
          <p:spPr>
            <a:xfrm>
              <a:off x="4501873" y="2484165"/>
              <a:ext cx="60797" cy="33666"/>
            </a:xfrm>
            <a:custGeom>
              <a:rect b="b" l="l" r="r" t="t"/>
              <a:pathLst>
                <a:path extrusionOk="0" h="31835" w="57491">
                  <a:moveTo>
                    <a:pt x="47651" y="29"/>
                  </a:moveTo>
                  <a:cubicBezTo>
                    <a:pt x="45579" y="-82"/>
                    <a:pt x="43501" y="126"/>
                    <a:pt x="41491" y="645"/>
                  </a:cubicBezTo>
                  <a:lnTo>
                    <a:pt x="5354" y="11325"/>
                  </a:lnTo>
                  <a:cubicBezTo>
                    <a:pt x="221" y="12763"/>
                    <a:pt x="-1525" y="16152"/>
                    <a:pt x="1453" y="18719"/>
                  </a:cubicBezTo>
                  <a:cubicBezTo>
                    <a:pt x="4430" y="21286"/>
                    <a:pt x="10795" y="22211"/>
                    <a:pt x="15928" y="20670"/>
                  </a:cubicBezTo>
                  <a:lnTo>
                    <a:pt x="36256" y="14714"/>
                  </a:lnTo>
                  <a:lnTo>
                    <a:pt x="36256" y="26626"/>
                  </a:lnTo>
                  <a:cubicBezTo>
                    <a:pt x="36256" y="29605"/>
                    <a:pt x="41081" y="32069"/>
                    <a:pt x="46933" y="32069"/>
                  </a:cubicBezTo>
                  <a:cubicBezTo>
                    <a:pt x="52784" y="32069"/>
                    <a:pt x="57610" y="29605"/>
                    <a:pt x="57610" y="26626"/>
                  </a:cubicBezTo>
                  <a:lnTo>
                    <a:pt x="57610" y="5266"/>
                  </a:lnTo>
                  <a:cubicBezTo>
                    <a:pt x="57404" y="2596"/>
                    <a:pt x="53092" y="131"/>
                    <a:pt x="47651" y="2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430" name="Google Shape;430;p44"/>
            <p:cNvSpPr/>
            <p:nvPr/>
          </p:nvSpPr>
          <p:spPr>
            <a:xfrm>
              <a:off x="4481595" y="2454922"/>
              <a:ext cx="60797" cy="33666"/>
            </a:xfrm>
            <a:custGeom>
              <a:rect b="b" l="l" r="r" t="t"/>
              <a:pathLst>
                <a:path extrusionOk="0" h="31835" w="57491">
                  <a:moveTo>
                    <a:pt x="1453" y="29557"/>
                  </a:moveTo>
                  <a:cubicBezTo>
                    <a:pt x="4430" y="32124"/>
                    <a:pt x="11000" y="32946"/>
                    <a:pt x="16133" y="31611"/>
                  </a:cubicBezTo>
                  <a:lnTo>
                    <a:pt x="52271" y="20828"/>
                  </a:lnTo>
                  <a:cubicBezTo>
                    <a:pt x="54632" y="20006"/>
                    <a:pt x="56378" y="18980"/>
                    <a:pt x="56994" y="17644"/>
                  </a:cubicBezTo>
                  <a:cubicBezTo>
                    <a:pt x="57364" y="17141"/>
                    <a:pt x="57545" y="16523"/>
                    <a:pt x="57507" y="15899"/>
                  </a:cubicBezTo>
                  <a:cubicBezTo>
                    <a:pt x="57514" y="15468"/>
                    <a:pt x="57408" y="15043"/>
                    <a:pt x="57199" y="14666"/>
                  </a:cubicBezTo>
                  <a:cubicBezTo>
                    <a:pt x="56015" y="13003"/>
                    <a:pt x="54261" y="11834"/>
                    <a:pt x="52271" y="11380"/>
                  </a:cubicBezTo>
                  <a:lnTo>
                    <a:pt x="16133" y="700"/>
                  </a:lnTo>
                  <a:cubicBezTo>
                    <a:pt x="11000" y="-738"/>
                    <a:pt x="4430" y="84"/>
                    <a:pt x="1453" y="2754"/>
                  </a:cubicBezTo>
                  <a:cubicBezTo>
                    <a:pt x="-1525" y="5424"/>
                    <a:pt x="221" y="8607"/>
                    <a:pt x="5354" y="10148"/>
                  </a:cubicBezTo>
                  <a:lnTo>
                    <a:pt x="25681" y="16104"/>
                  </a:lnTo>
                  <a:lnTo>
                    <a:pt x="5354" y="22163"/>
                  </a:lnTo>
                  <a:cubicBezTo>
                    <a:pt x="221" y="23601"/>
                    <a:pt x="-1422" y="26990"/>
                    <a:pt x="1453" y="2955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431" name="Google Shape;431;p44"/>
            <p:cNvSpPr/>
            <p:nvPr/>
          </p:nvSpPr>
          <p:spPr>
            <a:xfrm>
              <a:off x="4501662" y="2425718"/>
              <a:ext cx="60797" cy="33666"/>
            </a:xfrm>
            <a:custGeom>
              <a:rect b="b" l="l" r="r" t="t"/>
              <a:pathLst>
                <a:path extrusionOk="0" h="31835" w="57491">
                  <a:moveTo>
                    <a:pt x="5554" y="20744"/>
                  </a:moveTo>
                  <a:lnTo>
                    <a:pt x="41691" y="31424"/>
                  </a:lnTo>
                  <a:cubicBezTo>
                    <a:pt x="43693" y="31989"/>
                    <a:pt x="45778" y="32197"/>
                    <a:pt x="47851" y="32040"/>
                  </a:cubicBezTo>
                  <a:cubicBezTo>
                    <a:pt x="53292" y="31938"/>
                    <a:pt x="57604" y="29473"/>
                    <a:pt x="57604" y="26700"/>
                  </a:cubicBezTo>
                  <a:lnTo>
                    <a:pt x="57604" y="5340"/>
                  </a:lnTo>
                  <a:cubicBezTo>
                    <a:pt x="57604" y="2362"/>
                    <a:pt x="52882" y="0"/>
                    <a:pt x="47030" y="0"/>
                  </a:cubicBezTo>
                  <a:cubicBezTo>
                    <a:pt x="41178" y="0"/>
                    <a:pt x="36250" y="2465"/>
                    <a:pt x="36250" y="5340"/>
                  </a:cubicBezTo>
                  <a:lnTo>
                    <a:pt x="36250" y="17355"/>
                  </a:lnTo>
                  <a:lnTo>
                    <a:pt x="16128" y="11399"/>
                  </a:lnTo>
                  <a:cubicBezTo>
                    <a:pt x="10995" y="9859"/>
                    <a:pt x="4527" y="10680"/>
                    <a:pt x="1447" y="13350"/>
                  </a:cubicBezTo>
                  <a:cubicBezTo>
                    <a:pt x="-1633" y="16020"/>
                    <a:pt x="420" y="19306"/>
                    <a:pt x="5554" y="2074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432" name="Google Shape;432;p44"/>
            <p:cNvSpPr/>
            <p:nvPr/>
          </p:nvSpPr>
          <p:spPr>
            <a:xfrm>
              <a:off x="4580831" y="2425718"/>
              <a:ext cx="60797" cy="33666"/>
            </a:xfrm>
            <a:custGeom>
              <a:rect b="b" l="l" r="r" t="t"/>
              <a:pathLst>
                <a:path extrusionOk="0" h="31835" w="57491">
                  <a:moveTo>
                    <a:pt x="9856" y="32143"/>
                  </a:moveTo>
                  <a:cubicBezTo>
                    <a:pt x="11894" y="32249"/>
                    <a:pt x="13937" y="32042"/>
                    <a:pt x="15913" y="31527"/>
                  </a:cubicBezTo>
                  <a:lnTo>
                    <a:pt x="52153" y="20847"/>
                  </a:lnTo>
                  <a:cubicBezTo>
                    <a:pt x="57286" y="19306"/>
                    <a:pt x="59032" y="16020"/>
                    <a:pt x="56157" y="13453"/>
                  </a:cubicBezTo>
                  <a:cubicBezTo>
                    <a:pt x="53282" y="10886"/>
                    <a:pt x="46609" y="9961"/>
                    <a:pt x="41476" y="11399"/>
                  </a:cubicBezTo>
                  <a:lnTo>
                    <a:pt x="21251" y="17355"/>
                  </a:lnTo>
                  <a:lnTo>
                    <a:pt x="21251" y="5443"/>
                  </a:lnTo>
                  <a:cubicBezTo>
                    <a:pt x="21251" y="2465"/>
                    <a:pt x="16426" y="0"/>
                    <a:pt x="10574" y="0"/>
                  </a:cubicBezTo>
                  <a:cubicBezTo>
                    <a:pt x="4723" y="0"/>
                    <a:pt x="0" y="2465"/>
                    <a:pt x="0" y="5443"/>
                  </a:cubicBezTo>
                  <a:lnTo>
                    <a:pt x="0" y="26803"/>
                  </a:lnTo>
                  <a:cubicBezTo>
                    <a:pt x="0" y="29576"/>
                    <a:pt x="4312" y="31938"/>
                    <a:pt x="9856" y="3214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433" name="Google Shape;433;p44"/>
            <p:cNvSpPr/>
            <p:nvPr/>
          </p:nvSpPr>
          <p:spPr>
            <a:xfrm>
              <a:off x="4550794" y="2461193"/>
              <a:ext cx="41255" cy="20633"/>
            </a:xfrm>
            <a:custGeom>
              <a:rect b="b" l="l" r="r" t="t"/>
              <a:pathLst>
                <a:path extrusionOk="0" h="19511" w="39012">
                  <a:moveTo>
                    <a:pt x="0" y="9039"/>
                  </a:moveTo>
                  <a:lnTo>
                    <a:pt x="0" y="11298"/>
                  </a:lnTo>
                  <a:cubicBezTo>
                    <a:pt x="23" y="11726"/>
                    <a:pt x="310" y="12095"/>
                    <a:pt x="719" y="12223"/>
                  </a:cubicBezTo>
                  <a:lnTo>
                    <a:pt x="15810" y="19925"/>
                  </a:lnTo>
                  <a:cubicBezTo>
                    <a:pt x="16390" y="20191"/>
                    <a:pt x="17020" y="20331"/>
                    <a:pt x="17658" y="20335"/>
                  </a:cubicBezTo>
                  <a:lnTo>
                    <a:pt x="22073" y="20335"/>
                  </a:lnTo>
                  <a:cubicBezTo>
                    <a:pt x="22708" y="20308"/>
                    <a:pt x="23333" y="20169"/>
                    <a:pt x="23921" y="19925"/>
                  </a:cubicBezTo>
                  <a:lnTo>
                    <a:pt x="38910" y="12223"/>
                  </a:lnTo>
                  <a:cubicBezTo>
                    <a:pt x="39318" y="12095"/>
                    <a:pt x="39605" y="11726"/>
                    <a:pt x="39628" y="11298"/>
                  </a:cubicBezTo>
                  <a:lnTo>
                    <a:pt x="39628" y="9039"/>
                  </a:lnTo>
                  <a:cubicBezTo>
                    <a:pt x="39628" y="8731"/>
                    <a:pt x="39218" y="8320"/>
                    <a:pt x="38910" y="8115"/>
                  </a:cubicBezTo>
                  <a:lnTo>
                    <a:pt x="23921" y="413"/>
                  </a:lnTo>
                  <a:cubicBezTo>
                    <a:pt x="23337" y="158"/>
                    <a:pt x="22709" y="18"/>
                    <a:pt x="22073" y="2"/>
                  </a:cubicBezTo>
                  <a:lnTo>
                    <a:pt x="17658" y="2"/>
                  </a:lnTo>
                  <a:cubicBezTo>
                    <a:pt x="17017" y="-19"/>
                    <a:pt x="16382" y="122"/>
                    <a:pt x="15810" y="413"/>
                  </a:cubicBezTo>
                  <a:lnTo>
                    <a:pt x="719" y="8115"/>
                  </a:lnTo>
                  <a:cubicBezTo>
                    <a:pt x="339" y="8282"/>
                    <a:pt x="69" y="8630"/>
                    <a:pt x="0" y="9039"/>
                  </a:cubicBezTo>
                  <a:close/>
                  <a:moveTo>
                    <a:pt x="12730" y="10066"/>
                  </a:moveTo>
                  <a:cubicBezTo>
                    <a:pt x="12767" y="9609"/>
                    <a:pt x="13102" y="9232"/>
                    <a:pt x="13552" y="9142"/>
                  </a:cubicBezTo>
                  <a:lnTo>
                    <a:pt x="17863" y="6985"/>
                  </a:lnTo>
                  <a:cubicBezTo>
                    <a:pt x="18447" y="6730"/>
                    <a:pt x="19075" y="6591"/>
                    <a:pt x="19711" y="6574"/>
                  </a:cubicBezTo>
                  <a:lnTo>
                    <a:pt x="19814" y="6574"/>
                  </a:lnTo>
                  <a:cubicBezTo>
                    <a:pt x="20483" y="6601"/>
                    <a:pt x="21142" y="6740"/>
                    <a:pt x="21765" y="6985"/>
                  </a:cubicBezTo>
                  <a:lnTo>
                    <a:pt x="26077" y="9142"/>
                  </a:lnTo>
                  <a:cubicBezTo>
                    <a:pt x="26487" y="9347"/>
                    <a:pt x="26898" y="9758"/>
                    <a:pt x="26898" y="10066"/>
                  </a:cubicBezTo>
                  <a:lnTo>
                    <a:pt x="26898" y="10066"/>
                  </a:lnTo>
                  <a:cubicBezTo>
                    <a:pt x="26898" y="10374"/>
                    <a:pt x="26385" y="10785"/>
                    <a:pt x="26077" y="10990"/>
                  </a:cubicBezTo>
                  <a:lnTo>
                    <a:pt x="21765" y="13250"/>
                  </a:lnTo>
                  <a:lnTo>
                    <a:pt x="19814" y="13558"/>
                  </a:lnTo>
                  <a:lnTo>
                    <a:pt x="19711" y="13558"/>
                  </a:lnTo>
                  <a:cubicBezTo>
                    <a:pt x="19086" y="13522"/>
                    <a:pt x="18466" y="13419"/>
                    <a:pt x="17863" y="13250"/>
                  </a:cubicBezTo>
                  <a:lnTo>
                    <a:pt x="13552" y="10990"/>
                  </a:lnTo>
                  <a:cubicBezTo>
                    <a:pt x="13132" y="10852"/>
                    <a:pt x="12819" y="10499"/>
                    <a:pt x="12730" y="1006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434" name="Google Shape;434;p44"/>
            <p:cNvSpPr/>
            <p:nvPr/>
          </p:nvSpPr>
          <p:spPr>
            <a:xfrm>
              <a:off x="4601109" y="2455050"/>
              <a:ext cx="60797" cy="33666"/>
            </a:xfrm>
            <a:custGeom>
              <a:rect b="b" l="l" r="r" t="t"/>
              <a:pathLst>
                <a:path extrusionOk="0" h="31835" w="57491">
                  <a:moveTo>
                    <a:pt x="308" y="14546"/>
                  </a:moveTo>
                  <a:cubicBezTo>
                    <a:pt x="100" y="14960"/>
                    <a:pt x="-6" y="15418"/>
                    <a:pt x="0" y="15881"/>
                  </a:cubicBezTo>
                  <a:cubicBezTo>
                    <a:pt x="0" y="16487"/>
                    <a:pt x="140" y="17085"/>
                    <a:pt x="411" y="17627"/>
                  </a:cubicBezTo>
                  <a:cubicBezTo>
                    <a:pt x="1610" y="19186"/>
                    <a:pt x="3317" y="20276"/>
                    <a:pt x="5236" y="20708"/>
                  </a:cubicBezTo>
                  <a:lnTo>
                    <a:pt x="41476" y="31388"/>
                  </a:lnTo>
                  <a:cubicBezTo>
                    <a:pt x="46610" y="32825"/>
                    <a:pt x="53077" y="31901"/>
                    <a:pt x="56055" y="29334"/>
                  </a:cubicBezTo>
                  <a:cubicBezTo>
                    <a:pt x="59032" y="26767"/>
                    <a:pt x="57287" y="23480"/>
                    <a:pt x="52051" y="21940"/>
                  </a:cubicBezTo>
                  <a:lnTo>
                    <a:pt x="31826" y="15984"/>
                  </a:lnTo>
                  <a:lnTo>
                    <a:pt x="52051" y="10027"/>
                  </a:lnTo>
                  <a:cubicBezTo>
                    <a:pt x="57287" y="8487"/>
                    <a:pt x="58929" y="5098"/>
                    <a:pt x="56055" y="2736"/>
                  </a:cubicBezTo>
                  <a:cubicBezTo>
                    <a:pt x="53180" y="374"/>
                    <a:pt x="46404" y="-858"/>
                    <a:pt x="41476" y="682"/>
                  </a:cubicBezTo>
                  <a:lnTo>
                    <a:pt x="5236" y="11362"/>
                  </a:lnTo>
                  <a:cubicBezTo>
                    <a:pt x="3275" y="11823"/>
                    <a:pt x="1534" y="12948"/>
                    <a:pt x="308" y="1454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grpSp>
        <p:nvGrpSpPr>
          <p:cNvPr id="435" name="Google Shape;435;p44"/>
          <p:cNvGrpSpPr/>
          <p:nvPr/>
        </p:nvGrpSpPr>
        <p:grpSpPr>
          <a:xfrm>
            <a:off x="2463981" y="3031839"/>
            <a:ext cx="429857" cy="380695"/>
            <a:chOff x="1919900" y="4009418"/>
            <a:chExt cx="210240" cy="186205"/>
          </a:xfrm>
        </p:grpSpPr>
        <p:sp>
          <p:nvSpPr>
            <p:cNvPr id="436" name="Google Shape;436;p44"/>
            <p:cNvSpPr/>
            <p:nvPr/>
          </p:nvSpPr>
          <p:spPr>
            <a:xfrm>
              <a:off x="1950401" y="4009418"/>
              <a:ext cx="179739" cy="186205"/>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93450" lIns="186900" spcFirstLastPara="1" rIns="186900" wrap="square" tIns="93450">
              <a:noAutofit/>
            </a:bodyPr>
            <a:lstStyle/>
            <a:p>
              <a:pPr indent="0" lvl="0" marL="0" marR="0" rtl="0" algn="l">
                <a:spcBef>
                  <a:spcPts val="0"/>
                </a:spcBef>
                <a:spcAft>
                  <a:spcPts val="0"/>
                </a:spcAft>
                <a:buNone/>
              </a:pPr>
              <a:r>
                <a:t/>
              </a:r>
              <a:endParaRPr sz="2862">
                <a:solidFill>
                  <a:srgbClr val="262626"/>
                </a:solidFill>
                <a:latin typeface="Arial"/>
                <a:ea typeface="Arial"/>
                <a:cs typeface="Arial"/>
                <a:sym typeface="Arial"/>
              </a:endParaRPr>
            </a:p>
          </p:txBody>
        </p:sp>
        <p:sp>
          <p:nvSpPr>
            <p:cNvPr id="437" name="Google Shape;437;p44"/>
            <p:cNvSpPr/>
            <p:nvPr/>
          </p:nvSpPr>
          <p:spPr>
            <a:xfrm>
              <a:off x="1919900" y="4118623"/>
              <a:ext cx="145165" cy="64961"/>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22"/>
                <a:buFont typeface="Arial"/>
                <a:buNone/>
              </a:pPr>
              <a:r>
                <a:rPr b="1" lang="en" sz="613">
                  <a:solidFill>
                    <a:srgbClr val="FFFFFF"/>
                  </a:solidFill>
                </a:rPr>
                <a:t>TXT</a:t>
              </a:r>
              <a:endParaRPr sz="613">
                <a:solidFill>
                  <a:srgbClr val="252525"/>
                </a:solidFill>
                <a:latin typeface="Arial"/>
                <a:ea typeface="Arial"/>
                <a:cs typeface="Arial"/>
                <a:sym typeface="Arial"/>
              </a:endParaRPr>
            </a:p>
          </p:txBody>
        </p:sp>
      </p:grpSp>
      <p:sp>
        <p:nvSpPr>
          <p:cNvPr id="438" name="Google Shape;438;p44"/>
          <p:cNvSpPr/>
          <p:nvPr/>
        </p:nvSpPr>
        <p:spPr>
          <a:xfrm>
            <a:off x="3957682" y="3781473"/>
            <a:ext cx="1143000" cy="3807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Document AI</a:t>
            </a:r>
            <a:endParaRPr baseline="30000" sz="1200">
              <a:solidFill>
                <a:srgbClr val="595959"/>
              </a:solidFill>
            </a:endParaRPr>
          </a:p>
        </p:txBody>
      </p:sp>
      <p:grpSp>
        <p:nvGrpSpPr>
          <p:cNvPr id="439" name="Google Shape;439;p44"/>
          <p:cNvGrpSpPr/>
          <p:nvPr/>
        </p:nvGrpSpPr>
        <p:grpSpPr>
          <a:xfrm>
            <a:off x="2610969" y="3864456"/>
            <a:ext cx="282125" cy="292180"/>
            <a:chOff x="1714900" y="552700"/>
            <a:chExt cx="4353775" cy="4508950"/>
          </a:xfrm>
        </p:grpSpPr>
        <p:sp>
          <p:nvSpPr>
            <p:cNvPr id="440" name="Google Shape;440;p44"/>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726"/>
                <a:buFont typeface="Arial"/>
                <a:buNone/>
              </a:pPr>
              <a:r>
                <a:t/>
              </a:r>
              <a:endParaRPr sz="1726">
                <a:solidFill>
                  <a:srgbClr val="252525"/>
                </a:solidFill>
                <a:latin typeface="Arial"/>
                <a:ea typeface="Arial"/>
                <a:cs typeface="Arial"/>
                <a:sym typeface="Arial"/>
              </a:endParaRPr>
            </a:p>
          </p:txBody>
        </p:sp>
        <p:sp>
          <p:nvSpPr>
            <p:cNvPr id="441" name="Google Shape;441;p44"/>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84"/>
                <a:buFont typeface="Arial"/>
                <a:buNone/>
              </a:pPr>
              <a:r>
                <a:rPr b="1" lang="en" sz="471">
                  <a:solidFill>
                    <a:srgbClr val="FFFFFF"/>
                  </a:solidFill>
                </a:rPr>
                <a:t>AUDIO</a:t>
              </a:r>
              <a:endParaRPr sz="471">
                <a:solidFill>
                  <a:srgbClr val="252525"/>
                </a:solidFill>
                <a:latin typeface="Arial"/>
                <a:ea typeface="Arial"/>
                <a:cs typeface="Arial"/>
                <a:sym typeface="Arial"/>
              </a:endParaRPr>
            </a:p>
          </p:txBody>
        </p:sp>
      </p:grpSp>
      <p:cxnSp>
        <p:nvCxnSpPr>
          <p:cNvPr id="442" name="Google Shape;442;p44"/>
          <p:cNvCxnSpPr>
            <a:stCxn id="421" idx="5"/>
            <a:endCxn id="410" idx="1"/>
          </p:cNvCxnSpPr>
          <p:nvPr/>
        </p:nvCxnSpPr>
        <p:spPr>
          <a:xfrm flipH="1" rot="-5400000">
            <a:off x="3521101" y="1997121"/>
            <a:ext cx="46500" cy="895800"/>
          </a:xfrm>
          <a:prstGeom prst="bentConnector2">
            <a:avLst/>
          </a:prstGeom>
          <a:noFill/>
          <a:ln cap="flat" cmpd="sng" w="19050">
            <a:solidFill>
              <a:schemeClr val="dk2"/>
            </a:solidFill>
            <a:prstDash val="solid"/>
            <a:round/>
            <a:headEnd len="med" w="med" type="none"/>
            <a:tailEnd len="med" w="med" type="stealth"/>
          </a:ln>
        </p:spPr>
      </p:cxnSp>
      <p:cxnSp>
        <p:nvCxnSpPr>
          <p:cNvPr id="443" name="Google Shape;443;p44"/>
          <p:cNvCxnSpPr>
            <a:endCxn id="409" idx="1"/>
          </p:cNvCxnSpPr>
          <p:nvPr/>
        </p:nvCxnSpPr>
        <p:spPr>
          <a:xfrm flipH="1" rot="10800000">
            <a:off x="2797269" y="3219637"/>
            <a:ext cx="1187400" cy="5100"/>
          </a:xfrm>
          <a:prstGeom prst="bentConnector3">
            <a:avLst>
              <a:gd fmla="val 50000" name="adj1"/>
            </a:avLst>
          </a:prstGeom>
          <a:noFill/>
          <a:ln cap="flat" cmpd="sng" w="19050">
            <a:solidFill>
              <a:schemeClr val="dk2"/>
            </a:solidFill>
            <a:prstDash val="solid"/>
            <a:round/>
            <a:headEnd len="med" w="med" type="none"/>
            <a:tailEnd len="med" w="med" type="stealth"/>
          </a:ln>
        </p:spPr>
      </p:cxnSp>
      <p:cxnSp>
        <p:nvCxnSpPr>
          <p:cNvPr id="444" name="Google Shape;444;p44"/>
          <p:cNvCxnSpPr>
            <a:stCxn id="410" idx="3"/>
            <a:endCxn id="408" idx="1"/>
          </p:cNvCxnSpPr>
          <p:nvPr/>
        </p:nvCxnSpPr>
        <p:spPr>
          <a:xfrm>
            <a:off x="5135247" y="2468338"/>
            <a:ext cx="648000" cy="408300"/>
          </a:xfrm>
          <a:prstGeom prst="bentConnector3">
            <a:avLst>
              <a:gd fmla="val 50011" name="adj1"/>
            </a:avLst>
          </a:prstGeom>
          <a:noFill/>
          <a:ln cap="flat" cmpd="sng" w="19050">
            <a:solidFill>
              <a:schemeClr val="dk2"/>
            </a:solidFill>
            <a:prstDash val="solid"/>
            <a:round/>
            <a:headEnd len="med" w="med" type="none"/>
            <a:tailEnd len="med" w="med" type="stealth"/>
          </a:ln>
        </p:spPr>
      </p:cxnSp>
      <p:cxnSp>
        <p:nvCxnSpPr>
          <p:cNvPr id="445" name="Google Shape;445;p44"/>
          <p:cNvCxnSpPr>
            <a:stCxn id="409" idx="3"/>
            <a:endCxn id="408" idx="1"/>
          </p:cNvCxnSpPr>
          <p:nvPr/>
        </p:nvCxnSpPr>
        <p:spPr>
          <a:xfrm flipH="1" rot="10800000">
            <a:off x="5127669" y="2876737"/>
            <a:ext cx="655800" cy="342900"/>
          </a:xfrm>
          <a:prstGeom prst="bentConnector3">
            <a:avLst>
              <a:gd fmla="val 49994" name="adj1"/>
            </a:avLst>
          </a:prstGeom>
          <a:noFill/>
          <a:ln cap="flat" cmpd="sng" w="19050">
            <a:solidFill>
              <a:schemeClr val="dk2"/>
            </a:solidFill>
            <a:prstDash val="solid"/>
            <a:round/>
            <a:headEnd len="med" w="med" type="none"/>
            <a:tailEnd len="med" w="med" type="stealth"/>
          </a:ln>
        </p:spPr>
      </p:cxnSp>
      <p:cxnSp>
        <p:nvCxnSpPr>
          <p:cNvPr id="446" name="Google Shape;446;p44"/>
          <p:cNvCxnSpPr>
            <a:stCxn id="408" idx="3"/>
            <a:endCxn id="403" idx="1"/>
          </p:cNvCxnSpPr>
          <p:nvPr/>
        </p:nvCxnSpPr>
        <p:spPr>
          <a:xfrm flipH="1" rot="10800000">
            <a:off x="6884385" y="1640398"/>
            <a:ext cx="635400" cy="1236300"/>
          </a:xfrm>
          <a:prstGeom prst="bentConnector3">
            <a:avLst>
              <a:gd fmla="val 50007" name="adj1"/>
            </a:avLst>
          </a:prstGeom>
          <a:noFill/>
          <a:ln cap="flat" cmpd="sng" w="19050">
            <a:solidFill>
              <a:schemeClr val="dk2"/>
            </a:solidFill>
            <a:prstDash val="solid"/>
            <a:round/>
            <a:headEnd len="med" w="med" type="none"/>
            <a:tailEnd len="med" w="med" type="stealth"/>
          </a:ln>
        </p:spPr>
      </p:cxnSp>
      <p:cxnSp>
        <p:nvCxnSpPr>
          <p:cNvPr id="447" name="Google Shape;447;p44"/>
          <p:cNvCxnSpPr>
            <a:stCxn id="408" idx="3"/>
            <a:endCxn id="405" idx="1"/>
          </p:cNvCxnSpPr>
          <p:nvPr/>
        </p:nvCxnSpPr>
        <p:spPr>
          <a:xfrm flipH="1" rot="10800000">
            <a:off x="6884385" y="2260798"/>
            <a:ext cx="635400" cy="615900"/>
          </a:xfrm>
          <a:prstGeom prst="bentConnector3">
            <a:avLst>
              <a:gd fmla="val 50007" name="adj1"/>
            </a:avLst>
          </a:prstGeom>
          <a:noFill/>
          <a:ln cap="flat" cmpd="sng" w="19050">
            <a:solidFill>
              <a:schemeClr val="dk2"/>
            </a:solidFill>
            <a:prstDash val="solid"/>
            <a:round/>
            <a:headEnd len="med" w="med" type="none"/>
            <a:tailEnd len="med" w="med" type="stealth"/>
          </a:ln>
        </p:spPr>
      </p:cxnSp>
      <p:cxnSp>
        <p:nvCxnSpPr>
          <p:cNvPr id="448" name="Google Shape;448;p44"/>
          <p:cNvCxnSpPr>
            <a:stCxn id="408" idx="3"/>
            <a:endCxn id="404" idx="1"/>
          </p:cNvCxnSpPr>
          <p:nvPr/>
        </p:nvCxnSpPr>
        <p:spPr>
          <a:xfrm>
            <a:off x="6884385" y="2876698"/>
            <a:ext cx="635400" cy="4800"/>
          </a:xfrm>
          <a:prstGeom prst="bentConnector3">
            <a:avLst>
              <a:gd fmla="val 50007" name="adj1"/>
            </a:avLst>
          </a:prstGeom>
          <a:noFill/>
          <a:ln cap="flat" cmpd="sng" w="19050">
            <a:solidFill>
              <a:schemeClr val="dk2"/>
            </a:solidFill>
            <a:prstDash val="solid"/>
            <a:round/>
            <a:headEnd len="med" w="med" type="none"/>
            <a:tailEnd len="med" w="med" type="stealth"/>
          </a:ln>
        </p:spPr>
      </p:cxnSp>
      <p:cxnSp>
        <p:nvCxnSpPr>
          <p:cNvPr id="449" name="Google Shape;449;p44"/>
          <p:cNvCxnSpPr>
            <a:stCxn id="408" idx="3"/>
            <a:endCxn id="406" idx="1"/>
          </p:cNvCxnSpPr>
          <p:nvPr/>
        </p:nvCxnSpPr>
        <p:spPr>
          <a:xfrm>
            <a:off x="6884385" y="2876698"/>
            <a:ext cx="635400" cy="625200"/>
          </a:xfrm>
          <a:prstGeom prst="bentConnector3">
            <a:avLst>
              <a:gd fmla="val 50007" name="adj1"/>
            </a:avLst>
          </a:prstGeom>
          <a:noFill/>
          <a:ln cap="flat" cmpd="sng" w="19050">
            <a:solidFill>
              <a:schemeClr val="dk2"/>
            </a:solidFill>
            <a:prstDash val="solid"/>
            <a:round/>
            <a:headEnd len="med" w="med" type="none"/>
            <a:tailEnd len="med" w="med" type="stealth"/>
          </a:ln>
        </p:spPr>
      </p:cxnSp>
      <p:cxnSp>
        <p:nvCxnSpPr>
          <p:cNvPr id="450" name="Google Shape;450;p44"/>
          <p:cNvCxnSpPr>
            <a:stCxn id="408" idx="3"/>
            <a:endCxn id="407" idx="1"/>
          </p:cNvCxnSpPr>
          <p:nvPr/>
        </p:nvCxnSpPr>
        <p:spPr>
          <a:xfrm>
            <a:off x="6884385" y="2876698"/>
            <a:ext cx="635400" cy="1245600"/>
          </a:xfrm>
          <a:prstGeom prst="bentConnector3">
            <a:avLst>
              <a:gd fmla="val 50007" name="adj1"/>
            </a:avLst>
          </a:prstGeom>
          <a:noFill/>
          <a:ln cap="flat" cmpd="sng" w="19050">
            <a:solidFill>
              <a:schemeClr val="dk2"/>
            </a:solidFill>
            <a:prstDash val="solid"/>
            <a:round/>
            <a:headEnd len="med" w="med" type="none"/>
            <a:tailEnd len="med" w="med" type="stealth"/>
          </a:ln>
        </p:spPr>
      </p:cxnSp>
      <p:cxnSp>
        <p:nvCxnSpPr>
          <p:cNvPr id="451" name="Google Shape;451;p44"/>
          <p:cNvCxnSpPr>
            <a:endCxn id="438" idx="1"/>
          </p:cNvCxnSpPr>
          <p:nvPr/>
        </p:nvCxnSpPr>
        <p:spPr>
          <a:xfrm>
            <a:off x="2760682" y="3965223"/>
            <a:ext cx="1197000" cy="6600"/>
          </a:xfrm>
          <a:prstGeom prst="straightConnector1">
            <a:avLst/>
          </a:prstGeom>
          <a:noFill/>
          <a:ln cap="flat" cmpd="sng" w="19050">
            <a:solidFill>
              <a:schemeClr val="dk2"/>
            </a:solidFill>
            <a:prstDash val="solid"/>
            <a:round/>
            <a:headEnd len="med" w="med" type="none"/>
            <a:tailEnd len="med" w="med" type="stealth"/>
          </a:ln>
        </p:spPr>
      </p:cxnSp>
      <p:grpSp>
        <p:nvGrpSpPr>
          <p:cNvPr id="452" name="Google Shape;452;p44"/>
          <p:cNvGrpSpPr/>
          <p:nvPr/>
        </p:nvGrpSpPr>
        <p:grpSpPr>
          <a:xfrm>
            <a:off x="638632" y="1954988"/>
            <a:ext cx="337499" cy="2208904"/>
            <a:chOff x="286950" y="1350096"/>
            <a:chExt cx="337499" cy="2208904"/>
          </a:xfrm>
        </p:grpSpPr>
        <p:pic>
          <p:nvPicPr>
            <p:cNvPr id="453" name="Google Shape;453;p44" title="confluence_logo-freelogovectors.net_.png"/>
            <p:cNvPicPr preferRelativeResize="0"/>
            <p:nvPr/>
          </p:nvPicPr>
          <p:blipFill rotWithShape="1">
            <a:blip r:embed="rId3">
              <a:alphaModFix/>
            </a:blip>
            <a:srcRect b="0" l="14583" r="14590" t="0"/>
            <a:stretch/>
          </p:blipFill>
          <p:spPr>
            <a:xfrm rot="5400000">
              <a:off x="313462" y="1831508"/>
              <a:ext cx="284474" cy="301300"/>
            </a:xfrm>
            <a:prstGeom prst="rect">
              <a:avLst/>
            </a:prstGeom>
            <a:noFill/>
            <a:ln>
              <a:noFill/>
            </a:ln>
          </p:spPr>
        </p:pic>
        <p:pic>
          <p:nvPicPr>
            <p:cNvPr id="454" name="Google Shape;454;p44"/>
            <p:cNvPicPr preferRelativeResize="0"/>
            <p:nvPr/>
          </p:nvPicPr>
          <p:blipFill>
            <a:blip r:embed="rId4">
              <a:alphaModFix/>
            </a:blip>
            <a:stretch>
              <a:fillRect/>
            </a:stretch>
          </p:blipFill>
          <p:spPr>
            <a:xfrm rot="5400000">
              <a:off x="286986" y="2276748"/>
              <a:ext cx="337427" cy="337499"/>
            </a:xfrm>
            <a:prstGeom prst="rect">
              <a:avLst/>
            </a:prstGeom>
            <a:noFill/>
            <a:ln>
              <a:noFill/>
            </a:ln>
          </p:spPr>
        </p:pic>
        <p:pic>
          <p:nvPicPr>
            <p:cNvPr id="455" name="Google Shape;455;p44"/>
            <p:cNvPicPr preferRelativeResize="0"/>
            <p:nvPr/>
          </p:nvPicPr>
          <p:blipFill rotWithShape="1">
            <a:blip r:embed="rId5">
              <a:alphaModFix/>
            </a:blip>
            <a:srcRect b="10475" l="10467" r="10475" t="10467"/>
            <a:stretch/>
          </p:blipFill>
          <p:spPr>
            <a:xfrm rot="5400000">
              <a:off x="295679" y="3238933"/>
              <a:ext cx="320040" cy="320094"/>
            </a:xfrm>
            <a:prstGeom prst="rect">
              <a:avLst/>
            </a:prstGeom>
            <a:noFill/>
            <a:ln>
              <a:noFill/>
            </a:ln>
          </p:spPr>
        </p:pic>
        <p:pic>
          <p:nvPicPr>
            <p:cNvPr id="456" name="Google Shape;456;p44"/>
            <p:cNvPicPr preferRelativeResize="0"/>
            <p:nvPr/>
          </p:nvPicPr>
          <p:blipFill>
            <a:blip r:embed="rId6">
              <a:alphaModFix/>
            </a:blip>
            <a:stretch>
              <a:fillRect/>
            </a:stretch>
          </p:blipFill>
          <p:spPr>
            <a:xfrm rot="5400000">
              <a:off x="286986" y="1350077"/>
              <a:ext cx="337427" cy="337466"/>
            </a:xfrm>
            <a:prstGeom prst="rect">
              <a:avLst/>
            </a:prstGeom>
            <a:noFill/>
            <a:ln>
              <a:noFill/>
            </a:ln>
          </p:spPr>
        </p:pic>
        <p:pic>
          <p:nvPicPr>
            <p:cNvPr id="457" name="Google Shape;457;p44" title="Wfw2p9DY_400x400.png"/>
            <p:cNvPicPr preferRelativeResize="0"/>
            <p:nvPr/>
          </p:nvPicPr>
          <p:blipFill>
            <a:blip r:embed="rId7">
              <a:alphaModFix/>
            </a:blip>
            <a:stretch>
              <a:fillRect/>
            </a:stretch>
          </p:blipFill>
          <p:spPr>
            <a:xfrm rot="5400000">
              <a:off x="295849" y="2766609"/>
              <a:ext cx="319800" cy="319800"/>
            </a:xfrm>
            <a:prstGeom prst="roundRect">
              <a:avLst>
                <a:gd fmla="val 16667" name="adj"/>
              </a:avLst>
            </a:prstGeom>
            <a:noFill/>
            <a:ln>
              <a:noFill/>
            </a:ln>
          </p:spPr>
        </p:pic>
      </p:grpSp>
      <p:sp>
        <p:nvSpPr>
          <p:cNvPr id="458" name="Google Shape;458;p44"/>
          <p:cNvSpPr/>
          <p:nvPr/>
        </p:nvSpPr>
        <p:spPr>
          <a:xfrm rot="5400000">
            <a:off x="189550" y="2856228"/>
            <a:ext cx="2136600" cy="3807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200"/>
              <a:t>Data Connectors</a:t>
            </a:r>
            <a:endParaRPr baseline="30000" sz="1200">
              <a:solidFill>
                <a:srgbClr val="595959"/>
              </a:solidFill>
            </a:endParaRPr>
          </a:p>
        </p:txBody>
      </p:sp>
      <p:cxnSp>
        <p:nvCxnSpPr>
          <p:cNvPr id="459" name="Google Shape;459;p44"/>
          <p:cNvCxnSpPr/>
          <p:nvPr/>
        </p:nvCxnSpPr>
        <p:spPr>
          <a:xfrm rot="10800000">
            <a:off x="2901200" y="3393963"/>
            <a:ext cx="1204800" cy="413100"/>
          </a:xfrm>
          <a:prstGeom prst="straightConnector1">
            <a:avLst/>
          </a:prstGeom>
          <a:noFill/>
          <a:ln cap="flat" cmpd="sng" w="19050">
            <a:solidFill>
              <a:schemeClr val="dk2"/>
            </a:solidFill>
            <a:prstDash val="solid"/>
            <a:round/>
            <a:headEnd len="med" w="med" type="none"/>
            <a:tailEnd len="med" w="med" type="triangle"/>
          </a:ln>
        </p:spPr>
      </p:cxnSp>
      <p:sp>
        <p:nvSpPr>
          <p:cNvPr id="460" name="Google Shape;460;p44"/>
          <p:cNvSpPr txBox="1"/>
          <p:nvPr/>
        </p:nvSpPr>
        <p:spPr>
          <a:xfrm>
            <a:off x="367131" y="1114344"/>
            <a:ext cx="1371600" cy="2154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FFFF"/>
                </a:solidFill>
              </a:rPr>
              <a:t>Source</a:t>
            </a:r>
            <a:endParaRPr>
              <a:solidFill>
                <a:srgbClr val="FFFFFF"/>
              </a:solidFill>
            </a:endParaRPr>
          </a:p>
        </p:txBody>
      </p:sp>
      <p:sp>
        <p:nvSpPr>
          <p:cNvPr id="461" name="Google Shape;461;p44"/>
          <p:cNvSpPr txBox="1"/>
          <p:nvPr/>
        </p:nvSpPr>
        <p:spPr>
          <a:xfrm>
            <a:off x="2129418" y="1114344"/>
            <a:ext cx="1371600" cy="2310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500">
                <a:solidFill>
                  <a:srgbClr val="FFFFFF"/>
                </a:solidFill>
              </a:rPr>
              <a:t>Data Layer</a:t>
            </a:r>
            <a:endParaRPr sz="1500">
              <a:solidFill>
                <a:srgbClr val="FFFFFF"/>
              </a:solidFill>
            </a:endParaRPr>
          </a:p>
        </p:txBody>
      </p:sp>
      <p:sp>
        <p:nvSpPr>
          <p:cNvPr id="462" name="Google Shape;462;p44"/>
          <p:cNvSpPr txBox="1"/>
          <p:nvPr/>
        </p:nvSpPr>
        <p:spPr>
          <a:xfrm>
            <a:off x="3887362" y="1114344"/>
            <a:ext cx="1371600" cy="2310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500">
                <a:solidFill>
                  <a:srgbClr val="FFFFFF"/>
                </a:solidFill>
              </a:rPr>
              <a:t>Semantic Layer</a:t>
            </a:r>
            <a:endParaRPr sz="1500">
              <a:solidFill>
                <a:srgbClr val="FFFFFF"/>
              </a:solidFill>
            </a:endParaRPr>
          </a:p>
        </p:txBody>
      </p:sp>
      <p:sp>
        <p:nvSpPr>
          <p:cNvPr id="463" name="Google Shape;463;p44"/>
          <p:cNvSpPr txBox="1"/>
          <p:nvPr/>
        </p:nvSpPr>
        <p:spPr>
          <a:xfrm>
            <a:off x="5642971" y="1114344"/>
            <a:ext cx="1371600" cy="2310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500">
                <a:solidFill>
                  <a:srgbClr val="FFFFFF"/>
                </a:solidFill>
              </a:rPr>
              <a:t>Orchestration</a:t>
            </a:r>
            <a:endParaRPr sz="1500">
              <a:solidFill>
                <a:srgbClr val="FFFFFF"/>
              </a:solidFill>
            </a:endParaRPr>
          </a:p>
        </p:txBody>
      </p:sp>
      <p:sp>
        <p:nvSpPr>
          <p:cNvPr id="464" name="Google Shape;464;p44"/>
          <p:cNvSpPr txBox="1"/>
          <p:nvPr/>
        </p:nvSpPr>
        <p:spPr>
          <a:xfrm>
            <a:off x="7397118" y="1114344"/>
            <a:ext cx="1371600" cy="2310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500">
                <a:solidFill>
                  <a:srgbClr val="FFFFFF"/>
                </a:solidFill>
              </a:rPr>
              <a:t>Users</a:t>
            </a:r>
            <a:endParaRPr sz="1500">
              <a:solidFill>
                <a:srgbClr val="FFFFFF"/>
              </a:solidFill>
            </a:endParaRPr>
          </a:p>
        </p:txBody>
      </p:sp>
      <p:cxnSp>
        <p:nvCxnSpPr>
          <p:cNvPr id="465" name="Google Shape;465;p44"/>
          <p:cNvCxnSpPr/>
          <p:nvPr/>
        </p:nvCxnSpPr>
        <p:spPr>
          <a:xfrm>
            <a:off x="1441950" y="3974113"/>
            <a:ext cx="1204500" cy="9000"/>
          </a:xfrm>
          <a:prstGeom prst="straightConnector1">
            <a:avLst/>
          </a:prstGeom>
          <a:noFill/>
          <a:ln cap="flat" cmpd="sng" w="19050">
            <a:solidFill>
              <a:schemeClr val="dk2"/>
            </a:solidFill>
            <a:prstDash val="solid"/>
            <a:round/>
            <a:headEnd len="med" w="med" type="none"/>
            <a:tailEnd len="med" w="med" type="triangle"/>
          </a:ln>
        </p:spPr>
      </p:cxnSp>
      <p:cxnSp>
        <p:nvCxnSpPr>
          <p:cNvPr id="466" name="Google Shape;466;p44"/>
          <p:cNvCxnSpPr>
            <a:endCxn id="415" idx="2"/>
          </p:cNvCxnSpPr>
          <p:nvPr/>
        </p:nvCxnSpPr>
        <p:spPr>
          <a:xfrm flipH="1" rot="10800000">
            <a:off x="1468287" y="2385602"/>
            <a:ext cx="995700" cy="23400"/>
          </a:xfrm>
          <a:prstGeom prst="straightConnector1">
            <a:avLst/>
          </a:prstGeom>
          <a:noFill/>
          <a:ln cap="flat" cmpd="sng" w="19050">
            <a:solidFill>
              <a:schemeClr val="dk2"/>
            </a:solidFill>
            <a:prstDash val="solid"/>
            <a:round/>
            <a:headEnd len="med" w="med" type="none"/>
            <a:tailEnd len="med" w="med" type="triangle"/>
          </a:ln>
        </p:spPr>
      </p:cxnSp>
      <p:sp>
        <p:nvSpPr>
          <p:cNvPr id="467" name="Google Shape;467;p44"/>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Cortex AI Ecosystem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graphicFrame>
        <p:nvGraphicFramePr>
          <p:cNvPr id="472" name="Google Shape;472;p45"/>
          <p:cNvGraphicFramePr/>
          <p:nvPr/>
        </p:nvGraphicFramePr>
        <p:xfrm>
          <a:off x="240313" y="564235"/>
          <a:ext cx="3000000" cy="3000000"/>
        </p:xfrm>
        <a:graphic>
          <a:graphicData uri="http://schemas.openxmlformats.org/drawingml/2006/table">
            <a:tbl>
              <a:tblPr>
                <a:noFill/>
                <a:tableStyleId>{E8F5248A-DBA3-46B8-8E12-1AFC5F6F1D41}</a:tableStyleId>
              </a:tblPr>
              <a:tblGrid>
                <a:gridCol w="1560775"/>
                <a:gridCol w="1824125"/>
                <a:gridCol w="2563625"/>
                <a:gridCol w="2714900"/>
              </a:tblGrid>
              <a:tr h="217600">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Method</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8B5E8"/>
                    </a:solidFill>
                  </a:tcPr>
                </a:tc>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Stack</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8B5E8"/>
                    </a:solidFill>
                  </a:tcPr>
                </a:tc>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Consumer Services</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8B5E8"/>
                    </a:solidFill>
                  </a:tcPr>
                </a:tc>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Use Case</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28B5E8"/>
                    </a:solidFill>
                  </a:tcPr>
                </a:tc>
              </a:tr>
              <a:tr h="511925">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Direct Connect</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Native Connectors</a:t>
                      </a:r>
                      <a:r>
                        <a:rPr lang="en" sz="800">
                          <a:solidFill>
                            <a:schemeClr val="dk1"/>
                          </a:solidFill>
                          <a:latin typeface="Roboto"/>
                          <a:ea typeface="Roboto"/>
                          <a:cs typeface="Roboto"/>
                          <a:sym typeface="Roboto"/>
                        </a:rPr>
                        <a:t> </a:t>
                      </a:r>
                      <a:endParaRPr sz="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(JDBC, Python, ODBC)</a:t>
                      </a:r>
                      <a:endParaRPr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Applications</a:t>
                      </a:r>
                      <a:endParaRPr b="1"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Cloud Run, App Engine, Looker, Vertex AI Inference</a:t>
                      </a:r>
                      <a:endParaRPr sz="800">
                        <a:solidFill>
                          <a:schemeClr val="dk1"/>
                        </a:solidFill>
                        <a:latin typeface="Roboto"/>
                        <a:ea typeface="Roboto"/>
                        <a:cs typeface="Roboto"/>
                        <a:sym typeface="Roboto"/>
                      </a:endParaRPr>
                    </a:p>
                  </a:txBody>
                  <a:tcPr marT="19050" marB="190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Fast, two-way R/W access for general applications. Default path. Eliminates Egress.</a:t>
                      </a:r>
                      <a:endParaRPr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04750">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Move Workload to SF</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b="1" lang="en" sz="1100">
                          <a:solidFill>
                            <a:schemeClr val="dk1"/>
                          </a:solidFill>
                          <a:latin typeface="Roboto"/>
                          <a:ea typeface="Roboto"/>
                          <a:cs typeface="Roboto"/>
                          <a:sym typeface="Roboto"/>
                        </a:rPr>
                        <a:t>SnowPark</a:t>
                      </a:r>
                      <a:endParaRPr sz="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SPCS, SF Feature Store, Model Registry</a:t>
                      </a:r>
                      <a:endParaRPr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1" lang="en" sz="1100">
                          <a:solidFill>
                            <a:schemeClr val="dk1"/>
                          </a:solidFill>
                          <a:latin typeface="Roboto"/>
                          <a:ea typeface="Roboto"/>
                          <a:cs typeface="Roboto"/>
                          <a:sym typeface="Roboto"/>
                        </a:rPr>
                        <a:t>ML/DS workloads</a:t>
                      </a:r>
                      <a:endParaRPr b="1" sz="1100">
                        <a:solidFill>
                          <a:schemeClr val="dk1"/>
                        </a:solidFill>
                        <a:latin typeface="Roboto"/>
                        <a:ea typeface="Roboto"/>
                        <a:cs typeface="Roboto"/>
                        <a:sym typeface="Roboto"/>
                      </a:endParaRPr>
                    </a:p>
                    <a:p>
                      <a:pPr indent="0" lvl="0" marL="0" marR="0" rtl="0" algn="l">
                        <a:lnSpc>
                          <a:spcPct val="115000"/>
                        </a:lnSpc>
                        <a:spcBef>
                          <a:spcPts val="0"/>
                        </a:spcBef>
                        <a:spcAft>
                          <a:spcPts val="0"/>
                        </a:spcAft>
                        <a:buNone/>
                      </a:pPr>
                      <a:r>
                        <a:rPr lang="en" sz="800">
                          <a:solidFill>
                            <a:schemeClr val="dk1"/>
                          </a:solidFill>
                          <a:latin typeface="Roboto"/>
                          <a:ea typeface="Roboto"/>
                          <a:cs typeface="Roboto"/>
                          <a:sym typeface="Roboto"/>
                        </a:rPr>
                        <a:t>In any of your preferred language Scala, Python, etc.</a:t>
                      </a:r>
                      <a:endParaRPr sz="800">
                        <a:solidFill>
                          <a:schemeClr val="dk1"/>
                        </a:solidFill>
                        <a:latin typeface="Roboto"/>
                        <a:ea typeface="Roboto"/>
                        <a:cs typeface="Roboto"/>
                        <a:sym typeface="Roboto"/>
                      </a:endParaRPr>
                    </a:p>
                  </a:txBody>
                  <a:tcPr marT="19050" marB="190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Using Snowflake MLops platform for building, training, and serving ML workloads</a:t>
                      </a:r>
                      <a:r>
                        <a:rPr lang="en" sz="800">
                          <a:solidFill>
                            <a:schemeClr val="dk1"/>
                          </a:solidFill>
                          <a:latin typeface="Roboto"/>
                          <a:ea typeface="Roboto"/>
                          <a:cs typeface="Roboto"/>
                          <a:sym typeface="Roboto"/>
                        </a:rPr>
                        <a:t>. </a:t>
                      </a:r>
                      <a:endParaRPr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accent4"/>
                      </a:solidFill>
                      <a:prstDash val="solid"/>
                      <a:round/>
                      <a:headEnd len="sm" w="sm" type="none"/>
                      <a:tailEnd len="sm" w="sm" type="none"/>
                    </a:lnB>
                  </a:tcPr>
                </a:tc>
              </a:tr>
              <a:tr h="504750">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Interoperability</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Iceberg (i, ii)</a:t>
                      </a:r>
                      <a:endParaRPr sz="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CLD, Polaris, BigLake</a:t>
                      </a:r>
                      <a:endParaRPr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BigLake, GCS</a:t>
                      </a:r>
                      <a:br>
                        <a:rPr lang="en" sz="800">
                          <a:solidFill>
                            <a:schemeClr val="dk1"/>
                          </a:solidFill>
                          <a:latin typeface="Roboto"/>
                          <a:ea typeface="Roboto"/>
                          <a:cs typeface="Roboto"/>
                          <a:sym typeface="Roboto"/>
                        </a:rPr>
                      </a:br>
                      <a:r>
                        <a:rPr lang="en" sz="800">
                          <a:solidFill>
                            <a:schemeClr val="dk1"/>
                          </a:solidFill>
                          <a:latin typeface="Roboto"/>
                          <a:ea typeface="Roboto"/>
                          <a:cs typeface="Roboto"/>
                          <a:sym typeface="Roboto"/>
                        </a:rPr>
                        <a:t>BigQuery, </a:t>
                      </a:r>
                      <a:r>
                        <a:rPr lang="en" sz="800">
                          <a:solidFill>
                            <a:schemeClr val="dk1"/>
                          </a:solidFill>
                          <a:latin typeface="Roboto"/>
                          <a:ea typeface="Roboto"/>
                          <a:cs typeface="Roboto"/>
                          <a:sym typeface="Roboto"/>
                        </a:rPr>
                        <a:t>Vertex AI Training/Ray, DataBricks, Spark</a:t>
                      </a:r>
                      <a:endParaRPr sz="800">
                        <a:solidFill>
                          <a:schemeClr val="dk1"/>
                        </a:solidFill>
                        <a:latin typeface="Roboto"/>
                        <a:ea typeface="Roboto"/>
                        <a:cs typeface="Roboto"/>
                        <a:sym typeface="Roboto"/>
                      </a:endParaRPr>
                    </a:p>
                  </a:txBody>
                  <a:tcPr marT="19050" marB="19050" marR="91425" marL="91425" anchor="ctr">
                    <a:lnL cap="flat" cmpd="sng" w="9525">
                      <a:solidFill>
                        <a:schemeClr val="dk1"/>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Building Lakehouse (BigLake) to share the same massive data across multiple engines</a:t>
                      </a:r>
                      <a:br>
                        <a:rPr lang="en" sz="800">
                          <a:solidFill>
                            <a:schemeClr val="dk1"/>
                          </a:solidFill>
                          <a:latin typeface="Roboto"/>
                          <a:ea typeface="Roboto"/>
                          <a:cs typeface="Roboto"/>
                          <a:sym typeface="Roboto"/>
                        </a:rPr>
                      </a:br>
                      <a:r>
                        <a:rPr lang="en" sz="800">
                          <a:solidFill>
                            <a:srgbClr val="FF9600"/>
                          </a:solidFill>
                          <a:latin typeface="Roboto"/>
                          <a:ea typeface="Roboto"/>
                          <a:cs typeface="Roboto"/>
                          <a:sym typeface="Roboto"/>
                        </a:rPr>
                        <a:t>Catalog Federation would be great</a:t>
                      </a:r>
                      <a:endParaRPr sz="800">
                        <a:solidFill>
                          <a:srgbClr val="FF9600"/>
                        </a:solidFill>
                        <a:latin typeface="Roboto"/>
                        <a:ea typeface="Roboto"/>
                        <a:cs typeface="Roboto"/>
                        <a:sym typeface="Roboto"/>
                      </a:endParaRPr>
                    </a:p>
                  </a:txBody>
                  <a:tcPr marT="19050" marB="19050" marR="28575" marL="28575" anchor="ctr">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tcPr>
                </a:tc>
              </a:tr>
              <a:tr h="339275">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Continuous</a:t>
                      </a:r>
                      <a:r>
                        <a:rPr lang="en" sz="1200">
                          <a:solidFill>
                            <a:schemeClr val="lt1"/>
                          </a:solidFill>
                          <a:latin typeface="Roboto"/>
                          <a:ea typeface="Roboto"/>
                          <a:cs typeface="Roboto"/>
                          <a:sym typeface="Roboto"/>
                        </a:rPr>
                        <a:t> Egress</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OpenFlow (NiFi)</a:t>
                      </a:r>
                      <a:endParaRPr b="1" sz="10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GCS or PubSub or Kafka</a:t>
                      </a:r>
                      <a:endParaRPr b="1"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Vertex AI Training/Ray, BigLake, DataBricks, Spark</a:t>
                      </a:r>
                      <a:br>
                        <a:rPr lang="en" sz="800">
                          <a:solidFill>
                            <a:schemeClr val="dk1"/>
                          </a:solidFill>
                          <a:latin typeface="Roboto"/>
                          <a:ea typeface="Roboto"/>
                          <a:cs typeface="Roboto"/>
                          <a:sym typeface="Roboto"/>
                        </a:rPr>
                      </a:br>
                      <a:r>
                        <a:rPr lang="en" sz="800">
                          <a:solidFill>
                            <a:schemeClr val="dk1"/>
                          </a:solidFill>
                          <a:latin typeface="Roboto"/>
                          <a:ea typeface="Roboto"/>
                          <a:cs typeface="Roboto"/>
                          <a:sym typeface="Roboto"/>
                        </a:rPr>
                        <a:t>Install Sowpark in Workbench</a:t>
                      </a:r>
                      <a:endParaRPr sz="800">
                        <a:solidFill>
                          <a:schemeClr val="dk1"/>
                        </a:solidFill>
                        <a:latin typeface="Roboto"/>
                        <a:ea typeface="Roboto"/>
                        <a:cs typeface="Roboto"/>
                        <a:sym typeface="Roboto"/>
                      </a:endParaRPr>
                    </a:p>
                  </a:txBody>
                  <a:tcPr marT="19050" marB="190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Granular/streaming delta updates (Egress).</a:t>
                      </a:r>
                      <a:endParaRPr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dk1"/>
                      </a:solidFill>
                      <a:prstDash val="solid"/>
                      <a:round/>
                      <a:headEnd len="sm" w="sm" type="none"/>
                      <a:tailEnd len="sm" w="sm" type="none"/>
                    </a:lnB>
                  </a:tcPr>
                </a:tc>
              </a:tr>
              <a:tr h="425600">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Ingestion/Copy</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Snowpipe</a:t>
                      </a:r>
                      <a:endParaRPr b="1"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Dynamic Tables</a:t>
                      </a:r>
                      <a:br>
                        <a:rPr b="1" lang="en" sz="1000">
                          <a:solidFill>
                            <a:schemeClr val="dk1"/>
                          </a:solidFill>
                          <a:latin typeface="Roboto"/>
                          <a:ea typeface="Roboto"/>
                          <a:cs typeface="Roboto"/>
                          <a:sym typeface="Roboto"/>
                        </a:rPr>
                      </a:br>
                      <a:r>
                        <a:rPr b="1" lang="en" sz="1000">
                          <a:solidFill>
                            <a:schemeClr val="dk1"/>
                          </a:solidFill>
                          <a:latin typeface="Roboto"/>
                          <a:ea typeface="Roboto"/>
                          <a:cs typeface="Roboto"/>
                          <a:sym typeface="Roboto"/>
                        </a:rPr>
                        <a:t>Bulk Copy</a:t>
                      </a:r>
                      <a:endParaRPr b="1" sz="10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GCS</a:t>
                      </a:r>
                      <a:endParaRPr b="1" sz="1000">
                        <a:solidFill>
                          <a:schemeClr val="dk1"/>
                        </a:solidFill>
                        <a:latin typeface="Roboto"/>
                        <a:ea typeface="Roboto"/>
                        <a:cs typeface="Roboto"/>
                        <a:sym typeface="Roboto"/>
                      </a:endParaRPr>
                    </a:p>
                  </a:txBody>
                  <a:tcPr marT="19050" marB="190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Automated, continuous data loading (Ingress).</a:t>
                      </a:r>
                      <a:endParaRPr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39275">
                <a:tc>
                  <a:txBody>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Bulk</a:t>
                      </a:r>
                      <a:r>
                        <a:rPr lang="en" sz="1200">
                          <a:solidFill>
                            <a:schemeClr val="lt1"/>
                          </a:solidFill>
                          <a:latin typeface="Roboto"/>
                          <a:ea typeface="Roboto"/>
                          <a:cs typeface="Roboto"/>
                          <a:sym typeface="Roboto"/>
                        </a:rPr>
                        <a:t> Copy (In/Out)</a:t>
                      </a:r>
                      <a:endParaRPr sz="1200">
                        <a:solidFill>
                          <a:schemeClr val="lt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Copy Into &lt;GCS&gt;</a:t>
                      </a:r>
                      <a:endParaRPr b="1"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GCS</a:t>
                      </a:r>
                      <a:endParaRPr b="1"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Vertex AI Training</a:t>
                      </a:r>
                      <a:endParaRPr sz="800">
                        <a:solidFill>
                          <a:schemeClr val="dk1"/>
                        </a:solidFill>
                        <a:latin typeface="Roboto"/>
                        <a:ea typeface="Roboto"/>
                        <a:cs typeface="Roboto"/>
                        <a:sym typeface="Roboto"/>
                      </a:endParaRPr>
                    </a:p>
                  </a:txBody>
                  <a:tcPr marT="19050" marB="1905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solidFill>
                            <a:schemeClr val="dk1"/>
                          </a:solidFill>
                          <a:latin typeface="Roboto"/>
                          <a:ea typeface="Roboto"/>
                          <a:cs typeface="Roboto"/>
                          <a:sym typeface="Roboto"/>
                        </a:rPr>
                        <a:t>Efficient bulk data unload (Egress).</a:t>
                      </a:r>
                      <a:endParaRPr sz="800">
                        <a:solidFill>
                          <a:schemeClr val="dk1"/>
                        </a:solidFill>
                        <a:latin typeface="Roboto"/>
                        <a:ea typeface="Roboto"/>
                        <a:cs typeface="Roboto"/>
                        <a:sym typeface="Roboto"/>
                      </a:endParaRPr>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73" name="Google Shape;473;p45"/>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000"/>
              <a:t>Snowflake-GCP Collaboration Methods and Best Practices</a:t>
            </a:r>
            <a:endParaRPr sz="2000"/>
          </a:p>
        </p:txBody>
      </p:sp>
      <p:sp>
        <p:nvSpPr>
          <p:cNvPr id="474" name="Google Shape;474;p45"/>
          <p:cNvSpPr txBox="1"/>
          <p:nvPr/>
        </p:nvSpPr>
        <p:spPr>
          <a:xfrm>
            <a:off x="240350" y="3573064"/>
            <a:ext cx="8663400" cy="6915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900"/>
              <a:t>Recommended Solution</a:t>
            </a:r>
            <a:r>
              <a:rPr lang="en" sz="900"/>
              <a:t>: </a:t>
            </a:r>
            <a:endParaRPr sz="900"/>
          </a:p>
          <a:p>
            <a:pPr indent="-285750" lvl="0" marL="457200" rtl="0" algn="l">
              <a:lnSpc>
                <a:spcPct val="100000"/>
              </a:lnSpc>
              <a:spcBef>
                <a:spcPts val="0"/>
              </a:spcBef>
              <a:spcAft>
                <a:spcPts val="0"/>
              </a:spcAft>
              <a:buSzPts val="900"/>
              <a:buChar char="-"/>
            </a:pPr>
            <a:r>
              <a:rPr b="1" lang="en" sz="900"/>
              <a:t>Iceberg for Shared Data</a:t>
            </a:r>
            <a:r>
              <a:rPr lang="en" sz="900"/>
              <a:t>: Iceberg Data Tables in GCP BigLake, Polaris Data Catalog managed by Snowflake, for Bronze and Silver layer data</a:t>
            </a:r>
            <a:endParaRPr sz="900"/>
          </a:p>
          <a:p>
            <a:pPr indent="-285750" lvl="0" marL="457200" rtl="0" algn="l">
              <a:lnSpc>
                <a:spcPct val="100000"/>
              </a:lnSpc>
              <a:spcBef>
                <a:spcPts val="0"/>
              </a:spcBef>
              <a:spcAft>
                <a:spcPts val="0"/>
              </a:spcAft>
              <a:buSzPts val="900"/>
              <a:buChar char="-"/>
            </a:pPr>
            <a:r>
              <a:rPr b="1" lang="en" sz="900"/>
              <a:t>Direct Connect for Applications</a:t>
            </a:r>
            <a:r>
              <a:rPr lang="en" sz="900"/>
              <a:t>: For application through Snowflake native connectors to consume Gold later data in SF native tables.</a:t>
            </a:r>
            <a:endParaRPr sz="900">
              <a:solidFill>
                <a:srgbClr val="5B5B5B"/>
              </a:solidFill>
            </a:endParaRPr>
          </a:p>
          <a:p>
            <a:pPr indent="-285750" lvl="0" marL="457200" rtl="0" algn="l">
              <a:lnSpc>
                <a:spcPct val="100000"/>
              </a:lnSpc>
              <a:spcBef>
                <a:spcPts val="0"/>
              </a:spcBef>
              <a:spcAft>
                <a:spcPts val="0"/>
              </a:spcAft>
              <a:buSzPts val="900"/>
              <a:buChar char="-"/>
            </a:pPr>
            <a:r>
              <a:rPr b="1" lang="en" sz="900"/>
              <a:t>Polaris for Data Catalog</a:t>
            </a:r>
            <a:r>
              <a:rPr lang="en" sz="900"/>
              <a:t> supports many governance features such as time machine, delta updates, etc..</a:t>
            </a:r>
            <a:endParaRPr sz="900">
              <a:solidFill>
                <a:srgbClr val="5B5B5B"/>
              </a:solidFill>
            </a:endParaRPr>
          </a:p>
        </p:txBody>
      </p:sp>
      <p:sp>
        <p:nvSpPr>
          <p:cNvPr id="475" name="Google Shape;475;p45"/>
          <p:cNvSpPr txBox="1"/>
          <p:nvPr/>
        </p:nvSpPr>
        <p:spPr>
          <a:xfrm>
            <a:off x="253400" y="4253975"/>
            <a:ext cx="8637300" cy="4464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1200"/>
              </a:spcAft>
              <a:buNone/>
            </a:pPr>
            <a:r>
              <a:rPr lang="en" sz="900">
                <a:solidFill>
                  <a:schemeClr val="dk1"/>
                </a:solidFill>
              </a:rPr>
              <a:t>i- </a:t>
            </a:r>
            <a:r>
              <a:rPr lang="en" sz="900">
                <a:solidFill>
                  <a:schemeClr val="dk1"/>
                </a:solidFill>
              </a:rPr>
              <a:t>Polaris access control is not yet at the level of native Snowflake tables and we recommend direct connector for gold layer data that needs fine-grain access control.</a:t>
            </a:r>
            <a:br>
              <a:rPr lang="en" sz="900">
                <a:solidFill>
                  <a:schemeClr val="dk1"/>
                </a:solidFill>
              </a:rPr>
            </a:br>
            <a:r>
              <a:rPr lang="en" sz="900">
                <a:solidFill>
                  <a:schemeClr val="dk1"/>
                </a:solidFill>
              </a:rPr>
              <a:t>ii- </a:t>
            </a:r>
            <a:r>
              <a:rPr b="1" lang="en" sz="900">
                <a:solidFill>
                  <a:schemeClr val="dk1"/>
                </a:solidFill>
              </a:rPr>
              <a:t>Data Types:</a:t>
            </a:r>
            <a:r>
              <a:rPr lang="en" sz="900">
                <a:solidFill>
                  <a:schemeClr val="dk1"/>
                </a:solidFill>
              </a:rPr>
              <a:t> VARIANT (semi-structured) is currently unsupported by Iceberg.</a:t>
            </a:r>
            <a:endParaRPr sz="9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6"/>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Snowflake Producer, GCP Consumer</a:t>
            </a:r>
            <a:endParaRPr sz="2200"/>
          </a:p>
        </p:txBody>
      </p:sp>
      <p:sp>
        <p:nvSpPr>
          <p:cNvPr id="481" name="Google Shape;481;p46"/>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Snowflake -&gt; GCP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7"/>
          <p:cNvSpPr/>
          <p:nvPr/>
        </p:nvSpPr>
        <p:spPr>
          <a:xfrm>
            <a:off x="311350" y="515521"/>
            <a:ext cx="2848800" cy="29655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487" name="Google Shape;487;p47"/>
          <p:cNvSpPr/>
          <p:nvPr/>
        </p:nvSpPr>
        <p:spPr>
          <a:xfrm>
            <a:off x="5767750" y="560346"/>
            <a:ext cx="3200100" cy="29286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488" name="Google Shape;488;p47"/>
          <p:cNvSpPr/>
          <p:nvPr/>
        </p:nvSpPr>
        <p:spPr>
          <a:xfrm>
            <a:off x="3347700" y="552421"/>
            <a:ext cx="2140800" cy="29286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grpSp>
        <p:nvGrpSpPr>
          <p:cNvPr id="489" name="Google Shape;489;p47"/>
          <p:cNvGrpSpPr/>
          <p:nvPr/>
        </p:nvGrpSpPr>
        <p:grpSpPr>
          <a:xfrm>
            <a:off x="1793774" y="790380"/>
            <a:ext cx="1017300" cy="651816"/>
            <a:chOff x="1548833" y="2114554"/>
            <a:chExt cx="1017300" cy="651816"/>
          </a:xfrm>
        </p:grpSpPr>
        <p:pic>
          <p:nvPicPr>
            <p:cNvPr id="490" name="Google Shape;490;p47"/>
            <p:cNvPicPr preferRelativeResize="0"/>
            <p:nvPr/>
          </p:nvPicPr>
          <p:blipFill rotWithShape="1">
            <a:blip r:embed="rId3">
              <a:alphaModFix/>
            </a:blip>
            <a:srcRect b="0" l="0" r="0" t="0"/>
            <a:stretch/>
          </p:blipFill>
          <p:spPr>
            <a:xfrm>
              <a:off x="1828870" y="2114554"/>
              <a:ext cx="457200" cy="457200"/>
            </a:xfrm>
            <a:prstGeom prst="rect">
              <a:avLst/>
            </a:prstGeom>
            <a:noFill/>
            <a:ln>
              <a:noFill/>
            </a:ln>
          </p:spPr>
        </p:pic>
        <p:sp>
          <p:nvSpPr>
            <p:cNvPr id="491" name="Google Shape;491;p47"/>
            <p:cNvSpPr txBox="1"/>
            <p:nvPr/>
          </p:nvSpPr>
          <p:spPr>
            <a:xfrm>
              <a:off x="1548833" y="2627770"/>
              <a:ext cx="1017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1000" u="none" cap="none" strike="noStrike">
                  <a:solidFill>
                    <a:srgbClr val="105780"/>
                  </a:solidFill>
                  <a:latin typeface="Arial"/>
                  <a:ea typeface="Arial"/>
                  <a:cs typeface="Arial"/>
                  <a:sym typeface="Arial"/>
                </a:rPr>
                <a:t>Horizon Catalog</a:t>
              </a:r>
              <a:endParaRPr b="0" i="0" sz="1000" u="none" cap="none" strike="noStrike">
                <a:solidFill>
                  <a:srgbClr val="105780"/>
                </a:solidFill>
                <a:latin typeface="Arial"/>
                <a:ea typeface="Arial"/>
                <a:cs typeface="Arial"/>
                <a:sym typeface="Arial"/>
              </a:endParaRPr>
            </a:p>
          </p:txBody>
        </p:sp>
      </p:grpSp>
      <p:grpSp>
        <p:nvGrpSpPr>
          <p:cNvPr id="492" name="Google Shape;492;p47"/>
          <p:cNvGrpSpPr/>
          <p:nvPr/>
        </p:nvGrpSpPr>
        <p:grpSpPr>
          <a:xfrm>
            <a:off x="1833975" y="1633445"/>
            <a:ext cx="994500" cy="865530"/>
            <a:chOff x="3288958" y="2210356"/>
            <a:chExt cx="994500" cy="865530"/>
          </a:xfrm>
        </p:grpSpPr>
        <p:sp>
          <p:nvSpPr>
            <p:cNvPr id="493" name="Google Shape;493;p47"/>
            <p:cNvSpPr/>
            <p:nvPr/>
          </p:nvSpPr>
          <p:spPr>
            <a:xfrm>
              <a:off x="3490654" y="2210356"/>
              <a:ext cx="457207" cy="457206"/>
            </a:xfrm>
            <a:custGeom>
              <a:rect b="b" l="l" r="r" t="t"/>
              <a:pathLst>
                <a:path extrusionOk="0" h="8448" w="7350">
                  <a:moveTo>
                    <a:pt x="3674" y="708"/>
                  </a:moveTo>
                  <a:cubicBezTo>
                    <a:pt x="5594" y="708"/>
                    <a:pt x="6641" y="1317"/>
                    <a:pt x="6641" y="1629"/>
                  </a:cubicBezTo>
                  <a:cubicBezTo>
                    <a:pt x="6641" y="1941"/>
                    <a:pt x="5594" y="2550"/>
                    <a:pt x="3674" y="2550"/>
                  </a:cubicBezTo>
                  <a:cubicBezTo>
                    <a:pt x="1756" y="2550"/>
                    <a:pt x="709" y="1941"/>
                    <a:pt x="709" y="1629"/>
                  </a:cubicBezTo>
                  <a:cubicBezTo>
                    <a:pt x="709" y="1317"/>
                    <a:pt x="1756" y="708"/>
                    <a:pt x="3674" y="708"/>
                  </a:cubicBezTo>
                  <a:close/>
                  <a:moveTo>
                    <a:pt x="6641" y="2628"/>
                  </a:moveTo>
                  <a:lnTo>
                    <a:pt x="6641" y="3360"/>
                  </a:lnTo>
                  <a:cubicBezTo>
                    <a:pt x="6641" y="3672"/>
                    <a:pt x="5594" y="4281"/>
                    <a:pt x="3674" y="4281"/>
                  </a:cubicBezTo>
                  <a:cubicBezTo>
                    <a:pt x="1756" y="4281"/>
                    <a:pt x="709" y="3672"/>
                    <a:pt x="709" y="3360"/>
                  </a:cubicBezTo>
                  <a:lnTo>
                    <a:pt x="709" y="2628"/>
                  </a:lnTo>
                  <a:cubicBezTo>
                    <a:pt x="1411" y="3044"/>
                    <a:pt x="2547" y="3258"/>
                    <a:pt x="3674" y="3258"/>
                  </a:cubicBezTo>
                  <a:cubicBezTo>
                    <a:pt x="4802" y="3258"/>
                    <a:pt x="5937" y="3044"/>
                    <a:pt x="6641" y="2628"/>
                  </a:cubicBezTo>
                  <a:close/>
                  <a:moveTo>
                    <a:pt x="6641" y="4361"/>
                  </a:moveTo>
                  <a:lnTo>
                    <a:pt x="6641" y="5086"/>
                  </a:lnTo>
                  <a:cubicBezTo>
                    <a:pt x="6641" y="5398"/>
                    <a:pt x="5594" y="6007"/>
                    <a:pt x="3674" y="6007"/>
                  </a:cubicBezTo>
                  <a:cubicBezTo>
                    <a:pt x="1756" y="6007"/>
                    <a:pt x="709" y="5398"/>
                    <a:pt x="709" y="5086"/>
                  </a:cubicBezTo>
                  <a:lnTo>
                    <a:pt x="709" y="4361"/>
                  </a:lnTo>
                  <a:cubicBezTo>
                    <a:pt x="1411" y="4777"/>
                    <a:pt x="2547" y="4989"/>
                    <a:pt x="3674" y="4989"/>
                  </a:cubicBezTo>
                  <a:cubicBezTo>
                    <a:pt x="4802" y="4989"/>
                    <a:pt x="5937" y="4777"/>
                    <a:pt x="6641" y="4361"/>
                  </a:cubicBezTo>
                  <a:close/>
                  <a:moveTo>
                    <a:pt x="6641" y="6087"/>
                  </a:moveTo>
                  <a:lnTo>
                    <a:pt x="6641" y="6819"/>
                  </a:lnTo>
                  <a:cubicBezTo>
                    <a:pt x="6641" y="7131"/>
                    <a:pt x="5594" y="7740"/>
                    <a:pt x="3674" y="7740"/>
                  </a:cubicBezTo>
                  <a:cubicBezTo>
                    <a:pt x="1756" y="7740"/>
                    <a:pt x="709" y="7131"/>
                    <a:pt x="709" y="6819"/>
                  </a:cubicBezTo>
                  <a:lnTo>
                    <a:pt x="709" y="6087"/>
                  </a:lnTo>
                  <a:cubicBezTo>
                    <a:pt x="1411" y="6503"/>
                    <a:pt x="2547" y="6716"/>
                    <a:pt x="3674" y="6716"/>
                  </a:cubicBezTo>
                  <a:cubicBezTo>
                    <a:pt x="4802" y="6716"/>
                    <a:pt x="5937" y="6503"/>
                    <a:pt x="6641" y="6087"/>
                  </a:cubicBezTo>
                  <a:close/>
                  <a:moveTo>
                    <a:pt x="3674" y="0"/>
                  </a:moveTo>
                  <a:cubicBezTo>
                    <a:pt x="1848" y="0"/>
                    <a:pt x="1" y="560"/>
                    <a:pt x="1" y="1630"/>
                  </a:cubicBezTo>
                  <a:lnTo>
                    <a:pt x="1" y="6819"/>
                  </a:lnTo>
                  <a:cubicBezTo>
                    <a:pt x="1" y="7888"/>
                    <a:pt x="1849" y="8448"/>
                    <a:pt x="3674" y="8448"/>
                  </a:cubicBezTo>
                  <a:cubicBezTo>
                    <a:pt x="5499" y="8448"/>
                    <a:pt x="7348" y="7890"/>
                    <a:pt x="7348" y="6819"/>
                  </a:cubicBezTo>
                  <a:lnTo>
                    <a:pt x="7348" y="1629"/>
                  </a:lnTo>
                  <a:cubicBezTo>
                    <a:pt x="7350" y="560"/>
                    <a:pt x="5501" y="0"/>
                    <a:pt x="3674" y="0"/>
                  </a:cubicBezTo>
                  <a:close/>
                </a:path>
              </a:pathLst>
            </a:custGeom>
            <a:solidFill>
              <a:srgbClr val="CF7832"/>
            </a:solidFill>
            <a:ln>
              <a:noFill/>
            </a:ln>
          </p:spPr>
          <p:txBody>
            <a:bodyPr anchorCtr="0" anchor="ctr" bIns="152650" lIns="152650" spcFirstLastPara="1" rIns="152650" wrap="square" tIns="152650">
              <a:noAutofit/>
            </a:bodyPr>
            <a:lstStyle/>
            <a:p>
              <a:pPr indent="0" lvl="0" marL="0" marR="0" rtl="0" algn="l">
                <a:lnSpc>
                  <a:spcPct val="100000"/>
                </a:lnSpc>
                <a:spcBef>
                  <a:spcPts val="0"/>
                </a:spcBef>
                <a:spcAft>
                  <a:spcPts val="0"/>
                </a:spcAft>
                <a:buClr>
                  <a:srgbClr val="252525"/>
                </a:buClr>
                <a:buSzPts val="3005"/>
                <a:buFont typeface="Arial"/>
                <a:buNone/>
              </a:pPr>
              <a:r>
                <a:t/>
              </a:r>
              <a:endParaRPr b="0" i="0" sz="3005" u="none" cap="none" strike="noStrike">
                <a:solidFill>
                  <a:srgbClr val="252525"/>
                </a:solidFill>
                <a:latin typeface="Arial"/>
                <a:ea typeface="Arial"/>
                <a:cs typeface="Arial"/>
                <a:sym typeface="Arial"/>
              </a:endParaRPr>
            </a:p>
          </p:txBody>
        </p:sp>
        <p:sp>
          <p:nvSpPr>
            <p:cNvPr id="494" name="Google Shape;494;p47"/>
            <p:cNvSpPr txBox="1"/>
            <p:nvPr/>
          </p:nvSpPr>
          <p:spPr>
            <a:xfrm>
              <a:off x="3288958" y="2715587"/>
              <a:ext cx="994500" cy="3603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rgbClr val="105780"/>
                  </a:solidFill>
                </a:rPr>
                <a:t>Iceberg Schema</a:t>
              </a:r>
              <a:br>
                <a:rPr lang="en" sz="1000">
                  <a:solidFill>
                    <a:srgbClr val="105780"/>
                  </a:solidFill>
                </a:rPr>
              </a:br>
              <a:r>
                <a:rPr lang="en" sz="800">
                  <a:solidFill>
                    <a:srgbClr val="105780"/>
                  </a:solidFill>
                </a:rPr>
                <a:t>Bronze/Silver </a:t>
              </a:r>
              <a:endParaRPr sz="800">
                <a:solidFill>
                  <a:srgbClr val="105780"/>
                </a:solidFill>
              </a:endParaRPr>
            </a:p>
            <a:p>
              <a:pPr indent="0" lvl="0" marL="0" marR="0" rtl="0" algn="ctr">
                <a:lnSpc>
                  <a:spcPct val="90000"/>
                </a:lnSpc>
                <a:spcBef>
                  <a:spcPts val="0"/>
                </a:spcBef>
                <a:spcAft>
                  <a:spcPts val="0"/>
                </a:spcAft>
                <a:buClr>
                  <a:srgbClr val="000000"/>
                </a:buClr>
                <a:buSzPts val="1000"/>
                <a:buFont typeface="Arial"/>
                <a:buNone/>
              </a:pPr>
              <a:r>
                <a:rPr lang="en" sz="800">
                  <a:solidFill>
                    <a:srgbClr val="105780"/>
                  </a:solidFill>
                </a:rPr>
                <a:t>Data Layer</a:t>
              </a:r>
              <a:endParaRPr b="0" i="0" sz="800" u="none" cap="none" strike="noStrike">
                <a:solidFill>
                  <a:srgbClr val="105780"/>
                </a:solidFill>
                <a:latin typeface="Arial"/>
                <a:ea typeface="Arial"/>
                <a:cs typeface="Arial"/>
                <a:sym typeface="Arial"/>
              </a:endParaRPr>
            </a:p>
          </p:txBody>
        </p:sp>
      </p:grpSp>
      <p:grpSp>
        <p:nvGrpSpPr>
          <p:cNvPr id="495" name="Google Shape;495;p47"/>
          <p:cNvGrpSpPr/>
          <p:nvPr/>
        </p:nvGrpSpPr>
        <p:grpSpPr>
          <a:xfrm>
            <a:off x="3868035" y="791232"/>
            <a:ext cx="913800" cy="789337"/>
            <a:chOff x="4150600" y="949063"/>
            <a:chExt cx="913800" cy="789337"/>
          </a:xfrm>
        </p:grpSpPr>
        <p:pic>
          <p:nvPicPr>
            <p:cNvPr descr="Apache Polaris | JB Onofré" id="496" name="Google Shape;496;p47"/>
            <p:cNvPicPr preferRelativeResize="0"/>
            <p:nvPr/>
          </p:nvPicPr>
          <p:blipFill rotWithShape="1">
            <a:blip r:embed="rId4">
              <a:alphaModFix/>
            </a:blip>
            <a:srcRect b="0" l="0" r="0" t="0"/>
            <a:stretch/>
          </p:blipFill>
          <p:spPr>
            <a:xfrm>
              <a:off x="4343399" y="949063"/>
              <a:ext cx="457200" cy="457200"/>
            </a:xfrm>
            <a:prstGeom prst="rect">
              <a:avLst/>
            </a:prstGeom>
            <a:noFill/>
            <a:ln>
              <a:noFill/>
            </a:ln>
          </p:spPr>
        </p:pic>
        <p:sp>
          <p:nvSpPr>
            <p:cNvPr id="497" name="Google Shape;497;p47"/>
            <p:cNvSpPr txBox="1"/>
            <p:nvPr/>
          </p:nvSpPr>
          <p:spPr>
            <a:xfrm>
              <a:off x="4150600" y="1461200"/>
              <a:ext cx="913800" cy="277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b="0" i="0" lang="en" sz="1000" u="none" cap="none" strike="noStrike">
                  <a:solidFill>
                    <a:srgbClr val="105780"/>
                  </a:solidFill>
                  <a:latin typeface="Arial"/>
                  <a:ea typeface="Arial"/>
                  <a:cs typeface="Arial"/>
                  <a:sym typeface="Arial"/>
                </a:rPr>
                <a:t>Polaris</a:t>
              </a:r>
              <a:br>
                <a:rPr b="0" i="0" lang="en" sz="1000" u="none" cap="none" strike="noStrike">
                  <a:solidFill>
                    <a:srgbClr val="105780"/>
                  </a:solidFill>
                  <a:latin typeface="Arial"/>
                  <a:ea typeface="Arial"/>
                  <a:cs typeface="Arial"/>
                  <a:sym typeface="Arial"/>
                </a:rPr>
              </a:br>
              <a:r>
                <a:rPr b="0" i="0" lang="en" sz="1000" u="none" cap="none" strike="noStrike">
                  <a:solidFill>
                    <a:srgbClr val="105780"/>
                  </a:solidFill>
                  <a:latin typeface="Arial"/>
                  <a:ea typeface="Arial"/>
                  <a:cs typeface="Arial"/>
                  <a:sym typeface="Arial"/>
                </a:rPr>
                <a:t>Open Catalog</a:t>
              </a:r>
              <a:endParaRPr b="0" i="0" sz="1000" u="none" cap="none" strike="noStrike">
                <a:solidFill>
                  <a:srgbClr val="000000"/>
                </a:solidFill>
                <a:latin typeface="Arial"/>
                <a:ea typeface="Arial"/>
                <a:cs typeface="Arial"/>
                <a:sym typeface="Arial"/>
              </a:endParaRPr>
            </a:p>
          </p:txBody>
        </p:sp>
      </p:grpSp>
      <p:grpSp>
        <p:nvGrpSpPr>
          <p:cNvPr id="498" name="Google Shape;498;p47"/>
          <p:cNvGrpSpPr/>
          <p:nvPr/>
        </p:nvGrpSpPr>
        <p:grpSpPr>
          <a:xfrm>
            <a:off x="6448931" y="1321829"/>
            <a:ext cx="879300" cy="620487"/>
            <a:chOff x="1233014" y="1825863"/>
            <a:chExt cx="879300" cy="620487"/>
          </a:xfrm>
        </p:grpSpPr>
        <p:sp>
          <p:nvSpPr>
            <p:cNvPr id="499" name="Google Shape;499;p47"/>
            <p:cNvSpPr txBox="1"/>
            <p:nvPr/>
          </p:nvSpPr>
          <p:spPr>
            <a:xfrm>
              <a:off x="1233014" y="2292450"/>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Big Query</a:t>
              </a:r>
              <a:endParaRPr sz="1000">
                <a:solidFill>
                  <a:schemeClr val="dk1"/>
                </a:solidFill>
              </a:endParaRPr>
            </a:p>
          </p:txBody>
        </p:sp>
        <p:pic>
          <p:nvPicPr>
            <p:cNvPr id="500" name="Google Shape;500;p47" title="BigQuery-512-color.png"/>
            <p:cNvPicPr preferRelativeResize="0"/>
            <p:nvPr/>
          </p:nvPicPr>
          <p:blipFill>
            <a:blip r:embed="rId5">
              <a:alphaModFix/>
            </a:blip>
            <a:stretch>
              <a:fillRect/>
            </a:stretch>
          </p:blipFill>
          <p:spPr>
            <a:xfrm>
              <a:off x="1444063" y="1825863"/>
              <a:ext cx="457201" cy="457201"/>
            </a:xfrm>
            <a:prstGeom prst="rect">
              <a:avLst/>
            </a:prstGeom>
            <a:noFill/>
            <a:ln>
              <a:noFill/>
            </a:ln>
          </p:spPr>
        </p:pic>
      </p:grpSp>
      <p:sp>
        <p:nvSpPr>
          <p:cNvPr id="501" name="Google Shape;501;p47"/>
          <p:cNvSpPr txBox="1"/>
          <p:nvPr/>
        </p:nvSpPr>
        <p:spPr>
          <a:xfrm>
            <a:off x="3597487" y="556173"/>
            <a:ext cx="16602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GCS (</a:t>
            </a:r>
            <a:r>
              <a:rPr lang="en" sz="1000">
                <a:solidFill>
                  <a:srgbClr val="FFFFFF"/>
                </a:solidFill>
              </a:rPr>
              <a:t>Snowflake-Manage</a:t>
            </a:r>
            <a:r>
              <a:rPr lang="en" sz="1200">
                <a:solidFill>
                  <a:srgbClr val="FFFFFF"/>
                </a:solidFill>
              </a:rPr>
              <a:t>d)</a:t>
            </a:r>
            <a:endParaRPr sz="1200">
              <a:solidFill>
                <a:srgbClr val="FFFFFF"/>
              </a:solidFill>
            </a:endParaRPr>
          </a:p>
        </p:txBody>
      </p:sp>
      <p:sp>
        <p:nvSpPr>
          <p:cNvPr id="502" name="Google Shape;502;p47"/>
          <p:cNvSpPr txBox="1"/>
          <p:nvPr/>
        </p:nvSpPr>
        <p:spPr>
          <a:xfrm>
            <a:off x="772155" y="511475"/>
            <a:ext cx="12816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Snowflake</a:t>
            </a:r>
            <a:endParaRPr sz="1200">
              <a:solidFill>
                <a:srgbClr val="FFFFFF"/>
              </a:solidFill>
            </a:endParaRPr>
          </a:p>
        </p:txBody>
      </p:sp>
      <p:sp>
        <p:nvSpPr>
          <p:cNvPr id="503" name="Google Shape;503;p47"/>
          <p:cNvSpPr txBox="1"/>
          <p:nvPr/>
        </p:nvSpPr>
        <p:spPr>
          <a:xfrm>
            <a:off x="6615977" y="556165"/>
            <a:ext cx="11733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GCP Services</a:t>
            </a:r>
            <a:endParaRPr sz="1200">
              <a:solidFill>
                <a:srgbClr val="FFFFFF"/>
              </a:solidFill>
            </a:endParaRPr>
          </a:p>
        </p:txBody>
      </p:sp>
      <p:grpSp>
        <p:nvGrpSpPr>
          <p:cNvPr id="504" name="Google Shape;504;p47"/>
          <p:cNvGrpSpPr/>
          <p:nvPr/>
        </p:nvGrpSpPr>
        <p:grpSpPr>
          <a:xfrm>
            <a:off x="457196" y="1722648"/>
            <a:ext cx="771600" cy="734404"/>
            <a:chOff x="1697475" y="987946"/>
            <a:chExt cx="771600" cy="734404"/>
          </a:xfrm>
        </p:grpSpPr>
        <p:sp>
          <p:nvSpPr>
            <p:cNvPr id="505" name="Google Shape;505;p47"/>
            <p:cNvSpPr txBox="1"/>
            <p:nvPr/>
          </p:nvSpPr>
          <p:spPr>
            <a:xfrm>
              <a:off x="1697475" y="1445150"/>
              <a:ext cx="771600" cy="277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latin typeface="Arial"/>
                  <a:ea typeface="Arial"/>
                  <a:cs typeface="Arial"/>
                  <a:sym typeface="Arial"/>
                </a:rPr>
                <a:t>Native App</a:t>
              </a:r>
              <a:br>
                <a:rPr lang="en" sz="1000">
                  <a:solidFill>
                    <a:srgbClr val="105780"/>
                  </a:solidFill>
                  <a:latin typeface="Arial"/>
                  <a:ea typeface="Arial"/>
                  <a:cs typeface="Arial"/>
                  <a:sym typeface="Arial"/>
                </a:rPr>
              </a:br>
              <a:r>
                <a:rPr lang="en" sz="1000">
                  <a:solidFill>
                    <a:srgbClr val="105780"/>
                  </a:solidFill>
                  <a:latin typeface="Arial"/>
                  <a:ea typeface="Arial"/>
                  <a:cs typeface="Arial"/>
                  <a:sym typeface="Arial"/>
                </a:rPr>
                <a:t>/ SPCS</a:t>
              </a:r>
              <a:endParaRPr sz="1000">
                <a:solidFill>
                  <a:srgbClr val="105780"/>
                </a:solidFill>
                <a:latin typeface="Arial"/>
                <a:ea typeface="Arial"/>
                <a:cs typeface="Arial"/>
                <a:sym typeface="Arial"/>
              </a:endParaRPr>
            </a:p>
          </p:txBody>
        </p:sp>
        <p:pic>
          <p:nvPicPr>
            <p:cNvPr id="506" name="Google Shape;506;p47"/>
            <p:cNvPicPr preferRelativeResize="0"/>
            <p:nvPr/>
          </p:nvPicPr>
          <p:blipFill rotWithShape="1">
            <a:blip r:embed="rId6">
              <a:alphaModFix/>
            </a:blip>
            <a:srcRect b="0" l="0" r="0" t="0"/>
            <a:stretch/>
          </p:blipFill>
          <p:spPr>
            <a:xfrm>
              <a:off x="1854667" y="987946"/>
              <a:ext cx="457200" cy="457200"/>
            </a:xfrm>
            <a:prstGeom prst="rect">
              <a:avLst/>
            </a:prstGeom>
            <a:noFill/>
            <a:ln>
              <a:noFill/>
            </a:ln>
          </p:spPr>
        </p:pic>
      </p:grpSp>
      <p:grpSp>
        <p:nvGrpSpPr>
          <p:cNvPr id="507" name="Google Shape;507;p47"/>
          <p:cNvGrpSpPr/>
          <p:nvPr/>
        </p:nvGrpSpPr>
        <p:grpSpPr>
          <a:xfrm>
            <a:off x="8013968" y="1085186"/>
            <a:ext cx="879300" cy="866775"/>
            <a:chOff x="3394243" y="1825875"/>
            <a:chExt cx="879300" cy="866775"/>
          </a:xfrm>
        </p:grpSpPr>
        <p:sp>
          <p:nvSpPr>
            <p:cNvPr id="508" name="Google Shape;508;p47"/>
            <p:cNvSpPr txBox="1"/>
            <p:nvPr/>
          </p:nvSpPr>
          <p:spPr>
            <a:xfrm>
              <a:off x="3394243" y="2292450"/>
              <a:ext cx="879300" cy="400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Vertex AI</a:t>
              </a:r>
              <a:br>
                <a:rPr lang="en" sz="1000">
                  <a:solidFill>
                    <a:schemeClr val="dk1"/>
                  </a:solidFill>
                </a:rPr>
              </a:br>
              <a:r>
                <a:rPr lang="en" sz="800">
                  <a:solidFill>
                    <a:schemeClr val="dk1"/>
                  </a:solidFill>
                </a:rPr>
                <a:t>Training</a:t>
              </a:r>
              <a:endParaRPr sz="800">
                <a:solidFill>
                  <a:schemeClr val="dk1"/>
                </a:solidFill>
              </a:endParaRPr>
            </a:p>
            <a:p>
              <a:pPr indent="0" lvl="0" marL="0" rtl="0" algn="ctr">
                <a:spcBef>
                  <a:spcPts val="0"/>
                </a:spcBef>
                <a:spcAft>
                  <a:spcPts val="0"/>
                </a:spcAft>
                <a:buNone/>
              </a:pPr>
              <a:r>
                <a:rPr lang="en" sz="800">
                  <a:solidFill>
                    <a:schemeClr val="dk1"/>
                  </a:solidFill>
                </a:rPr>
                <a:t>Feature Store </a:t>
              </a:r>
              <a:endParaRPr sz="800">
                <a:solidFill>
                  <a:schemeClr val="dk1"/>
                </a:solidFill>
              </a:endParaRPr>
            </a:p>
          </p:txBody>
        </p:sp>
        <p:pic>
          <p:nvPicPr>
            <p:cNvPr id="509" name="Google Shape;509;p47" title="VertexAI-512-color.png"/>
            <p:cNvPicPr preferRelativeResize="0"/>
            <p:nvPr/>
          </p:nvPicPr>
          <p:blipFill>
            <a:blip r:embed="rId7">
              <a:alphaModFix/>
            </a:blip>
            <a:stretch>
              <a:fillRect/>
            </a:stretch>
          </p:blipFill>
          <p:spPr>
            <a:xfrm>
              <a:off x="3605288" y="1825875"/>
              <a:ext cx="457201" cy="457201"/>
            </a:xfrm>
            <a:prstGeom prst="rect">
              <a:avLst/>
            </a:prstGeom>
            <a:noFill/>
            <a:ln>
              <a:noFill/>
            </a:ln>
          </p:spPr>
        </p:pic>
      </p:grpSp>
      <p:grpSp>
        <p:nvGrpSpPr>
          <p:cNvPr id="510" name="Google Shape;510;p47"/>
          <p:cNvGrpSpPr/>
          <p:nvPr/>
        </p:nvGrpSpPr>
        <p:grpSpPr>
          <a:xfrm>
            <a:off x="8013968" y="2064769"/>
            <a:ext cx="879300" cy="596150"/>
            <a:chOff x="152400" y="1637725"/>
            <a:chExt cx="879300" cy="596150"/>
          </a:xfrm>
        </p:grpSpPr>
        <p:pic>
          <p:nvPicPr>
            <p:cNvPr id="511" name="Google Shape;511;p47" title="CloudRun-512-color-rgb.png"/>
            <p:cNvPicPr preferRelativeResize="0"/>
            <p:nvPr/>
          </p:nvPicPr>
          <p:blipFill>
            <a:blip r:embed="rId8">
              <a:alphaModFix/>
            </a:blip>
            <a:stretch>
              <a:fillRect/>
            </a:stretch>
          </p:blipFill>
          <p:spPr>
            <a:xfrm>
              <a:off x="363450" y="1637725"/>
              <a:ext cx="457199" cy="457199"/>
            </a:xfrm>
            <a:prstGeom prst="rect">
              <a:avLst/>
            </a:prstGeom>
            <a:noFill/>
            <a:ln>
              <a:noFill/>
            </a:ln>
          </p:spPr>
        </p:pic>
        <p:sp>
          <p:nvSpPr>
            <p:cNvPr id="512" name="Google Shape;512;p47"/>
            <p:cNvSpPr txBox="1"/>
            <p:nvPr/>
          </p:nvSpPr>
          <p:spPr>
            <a:xfrm>
              <a:off x="152400" y="2079975"/>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API Servers</a:t>
              </a:r>
              <a:endParaRPr sz="1000">
                <a:solidFill>
                  <a:schemeClr val="dk1"/>
                </a:solidFill>
              </a:endParaRPr>
            </a:p>
          </p:txBody>
        </p:sp>
      </p:grpSp>
      <p:cxnSp>
        <p:nvCxnSpPr>
          <p:cNvPr id="513" name="Google Shape;513;p47"/>
          <p:cNvCxnSpPr>
            <a:stCxn id="496" idx="3"/>
            <a:endCxn id="500" idx="1"/>
          </p:cNvCxnSpPr>
          <p:nvPr/>
        </p:nvCxnSpPr>
        <p:spPr>
          <a:xfrm>
            <a:off x="4518033" y="1019832"/>
            <a:ext cx="2142000" cy="530700"/>
          </a:xfrm>
          <a:prstGeom prst="bentConnector3">
            <a:avLst>
              <a:gd fmla="val 50001" name="adj1"/>
            </a:avLst>
          </a:prstGeom>
          <a:noFill/>
          <a:ln cap="flat" cmpd="sng" w="9525">
            <a:solidFill>
              <a:schemeClr val="dk2"/>
            </a:solidFill>
            <a:prstDash val="solid"/>
            <a:round/>
            <a:headEnd len="med" w="med" type="none"/>
            <a:tailEnd len="med" w="med" type="triangle"/>
          </a:ln>
        </p:spPr>
      </p:cxnSp>
      <p:grpSp>
        <p:nvGrpSpPr>
          <p:cNvPr id="514" name="Google Shape;514;p47"/>
          <p:cNvGrpSpPr/>
          <p:nvPr/>
        </p:nvGrpSpPr>
        <p:grpSpPr>
          <a:xfrm>
            <a:off x="3871327" y="1873101"/>
            <a:ext cx="924730" cy="630312"/>
            <a:chOff x="4864858" y="1829139"/>
            <a:chExt cx="924730" cy="630312"/>
          </a:xfrm>
        </p:grpSpPr>
        <p:grpSp>
          <p:nvGrpSpPr>
            <p:cNvPr id="515" name="Google Shape;515;p47"/>
            <p:cNvGrpSpPr/>
            <p:nvPr/>
          </p:nvGrpSpPr>
          <p:grpSpPr>
            <a:xfrm>
              <a:off x="4910288" y="1837936"/>
              <a:ext cx="879300" cy="621515"/>
              <a:chOff x="5033899" y="2444455"/>
              <a:chExt cx="879300" cy="621515"/>
            </a:xfrm>
          </p:grpSpPr>
          <p:grpSp>
            <p:nvGrpSpPr>
              <p:cNvPr id="516" name="Google Shape;516;p47"/>
              <p:cNvGrpSpPr/>
              <p:nvPr/>
            </p:nvGrpSpPr>
            <p:grpSpPr>
              <a:xfrm>
                <a:off x="5417333" y="2444455"/>
                <a:ext cx="486292" cy="457206"/>
                <a:chOff x="345049" y="1086515"/>
                <a:chExt cx="3135348" cy="2970796"/>
              </a:xfrm>
            </p:grpSpPr>
            <p:sp>
              <p:nvSpPr>
                <p:cNvPr id="517" name="Google Shape;517;p47"/>
                <p:cNvSpPr/>
                <p:nvPr/>
              </p:nvSpPr>
              <p:spPr>
                <a:xfrm>
                  <a:off x="345049" y="1086515"/>
                  <a:ext cx="2431159" cy="2431159"/>
                </a:xfrm>
                <a:custGeom>
                  <a:rect b="b" l="l" r="r" t="t"/>
                  <a:pathLst>
                    <a:path extrusionOk="0" h="2431159" w="2431159">
                      <a:moveTo>
                        <a:pt x="1370278" y="2431160"/>
                      </a:moveTo>
                      <a:lnTo>
                        <a:pt x="302499" y="2431160"/>
                      </a:lnTo>
                      <a:cubicBezTo>
                        <a:pt x="135648" y="2431160"/>
                        <a:pt x="0" y="2295511"/>
                        <a:pt x="0" y="2128660"/>
                      </a:cubicBezTo>
                      <a:lnTo>
                        <a:pt x="0" y="302499"/>
                      </a:lnTo>
                      <a:cubicBezTo>
                        <a:pt x="0" y="135648"/>
                        <a:pt x="135648" y="0"/>
                        <a:pt x="302499" y="0"/>
                      </a:cubicBezTo>
                      <a:lnTo>
                        <a:pt x="2128661" y="0"/>
                      </a:lnTo>
                      <a:cubicBezTo>
                        <a:pt x="2295511" y="0"/>
                        <a:pt x="2431160" y="135648"/>
                        <a:pt x="2431160" y="302499"/>
                      </a:cubicBezTo>
                      <a:lnTo>
                        <a:pt x="2431160" y="973843"/>
                      </a:lnTo>
                      <a:cubicBezTo>
                        <a:pt x="2431160" y="1018184"/>
                        <a:pt x="2395359" y="1054313"/>
                        <a:pt x="2350690" y="1054313"/>
                      </a:cubicBezTo>
                      <a:cubicBezTo>
                        <a:pt x="2306350" y="1054313"/>
                        <a:pt x="2270221" y="1018184"/>
                        <a:pt x="2270221" y="973843"/>
                      </a:cubicBezTo>
                      <a:lnTo>
                        <a:pt x="2270221" y="302171"/>
                      </a:lnTo>
                      <a:cubicBezTo>
                        <a:pt x="2270221" y="224000"/>
                        <a:pt x="2206502" y="160282"/>
                        <a:pt x="2128332" y="160282"/>
                      </a:cubicBezTo>
                      <a:lnTo>
                        <a:pt x="302171" y="160282"/>
                      </a:lnTo>
                      <a:cubicBezTo>
                        <a:pt x="224000" y="160282"/>
                        <a:pt x="160282" y="224000"/>
                        <a:pt x="160282" y="302171"/>
                      </a:cubicBezTo>
                      <a:lnTo>
                        <a:pt x="160282" y="2128332"/>
                      </a:lnTo>
                      <a:cubicBezTo>
                        <a:pt x="160282" y="2206502"/>
                        <a:pt x="224000" y="2270221"/>
                        <a:pt x="302171" y="2270221"/>
                      </a:cubicBezTo>
                      <a:lnTo>
                        <a:pt x="1369950" y="2270221"/>
                      </a:lnTo>
                      <a:cubicBezTo>
                        <a:pt x="1414290" y="2270221"/>
                        <a:pt x="1450419" y="2306350"/>
                        <a:pt x="1450419" y="2350690"/>
                      </a:cubicBezTo>
                      <a:cubicBezTo>
                        <a:pt x="1450747" y="2395030"/>
                        <a:pt x="1414618" y="2431160"/>
                        <a:pt x="1370278" y="2431160"/>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18" name="Google Shape;518;p47"/>
                <p:cNvSpPr/>
                <p:nvPr/>
              </p:nvSpPr>
              <p:spPr>
                <a:xfrm>
                  <a:off x="1507092" y="2952090"/>
                  <a:ext cx="1973305" cy="107073"/>
                </a:xfrm>
                <a:custGeom>
                  <a:rect b="b" l="l" r="r" t="t"/>
                  <a:pathLst>
                    <a:path extrusionOk="0" h="107073" w="1973305">
                      <a:moveTo>
                        <a:pt x="1919769" y="107073"/>
                      </a:moveTo>
                      <a:lnTo>
                        <a:pt x="53537" y="107073"/>
                      </a:lnTo>
                      <a:cubicBezTo>
                        <a:pt x="23977" y="107073"/>
                        <a:pt x="0" y="83097"/>
                        <a:pt x="0" y="53537"/>
                      </a:cubicBezTo>
                      <a:cubicBezTo>
                        <a:pt x="0" y="23977"/>
                        <a:pt x="23977" y="0"/>
                        <a:pt x="53537" y="0"/>
                      </a:cubicBezTo>
                      <a:lnTo>
                        <a:pt x="1919769" y="0"/>
                      </a:lnTo>
                      <a:cubicBezTo>
                        <a:pt x="1949329" y="0"/>
                        <a:pt x="1973305" y="23977"/>
                        <a:pt x="1973305" y="53537"/>
                      </a:cubicBezTo>
                      <a:cubicBezTo>
                        <a:pt x="1973305" y="83097"/>
                        <a:pt x="1949329" y="107073"/>
                        <a:pt x="1919769" y="107073"/>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19" name="Google Shape;519;p47"/>
                <p:cNvSpPr/>
                <p:nvPr/>
              </p:nvSpPr>
              <p:spPr>
                <a:xfrm>
                  <a:off x="1802422" y="2188406"/>
                  <a:ext cx="1396425" cy="833072"/>
                </a:xfrm>
                <a:custGeom>
                  <a:rect b="b" l="l" r="r" t="t"/>
                  <a:pathLst>
                    <a:path extrusionOk="0" h="833072" w="1396425">
                      <a:moveTo>
                        <a:pt x="1342631" y="832985"/>
                      </a:moveTo>
                      <a:cubicBezTo>
                        <a:pt x="1324238" y="832985"/>
                        <a:pt x="1306174" y="823461"/>
                        <a:pt x="1296321" y="806053"/>
                      </a:cubicBezTo>
                      <a:lnTo>
                        <a:pt x="1113705" y="490088"/>
                      </a:lnTo>
                      <a:lnTo>
                        <a:pt x="958349" y="469724"/>
                      </a:lnTo>
                      <a:cubicBezTo>
                        <a:pt x="942912" y="467753"/>
                        <a:pt x="928789" y="458885"/>
                        <a:pt x="920250" y="445747"/>
                      </a:cubicBezTo>
                      <a:lnTo>
                        <a:pt x="722196" y="138650"/>
                      </a:lnTo>
                      <a:lnTo>
                        <a:pt x="558302" y="302545"/>
                      </a:lnTo>
                      <a:lnTo>
                        <a:pt x="476519" y="539026"/>
                      </a:lnTo>
                      <a:cubicBezTo>
                        <a:pt x="470935" y="554792"/>
                        <a:pt x="458454" y="567272"/>
                        <a:pt x="442360" y="572528"/>
                      </a:cubicBezTo>
                      <a:lnTo>
                        <a:pt x="206864" y="648070"/>
                      </a:lnTo>
                      <a:lnTo>
                        <a:pt x="97820" y="809337"/>
                      </a:lnTo>
                      <a:cubicBezTo>
                        <a:pt x="81398" y="833971"/>
                        <a:pt x="47896" y="840540"/>
                        <a:pt x="23591" y="823789"/>
                      </a:cubicBezTo>
                      <a:cubicBezTo>
                        <a:pt x="-1042" y="807367"/>
                        <a:pt x="-7283" y="773865"/>
                        <a:pt x="9139" y="749560"/>
                      </a:cubicBezTo>
                      <a:lnTo>
                        <a:pt x="128365" y="572856"/>
                      </a:lnTo>
                      <a:cubicBezTo>
                        <a:pt x="134934" y="563003"/>
                        <a:pt x="145116" y="555448"/>
                        <a:pt x="156283" y="551836"/>
                      </a:cubicBezTo>
                      <a:lnTo>
                        <a:pt x="383897" y="478920"/>
                      </a:lnTo>
                      <a:lnTo>
                        <a:pt x="461082" y="255905"/>
                      </a:lnTo>
                      <a:cubicBezTo>
                        <a:pt x="463709" y="248351"/>
                        <a:pt x="467979" y="241454"/>
                        <a:pt x="473891" y="235542"/>
                      </a:cubicBezTo>
                      <a:lnTo>
                        <a:pt x="693622" y="15811"/>
                      </a:lnTo>
                      <a:cubicBezTo>
                        <a:pt x="705117" y="4315"/>
                        <a:pt x="721211" y="-1597"/>
                        <a:pt x="737305" y="374"/>
                      </a:cubicBezTo>
                      <a:cubicBezTo>
                        <a:pt x="753399" y="2016"/>
                        <a:pt x="767850" y="10884"/>
                        <a:pt x="776719" y="24679"/>
                      </a:cubicBezTo>
                      <a:lnTo>
                        <a:pt x="997106" y="366592"/>
                      </a:lnTo>
                      <a:lnTo>
                        <a:pt x="1154103" y="387284"/>
                      </a:lnTo>
                      <a:cubicBezTo>
                        <a:pt x="1170526" y="389583"/>
                        <a:pt x="1185306" y="399108"/>
                        <a:pt x="1193517" y="413560"/>
                      </a:cubicBezTo>
                      <a:lnTo>
                        <a:pt x="1389271" y="752516"/>
                      </a:lnTo>
                      <a:cubicBezTo>
                        <a:pt x="1404051" y="778135"/>
                        <a:pt x="1395183" y="810980"/>
                        <a:pt x="1369564" y="825760"/>
                      </a:cubicBezTo>
                      <a:cubicBezTo>
                        <a:pt x="1361025" y="830686"/>
                        <a:pt x="1351828" y="832985"/>
                        <a:pt x="1342631" y="83298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20" name="Google Shape;520;p47"/>
                <p:cNvSpPr/>
                <p:nvPr/>
              </p:nvSpPr>
              <p:spPr>
                <a:xfrm>
                  <a:off x="1840945" y="3095959"/>
                  <a:ext cx="1291611" cy="961352"/>
                </a:xfrm>
                <a:custGeom>
                  <a:rect b="b" l="l" r="r" t="t"/>
                  <a:pathLst>
                    <a:path extrusionOk="0" h="961352" w="1291611">
                      <a:moveTo>
                        <a:pt x="769398" y="961352"/>
                      </a:moveTo>
                      <a:cubicBezTo>
                        <a:pt x="758560" y="961352"/>
                        <a:pt x="748049" y="958068"/>
                        <a:pt x="739181" y="951827"/>
                      </a:cubicBezTo>
                      <a:lnTo>
                        <a:pt x="447849" y="751475"/>
                      </a:lnTo>
                      <a:cubicBezTo>
                        <a:pt x="438324" y="744906"/>
                        <a:pt x="431098" y="735710"/>
                        <a:pt x="427486" y="724542"/>
                      </a:cubicBezTo>
                      <a:lnTo>
                        <a:pt x="309902" y="380659"/>
                      </a:lnTo>
                      <a:lnTo>
                        <a:pt x="98054" y="257163"/>
                      </a:lnTo>
                      <a:cubicBezTo>
                        <a:pt x="88529" y="251580"/>
                        <a:pt x="80975" y="243040"/>
                        <a:pt x="76376" y="233187"/>
                      </a:cubicBezTo>
                      <a:lnTo>
                        <a:pt x="4775" y="75861"/>
                      </a:lnTo>
                      <a:cubicBezTo>
                        <a:pt x="-7377" y="48928"/>
                        <a:pt x="4447" y="17069"/>
                        <a:pt x="31379" y="4917"/>
                      </a:cubicBezTo>
                      <a:cubicBezTo>
                        <a:pt x="58312" y="-7564"/>
                        <a:pt x="90171" y="4588"/>
                        <a:pt x="102324" y="31521"/>
                      </a:cubicBezTo>
                      <a:lnTo>
                        <a:pt x="167028" y="173409"/>
                      </a:lnTo>
                      <a:lnTo>
                        <a:pt x="381503" y="298548"/>
                      </a:lnTo>
                      <a:cubicBezTo>
                        <a:pt x="392670" y="305116"/>
                        <a:pt x="400881" y="315298"/>
                        <a:pt x="405151" y="327451"/>
                      </a:cubicBezTo>
                      <a:lnTo>
                        <a:pt x="523392" y="673633"/>
                      </a:lnTo>
                      <a:lnTo>
                        <a:pt x="745422" y="826689"/>
                      </a:lnTo>
                      <a:lnTo>
                        <a:pt x="896835" y="460800"/>
                      </a:lnTo>
                      <a:cubicBezTo>
                        <a:pt x="905047" y="440765"/>
                        <a:pt x="924753" y="427627"/>
                        <a:pt x="946431" y="427627"/>
                      </a:cubicBezTo>
                      <a:lnTo>
                        <a:pt x="1003252" y="427627"/>
                      </a:lnTo>
                      <a:lnTo>
                        <a:pt x="1189481" y="31192"/>
                      </a:lnTo>
                      <a:cubicBezTo>
                        <a:pt x="1201962" y="4259"/>
                        <a:pt x="1233821" y="-7236"/>
                        <a:pt x="1260754" y="5573"/>
                      </a:cubicBezTo>
                      <a:cubicBezTo>
                        <a:pt x="1287686" y="18054"/>
                        <a:pt x="1299182" y="49914"/>
                        <a:pt x="1286373" y="76846"/>
                      </a:cubicBezTo>
                      <a:lnTo>
                        <a:pt x="1085692" y="504155"/>
                      </a:lnTo>
                      <a:cubicBezTo>
                        <a:pt x="1076824" y="522876"/>
                        <a:pt x="1058102" y="535029"/>
                        <a:pt x="1037082" y="535029"/>
                      </a:cubicBezTo>
                      <a:lnTo>
                        <a:pt x="982231" y="535029"/>
                      </a:lnTo>
                      <a:lnTo>
                        <a:pt x="819322" y="929164"/>
                      </a:lnTo>
                      <a:cubicBezTo>
                        <a:pt x="813082" y="944273"/>
                        <a:pt x="800601" y="955440"/>
                        <a:pt x="785164" y="960038"/>
                      </a:cubicBezTo>
                      <a:cubicBezTo>
                        <a:pt x="779580" y="960695"/>
                        <a:pt x="774653" y="961352"/>
                        <a:pt x="769398" y="961352"/>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21" name="Google Shape;521;p47"/>
                <p:cNvSpPr/>
                <p:nvPr/>
              </p:nvSpPr>
              <p:spPr>
                <a:xfrm>
                  <a:off x="2453555" y="2246797"/>
                  <a:ext cx="388683" cy="774595"/>
                </a:xfrm>
                <a:custGeom>
                  <a:rect b="b" l="l" r="r" t="t"/>
                  <a:pathLst>
                    <a:path extrusionOk="0" h="774595" w="388683">
                      <a:moveTo>
                        <a:pt x="334806" y="774595"/>
                      </a:moveTo>
                      <a:cubicBezTo>
                        <a:pt x="316413" y="774595"/>
                        <a:pt x="298349" y="765070"/>
                        <a:pt x="288495" y="747991"/>
                      </a:cubicBezTo>
                      <a:lnTo>
                        <a:pt x="216565" y="624495"/>
                      </a:lnTo>
                      <a:lnTo>
                        <a:pt x="56284" y="321011"/>
                      </a:lnTo>
                      <a:cubicBezTo>
                        <a:pt x="53985" y="316413"/>
                        <a:pt x="52342" y="311814"/>
                        <a:pt x="51357" y="306888"/>
                      </a:cubicBezTo>
                      <a:lnTo>
                        <a:pt x="1105" y="64494"/>
                      </a:lnTo>
                      <a:cubicBezTo>
                        <a:pt x="-4807" y="35591"/>
                        <a:pt x="13586" y="7345"/>
                        <a:pt x="42489" y="1104"/>
                      </a:cubicBezTo>
                      <a:cubicBezTo>
                        <a:pt x="71392" y="-4808"/>
                        <a:pt x="99639" y="13585"/>
                        <a:pt x="105879" y="42817"/>
                      </a:cubicBezTo>
                      <a:lnTo>
                        <a:pt x="154818" y="277984"/>
                      </a:lnTo>
                      <a:lnTo>
                        <a:pt x="310501" y="572601"/>
                      </a:lnTo>
                      <a:lnTo>
                        <a:pt x="381446" y="694126"/>
                      </a:lnTo>
                      <a:cubicBezTo>
                        <a:pt x="396226" y="719745"/>
                        <a:pt x="387686" y="752261"/>
                        <a:pt x="362067" y="767369"/>
                      </a:cubicBezTo>
                      <a:cubicBezTo>
                        <a:pt x="353199" y="771968"/>
                        <a:pt x="344003" y="774595"/>
                        <a:pt x="334806" y="77459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22" name="Google Shape;522;p47"/>
                <p:cNvSpPr/>
                <p:nvPr/>
              </p:nvSpPr>
              <p:spPr>
                <a:xfrm>
                  <a:off x="1303127"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942" y="106745"/>
                      </a:moveTo>
                      <a:cubicBezTo>
                        <a:pt x="111015" y="106745"/>
                        <a:pt x="107074" y="110686"/>
                        <a:pt x="107074" y="115613"/>
                      </a:cubicBezTo>
                      <a:lnTo>
                        <a:pt x="107074" y="398734"/>
                      </a:lnTo>
                      <a:cubicBezTo>
                        <a:pt x="107074" y="403661"/>
                        <a:pt x="111015" y="407602"/>
                        <a:pt x="115942" y="407602"/>
                      </a:cubicBezTo>
                      <a:lnTo>
                        <a:pt x="399062" y="407602"/>
                      </a:lnTo>
                      <a:cubicBezTo>
                        <a:pt x="403989" y="407602"/>
                        <a:pt x="407930" y="403661"/>
                        <a:pt x="407930" y="398734"/>
                      </a:cubicBezTo>
                      <a:lnTo>
                        <a:pt x="407930" y="115613"/>
                      </a:lnTo>
                      <a:cubicBezTo>
                        <a:pt x="407930" y="110686"/>
                        <a:pt x="403989" y="106745"/>
                        <a:pt x="399062" y="106745"/>
                      </a:cubicBezTo>
                      <a:lnTo>
                        <a:pt x="115942"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23" name="Google Shape;523;p47"/>
                <p:cNvSpPr/>
                <p:nvPr/>
              </p:nvSpPr>
              <p:spPr>
                <a:xfrm>
                  <a:off x="1303127"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942" y="107073"/>
                      </a:moveTo>
                      <a:cubicBezTo>
                        <a:pt x="111015" y="107073"/>
                        <a:pt x="107074" y="111015"/>
                        <a:pt x="107074" y="115942"/>
                      </a:cubicBezTo>
                      <a:lnTo>
                        <a:pt x="107074" y="399062"/>
                      </a:lnTo>
                      <a:cubicBezTo>
                        <a:pt x="107074" y="403989"/>
                        <a:pt x="111015" y="407930"/>
                        <a:pt x="115942" y="407930"/>
                      </a:cubicBezTo>
                      <a:lnTo>
                        <a:pt x="399062" y="407930"/>
                      </a:lnTo>
                      <a:cubicBezTo>
                        <a:pt x="403989" y="407930"/>
                        <a:pt x="407930" y="403989"/>
                        <a:pt x="407930" y="399062"/>
                      </a:cubicBezTo>
                      <a:lnTo>
                        <a:pt x="407930" y="115942"/>
                      </a:lnTo>
                      <a:cubicBezTo>
                        <a:pt x="407930" y="111015"/>
                        <a:pt x="403989" y="107073"/>
                        <a:pt x="399062" y="107073"/>
                      </a:cubicBezTo>
                      <a:lnTo>
                        <a:pt x="115942"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24" name="Google Shape;524;p47"/>
                <p:cNvSpPr/>
                <p:nvPr/>
              </p:nvSpPr>
              <p:spPr>
                <a:xfrm>
                  <a:off x="1920934"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2781"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25" name="Google Shape;525;p47"/>
                <p:cNvSpPr/>
                <p:nvPr/>
              </p:nvSpPr>
              <p:spPr>
                <a:xfrm>
                  <a:off x="685648"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26" name="Google Shape;526;p47"/>
                <p:cNvSpPr/>
                <p:nvPr/>
              </p:nvSpPr>
              <p:spPr>
                <a:xfrm>
                  <a:off x="685648"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527" name="Google Shape;527;p47"/>
                <p:cNvSpPr/>
                <p:nvPr/>
              </p:nvSpPr>
              <p:spPr>
                <a:xfrm>
                  <a:off x="685648" y="2659773"/>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grpSp>
          <p:sp>
            <p:nvSpPr>
              <p:cNvPr id="528" name="Google Shape;528;p47"/>
              <p:cNvSpPr txBox="1"/>
              <p:nvPr/>
            </p:nvSpPr>
            <p:spPr>
              <a:xfrm>
                <a:off x="5033899" y="2927370"/>
                <a:ext cx="879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latin typeface="Arial"/>
                    <a:ea typeface="Arial"/>
                    <a:cs typeface="Arial"/>
                    <a:sym typeface="Arial"/>
                  </a:rPr>
                  <a:t>Iceberg Tables</a:t>
                </a:r>
                <a:endParaRPr sz="1000">
                  <a:solidFill>
                    <a:srgbClr val="105780"/>
                  </a:solidFill>
                  <a:latin typeface="Arial"/>
                  <a:ea typeface="Arial"/>
                  <a:cs typeface="Arial"/>
                  <a:sym typeface="Arial"/>
                </a:endParaRPr>
              </a:p>
            </p:txBody>
          </p:sp>
        </p:grpSp>
        <p:grpSp>
          <p:nvGrpSpPr>
            <p:cNvPr id="529" name="Google Shape;529;p47"/>
            <p:cNvGrpSpPr/>
            <p:nvPr/>
          </p:nvGrpSpPr>
          <p:grpSpPr>
            <a:xfrm>
              <a:off x="4864858" y="1829139"/>
              <a:ext cx="368765" cy="381908"/>
              <a:chOff x="1714900" y="552700"/>
              <a:chExt cx="4353775" cy="4508950"/>
            </a:xfrm>
          </p:grpSpPr>
          <p:sp>
            <p:nvSpPr>
              <p:cNvPr id="530" name="Google Shape;530;p47"/>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531" name="Google Shape;531;p47"/>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
                  <a:buFont typeface="Arial"/>
                  <a:buNone/>
                </a:pPr>
                <a:r>
                  <a:rPr b="1" lang="en" sz="400">
                    <a:solidFill>
                      <a:srgbClr val="FFFFFF"/>
                    </a:solidFill>
                    <a:latin typeface="Arial"/>
                    <a:ea typeface="Arial"/>
                    <a:cs typeface="Arial"/>
                    <a:sym typeface="Arial"/>
                  </a:rPr>
                  <a:t>PARQUET</a:t>
                </a:r>
                <a:endParaRPr sz="1000">
                  <a:solidFill>
                    <a:srgbClr val="252525"/>
                  </a:solidFill>
                  <a:latin typeface="Arial"/>
                  <a:ea typeface="Arial"/>
                  <a:cs typeface="Arial"/>
                  <a:sym typeface="Arial"/>
                </a:endParaRPr>
              </a:p>
            </p:txBody>
          </p:sp>
        </p:grpSp>
      </p:grpSp>
      <p:cxnSp>
        <p:nvCxnSpPr>
          <p:cNvPr id="532" name="Google Shape;532;p47"/>
          <p:cNvCxnSpPr>
            <a:endCxn id="500" idx="1"/>
          </p:cNvCxnSpPr>
          <p:nvPr/>
        </p:nvCxnSpPr>
        <p:spPr>
          <a:xfrm flipH="1" rot="10800000">
            <a:off x="4712679" y="1550430"/>
            <a:ext cx="1947300" cy="436500"/>
          </a:xfrm>
          <a:prstGeom prst="bentConnector3">
            <a:avLst>
              <a:gd fmla="val 45151" name="adj1"/>
            </a:avLst>
          </a:prstGeom>
          <a:noFill/>
          <a:ln cap="flat" cmpd="sng" w="9525">
            <a:solidFill>
              <a:schemeClr val="dk2"/>
            </a:solidFill>
            <a:prstDash val="solid"/>
            <a:round/>
            <a:headEnd len="med" w="med" type="none"/>
            <a:tailEnd len="med" w="med" type="triangle"/>
          </a:ln>
        </p:spPr>
      </p:cxnSp>
      <p:grpSp>
        <p:nvGrpSpPr>
          <p:cNvPr id="533" name="Google Shape;533;p47"/>
          <p:cNvGrpSpPr/>
          <p:nvPr/>
        </p:nvGrpSpPr>
        <p:grpSpPr>
          <a:xfrm>
            <a:off x="5877628" y="1075781"/>
            <a:ext cx="667793" cy="457047"/>
            <a:chOff x="5834002" y="3598367"/>
            <a:chExt cx="667793" cy="457047"/>
          </a:xfrm>
        </p:grpSpPr>
        <p:sp>
          <p:nvSpPr>
            <p:cNvPr id="534" name="Google Shape;534;p47"/>
            <p:cNvSpPr/>
            <p:nvPr/>
          </p:nvSpPr>
          <p:spPr>
            <a:xfrm>
              <a:off x="5834002" y="3922190"/>
              <a:ext cx="667793" cy="133225"/>
            </a:xfrm>
            <a:custGeom>
              <a:rect b="b" l="l" r="r" t="t"/>
              <a:pathLst>
                <a:path extrusionOk="0" h="62916" w="16140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lang="en" sz="1000">
                  <a:solidFill>
                    <a:schemeClr val="dk1"/>
                  </a:solidFill>
                </a:rPr>
                <a:t>BigLake</a:t>
              </a:r>
              <a:endParaRPr sz="1000">
                <a:solidFill>
                  <a:schemeClr val="dk1"/>
                </a:solidFill>
              </a:endParaRPr>
            </a:p>
          </p:txBody>
        </p:sp>
        <p:sp>
          <p:nvSpPr>
            <p:cNvPr id="535" name="Google Shape;535;p47"/>
            <p:cNvSpPr/>
            <p:nvPr/>
          </p:nvSpPr>
          <p:spPr>
            <a:xfrm>
              <a:off x="5977742" y="3598367"/>
              <a:ext cx="322936" cy="270712"/>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cxnSp>
        <p:nvCxnSpPr>
          <p:cNvPr id="536" name="Google Shape;536;p47"/>
          <p:cNvCxnSpPr>
            <a:stCxn id="490" idx="3"/>
            <a:endCxn id="496" idx="1"/>
          </p:cNvCxnSpPr>
          <p:nvPr/>
        </p:nvCxnSpPr>
        <p:spPr>
          <a:xfrm>
            <a:off x="2531011" y="1018980"/>
            <a:ext cx="1529700" cy="900"/>
          </a:xfrm>
          <a:prstGeom prst="bentConnector3">
            <a:avLst>
              <a:gd fmla="val 50004" name="adj1"/>
            </a:avLst>
          </a:prstGeom>
          <a:noFill/>
          <a:ln cap="flat" cmpd="sng" w="9525">
            <a:solidFill>
              <a:schemeClr val="dk2"/>
            </a:solidFill>
            <a:prstDash val="solid"/>
            <a:round/>
            <a:headEnd len="med" w="med" type="none"/>
            <a:tailEnd len="med" w="med" type="triangle"/>
          </a:ln>
        </p:spPr>
      </p:cxnSp>
      <p:sp>
        <p:nvSpPr>
          <p:cNvPr id="537" name="Google Shape;537;p47"/>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000"/>
              <a:t>Recommended Architecture for Snowflake + GCP</a:t>
            </a:r>
            <a:endParaRPr sz="2000"/>
          </a:p>
        </p:txBody>
      </p:sp>
      <p:sp>
        <p:nvSpPr>
          <p:cNvPr id="538" name="Google Shape;538;p47"/>
          <p:cNvSpPr txBox="1"/>
          <p:nvPr/>
        </p:nvSpPr>
        <p:spPr>
          <a:xfrm>
            <a:off x="311350" y="3448414"/>
            <a:ext cx="8656500" cy="13611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1- Native App or SPCS executes standard DML for 1) Iceberg tables to push to BigLake or 2) SF internal tables. </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2- Horizon manages RDBC and Iceberg and sync Polaris.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3- BigLake serves as the unified access layer, connecting BigQuery securely to the Polaris-managed Iceberg metadata and the data files in GCS.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4- GCP analytics and AI services (e.g., Vertex AI training) consume the Iceberg tables by querying the integrated BigQuery/BigLake tables.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5- For Gold data layer tables, which granularity is crucial, use Snowflake Connectors to directly connect to Snowflake tables</a:t>
            </a:r>
            <a:endParaRPr sz="900">
              <a:latin typeface="Roboto"/>
              <a:ea typeface="Roboto"/>
              <a:cs typeface="Roboto"/>
              <a:sym typeface="Roboto"/>
            </a:endParaRPr>
          </a:p>
        </p:txBody>
      </p:sp>
      <p:sp>
        <p:nvSpPr>
          <p:cNvPr id="539" name="Google Shape;539;p47"/>
          <p:cNvSpPr/>
          <p:nvPr/>
        </p:nvSpPr>
        <p:spPr>
          <a:xfrm>
            <a:off x="2762419" y="1483522"/>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2</a:t>
            </a:r>
            <a:endParaRPr sz="1100"/>
          </a:p>
        </p:txBody>
      </p:sp>
      <p:sp>
        <p:nvSpPr>
          <p:cNvPr id="540" name="Google Shape;540;p47"/>
          <p:cNvSpPr/>
          <p:nvPr/>
        </p:nvSpPr>
        <p:spPr>
          <a:xfrm>
            <a:off x="5676031" y="1309381"/>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3</a:t>
            </a:r>
            <a:endParaRPr sz="1100"/>
          </a:p>
        </p:txBody>
      </p:sp>
      <p:sp>
        <p:nvSpPr>
          <p:cNvPr id="541" name="Google Shape;541;p47"/>
          <p:cNvSpPr/>
          <p:nvPr/>
        </p:nvSpPr>
        <p:spPr>
          <a:xfrm>
            <a:off x="7178893" y="1332406"/>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4</a:t>
            </a:r>
            <a:endParaRPr sz="1100"/>
          </a:p>
        </p:txBody>
      </p:sp>
      <p:cxnSp>
        <p:nvCxnSpPr>
          <p:cNvPr id="542" name="Google Shape;542;p47"/>
          <p:cNvCxnSpPr>
            <a:stCxn id="490" idx="1"/>
            <a:endCxn id="506" idx="0"/>
          </p:cNvCxnSpPr>
          <p:nvPr/>
        </p:nvCxnSpPr>
        <p:spPr>
          <a:xfrm flipH="1">
            <a:off x="842911" y="1018980"/>
            <a:ext cx="1230900" cy="703800"/>
          </a:xfrm>
          <a:prstGeom prst="straightConnector1">
            <a:avLst/>
          </a:prstGeom>
          <a:noFill/>
          <a:ln cap="flat" cmpd="sng" w="9525">
            <a:solidFill>
              <a:schemeClr val="dk2"/>
            </a:solidFill>
            <a:prstDash val="solid"/>
            <a:round/>
            <a:headEnd len="med" w="med" type="triangle"/>
            <a:tailEnd len="med" w="med" type="triangle"/>
          </a:ln>
        </p:spPr>
      </p:cxnSp>
      <p:cxnSp>
        <p:nvCxnSpPr>
          <p:cNvPr id="543" name="Google Shape;543;p47"/>
          <p:cNvCxnSpPr>
            <a:stCxn id="506" idx="3"/>
          </p:cNvCxnSpPr>
          <p:nvPr/>
        </p:nvCxnSpPr>
        <p:spPr>
          <a:xfrm>
            <a:off x="1071588" y="1951248"/>
            <a:ext cx="994500" cy="600"/>
          </a:xfrm>
          <a:prstGeom prst="straightConnector1">
            <a:avLst/>
          </a:prstGeom>
          <a:noFill/>
          <a:ln cap="flat" cmpd="sng" w="9525">
            <a:solidFill>
              <a:schemeClr val="dk2"/>
            </a:solidFill>
            <a:prstDash val="solid"/>
            <a:round/>
            <a:headEnd len="med" w="med" type="none"/>
            <a:tailEnd len="med" w="med" type="triangle"/>
          </a:ln>
        </p:spPr>
      </p:cxnSp>
      <p:grpSp>
        <p:nvGrpSpPr>
          <p:cNvPr id="544" name="Google Shape;544;p47"/>
          <p:cNvGrpSpPr/>
          <p:nvPr/>
        </p:nvGrpSpPr>
        <p:grpSpPr>
          <a:xfrm>
            <a:off x="8013966" y="2829777"/>
            <a:ext cx="879300" cy="620475"/>
            <a:chOff x="2313629" y="1825875"/>
            <a:chExt cx="879300" cy="620475"/>
          </a:xfrm>
        </p:grpSpPr>
        <p:sp>
          <p:nvSpPr>
            <p:cNvPr id="545" name="Google Shape;545;p47"/>
            <p:cNvSpPr txBox="1"/>
            <p:nvPr/>
          </p:nvSpPr>
          <p:spPr>
            <a:xfrm>
              <a:off x="2313629" y="2292450"/>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Looker</a:t>
              </a:r>
              <a:endParaRPr sz="1000">
                <a:solidFill>
                  <a:schemeClr val="dk1"/>
                </a:solidFill>
              </a:endParaRPr>
            </a:p>
          </p:txBody>
        </p:sp>
        <p:pic>
          <p:nvPicPr>
            <p:cNvPr id="546" name="Google Shape;546;p47" title="Looker-512-color.png"/>
            <p:cNvPicPr preferRelativeResize="0"/>
            <p:nvPr/>
          </p:nvPicPr>
          <p:blipFill>
            <a:blip r:embed="rId9">
              <a:alphaModFix/>
            </a:blip>
            <a:stretch>
              <a:fillRect/>
            </a:stretch>
          </p:blipFill>
          <p:spPr>
            <a:xfrm>
              <a:off x="2524688" y="1825875"/>
              <a:ext cx="457201" cy="457201"/>
            </a:xfrm>
            <a:prstGeom prst="rect">
              <a:avLst/>
            </a:prstGeom>
            <a:noFill/>
            <a:ln>
              <a:noFill/>
            </a:ln>
          </p:spPr>
        </p:pic>
      </p:grpSp>
      <p:grpSp>
        <p:nvGrpSpPr>
          <p:cNvPr id="547" name="Google Shape;547;p47"/>
          <p:cNvGrpSpPr/>
          <p:nvPr/>
        </p:nvGrpSpPr>
        <p:grpSpPr>
          <a:xfrm>
            <a:off x="6800630" y="2636903"/>
            <a:ext cx="800193" cy="417436"/>
            <a:chOff x="-811971" y="447825"/>
            <a:chExt cx="9447381" cy="4928405"/>
          </a:xfrm>
        </p:grpSpPr>
        <p:sp>
          <p:nvSpPr>
            <p:cNvPr id="548" name="Google Shape;548;p47"/>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000">
                <a:solidFill>
                  <a:srgbClr val="252525"/>
                </a:solidFill>
                <a:latin typeface="Arial"/>
                <a:ea typeface="Arial"/>
                <a:cs typeface="Arial"/>
                <a:sym typeface="Arial"/>
              </a:endParaRPr>
            </a:p>
          </p:txBody>
        </p:sp>
        <p:sp>
          <p:nvSpPr>
            <p:cNvPr id="549" name="Google Shape;549;p47"/>
            <p:cNvSpPr/>
            <p:nvPr/>
          </p:nvSpPr>
          <p:spPr>
            <a:xfrm>
              <a:off x="-811971" y="3908086"/>
              <a:ext cx="9447381" cy="1468145"/>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1000">
                  <a:solidFill>
                    <a:schemeClr val="dk1"/>
                  </a:solidFill>
                </a:rPr>
                <a:t>Connectors</a:t>
              </a:r>
              <a:endParaRPr sz="1000">
                <a:solidFill>
                  <a:schemeClr val="dk1"/>
                </a:solidFill>
              </a:endParaRPr>
            </a:p>
          </p:txBody>
        </p:sp>
      </p:grpSp>
      <p:grpSp>
        <p:nvGrpSpPr>
          <p:cNvPr id="550" name="Google Shape;550;p47"/>
          <p:cNvGrpSpPr/>
          <p:nvPr/>
        </p:nvGrpSpPr>
        <p:grpSpPr>
          <a:xfrm>
            <a:off x="1918775" y="2677960"/>
            <a:ext cx="800100" cy="754515"/>
            <a:chOff x="3358844" y="2210356"/>
            <a:chExt cx="800100" cy="754515"/>
          </a:xfrm>
        </p:grpSpPr>
        <p:sp>
          <p:nvSpPr>
            <p:cNvPr id="551" name="Google Shape;551;p47"/>
            <p:cNvSpPr/>
            <p:nvPr/>
          </p:nvSpPr>
          <p:spPr>
            <a:xfrm>
              <a:off x="3490654" y="2210356"/>
              <a:ext cx="457207" cy="457206"/>
            </a:xfrm>
            <a:custGeom>
              <a:rect b="b" l="l" r="r" t="t"/>
              <a:pathLst>
                <a:path extrusionOk="0" h="8448" w="7350">
                  <a:moveTo>
                    <a:pt x="3674" y="708"/>
                  </a:moveTo>
                  <a:cubicBezTo>
                    <a:pt x="5594" y="708"/>
                    <a:pt x="6641" y="1317"/>
                    <a:pt x="6641" y="1629"/>
                  </a:cubicBezTo>
                  <a:cubicBezTo>
                    <a:pt x="6641" y="1941"/>
                    <a:pt x="5594" y="2550"/>
                    <a:pt x="3674" y="2550"/>
                  </a:cubicBezTo>
                  <a:cubicBezTo>
                    <a:pt x="1756" y="2550"/>
                    <a:pt x="709" y="1941"/>
                    <a:pt x="709" y="1629"/>
                  </a:cubicBezTo>
                  <a:cubicBezTo>
                    <a:pt x="709" y="1317"/>
                    <a:pt x="1756" y="708"/>
                    <a:pt x="3674" y="708"/>
                  </a:cubicBezTo>
                  <a:close/>
                  <a:moveTo>
                    <a:pt x="6641" y="2628"/>
                  </a:moveTo>
                  <a:lnTo>
                    <a:pt x="6641" y="3360"/>
                  </a:lnTo>
                  <a:cubicBezTo>
                    <a:pt x="6641" y="3672"/>
                    <a:pt x="5594" y="4281"/>
                    <a:pt x="3674" y="4281"/>
                  </a:cubicBezTo>
                  <a:cubicBezTo>
                    <a:pt x="1756" y="4281"/>
                    <a:pt x="709" y="3672"/>
                    <a:pt x="709" y="3360"/>
                  </a:cubicBezTo>
                  <a:lnTo>
                    <a:pt x="709" y="2628"/>
                  </a:lnTo>
                  <a:cubicBezTo>
                    <a:pt x="1411" y="3044"/>
                    <a:pt x="2547" y="3258"/>
                    <a:pt x="3674" y="3258"/>
                  </a:cubicBezTo>
                  <a:cubicBezTo>
                    <a:pt x="4802" y="3258"/>
                    <a:pt x="5937" y="3044"/>
                    <a:pt x="6641" y="2628"/>
                  </a:cubicBezTo>
                  <a:close/>
                  <a:moveTo>
                    <a:pt x="6641" y="4361"/>
                  </a:moveTo>
                  <a:lnTo>
                    <a:pt x="6641" y="5086"/>
                  </a:lnTo>
                  <a:cubicBezTo>
                    <a:pt x="6641" y="5398"/>
                    <a:pt x="5594" y="6007"/>
                    <a:pt x="3674" y="6007"/>
                  </a:cubicBezTo>
                  <a:cubicBezTo>
                    <a:pt x="1756" y="6007"/>
                    <a:pt x="709" y="5398"/>
                    <a:pt x="709" y="5086"/>
                  </a:cubicBezTo>
                  <a:lnTo>
                    <a:pt x="709" y="4361"/>
                  </a:lnTo>
                  <a:cubicBezTo>
                    <a:pt x="1411" y="4777"/>
                    <a:pt x="2547" y="4989"/>
                    <a:pt x="3674" y="4989"/>
                  </a:cubicBezTo>
                  <a:cubicBezTo>
                    <a:pt x="4802" y="4989"/>
                    <a:pt x="5937" y="4777"/>
                    <a:pt x="6641" y="4361"/>
                  </a:cubicBezTo>
                  <a:close/>
                  <a:moveTo>
                    <a:pt x="6641" y="6087"/>
                  </a:moveTo>
                  <a:lnTo>
                    <a:pt x="6641" y="6819"/>
                  </a:lnTo>
                  <a:cubicBezTo>
                    <a:pt x="6641" y="7131"/>
                    <a:pt x="5594" y="7740"/>
                    <a:pt x="3674" y="7740"/>
                  </a:cubicBezTo>
                  <a:cubicBezTo>
                    <a:pt x="1756" y="7740"/>
                    <a:pt x="709" y="7131"/>
                    <a:pt x="709" y="6819"/>
                  </a:cubicBezTo>
                  <a:lnTo>
                    <a:pt x="709" y="6087"/>
                  </a:lnTo>
                  <a:cubicBezTo>
                    <a:pt x="1411" y="6503"/>
                    <a:pt x="2547" y="6716"/>
                    <a:pt x="3674" y="6716"/>
                  </a:cubicBezTo>
                  <a:cubicBezTo>
                    <a:pt x="4802" y="6716"/>
                    <a:pt x="5937" y="6503"/>
                    <a:pt x="6641" y="6087"/>
                  </a:cubicBezTo>
                  <a:close/>
                  <a:moveTo>
                    <a:pt x="3674" y="0"/>
                  </a:moveTo>
                  <a:cubicBezTo>
                    <a:pt x="1848" y="0"/>
                    <a:pt x="1" y="560"/>
                    <a:pt x="1" y="1630"/>
                  </a:cubicBezTo>
                  <a:lnTo>
                    <a:pt x="1" y="6819"/>
                  </a:lnTo>
                  <a:cubicBezTo>
                    <a:pt x="1" y="7888"/>
                    <a:pt x="1849" y="8448"/>
                    <a:pt x="3674" y="8448"/>
                  </a:cubicBezTo>
                  <a:cubicBezTo>
                    <a:pt x="5499" y="8448"/>
                    <a:pt x="7348" y="7890"/>
                    <a:pt x="7348" y="6819"/>
                  </a:cubicBezTo>
                  <a:lnTo>
                    <a:pt x="7348" y="1629"/>
                  </a:lnTo>
                  <a:cubicBezTo>
                    <a:pt x="7350" y="560"/>
                    <a:pt x="5501" y="0"/>
                    <a:pt x="3674" y="0"/>
                  </a:cubicBezTo>
                  <a:close/>
                </a:path>
              </a:pathLst>
            </a:custGeom>
            <a:solidFill>
              <a:srgbClr val="FF9600"/>
            </a:solidFill>
            <a:ln>
              <a:noFill/>
            </a:ln>
          </p:spPr>
          <p:txBody>
            <a:bodyPr anchorCtr="0" anchor="ctr" bIns="152650" lIns="152650" spcFirstLastPara="1" rIns="152650" wrap="square" tIns="152650">
              <a:noAutofit/>
            </a:bodyPr>
            <a:lstStyle/>
            <a:p>
              <a:pPr indent="0" lvl="0" marL="0" marR="0" rtl="0" algn="l">
                <a:lnSpc>
                  <a:spcPct val="100000"/>
                </a:lnSpc>
                <a:spcBef>
                  <a:spcPts val="0"/>
                </a:spcBef>
                <a:spcAft>
                  <a:spcPts val="0"/>
                </a:spcAft>
                <a:buClr>
                  <a:srgbClr val="252525"/>
                </a:buClr>
                <a:buSzPts val="3005"/>
                <a:buFont typeface="Arial"/>
                <a:buNone/>
              </a:pPr>
              <a:r>
                <a:t/>
              </a:r>
              <a:endParaRPr b="0" i="0" sz="3005" u="none" cap="none" strike="noStrike">
                <a:solidFill>
                  <a:srgbClr val="252525"/>
                </a:solidFill>
                <a:latin typeface="Arial"/>
                <a:ea typeface="Arial"/>
                <a:cs typeface="Arial"/>
                <a:sym typeface="Arial"/>
              </a:endParaRPr>
            </a:p>
          </p:txBody>
        </p:sp>
        <p:sp>
          <p:nvSpPr>
            <p:cNvPr id="552" name="Google Shape;552;p47"/>
            <p:cNvSpPr txBox="1"/>
            <p:nvPr/>
          </p:nvSpPr>
          <p:spPr>
            <a:xfrm>
              <a:off x="3358844" y="2715571"/>
              <a:ext cx="800100" cy="2493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rgbClr val="105780"/>
                  </a:solidFill>
                </a:rPr>
                <a:t>Native Tables</a:t>
              </a:r>
              <a:br>
                <a:rPr lang="en" sz="1000">
                  <a:solidFill>
                    <a:srgbClr val="105780"/>
                  </a:solidFill>
                </a:rPr>
              </a:br>
              <a:r>
                <a:rPr lang="en" sz="800">
                  <a:solidFill>
                    <a:srgbClr val="105780"/>
                  </a:solidFill>
                </a:rPr>
                <a:t>Gold </a:t>
              </a:r>
              <a:r>
                <a:rPr lang="en" sz="800">
                  <a:solidFill>
                    <a:srgbClr val="105780"/>
                  </a:solidFill>
                </a:rPr>
                <a:t>Data Layer</a:t>
              </a:r>
              <a:endParaRPr b="0" i="0" sz="800" u="none" cap="none" strike="noStrike">
                <a:solidFill>
                  <a:srgbClr val="105780"/>
                </a:solidFill>
                <a:latin typeface="Arial"/>
                <a:ea typeface="Arial"/>
                <a:cs typeface="Arial"/>
                <a:sym typeface="Arial"/>
              </a:endParaRPr>
            </a:p>
          </p:txBody>
        </p:sp>
      </p:grpSp>
      <p:cxnSp>
        <p:nvCxnSpPr>
          <p:cNvPr id="553" name="Google Shape;553;p47"/>
          <p:cNvCxnSpPr/>
          <p:nvPr/>
        </p:nvCxnSpPr>
        <p:spPr>
          <a:xfrm flipH="1" rot="10800000">
            <a:off x="2523400" y="2866471"/>
            <a:ext cx="4449000" cy="17400"/>
          </a:xfrm>
          <a:prstGeom prst="straightConnector1">
            <a:avLst/>
          </a:prstGeom>
          <a:noFill/>
          <a:ln cap="flat" cmpd="sng" w="9525">
            <a:solidFill>
              <a:schemeClr val="dk2"/>
            </a:solidFill>
            <a:prstDash val="solid"/>
            <a:round/>
            <a:headEnd len="med" w="med" type="triangle"/>
            <a:tailEnd len="med" w="med" type="triangle"/>
          </a:ln>
        </p:spPr>
      </p:cxnSp>
      <p:cxnSp>
        <p:nvCxnSpPr>
          <p:cNvPr id="554" name="Google Shape;554;p47"/>
          <p:cNvCxnSpPr>
            <a:stCxn id="505" idx="2"/>
          </p:cNvCxnSpPr>
          <p:nvPr/>
        </p:nvCxnSpPr>
        <p:spPr>
          <a:xfrm>
            <a:off x="842996" y="2457052"/>
            <a:ext cx="1205700" cy="409200"/>
          </a:xfrm>
          <a:prstGeom prst="straightConnector1">
            <a:avLst/>
          </a:prstGeom>
          <a:noFill/>
          <a:ln cap="flat" cmpd="sng" w="9525">
            <a:solidFill>
              <a:schemeClr val="dk2"/>
            </a:solidFill>
            <a:prstDash val="solid"/>
            <a:round/>
            <a:headEnd len="med" w="med" type="none"/>
            <a:tailEnd len="med" w="med" type="triangle"/>
          </a:ln>
        </p:spPr>
      </p:cxnSp>
      <p:cxnSp>
        <p:nvCxnSpPr>
          <p:cNvPr id="555" name="Google Shape;555;p47"/>
          <p:cNvCxnSpPr>
            <a:endCxn id="511" idx="1"/>
          </p:cNvCxnSpPr>
          <p:nvPr/>
        </p:nvCxnSpPr>
        <p:spPr>
          <a:xfrm flipH="1" rot="10800000">
            <a:off x="7359218" y="2293368"/>
            <a:ext cx="865800" cy="5553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556" name="Google Shape;556;p47"/>
          <p:cNvCxnSpPr>
            <a:endCxn id="546" idx="1"/>
          </p:cNvCxnSpPr>
          <p:nvPr/>
        </p:nvCxnSpPr>
        <p:spPr>
          <a:xfrm>
            <a:off x="7341525" y="2830978"/>
            <a:ext cx="883500" cy="2274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557" name="Google Shape;557;p47"/>
          <p:cNvSpPr/>
          <p:nvPr/>
        </p:nvSpPr>
        <p:spPr>
          <a:xfrm>
            <a:off x="2743418" y="2936617"/>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5</a:t>
            </a:r>
            <a:endParaRPr sz="1100"/>
          </a:p>
        </p:txBody>
      </p:sp>
      <p:cxnSp>
        <p:nvCxnSpPr>
          <p:cNvPr id="558" name="Google Shape;558;p47"/>
          <p:cNvCxnSpPr/>
          <p:nvPr/>
        </p:nvCxnSpPr>
        <p:spPr>
          <a:xfrm>
            <a:off x="2488225" y="1969488"/>
            <a:ext cx="1459500" cy="87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559" name="Google Shape;559;p47"/>
          <p:cNvCxnSpPr>
            <a:stCxn id="500" idx="3"/>
            <a:endCxn id="509" idx="2"/>
          </p:cNvCxnSpPr>
          <p:nvPr/>
        </p:nvCxnSpPr>
        <p:spPr>
          <a:xfrm flipH="1" rot="10800000">
            <a:off x="7117180" y="1542330"/>
            <a:ext cx="1336500" cy="8100"/>
          </a:xfrm>
          <a:prstGeom prst="straightConnector1">
            <a:avLst/>
          </a:prstGeom>
          <a:noFill/>
          <a:ln cap="flat" cmpd="sng" w="9525">
            <a:solidFill>
              <a:schemeClr val="dk2"/>
            </a:solidFill>
            <a:prstDash val="solid"/>
            <a:round/>
            <a:headEnd len="med" w="med" type="none"/>
            <a:tailEnd len="med" w="med" type="triangle"/>
          </a:ln>
        </p:spPr>
      </p:cxnSp>
      <p:sp>
        <p:nvSpPr>
          <p:cNvPr id="560" name="Google Shape;560;p47"/>
          <p:cNvSpPr/>
          <p:nvPr/>
        </p:nvSpPr>
        <p:spPr>
          <a:xfrm>
            <a:off x="1308331" y="2122587"/>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1</a:t>
            </a:r>
            <a:endParaRPr sz="1100"/>
          </a:p>
        </p:txBody>
      </p:sp>
      <p:cxnSp>
        <p:nvCxnSpPr>
          <p:cNvPr id="561" name="Google Shape;561;p47"/>
          <p:cNvCxnSpPr/>
          <p:nvPr/>
        </p:nvCxnSpPr>
        <p:spPr>
          <a:xfrm>
            <a:off x="2502196" y="1018980"/>
            <a:ext cx="1366200" cy="969300"/>
          </a:xfrm>
          <a:prstGeom prst="bentConnector3">
            <a:avLst>
              <a:gd fmla="val 50000"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8"/>
          <p:cNvSpPr/>
          <p:nvPr/>
        </p:nvSpPr>
        <p:spPr>
          <a:xfrm>
            <a:off x="7539450" y="586117"/>
            <a:ext cx="1173300" cy="42498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567" name="Google Shape;567;p48"/>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000"/>
              <a:t>Egress to GCP Services</a:t>
            </a:r>
            <a:endParaRPr sz="2000"/>
          </a:p>
        </p:txBody>
      </p:sp>
      <p:sp>
        <p:nvSpPr>
          <p:cNvPr id="568" name="Google Shape;568;p48"/>
          <p:cNvSpPr/>
          <p:nvPr/>
        </p:nvSpPr>
        <p:spPr>
          <a:xfrm>
            <a:off x="2162400" y="586117"/>
            <a:ext cx="1436100" cy="42498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569" name="Google Shape;569;p48"/>
          <p:cNvSpPr/>
          <p:nvPr/>
        </p:nvSpPr>
        <p:spPr>
          <a:xfrm>
            <a:off x="3738663" y="586067"/>
            <a:ext cx="3660600" cy="42498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grpSp>
        <p:nvGrpSpPr>
          <p:cNvPr id="570" name="Google Shape;570;p48"/>
          <p:cNvGrpSpPr/>
          <p:nvPr/>
        </p:nvGrpSpPr>
        <p:grpSpPr>
          <a:xfrm>
            <a:off x="5817909" y="1097665"/>
            <a:ext cx="879300" cy="651375"/>
            <a:chOff x="4474857" y="1825875"/>
            <a:chExt cx="879300" cy="651375"/>
          </a:xfrm>
        </p:grpSpPr>
        <p:sp>
          <p:nvSpPr>
            <p:cNvPr id="571" name="Google Shape;571;p48"/>
            <p:cNvSpPr txBox="1"/>
            <p:nvPr/>
          </p:nvSpPr>
          <p:spPr>
            <a:xfrm>
              <a:off x="4474857" y="2292450"/>
              <a:ext cx="879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dk1"/>
                  </a:solidFill>
                </a:rPr>
                <a:t>GCS</a:t>
              </a:r>
              <a:endParaRPr sz="1200">
                <a:solidFill>
                  <a:schemeClr val="dk1"/>
                </a:solidFill>
              </a:endParaRPr>
            </a:p>
          </p:txBody>
        </p:sp>
        <p:pic>
          <p:nvPicPr>
            <p:cNvPr id="572" name="Google Shape;572;p48" title="Cloud_Storage-512-color.png"/>
            <p:cNvPicPr preferRelativeResize="0"/>
            <p:nvPr/>
          </p:nvPicPr>
          <p:blipFill>
            <a:blip r:embed="rId3">
              <a:alphaModFix/>
            </a:blip>
            <a:stretch>
              <a:fillRect/>
            </a:stretch>
          </p:blipFill>
          <p:spPr>
            <a:xfrm>
              <a:off x="4685925" y="1825875"/>
              <a:ext cx="457201" cy="457201"/>
            </a:xfrm>
            <a:prstGeom prst="rect">
              <a:avLst/>
            </a:prstGeom>
            <a:noFill/>
            <a:ln>
              <a:noFill/>
            </a:ln>
          </p:spPr>
        </p:pic>
      </p:grpSp>
      <p:grpSp>
        <p:nvGrpSpPr>
          <p:cNvPr id="573" name="Google Shape;573;p48"/>
          <p:cNvGrpSpPr/>
          <p:nvPr/>
        </p:nvGrpSpPr>
        <p:grpSpPr>
          <a:xfrm>
            <a:off x="7758991" y="867426"/>
            <a:ext cx="879300" cy="651387"/>
            <a:chOff x="1233014" y="1825863"/>
            <a:chExt cx="879300" cy="651387"/>
          </a:xfrm>
        </p:grpSpPr>
        <p:sp>
          <p:nvSpPr>
            <p:cNvPr id="574" name="Google Shape;574;p48"/>
            <p:cNvSpPr txBox="1"/>
            <p:nvPr/>
          </p:nvSpPr>
          <p:spPr>
            <a:xfrm>
              <a:off x="1233014" y="2292450"/>
              <a:ext cx="879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dk1"/>
                  </a:solidFill>
                </a:rPr>
                <a:t>Big Query</a:t>
              </a:r>
              <a:endParaRPr sz="1200">
                <a:solidFill>
                  <a:schemeClr val="dk1"/>
                </a:solidFill>
              </a:endParaRPr>
            </a:p>
          </p:txBody>
        </p:sp>
        <p:pic>
          <p:nvPicPr>
            <p:cNvPr id="575" name="Google Shape;575;p48" title="BigQuery-512-color.png"/>
            <p:cNvPicPr preferRelativeResize="0"/>
            <p:nvPr/>
          </p:nvPicPr>
          <p:blipFill>
            <a:blip r:embed="rId4">
              <a:alphaModFix/>
            </a:blip>
            <a:stretch>
              <a:fillRect/>
            </a:stretch>
          </p:blipFill>
          <p:spPr>
            <a:xfrm>
              <a:off x="1444063" y="1825863"/>
              <a:ext cx="457201" cy="457201"/>
            </a:xfrm>
            <a:prstGeom prst="rect">
              <a:avLst/>
            </a:prstGeom>
            <a:noFill/>
            <a:ln>
              <a:noFill/>
            </a:ln>
          </p:spPr>
        </p:pic>
      </p:grpSp>
      <p:grpSp>
        <p:nvGrpSpPr>
          <p:cNvPr id="576" name="Google Shape;576;p48"/>
          <p:cNvGrpSpPr/>
          <p:nvPr/>
        </p:nvGrpSpPr>
        <p:grpSpPr>
          <a:xfrm>
            <a:off x="2397762" y="1170130"/>
            <a:ext cx="965400" cy="1181400"/>
            <a:chOff x="1842600" y="1617575"/>
            <a:chExt cx="965400" cy="1181400"/>
          </a:xfrm>
        </p:grpSpPr>
        <p:sp>
          <p:nvSpPr>
            <p:cNvPr id="577" name="Google Shape;577;p48"/>
            <p:cNvSpPr/>
            <p:nvPr/>
          </p:nvSpPr>
          <p:spPr>
            <a:xfrm>
              <a:off x="1842600" y="1617575"/>
              <a:ext cx="965400" cy="11814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78" name="Google Shape;578;p48"/>
            <p:cNvGrpSpPr/>
            <p:nvPr/>
          </p:nvGrpSpPr>
          <p:grpSpPr>
            <a:xfrm>
              <a:off x="2175931" y="1938902"/>
              <a:ext cx="284003" cy="309026"/>
              <a:chOff x="4464050" y="2451067"/>
              <a:chExt cx="220499" cy="241389"/>
            </a:xfrm>
          </p:grpSpPr>
          <p:sp>
            <p:nvSpPr>
              <p:cNvPr id="579" name="Google Shape;579;p48"/>
              <p:cNvSpPr/>
              <p:nvPr/>
            </p:nvSpPr>
            <p:spPr>
              <a:xfrm>
                <a:off x="4464050" y="2451067"/>
                <a:ext cx="220499" cy="241389"/>
              </a:xfrm>
              <a:custGeom>
                <a:rect b="b" l="l" r="r" t="t"/>
                <a:pathLst>
                  <a:path extrusionOk="0" h="241389" w="220499">
                    <a:moveTo>
                      <a:pt x="220500" y="49499"/>
                    </a:moveTo>
                    <a:cubicBezTo>
                      <a:pt x="220500" y="35299"/>
                      <a:pt x="208109" y="22492"/>
                      <a:pt x="186143" y="13211"/>
                    </a:cubicBezTo>
                    <a:cubicBezTo>
                      <a:pt x="161918" y="4047"/>
                      <a:pt x="136136" y="-427"/>
                      <a:pt x="110203" y="32"/>
                    </a:cubicBezTo>
                    <a:cubicBezTo>
                      <a:pt x="84300" y="-420"/>
                      <a:pt x="58551" y="4054"/>
                      <a:pt x="34356" y="13211"/>
                    </a:cubicBezTo>
                    <a:cubicBezTo>
                      <a:pt x="12297" y="22492"/>
                      <a:pt x="0" y="35299"/>
                      <a:pt x="0" y="49499"/>
                    </a:cubicBezTo>
                    <a:lnTo>
                      <a:pt x="0" y="190752"/>
                    </a:lnTo>
                    <a:lnTo>
                      <a:pt x="0" y="190752"/>
                    </a:lnTo>
                    <a:cubicBezTo>
                      <a:pt x="0" y="205601"/>
                      <a:pt x="12203" y="218594"/>
                      <a:pt x="34262" y="228339"/>
                    </a:cubicBezTo>
                    <a:cubicBezTo>
                      <a:pt x="58472" y="237540"/>
                      <a:pt x="84273" y="241954"/>
                      <a:pt x="110203" y="241332"/>
                    </a:cubicBezTo>
                    <a:cubicBezTo>
                      <a:pt x="136189" y="241845"/>
                      <a:pt x="162023" y="237305"/>
                      <a:pt x="186237" y="227968"/>
                    </a:cubicBezTo>
                    <a:cubicBezTo>
                      <a:pt x="208297" y="218687"/>
                      <a:pt x="220500" y="205137"/>
                      <a:pt x="220500" y="190381"/>
                    </a:cubicBezTo>
                    <a:lnTo>
                      <a:pt x="220500" y="49499"/>
                    </a:lnTo>
                    <a:close/>
                    <a:moveTo>
                      <a:pt x="207639" y="147689"/>
                    </a:moveTo>
                    <a:cubicBezTo>
                      <a:pt x="207639" y="155392"/>
                      <a:pt x="197783" y="163838"/>
                      <a:pt x="181356" y="170149"/>
                    </a:cubicBezTo>
                    <a:cubicBezTo>
                      <a:pt x="158519" y="178121"/>
                      <a:pt x="134417" y="181956"/>
                      <a:pt x="110203" y="181471"/>
                    </a:cubicBezTo>
                    <a:cubicBezTo>
                      <a:pt x="86021" y="181949"/>
                      <a:pt x="61949" y="178113"/>
                      <a:pt x="39144" y="170149"/>
                    </a:cubicBezTo>
                    <a:cubicBezTo>
                      <a:pt x="22716" y="163838"/>
                      <a:pt x="12860" y="155392"/>
                      <a:pt x="12860" y="147689"/>
                    </a:cubicBezTo>
                    <a:lnTo>
                      <a:pt x="12860" y="122631"/>
                    </a:lnTo>
                    <a:cubicBezTo>
                      <a:pt x="19456" y="127555"/>
                      <a:pt x="26766" y="131467"/>
                      <a:pt x="34544" y="134232"/>
                    </a:cubicBezTo>
                    <a:cubicBezTo>
                      <a:pt x="58866" y="142541"/>
                      <a:pt x="84474" y="146561"/>
                      <a:pt x="110203" y="146111"/>
                    </a:cubicBezTo>
                    <a:cubicBezTo>
                      <a:pt x="135962" y="146561"/>
                      <a:pt x="161601" y="142540"/>
                      <a:pt x="185956" y="134232"/>
                    </a:cubicBezTo>
                    <a:cubicBezTo>
                      <a:pt x="193734" y="131467"/>
                      <a:pt x="201044" y="127555"/>
                      <a:pt x="207639" y="122631"/>
                    </a:cubicBezTo>
                    <a:close/>
                    <a:moveTo>
                      <a:pt x="207639" y="100264"/>
                    </a:moveTo>
                    <a:cubicBezTo>
                      <a:pt x="207639" y="107875"/>
                      <a:pt x="197783" y="116134"/>
                      <a:pt x="181356" y="122353"/>
                    </a:cubicBezTo>
                    <a:cubicBezTo>
                      <a:pt x="158463" y="130069"/>
                      <a:pt x="134385" y="133774"/>
                      <a:pt x="110203" y="133304"/>
                    </a:cubicBezTo>
                    <a:cubicBezTo>
                      <a:pt x="52849" y="133304"/>
                      <a:pt x="12860" y="115856"/>
                      <a:pt x="12860" y="100264"/>
                    </a:cubicBezTo>
                    <a:lnTo>
                      <a:pt x="12860" y="74278"/>
                    </a:lnTo>
                    <a:cubicBezTo>
                      <a:pt x="19361" y="79361"/>
                      <a:pt x="26610" y="83430"/>
                      <a:pt x="34356" y="86343"/>
                    </a:cubicBezTo>
                    <a:cubicBezTo>
                      <a:pt x="58532" y="95577"/>
                      <a:pt x="84290" y="100083"/>
                      <a:pt x="110203" y="99615"/>
                    </a:cubicBezTo>
                    <a:cubicBezTo>
                      <a:pt x="136147" y="100094"/>
                      <a:pt x="161937" y="95586"/>
                      <a:pt x="186143" y="86343"/>
                    </a:cubicBezTo>
                    <a:cubicBezTo>
                      <a:pt x="193889" y="83430"/>
                      <a:pt x="201139" y="79361"/>
                      <a:pt x="207639" y="74278"/>
                    </a:cubicBezTo>
                    <a:close/>
                    <a:moveTo>
                      <a:pt x="39331" y="24997"/>
                    </a:moveTo>
                    <a:cubicBezTo>
                      <a:pt x="61935" y="16435"/>
                      <a:pt x="86001" y="12275"/>
                      <a:pt x="110203" y="12747"/>
                    </a:cubicBezTo>
                    <a:cubicBezTo>
                      <a:pt x="167651" y="12747"/>
                      <a:pt x="207639" y="32329"/>
                      <a:pt x="207639" y="49870"/>
                    </a:cubicBezTo>
                    <a:cubicBezTo>
                      <a:pt x="207639" y="58687"/>
                      <a:pt x="198253" y="67689"/>
                      <a:pt x="181168" y="74742"/>
                    </a:cubicBezTo>
                    <a:cubicBezTo>
                      <a:pt x="158534" y="83317"/>
                      <a:pt x="134436" y="87477"/>
                      <a:pt x="110203" y="86993"/>
                    </a:cubicBezTo>
                    <a:cubicBezTo>
                      <a:pt x="52849" y="86993"/>
                      <a:pt x="12860" y="67410"/>
                      <a:pt x="12860" y="49870"/>
                    </a:cubicBezTo>
                    <a:cubicBezTo>
                      <a:pt x="12860" y="41053"/>
                      <a:pt x="22529" y="32051"/>
                      <a:pt x="39331" y="24997"/>
                    </a:cubicBezTo>
                    <a:close/>
                    <a:moveTo>
                      <a:pt x="110203" y="229174"/>
                    </a:moveTo>
                    <a:cubicBezTo>
                      <a:pt x="52004" y="229174"/>
                      <a:pt x="12860" y="209406"/>
                      <a:pt x="12860" y="190937"/>
                    </a:cubicBezTo>
                    <a:lnTo>
                      <a:pt x="12860" y="170241"/>
                    </a:lnTo>
                    <a:cubicBezTo>
                      <a:pt x="19435" y="175194"/>
                      <a:pt x="26709" y="179165"/>
                      <a:pt x="34450" y="182028"/>
                    </a:cubicBezTo>
                    <a:cubicBezTo>
                      <a:pt x="58757" y="190549"/>
                      <a:pt x="84418" y="194666"/>
                      <a:pt x="110203" y="194186"/>
                    </a:cubicBezTo>
                    <a:cubicBezTo>
                      <a:pt x="136019" y="194674"/>
                      <a:pt x="161712" y="190555"/>
                      <a:pt x="186049" y="182028"/>
                    </a:cubicBezTo>
                    <a:cubicBezTo>
                      <a:pt x="193791" y="179165"/>
                      <a:pt x="201065" y="175194"/>
                      <a:pt x="207639" y="170241"/>
                    </a:cubicBezTo>
                    <a:lnTo>
                      <a:pt x="207639" y="190752"/>
                    </a:lnTo>
                    <a:cubicBezTo>
                      <a:pt x="207639" y="209221"/>
                      <a:pt x="168965" y="228989"/>
                      <a:pt x="110203" y="228989"/>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580" name="Google Shape;580;p48"/>
              <p:cNvSpPr/>
              <p:nvPr/>
            </p:nvSpPr>
            <p:spPr>
              <a:xfrm>
                <a:off x="4510699" y="2475972"/>
                <a:ext cx="127158" cy="47981"/>
              </a:xfrm>
              <a:custGeom>
                <a:rect b="b" l="l" r="r" t="t"/>
                <a:pathLst>
                  <a:path extrusionOk="0" h="47981" w="127158">
                    <a:moveTo>
                      <a:pt x="111614" y="40650"/>
                    </a:moveTo>
                    <a:cubicBezTo>
                      <a:pt x="108342" y="42199"/>
                      <a:pt x="104632" y="42592"/>
                      <a:pt x="101101" y="41763"/>
                    </a:cubicBezTo>
                    <a:lnTo>
                      <a:pt x="86082" y="38515"/>
                    </a:lnTo>
                    <a:lnTo>
                      <a:pt x="86082" y="45012"/>
                    </a:lnTo>
                    <a:cubicBezTo>
                      <a:pt x="86082" y="46497"/>
                      <a:pt x="82515" y="47982"/>
                      <a:pt x="78009" y="47982"/>
                    </a:cubicBezTo>
                    <a:cubicBezTo>
                      <a:pt x="73503" y="47982"/>
                      <a:pt x="69936" y="46682"/>
                      <a:pt x="69936" y="45012"/>
                    </a:cubicBezTo>
                    <a:lnTo>
                      <a:pt x="69936" y="33318"/>
                    </a:lnTo>
                    <a:cubicBezTo>
                      <a:pt x="69936" y="31740"/>
                      <a:pt x="73034" y="30441"/>
                      <a:pt x="77540" y="30255"/>
                    </a:cubicBezTo>
                    <a:cubicBezTo>
                      <a:pt x="79040" y="30163"/>
                      <a:pt x="80546" y="30163"/>
                      <a:pt x="82046" y="30255"/>
                    </a:cubicBezTo>
                    <a:lnTo>
                      <a:pt x="108611" y="36102"/>
                    </a:lnTo>
                    <a:cubicBezTo>
                      <a:pt x="112929" y="37402"/>
                      <a:pt x="114149" y="39165"/>
                      <a:pt x="111614" y="40650"/>
                    </a:cubicBezTo>
                    <a:close/>
                    <a:moveTo>
                      <a:pt x="68998" y="23852"/>
                    </a:moveTo>
                    <a:cubicBezTo>
                      <a:pt x="68998" y="23852"/>
                      <a:pt x="68434" y="23852"/>
                      <a:pt x="67965" y="24408"/>
                    </a:cubicBezTo>
                    <a:lnTo>
                      <a:pt x="64961" y="25708"/>
                    </a:lnTo>
                    <a:lnTo>
                      <a:pt x="63459" y="25708"/>
                    </a:lnTo>
                    <a:lnTo>
                      <a:pt x="61957" y="25708"/>
                    </a:lnTo>
                    <a:lnTo>
                      <a:pt x="58954" y="24408"/>
                    </a:lnTo>
                    <a:cubicBezTo>
                      <a:pt x="58484" y="24408"/>
                      <a:pt x="58484" y="24408"/>
                      <a:pt x="58484" y="23852"/>
                    </a:cubicBezTo>
                    <a:cubicBezTo>
                      <a:pt x="58484" y="23295"/>
                      <a:pt x="58484" y="23852"/>
                      <a:pt x="58954" y="23295"/>
                    </a:cubicBezTo>
                    <a:lnTo>
                      <a:pt x="61957" y="22181"/>
                    </a:lnTo>
                    <a:cubicBezTo>
                      <a:pt x="62943" y="21934"/>
                      <a:pt x="63976" y="21934"/>
                      <a:pt x="64961" y="22181"/>
                    </a:cubicBezTo>
                    <a:lnTo>
                      <a:pt x="67965" y="23295"/>
                    </a:lnTo>
                    <a:cubicBezTo>
                      <a:pt x="67965" y="23295"/>
                      <a:pt x="68998" y="23666"/>
                      <a:pt x="68998" y="23852"/>
                    </a:cubicBezTo>
                    <a:close/>
                    <a:moveTo>
                      <a:pt x="78385" y="24594"/>
                    </a:moveTo>
                    <a:lnTo>
                      <a:pt x="78385" y="23295"/>
                    </a:lnTo>
                    <a:cubicBezTo>
                      <a:pt x="78385" y="23295"/>
                      <a:pt x="77915" y="23295"/>
                      <a:pt x="77915" y="22738"/>
                    </a:cubicBezTo>
                    <a:lnTo>
                      <a:pt x="66369" y="18562"/>
                    </a:lnTo>
                    <a:lnTo>
                      <a:pt x="65337" y="18562"/>
                    </a:lnTo>
                    <a:lnTo>
                      <a:pt x="61864" y="18562"/>
                    </a:lnTo>
                    <a:cubicBezTo>
                      <a:pt x="61367" y="18471"/>
                      <a:pt x="60858" y="18471"/>
                      <a:pt x="60362" y="18562"/>
                    </a:cubicBezTo>
                    <a:lnTo>
                      <a:pt x="49285" y="22738"/>
                    </a:lnTo>
                    <a:cubicBezTo>
                      <a:pt x="48816" y="22738"/>
                      <a:pt x="48816" y="22738"/>
                      <a:pt x="48816" y="23295"/>
                    </a:cubicBezTo>
                    <a:lnTo>
                      <a:pt x="48816" y="24594"/>
                    </a:lnTo>
                    <a:cubicBezTo>
                      <a:pt x="48816" y="24594"/>
                      <a:pt x="48816" y="24594"/>
                      <a:pt x="49285" y="25151"/>
                    </a:cubicBezTo>
                    <a:lnTo>
                      <a:pt x="60362" y="29327"/>
                    </a:lnTo>
                    <a:lnTo>
                      <a:pt x="61864" y="29327"/>
                    </a:lnTo>
                    <a:lnTo>
                      <a:pt x="65337" y="29327"/>
                    </a:lnTo>
                    <a:lnTo>
                      <a:pt x="66369" y="29327"/>
                    </a:lnTo>
                    <a:lnTo>
                      <a:pt x="77915" y="25151"/>
                    </a:lnTo>
                    <a:cubicBezTo>
                      <a:pt x="77915" y="25151"/>
                      <a:pt x="78479" y="24780"/>
                      <a:pt x="78479" y="24594"/>
                    </a:cubicBezTo>
                    <a:close/>
                    <a:moveTo>
                      <a:pt x="38772" y="26636"/>
                    </a:moveTo>
                    <a:lnTo>
                      <a:pt x="11643" y="32483"/>
                    </a:lnTo>
                    <a:cubicBezTo>
                      <a:pt x="8138" y="33194"/>
                      <a:pt x="4495" y="32804"/>
                      <a:pt x="1224" y="31369"/>
                    </a:cubicBezTo>
                    <a:cubicBezTo>
                      <a:pt x="-1311" y="29884"/>
                      <a:pt x="285" y="28028"/>
                      <a:pt x="4228" y="27285"/>
                    </a:cubicBezTo>
                    <a:lnTo>
                      <a:pt x="19059" y="24037"/>
                    </a:lnTo>
                    <a:lnTo>
                      <a:pt x="4228" y="20789"/>
                    </a:lnTo>
                    <a:cubicBezTo>
                      <a:pt x="285" y="19861"/>
                      <a:pt x="-1311" y="18005"/>
                      <a:pt x="1224" y="16520"/>
                    </a:cubicBezTo>
                    <a:cubicBezTo>
                      <a:pt x="4523" y="15065"/>
                      <a:pt x="8202" y="14675"/>
                      <a:pt x="11737" y="15406"/>
                    </a:cubicBezTo>
                    <a:lnTo>
                      <a:pt x="38866" y="21531"/>
                    </a:lnTo>
                    <a:cubicBezTo>
                      <a:pt x="40233" y="21650"/>
                      <a:pt x="41490" y="22322"/>
                      <a:pt x="42339" y="23388"/>
                    </a:cubicBezTo>
                    <a:cubicBezTo>
                      <a:pt x="42698" y="23435"/>
                      <a:pt x="42952" y="23761"/>
                      <a:pt x="42904" y="24117"/>
                    </a:cubicBezTo>
                    <a:cubicBezTo>
                      <a:pt x="42903" y="24121"/>
                      <a:pt x="42903" y="24126"/>
                      <a:pt x="42902" y="24130"/>
                    </a:cubicBezTo>
                    <a:cubicBezTo>
                      <a:pt x="42902" y="24130"/>
                      <a:pt x="42902" y="24687"/>
                      <a:pt x="42339" y="25058"/>
                    </a:cubicBezTo>
                    <a:cubicBezTo>
                      <a:pt x="41776" y="25429"/>
                      <a:pt x="40837" y="26079"/>
                      <a:pt x="38866" y="26636"/>
                    </a:cubicBezTo>
                    <a:close/>
                    <a:moveTo>
                      <a:pt x="57546" y="33132"/>
                    </a:moveTo>
                    <a:lnTo>
                      <a:pt x="57546" y="44826"/>
                    </a:lnTo>
                    <a:cubicBezTo>
                      <a:pt x="57546" y="46497"/>
                      <a:pt x="53509" y="47796"/>
                      <a:pt x="49473" y="47796"/>
                    </a:cubicBezTo>
                    <a:cubicBezTo>
                      <a:pt x="45436" y="47796"/>
                      <a:pt x="41494" y="46497"/>
                      <a:pt x="41494" y="44826"/>
                    </a:cubicBezTo>
                    <a:lnTo>
                      <a:pt x="41494" y="38330"/>
                    </a:lnTo>
                    <a:lnTo>
                      <a:pt x="26381" y="41578"/>
                    </a:lnTo>
                    <a:cubicBezTo>
                      <a:pt x="22629" y="42437"/>
                      <a:pt x="18689" y="41908"/>
                      <a:pt x="15304" y="40093"/>
                    </a:cubicBezTo>
                    <a:cubicBezTo>
                      <a:pt x="13239" y="38794"/>
                      <a:pt x="14272" y="37030"/>
                      <a:pt x="18308" y="36102"/>
                    </a:cubicBezTo>
                    <a:lnTo>
                      <a:pt x="45436" y="30812"/>
                    </a:lnTo>
                    <a:cubicBezTo>
                      <a:pt x="46936" y="30696"/>
                      <a:pt x="48442" y="30696"/>
                      <a:pt x="49942" y="30812"/>
                    </a:cubicBezTo>
                    <a:cubicBezTo>
                      <a:pt x="53885" y="30812"/>
                      <a:pt x="56607" y="31740"/>
                      <a:pt x="57452" y="33132"/>
                    </a:cubicBezTo>
                    <a:close/>
                    <a:moveTo>
                      <a:pt x="70030" y="14571"/>
                    </a:moveTo>
                    <a:lnTo>
                      <a:pt x="70030" y="2970"/>
                    </a:lnTo>
                    <a:cubicBezTo>
                      <a:pt x="70030" y="1299"/>
                      <a:pt x="73597" y="0"/>
                      <a:pt x="78103" y="0"/>
                    </a:cubicBezTo>
                    <a:cubicBezTo>
                      <a:pt x="82609" y="0"/>
                      <a:pt x="86176" y="1299"/>
                      <a:pt x="86176" y="2970"/>
                    </a:cubicBezTo>
                    <a:lnTo>
                      <a:pt x="86176" y="9466"/>
                    </a:lnTo>
                    <a:lnTo>
                      <a:pt x="101195" y="6125"/>
                    </a:lnTo>
                    <a:cubicBezTo>
                      <a:pt x="104730" y="5388"/>
                      <a:pt x="108411" y="5778"/>
                      <a:pt x="111708" y="7239"/>
                    </a:cubicBezTo>
                    <a:cubicBezTo>
                      <a:pt x="114243" y="8724"/>
                      <a:pt x="112741" y="10487"/>
                      <a:pt x="108705" y="11415"/>
                    </a:cubicBezTo>
                    <a:lnTo>
                      <a:pt x="82139" y="17262"/>
                    </a:lnTo>
                    <a:cubicBezTo>
                      <a:pt x="80639" y="17354"/>
                      <a:pt x="79134" y="17354"/>
                      <a:pt x="77634" y="17262"/>
                    </a:cubicBezTo>
                    <a:cubicBezTo>
                      <a:pt x="73034" y="17448"/>
                      <a:pt x="69936" y="16149"/>
                      <a:pt x="69936" y="14571"/>
                    </a:cubicBezTo>
                    <a:close/>
                    <a:moveTo>
                      <a:pt x="15304" y="7239"/>
                    </a:moveTo>
                    <a:cubicBezTo>
                      <a:pt x="18736" y="5662"/>
                      <a:pt x="22603" y="5270"/>
                      <a:pt x="26287" y="6125"/>
                    </a:cubicBezTo>
                    <a:lnTo>
                      <a:pt x="41400" y="9466"/>
                    </a:lnTo>
                    <a:lnTo>
                      <a:pt x="41400" y="2970"/>
                    </a:lnTo>
                    <a:cubicBezTo>
                      <a:pt x="41400" y="1299"/>
                      <a:pt x="44873" y="0"/>
                      <a:pt x="49379" y="0"/>
                    </a:cubicBezTo>
                    <a:cubicBezTo>
                      <a:pt x="53885" y="0"/>
                      <a:pt x="56889" y="1299"/>
                      <a:pt x="56889" y="2970"/>
                    </a:cubicBezTo>
                    <a:lnTo>
                      <a:pt x="56889" y="14571"/>
                    </a:lnTo>
                    <a:cubicBezTo>
                      <a:pt x="56889" y="16149"/>
                      <a:pt x="53885" y="17448"/>
                      <a:pt x="49942" y="17448"/>
                    </a:cubicBezTo>
                    <a:cubicBezTo>
                      <a:pt x="48453" y="17724"/>
                      <a:pt x="46925" y="17724"/>
                      <a:pt x="45436" y="17448"/>
                    </a:cubicBezTo>
                    <a:lnTo>
                      <a:pt x="18308" y="11230"/>
                    </a:lnTo>
                    <a:cubicBezTo>
                      <a:pt x="14272" y="10487"/>
                      <a:pt x="13239" y="8724"/>
                      <a:pt x="15304" y="7239"/>
                    </a:cubicBezTo>
                    <a:close/>
                    <a:moveTo>
                      <a:pt x="123160" y="20603"/>
                    </a:moveTo>
                    <a:lnTo>
                      <a:pt x="108141" y="23852"/>
                    </a:lnTo>
                    <a:lnTo>
                      <a:pt x="123160" y="27100"/>
                    </a:lnTo>
                    <a:cubicBezTo>
                      <a:pt x="127197" y="28028"/>
                      <a:pt x="128136" y="29884"/>
                      <a:pt x="126164" y="31369"/>
                    </a:cubicBezTo>
                    <a:cubicBezTo>
                      <a:pt x="122686" y="32772"/>
                      <a:pt x="118874" y="33159"/>
                      <a:pt x="115182" y="32483"/>
                    </a:cubicBezTo>
                    <a:lnTo>
                      <a:pt x="88053" y="26636"/>
                    </a:lnTo>
                    <a:cubicBezTo>
                      <a:pt x="86742" y="26280"/>
                      <a:pt x="85525" y="25646"/>
                      <a:pt x="84486" y="24780"/>
                    </a:cubicBezTo>
                    <a:cubicBezTo>
                      <a:pt x="84486" y="24780"/>
                      <a:pt x="84017" y="24223"/>
                      <a:pt x="84017" y="23852"/>
                    </a:cubicBezTo>
                    <a:cubicBezTo>
                      <a:pt x="84017" y="23480"/>
                      <a:pt x="84486" y="23295"/>
                      <a:pt x="84486" y="23109"/>
                    </a:cubicBezTo>
                    <a:cubicBezTo>
                      <a:pt x="85525" y="22242"/>
                      <a:pt x="86742" y="21609"/>
                      <a:pt x="88053" y="21253"/>
                    </a:cubicBezTo>
                    <a:lnTo>
                      <a:pt x="115182" y="15406"/>
                    </a:lnTo>
                    <a:cubicBezTo>
                      <a:pt x="118891" y="14739"/>
                      <a:pt x="122718" y="15192"/>
                      <a:pt x="126164" y="16705"/>
                    </a:cubicBezTo>
                    <a:cubicBezTo>
                      <a:pt x="128136" y="18005"/>
                      <a:pt x="127197" y="19861"/>
                      <a:pt x="123160" y="2060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grpSp>
          <p:nvGrpSpPr>
            <p:cNvPr id="581" name="Google Shape;581;p48"/>
            <p:cNvGrpSpPr/>
            <p:nvPr/>
          </p:nvGrpSpPr>
          <p:grpSpPr>
            <a:xfrm>
              <a:off x="2093438" y="2361911"/>
              <a:ext cx="448985" cy="275684"/>
              <a:chOff x="1009676" y="3375630"/>
              <a:chExt cx="571301" cy="350788"/>
            </a:xfrm>
          </p:grpSpPr>
          <p:sp>
            <p:nvSpPr>
              <p:cNvPr id="582" name="Google Shape;582;p48"/>
              <p:cNvSpPr/>
              <p:nvPr/>
            </p:nvSpPr>
            <p:spPr>
              <a:xfrm>
                <a:off x="1009676" y="3597785"/>
                <a:ext cx="571301" cy="45761"/>
              </a:xfrm>
              <a:custGeom>
                <a:rect b="b" l="l" r="r" t="t"/>
                <a:pathLst>
                  <a:path extrusionOk="0" h="45761" w="571301">
                    <a:moveTo>
                      <a:pt x="561480" y="45676"/>
                    </a:moveTo>
                    <a:cubicBezTo>
                      <a:pt x="536784" y="45713"/>
                      <a:pt x="512725" y="38216"/>
                      <a:pt x="492831" y="24279"/>
                    </a:cubicBezTo>
                    <a:cubicBezTo>
                      <a:pt x="451970" y="52818"/>
                      <a:pt x="396395" y="52818"/>
                      <a:pt x="355534" y="24279"/>
                    </a:cubicBezTo>
                    <a:cubicBezTo>
                      <a:pt x="314730" y="52789"/>
                      <a:pt x="259219" y="52789"/>
                      <a:pt x="218415" y="24279"/>
                    </a:cubicBezTo>
                    <a:cubicBezTo>
                      <a:pt x="177554" y="52818"/>
                      <a:pt x="121978" y="52818"/>
                      <a:pt x="81117" y="24279"/>
                    </a:cubicBezTo>
                    <a:cubicBezTo>
                      <a:pt x="61290" y="38212"/>
                      <a:pt x="37288" y="45713"/>
                      <a:pt x="12647" y="45676"/>
                    </a:cubicBezTo>
                    <a:cubicBezTo>
                      <a:pt x="6492" y="46418"/>
                      <a:pt x="870" y="42269"/>
                      <a:pt x="90" y="36407"/>
                    </a:cubicBezTo>
                    <a:cubicBezTo>
                      <a:pt x="-690" y="30545"/>
                      <a:pt x="3667" y="25191"/>
                      <a:pt x="9822" y="24449"/>
                    </a:cubicBezTo>
                    <a:cubicBezTo>
                      <a:pt x="10760" y="24335"/>
                      <a:pt x="11709" y="24335"/>
                      <a:pt x="12647" y="24449"/>
                    </a:cubicBezTo>
                    <a:cubicBezTo>
                      <a:pt x="35144" y="24425"/>
                      <a:pt x="56870" y="16644"/>
                      <a:pt x="73807" y="2542"/>
                    </a:cubicBezTo>
                    <a:cubicBezTo>
                      <a:pt x="78098" y="-847"/>
                      <a:pt x="84315" y="-847"/>
                      <a:pt x="88606" y="2542"/>
                    </a:cubicBezTo>
                    <a:cubicBezTo>
                      <a:pt x="123685" y="31739"/>
                      <a:pt x="176025" y="31739"/>
                      <a:pt x="211104" y="2542"/>
                    </a:cubicBezTo>
                    <a:cubicBezTo>
                      <a:pt x="215337" y="-822"/>
                      <a:pt x="221492" y="-822"/>
                      <a:pt x="225725" y="2542"/>
                    </a:cubicBezTo>
                    <a:cubicBezTo>
                      <a:pt x="260804" y="31739"/>
                      <a:pt x="313144" y="31739"/>
                      <a:pt x="348223" y="2542"/>
                    </a:cubicBezTo>
                    <a:cubicBezTo>
                      <a:pt x="352515" y="-847"/>
                      <a:pt x="358731" y="-847"/>
                      <a:pt x="363023" y="2542"/>
                    </a:cubicBezTo>
                    <a:cubicBezTo>
                      <a:pt x="398101" y="31739"/>
                      <a:pt x="450442" y="31739"/>
                      <a:pt x="485520" y="2542"/>
                    </a:cubicBezTo>
                    <a:cubicBezTo>
                      <a:pt x="489753" y="-822"/>
                      <a:pt x="495908" y="-822"/>
                      <a:pt x="500142" y="2542"/>
                    </a:cubicBezTo>
                    <a:cubicBezTo>
                      <a:pt x="517125" y="16681"/>
                      <a:pt x="538922" y="24467"/>
                      <a:pt x="561480" y="24449"/>
                    </a:cubicBezTo>
                    <a:cubicBezTo>
                      <a:pt x="567635" y="25191"/>
                      <a:pt x="571991" y="30545"/>
                      <a:pt x="571212" y="36407"/>
                    </a:cubicBezTo>
                    <a:cubicBezTo>
                      <a:pt x="570566" y="41249"/>
                      <a:pt x="566563" y="45063"/>
                      <a:pt x="561480" y="45676"/>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583" name="Google Shape;583;p48"/>
              <p:cNvSpPr/>
              <p:nvPr/>
            </p:nvSpPr>
            <p:spPr>
              <a:xfrm>
                <a:off x="1009676" y="3680510"/>
                <a:ext cx="571301" cy="45908"/>
              </a:xfrm>
              <a:custGeom>
                <a:rect b="b" l="l" r="r" t="t"/>
                <a:pathLst>
                  <a:path extrusionOk="0" h="45908" w="571301">
                    <a:moveTo>
                      <a:pt x="561480" y="45822"/>
                    </a:moveTo>
                    <a:cubicBezTo>
                      <a:pt x="536766" y="45798"/>
                      <a:pt x="512709" y="38242"/>
                      <a:pt x="492831" y="24255"/>
                    </a:cubicBezTo>
                    <a:cubicBezTo>
                      <a:pt x="452046" y="53014"/>
                      <a:pt x="396318" y="53014"/>
                      <a:pt x="355534" y="24255"/>
                    </a:cubicBezTo>
                    <a:cubicBezTo>
                      <a:pt x="314804" y="52987"/>
                      <a:pt x="259144" y="52987"/>
                      <a:pt x="218415" y="24255"/>
                    </a:cubicBezTo>
                    <a:cubicBezTo>
                      <a:pt x="177630" y="53014"/>
                      <a:pt x="121902" y="53014"/>
                      <a:pt x="81117" y="24255"/>
                    </a:cubicBezTo>
                    <a:cubicBezTo>
                      <a:pt x="61306" y="38238"/>
                      <a:pt x="37306" y="45798"/>
                      <a:pt x="12647" y="45822"/>
                    </a:cubicBezTo>
                    <a:cubicBezTo>
                      <a:pt x="6492" y="46564"/>
                      <a:pt x="870" y="42416"/>
                      <a:pt x="90" y="36554"/>
                    </a:cubicBezTo>
                    <a:cubicBezTo>
                      <a:pt x="-690" y="30692"/>
                      <a:pt x="3667" y="25337"/>
                      <a:pt x="9822" y="24595"/>
                    </a:cubicBezTo>
                    <a:cubicBezTo>
                      <a:pt x="10760" y="24481"/>
                      <a:pt x="11709" y="24481"/>
                      <a:pt x="12647" y="24595"/>
                    </a:cubicBezTo>
                    <a:cubicBezTo>
                      <a:pt x="35144" y="24571"/>
                      <a:pt x="56870" y="16790"/>
                      <a:pt x="73807" y="2689"/>
                    </a:cubicBezTo>
                    <a:cubicBezTo>
                      <a:pt x="78043" y="-844"/>
                      <a:pt x="84370" y="-844"/>
                      <a:pt x="88606" y="2689"/>
                    </a:cubicBezTo>
                    <a:cubicBezTo>
                      <a:pt x="123685" y="31885"/>
                      <a:pt x="176025" y="31885"/>
                      <a:pt x="211104" y="2689"/>
                    </a:cubicBezTo>
                    <a:cubicBezTo>
                      <a:pt x="215252" y="-896"/>
                      <a:pt x="221578" y="-896"/>
                      <a:pt x="225725" y="2689"/>
                    </a:cubicBezTo>
                    <a:cubicBezTo>
                      <a:pt x="260804" y="31885"/>
                      <a:pt x="313144" y="31885"/>
                      <a:pt x="348223" y="2689"/>
                    </a:cubicBezTo>
                    <a:cubicBezTo>
                      <a:pt x="352460" y="-844"/>
                      <a:pt x="358786" y="-844"/>
                      <a:pt x="363023" y="2689"/>
                    </a:cubicBezTo>
                    <a:cubicBezTo>
                      <a:pt x="398101" y="31885"/>
                      <a:pt x="450442" y="31885"/>
                      <a:pt x="485520" y="2689"/>
                    </a:cubicBezTo>
                    <a:cubicBezTo>
                      <a:pt x="489668" y="-896"/>
                      <a:pt x="495994" y="-896"/>
                      <a:pt x="500142" y="2689"/>
                    </a:cubicBezTo>
                    <a:cubicBezTo>
                      <a:pt x="517125" y="16828"/>
                      <a:pt x="538922" y="24614"/>
                      <a:pt x="561480" y="24595"/>
                    </a:cubicBezTo>
                    <a:cubicBezTo>
                      <a:pt x="567635" y="25337"/>
                      <a:pt x="571991" y="30692"/>
                      <a:pt x="571212" y="36554"/>
                    </a:cubicBezTo>
                    <a:cubicBezTo>
                      <a:pt x="570566" y="41395"/>
                      <a:pt x="566563" y="45209"/>
                      <a:pt x="561480" y="45822"/>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584" name="Google Shape;584;p48"/>
              <p:cNvSpPr/>
              <p:nvPr/>
            </p:nvSpPr>
            <p:spPr>
              <a:xfrm>
                <a:off x="1193814" y="3375630"/>
                <a:ext cx="211328" cy="200418"/>
              </a:xfrm>
              <a:custGeom>
                <a:rect b="b" l="l" r="r" t="t"/>
                <a:pathLst>
                  <a:path extrusionOk="0" h="200418" w="211328">
                    <a:moveTo>
                      <a:pt x="185660" y="169846"/>
                    </a:moveTo>
                    <a:cubicBezTo>
                      <a:pt x="182235" y="175758"/>
                      <a:pt x="174425" y="177906"/>
                      <a:pt x="168216" y="174644"/>
                    </a:cubicBezTo>
                    <a:cubicBezTo>
                      <a:pt x="168086" y="174576"/>
                      <a:pt x="167958" y="174504"/>
                      <a:pt x="167829" y="174431"/>
                    </a:cubicBezTo>
                    <a:lnTo>
                      <a:pt x="142866" y="160676"/>
                    </a:lnTo>
                    <a:lnTo>
                      <a:pt x="142866" y="188187"/>
                    </a:lnTo>
                    <a:cubicBezTo>
                      <a:pt x="142490" y="194983"/>
                      <a:pt x="136638" y="200334"/>
                      <a:pt x="129493" y="200413"/>
                    </a:cubicBezTo>
                    <a:cubicBezTo>
                      <a:pt x="122307" y="200602"/>
                      <a:pt x="116321" y="195207"/>
                      <a:pt x="116123" y="188361"/>
                    </a:cubicBezTo>
                    <a:cubicBezTo>
                      <a:pt x="116122" y="188304"/>
                      <a:pt x="116120" y="188244"/>
                      <a:pt x="116120" y="188187"/>
                    </a:cubicBezTo>
                    <a:lnTo>
                      <a:pt x="116120" y="139959"/>
                    </a:lnTo>
                    <a:cubicBezTo>
                      <a:pt x="116004" y="133145"/>
                      <a:pt x="121469" y="127420"/>
                      <a:pt x="128601" y="126883"/>
                    </a:cubicBezTo>
                    <a:cubicBezTo>
                      <a:pt x="131158" y="127065"/>
                      <a:pt x="133680" y="127579"/>
                      <a:pt x="136090" y="128411"/>
                    </a:cubicBezTo>
                    <a:lnTo>
                      <a:pt x="180667" y="152865"/>
                    </a:lnTo>
                    <a:cubicBezTo>
                      <a:pt x="186842" y="156335"/>
                      <a:pt x="189044" y="163826"/>
                      <a:pt x="185660" y="169846"/>
                    </a:cubicBezTo>
                    <a:close/>
                    <a:moveTo>
                      <a:pt x="114337" y="99542"/>
                    </a:moveTo>
                    <a:cubicBezTo>
                      <a:pt x="114337" y="99542"/>
                      <a:pt x="113980" y="101919"/>
                      <a:pt x="113267" y="101919"/>
                    </a:cubicBezTo>
                    <a:lnTo>
                      <a:pt x="108274" y="107354"/>
                    </a:lnTo>
                    <a:cubicBezTo>
                      <a:pt x="107383" y="107354"/>
                      <a:pt x="106491" y="107354"/>
                      <a:pt x="105778" y="107354"/>
                    </a:cubicBezTo>
                    <a:cubicBezTo>
                      <a:pt x="105065" y="107354"/>
                      <a:pt x="103995" y="107354"/>
                      <a:pt x="103282" y="107354"/>
                    </a:cubicBezTo>
                    <a:lnTo>
                      <a:pt x="98289" y="101919"/>
                    </a:lnTo>
                    <a:cubicBezTo>
                      <a:pt x="98289" y="101919"/>
                      <a:pt x="98289" y="100391"/>
                      <a:pt x="98289" y="99712"/>
                    </a:cubicBezTo>
                    <a:cubicBezTo>
                      <a:pt x="97906" y="98961"/>
                      <a:pt x="97906" y="98085"/>
                      <a:pt x="98289" y="97334"/>
                    </a:cubicBezTo>
                    <a:lnTo>
                      <a:pt x="102568" y="93259"/>
                    </a:lnTo>
                    <a:cubicBezTo>
                      <a:pt x="103367" y="92938"/>
                      <a:pt x="104266" y="92938"/>
                      <a:pt x="105065" y="93259"/>
                    </a:cubicBezTo>
                    <a:cubicBezTo>
                      <a:pt x="105869" y="92972"/>
                      <a:pt x="106757" y="92972"/>
                      <a:pt x="107561" y="93259"/>
                    </a:cubicBezTo>
                    <a:lnTo>
                      <a:pt x="112554" y="97844"/>
                    </a:lnTo>
                    <a:cubicBezTo>
                      <a:pt x="112554" y="97844"/>
                      <a:pt x="114872" y="99372"/>
                      <a:pt x="114872" y="100221"/>
                    </a:cubicBezTo>
                    <a:close/>
                    <a:moveTo>
                      <a:pt x="130206" y="102599"/>
                    </a:moveTo>
                    <a:lnTo>
                      <a:pt x="130206" y="97844"/>
                    </a:lnTo>
                    <a:cubicBezTo>
                      <a:pt x="130206" y="97844"/>
                      <a:pt x="130206" y="96316"/>
                      <a:pt x="130206" y="95636"/>
                    </a:cubicBezTo>
                    <a:lnTo>
                      <a:pt x="111127" y="78655"/>
                    </a:lnTo>
                    <a:lnTo>
                      <a:pt x="109344" y="78655"/>
                    </a:lnTo>
                    <a:lnTo>
                      <a:pt x="102568" y="78655"/>
                    </a:lnTo>
                    <a:cubicBezTo>
                      <a:pt x="101770" y="78334"/>
                      <a:pt x="100871" y="78334"/>
                      <a:pt x="100072" y="78655"/>
                    </a:cubicBezTo>
                    <a:lnTo>
                      <a:pt x="82241" y="95636"/>
                    </a:lnTo>
                    <a:cubicBezTo>
                      <a:pt x="81888" y="96334"/>
                      <a:pt x="81888" y="97146"/>
                      <a:pt x="82241" y="97844"/>
                    </a:cubicBezTo>
                    <a:lnTo>
                      <a:pt x="82241" y="103278"/>
                    </a:lnTo>
                    <a:cubicBezTo>
                      <a:pt x="81888" y="103976"/>
                      <a:pt x="81888" y="104788"/>
                      <a:pt x="82241" y="105486"/>
                    </a:cubicBezTo>
                    <a:lnTo>
                      <a:pt x="100072" y="122467"/>
                    </a:lnTo>
                    <a:cubicBezTo>
                      <a:pt x="100072" y="122467"/>
                      <a:pt x="101677" y="122467"/>
                      <a:pt x="102568" y="122467"/>
                    </a:cubicBezTo>
                    <a:lnTo>
                      <a:pt x="108274" y="122467"/>
                    </a:lnTo>
                    <a:lnTo>
                      <a:pt x="110057" y="122467"/>
                    </a:lnTo>
                    <a:lnTo>
                      <a:pt x="129136" y="105486"/>
                    </a:lnTo>
                    <a:cubicBezTo>
                      <a:pt x="129136" y="105486"/>
                      <a:pt x="130741" y="103957"/>
                      <a:pt x="130741" y="103278"/>
                    </a:cubicBezTo>
                    <a:close/>
                    <a:moveTo>
                      <a:pt x="64410" y="110920"/>
                    </a:moveTo>
                    <a:lnTo>
                      <a:pt x="20012" y="135883"/>
                    </a:lnTo>
                    <a:cubicBezTo>
                      <a:pt x="13928" y="139350"/>
                      <a:pt x="6043" y="137462"/>
                      <a:pt x="2404" y="131667"/>
                    </a:cubicBezTo>
                    <a:cubicBezTo>
                      <a:pt x="2327" y="131545"/>
                      <a:pt x="2252" y="131422"/>
                      <a:pt x="2181" y="131298"/>
                    </a:cubicBezTo>
                    <a:cubicBezTo>
                      <a:pt x="-1619" y="126161"/>
                      <a:pt x="-326" y="119063"/>
                      <a:pt x="5068" y="115444"/>
                    </a:cubicBezTo>
                    <a:cubicBezTo>
                      <a:pt x="5727" y="115001"/>
                      <a:pt x="6434" y="114623"/>
                      <a:pt x="7174" y="114316"/>
                    </a:cubicBezTo>
                    <a:lnTo>
                      <a:pt x="32137" y="100561"/>
                    </a:lnTo>
                    <a:lnTo>
                      <a:pt x="7174" y="86806"/>
                    </a:lnTo>
                    <a:cubicBezTo>
                      <a:pt x="1011" y="83102"/>
                      <a:pt x="-833" y="75342"/>
                      <a:pt x="3056" y="69472"/>
                    </a:cubicBezTo>
                    <a:cubicBezTo>
                      <a:pt x="6571" y="64167"/>
                      <a:pt x="13655" y="62143"/>
                      <a:pt x="19655" y="64730"/>
                    </a:cubicBezTo>
                    <a:lnTo>
                      <a:pt x="64589" y="89183"/>
                    </a:lnTo>
                    <a:cubicBezTo>
                      <a:pt x="67606" y="90778"/>
                      <a:pt x="69704" y="93587"/>
                      <a:pt x="70295" y="96825"/>
                    </a:cubicBezTo>
                    <a:cubicBezTo>
                      <a:pt x="70295" y="96825"/>
                      <a:pt x="70295" y="99033"/>
                      <a:pt x="70295" y="99882"/>
                    </a:cubicBezTo>
                    <a:cubicBezTo>
                      <a:pt x="70705" y="101097"/>
                      <a:pt x="70705" y="102403"/>
                      <a:pt x="70295" y="103618"/>
                    </a:cubicBezTo>
                    <a:cubicBezTo>
                      <a:pt x="69672" y="106841"/>
                      <a:pt x="67754" y="109705"/>
                      <a:pt x="64945" y="111599"/>
                    </a:cubicBezTo>
                    <a:close/>
                    <a:moveTo>
                      <a:pt x="95258" y="138430"/>
                    </a:moveTo>
                    <a:lnTo>
                      <a:pt x="95258" y="187337"/>
                    </a:lnTo>
                    <a:cubicBezTo>
                      <a:pt x="94882" y="194134"/>
                      <a:pt x="89029" y="199485"/>
                      <a:pt x="81885" y="199564"/>
                    </a:cubicBezTo>
                    <a:cubicBezTo>
                      <a:pt x="74800" y="199846"/>
                      <a:pt x="68818" y="194604"/>
                      <a:pt x="68522" y="187857"/>
                    </a:cubicBezTo>
                    <a:cubicBezTo>
                      <a:pt x="68515" y="187684"/>
                      <a:pt x="68512" y="187511"/>
                      <a:pt x="68512" y="187337"/>
                    </a:cubicBezTo>
                    <a:lnTo>
                      <a:pt x="68512" y="160506"/>
                    </a:lnTo>
                    <a:lnTo>
                      <a:pt x="43548" y="174262"/>
                    </a:lnTo>
                    <a:cubicBezTo>
                      <a:pt x="37327" y="177694"/>
                      <a:pt x="29364" y="175673"/>
                      <a:pt x="25760" y="169748"/>
                    </a:cubicBezTo>
                    <a:cubicBezTo>
                      <a:pt x="25746" y="169724"/>
                      <a:pt x="25732" y="169700"/>
                      <a:pt x="25718" y="169677"/>
                    </a:cubicBezTo>
                    <a:cubicBezTo>
                      <a:pt x="22437" y="163575"/>
                      <a:pt x="24896" y="156095"/>
                      <a:pt x="31245" y="152865"/>
                    </a:cubicBezTo>
                    <a:lnTo>
                      <a:pt x="76179" y="128411"/>
                    </a:lnTo>
                    <a:cubicBezTo>
                      <a:pt x="78568" y="127510"/>
                      <a:pt x="81100" y="126993"/>
                      <a:pt x="83668" y="126883"/>
                    </a:cubicBezTo>
                    <a:cubicBezTo>
                      <a:pt x="90071" y="128014"/>
                      <a:pt x="94972" y="132957"/>
                      <a:pt x="95793" y="139109"/>
                    </a:cubicBezTo>
                    <a:close/>
                    <a:moveTo>
                      <a:pt x="116476" y="61163"/>
                    </a:moveTo>
                    <a:lnTo>
                      <a:pt x="116476" y="12256"/>
                    </a:lnTo>
                    <a:cubicBezTo>
                      <a:pt x="116573" y="5410"/>
                      <a:pt x="122476" y="-66"/>
                      <a:pt x="129666" y="26"/>
                    </a:cubicBezTo>
                    <a:cubicBezTo>
                      <a:pt x="129726" y="26"/>
                      <a:pt x="129789" y="28"/>
                      <a:pt x="129850" y="29"/>
                    </a:cubicBezTo>
                    <a:cubicBezTo>
                      <a:pt x="136994" y="109"/>
                      <a:pt x="142846" y="5460"/>
                      <a:pt x="143223" y="12256"/>
                    </a:cubicBezTo>
                    <a:lnTo>
                      <a:pt x="143223" y="39766"/>
                    </a:lnTo>
                    <a:lnTo>
                      <a:pt x="168186" y="26011"/>
                    </a:lnTo>
                    <a:cubicBezTo>
                      <a:pt x="174482" y="22935"/>
                      <a:pt x="182203" y="24920"/>
                      <a:pt x="186017" y="30596"/>
                    </a:cubicBezTo>
                    <a:cubicBezTo>
                      <a:pt x="189401" y="36616"/>
                      <a:pt x="187199" y="44107"/>
                      <a:pt x="181024" y="47578"/>
                    </a:cubicBezTo>
                    <a:lnTo>
                      <a:pt x="136447" y="72711"/>
                    </a:lnTo>
                    <a:cubicBezTo>
                      <a:pt x="134034" y="73543"/>
                      <a:pt x="131515" y="74057"/>
                      <a:pt x="128958" y="74239"/>
                    </a:cubicBezTo>
                    <a:cubicBezTo>
                      <a:pt x="121826" y="73702"/>
                      <a:pt x="116361" y="67977"/>
                      <a:pt x="116476" y="61163"/>
                    </a:cubicBezTo>
                    <a:close/>
                    <a:moveTo>
                      <a:pt x="25718" y="30596"/>
                    </a:moveTo>
                    <a:cubicBezTo>
                      <a:pt x="29532" y="24920"/>
                      <a:pt x="37252" y="22935"/>
                      <a:pt x="43548" y="26011"/>
                    </a:cubicBezTo>
                    <a:lnTo>
                      <a:pt x="68512" y="39766"/>
                    </a:lnTo>
                    <a:lnTo>
                      <a:pt x="68512" y="12256"/>
                    </a:lnTo>
                    <a:cubicBezTo>
                      <a:pt x="68594" y="5410"/>
                      <a:pt x="74487" y="-77"/>
                      <a:pt x="81674" y="1"/>
                    </a:cubicBezTo>
                    <a:cubicBezTo>
                      <a:pt x="81924" y="3"/>
                      <a:pt x="82172" y="13"/>
                      <a:pt x="82420" y="29"/>
                    </a:cubicBezTo>
                    <a:cubicBezTo>
                      <a:pt x="89370" y="213"/>
                      <a:pt x="94905" y="5634"/>
                      <a:pt x="94901" y="12256"/>
                    </a:cubicBezTo>
                    <a:lnTo>
                      <a:pt x="94901" y="61163"/>
                    </a:lnTo>
                    <a:cubicBezTo>
                      <a:pt x="95393" y="67430"/>
                      <a:pt x="90459" y="72890"/>
                      <a:pt x="83880" y="73359"/>
                    </a:cubicBezTo>
                    <a:cubicBezTo>
                      <a:pt x="83632" y="73377"/>
                      <a:pt x="83382" y="73387"/>
                      <a:pt x="83133" y="73390"/>
                    </a:cubicBezTo>
                    <a:cubicBezTo>
                      <a:pt x="80524" y="74060"/>
                      <a:pt x="77735" y="73491"/>
                      <a:pt x="75644" y="71862"/>
                    </a:cubicBezTo>
                    <a:lnTo>
                      <a:pt x="31245" y="47408"/>
                    </a:lnTo>
                    <a:cubicBezTo>
                      <a:pt x="24901" y="44393"/>
                      <a:pt x="22324" y="37050"/>
                      <a:pt x="25491" y="31008"/>
                    </a:cubicBezTo>
                    <a:cubicBezTo>
                      <a:pt x="25564" y="30870"/>
                      <a:pt x="25639" y="30732"/>
                      <a:pt x="25718" y="30596"/>
                    </a:cubicBezTo>
                    <a:close/>
                    <a:moveTo>
                      <a:pt x="204026" y="86466"/>
                    </a:moveTo>
                    <a:lnTo>
                      <a:pt x="179063" y="100221"/>
                    </a:lnTo>
                    <a:lnTo>
                      <a:pt x="204026" y="113976"/>
                    </a:lnTo>
                    <a:cubicBezTo>
                      <a:pt x="210124" y="117503"/>
                      <a:pt x="212308" y="124929"/>
                      <a:pt x="209018" y="130958"/>
                    </a:cubicBezTo>
                    <a:cubicBezTo>
                      <a:pt x="205172" y="136252"/>
                      <a:pt x="197988" y="138298"/>
                      <a:pt x="191722" y="135883"/>
                    </a:cubicBezTo>
                    <a:lnTo>
                      <a:pt x="146432" y="111599"/>
                    </a:lnTo>
                    <a:cubicBezTo>
                      <a:pt x="143770" y="109653"/>
                      <a:pt x="141782" y="106991"/>
                      <a:pt x="140726" y="103957"/>
                    </a:cubicBezTo>
                    <a:cubicBezTo>
                      <a:pt x="140330" y="102735"/>
                      <a:pt x="140033" y="101486"/>
                      <a:pt x="139835" y="100221"/>
                    </a:cubicBezTo>
                    <a:cubicBezTo>
                      <a:pt x="139835" y="99372"/>
                      <a:pt x="140726" y="97844"/>
                      <a:pt x="140726" y="97165"/>
                    </a:cubicBezTo>
                    <a:cubicBezTo>
                      <a:pt x="141782" y="94131"/>
                      <a:pt x="143770" y="91469"/>
                      <a:pt x="146432" y="89523"/>
                    </a:cubicBezTo>
                    <a:lnTo>
                      <a:pt x="191722" y="65069"/>
                    </a:lnTo>
                    <a:cubicBezTo>
                      <a:pt x="198204" y="62200"/>
                      <a:pt x="205912" y="64476"/>
                      <a:pt x="209553" y="70333"/>
                    </a:cubicBezTo>
                    <a:cubicBezTo>
                      <a:pt x="213012" y="75685"/>
                      <a:pt x="211261" y="82693"/>
                      <a:pt x="205641" y="85987"/>
                    </a:cubicBezTo>
                    <a:cubicBezTo>
                      <a:pt x="205349" y="86159"/>
                      <a:pt x="205047" y="86319"/>
                      <a:pt x="204739" y="86466"/>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585" name="Google Shape;585;p48"/>
              <p:cNvSpPr/>
              <p:nvPr/>
            </p:nvSpPr>
            <p:spPr>
              <a:xfrm>
                <a:off x="1009676" y="3507675"/>
                <a:ext cx="177403" cy="45868"/>
              </a:xfrm>
              <a:custGeom>
                <a:rect b="b" l="l" r="r" t="t"/>
                <a:pathLst>
                  <a:path extrusionOk="0" h="45868" w="177403">
                    <a:moveTo>
                      <a:pt x="166170" y="23197"/>
                    </a:moveTo>
                    <a:cubicBezTo>
                      <a:pt x="160751" y="24078"/>
                      <a:pt x="155264" y="24532"/>
                      <a:pt x="149766" y="24556"/>
                    </a:cubicBezTo>
                    <a:cubicBezTo>
                      <a:pt x="127270" y="24532"/>
                      <a:pt x="105543" y="16750"/>
                      <a:pt x="88606" y="2649"/>
                    </a:cubicBezTo>
                    <a:cubicBezTo>
                      <a:pt x="84370" y="-883"/>
                      <a:pt x="78043" y="-883"/>
                      <a:pt x="73807" y="2649"/>
                    </a:cubicBezTo>
                    <a:cubicBezTo>
                      <a:pt x="56870" y="16750"/>
                      <a:pt x="35144" y="24532"/>
                      <a:pt x="12647" y="24556"/>
                    </a:cubicBezTo>
                    <a:cubicBezTo>
                      <a:pt x="6492" y="23813"/>
                      <a:pt x="870" y="27962"/>
                      <a:pt x="90" y="33824"/>
                    </a:cubicBezTo>
                    <a:cubicBezTo>
                      <a:pt x="-690" y="39686"/>
                      <a:pt x="3667" y="45041"/>
                      <a:pt x="9822" y="45783"/>
                    </a:cubicBezTo>
                    <a:cubicBezTo>
                      <a:pt x="10760" y="45896"/>
                      <a:pt x="11709" y="45896"/>
                      <a:pt x="12647" y="45783"/>
                    </a:cubicBezTo>
                    <a:cubicBezTo>
                      <a:pt x="37306" y="45759"/>
                      <a:pt x="61306" y="38199"/>
                      <a:pt x="81117" y="24216"/>
                    </a:cubicBezTo>
                    <a:cubicBezTo>
                      <a:pt x="100995" y="38202"/>
                      <a:pt x="125052" y="45759"/>
                      <a:pt x="149766" y="45783"/>
                    </a:cubicBezTo>
                    <a:cubicBezTo>
                      <a:pt x="159100" y="45716"/>
                      <a:pt x="168388" y="44519"/>
                      <a:pt x="177404" y="42217"/>
                    </a:cubicBezTo>
                    <a:cubicBezTo>
                      <a:pt x="173107" y="36187"/>
                      <a:pt x="169350" y="29825"/>
                      <a:pt x="166170" y="23197"/>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sp>
            <p:nvSpPr>
              <p:cNvPr id="586" name="Google Shape;586;p48"/>
              <p:cNvSpPr/>
              <p:nvPr/>
            </p:nvSpPr>
            <p:spPr>
              <a:xfrm>
                <a:off x="1412283" y="3507636"/>
                <a:ext cx="168694" cy="45822"/>
              </a:xfrm>
              <a:custGeom>
                <a:rect b="b" l="l" r="r" t="t"/>
                <a:pathLst>
                  <a:path extrusionOk="0" h="45822" w="168694">
                    <a:moveTo>
                      <a:pt x="158873" y="24595"/>
                    </a:moveTo>
                    <a:cubicBezTo>
                      <a:pt x="136498" y="24490"/>
                      <a:pt x="114914" y="16714"/>
                      <a:pt x="98069" y="2689"/>
                    </a:cubicBezTo>
                    <a:cubicBezTo>
                      <a:pt x="93922" y="-896"/>
                      <a:pt x="87596" y="-896"/>
                      <a:pt x="83448" y="2689"/>
                    </a:cubicBezTo>
                    <a:cubicBezTo>
                      <a:pt x="66464" y="16829"/>
                      <a:pt x="44668" y="24613"/>
                      <a:pt x="22110" y="24595"/>
                    </a:cubicBezTo>
                    <a:cubicBezTo>
                      <a:pt x="18710" y="24481"/>
                      <a:pt x="15317" y="24198"/>
                      <a:pt x="11947" y="23746"/>
                    </a:cubicBezTo>
                    <a:cubicBezTo>
                      <a:pt x="8596" y="30696"/>
                      <a:pt x="4599" y="37346"/>
                      <a:pt x="0" y="43615"/>
                    </a:cubicBezTo>
                    <a:cubicBezTo>
                      <a:pt x="7279" y="45029"/>
                      <a:pt x="14682" y="45770"/>
                      <a:pt x="22110" y="45822"/>
                    </a:cubicBezTo>
                    <a:cubicBezTo>
                      <a:pt x="46642" y="45692"/>
                      <a:pt x="70494" y="38138"/>
                      <a:pt x="90224" y="24256"/>
                    </a:cubicBezTo>
                    <a:cubicBezTo>
                      <a:pt x="110102" y="38242"/>
                      <a:pt x="134159" y="45799"/>
                      <a:pt x="158873" y="45822"/>
                    </a:cubicBezTo>
                    <a:cubicBezTo>
                      <a:pt x="165028" y="45080"/>
                      <a:pt x="169384" y="39726"/>
                      <a:pt x="168605" y="33864"/>
                    </a:cubicBezTo>
                    <a:cubicBezTo>
                      <a:pt x="167959" y="29022"/>
                      <a:pt x="163956" y="25209"/>
                      <a:pt x="158873" y="24595"/>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350"/>
                  <a:buFont typeface="Arial"/>
                  <a:buNone/>
                </a:pPr>
                <a:r>
                  <a:t/>
                </a:r>
                <a:endParaRPr sz="1350">
                  <a:solidFill>
                    <a:srgbClr val="262626"/>
                  </a:solidFill>
                  <a:latin typeface="Arial"/>
                  <a:ea typeface="Arial"/>
                  <a:cs typeface="Arial"/>
                  <a:sym typeface="Arial"/>
                </a:endParaRPr>
              </a:p>
            </p:txBody>
          </p:sp>
        </p:grpSp>
        <p:sp>
          <p:nvSpPr>
            <p:cNvPr id="587" name="Google Shape;587;p48"/>
            <p:cNvSpPr txBox="1"/>
            <p:nvPr/>
          </p:nvSpPr>
          <p:spPr>
            <a:xfrm>
              <a:off x="1986675" y="1696800"/>
              <a:ext cx="655500" cy="18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5B5B5B"/>
                  </a:solidFill>
                </a:rPr>
                <a:t>Snowflake</a:t>
              </a:r>
              <a:endParaRPr sz="1100">
                <a:solidFill>
                  <a:srgbClr val="5B5B5B"/>
                </a:solidFill>
              </a:endParaRPr>
            </a:p>
          </p:txBody>
        </p:sp>
      </p:grpSp>
      <p:grpSp>
        <p:nvGrpSpPr>
          <p:cNvPr id="588" name="Google Shape;588;p48"/>
          <p:cNvGrpSpPr/>
          <p:nvPr/>
        </p:nvGrpSpPr>
        <p:grpSpPr>
          <a:xfrm>
            <a:off x="4386765" y="2155610"/>
            <a:ext cx="929100" cy="544200"/>
            <a:chOff x="7014775" y="1165725"/>
            <a:chExt cx="929100" cy="544200"/>
          </a:xfrm>
        </p:grpSpPr>
        <p:pic>
          <p:nvPicPr>
            <p:cNvPr id="589" name="Google Shape;589;p48" title="nifi-icon.png"/>
            <p:cNvPicPr preferRelativeResize="0"/>
            <p:nvPr/>
          </p:nvPicPr>
          <p:blipFill>
            <a:blip r:embed="rId5">
              <a:alphaModFix/>
            </a:blip>
            <a:stretch>
              <a:fillRect/>
            </a:stretch>
          </p:blipFill>
          <p:spPr>
            <a:xfrm>
              <a:off x="7486600" y="1165725"/>
              <a:ext cx="457200" cy="457200"/>
            </a:xfrm>
            <a:prstGeom prst="rect">
              <a:avLst/>
            </a:prstGeom>
            <a:noFill/>
            <a:ln>
              <a:noFill/>
            </a:ln>
          </p:spPr>
        </p:pic>
        <p:sp>
          <p:nvSpPr>
            <p:cNvPr id="590" name="Google Shape;590;p48"/>
            <p:cNvSpPr txBox="1"/>
            <p:nvPr/>
          </p:nvSpPr>
          <p:spPr>
            <a:xfrm>
              <a:off x="7014775" y="1556025"/>
              <a:ext cx="9291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OpenFlow</a:t>
              </a:r>
              <a:endParaRPr sz="1000">
                <a:solidFill>
                  <a:schemeClr val="dk1"/>
                </a:solidFill>
              </a:endParaRPr>
            </a:p>
          </p:txBody>
        </p:sp>
        <p:grpSp>
          <p:nvGrpSpPr>
            <p:cNvPr id="591" name="Google Shape;591;p48"/>
            <p:cNvGrpSpPr/>
            <p:nvPr/>
          </p:nvGrpSpPr>
          <p:grpSpPr>
            <a:xfrm>
              <a:off x="7014778" y="1291698"/>
              <a:ext cx="445435" cy="205256"/>
              <a:chOff x="238125" y="1140200"/>
              <a:chExt cx="7003700" cy="3227300"/>
            </a:xfrm>
          </p:grpSpPr>
          <p:sp>
            <p:nvSpPr>
              <p:cNvPr id="592" name="Google Shape;592;p48"/>
              <p:cNvSpPr/>
              <p:nvPr/>
            </p:nvSpPr>
            <p:spPr>
              <a:xfrm>
                <a:off x="708750" y="1140200"/>
                <a:ext cx="6533075" cy="3227300"/>
              </a:xfrm>
              <a:custGeom>
                <a:rect b="b" l="l" r="r" t="t"/>
                <a:pathLst>
                  <a:path extrusionOk="0" h="129092" w="261323">
                    <a:moveTo>
                      <a:pt x="231290" y="0"/>
                    </a:moveTo>
                    <a:lnTo>
                      <a:pt x="195656" y="0"/>
                    </a:lnTo>
                    <a:cubicBezTo>
                      <a:pt x="188708" y="0"/>
                      <a:pt x="182209" y="4482"/>
                      <a:pt x="176830" y="12775"/>
                    </a:cubicBezTo>
                    <a:lnTo>
                      <a:pt x="84493" y="12102"/>
                    </a:lnTo>
                    <a:cubicBezTo>
                      <a:pt x="78218" y="2241"/>
                      <a:pt x="71046" y="0"/>
                      <a:pt x="66116" y="0"/>
                    </a:cubicBezTo>
                    <a:cubicBezTo>
                      <a:pt x="65891" y="0"/>
                      <a:pt x="65891" y="0"/>
                      <a:pt x="65667" y="224"/>
                    </a:cubicBezTo>
                    <a:cubicBezTo>
                      <a:pt x="65443" y="224"/>
                      <a:pt x="65219" y="0"/>
                      <a:pt x="64995" y="0"/>
                    </a:cubicBezTo>
                    <a:cubicBezTo>
                      <a:pt x="64771" y="0"/>
                      <a:pt x="64323" y="0"/>
                      <a:pt x="64099" y="0"/>
                    </a:cubicBezTo>
                    <a:cubicBezTo>
                      <a:pt x="63874" y="0"/>
                      <a:pt x="63650" y="0"/>
                      <a:pt x="63650" y="0"/>
                    </a:cubicBezTo>
                    <a:lnTo>
                      <a:pt x="28240" y="0"/>
                    </a:lnTo>
                    <a:cubicBezTo>
                      <a:pt x="19051" y="0"/>
                      <a:pt x="10983" y="7396"/>
                      <a:pt x="5156" y="20395"/>
                    </a:cubicBezTo>
                    <a:cubicBezTo>
                      <a:pt x="3139" y="25549"/>
                      <a:pt x="1346" y="31376"/>
                      <a:pt x="1" y="37428"/>
                    </a:cubicBezTo>
                    <a:lnTo>
                      <a:pt x="2018" y="37428"/>
                    </a:lnTo>
                    <a:cubicBezTo>
                      <a:pt x="4707" y="37428"/>
                      <a:pt x="7397" y="37428"/>
                      <a:pt x="10086" y="37428"/>
                    </a:cubicBezTo>
                    <a:cubicBezTo>
                      <a:pt x="14120" y="20395"/>
                      <a:pt x="21292" y="9861"/>
                      <a:pt x="28240" y="9861"/>
                    </a:cubicBezTo>
                    <a:lnTo>
                      <a:pt x="47962" y="9861"/>
                    </a:lnTo>
                    <a:cubicBezTo>
                      <a:pt x="45945" y="12775"/>
                      <a:pt x="43704" y="16361"/>
                      <a:pt x="41911" y="20395"/>
                    </a:cubicBezTo>
                    <a:cubicBezTo>
                      <a:pt x="39894" y="25549"/>
                      <a:pt x="38101" y="31152"/>
                      <a:pt x="36756" y="37428"/>
                    </a:cubicBezTo>
                    <a:cubicBezTo>
                      <a:pt x="37429" y="37428"/>
                      <a:pt x="37877" y="37428"/>
                      <a:pt x="38549" y="37428"/>
                    </a:cubicBezTo>
                    <a:lnTo>
                      <a:pt x="47066" y="37428"/>
                    </a:lnTo>
                    <a:cubicBezTo>
                      <a:pt x="50876" y="20619"/>
                      <a:pt x="58271" y="9861"/>
                      <a:pt x="64995" y="9861"/>
                    </a:cubicBezTo>
                    <a:cubicBezTo>
                      <a:pt x="65219" y="9861"/>
                      <a:pt x="65443" y="9861"/>
                      <a:pt x="65667" y="9861"/>
                    </a:cubicBezTo>
                    <a:cubicBezTo>
                      <a:pt x="65667" y="9861"/>
                      <a:pt x="65891" y="9861"/>
                      <a:pt x="66116" y="9861"/>
                    </a:cubicBezTo>
                    <a:cubicBezTo>
                      <a:pt x="68805" y="9861"/>
                      <a:pt x="71046" y="11430"/>
                      <a:pt x="73063" y="13223"/>
                    </a:cubicBezTo>
                    <a:cubicBezTo>
                      <a:pt x="69477" y="14792"/>
                      <a:pt x="66340" y="18154"/>
                      <a:pt x="63650" y="22188"/>
                    </a:cubicBezTo>
                    <a:lnTo>
                      <a:pt x="172123" y="22188"/>
                    </a:lnTo>
                    <a:cubicBezTo>
                      <a:pt x="167417" y="33842"/>
                      <a:pt x="164951" y="48858"/>
                      <a:pt x="164951" y="64546"/>
                    </a:cubicBezTo>
                    <a:cubicBezTo>
                      <a:pt x="164951" y="80234"/>
                      <a:pt x="167641" y="96146"/>
                      <a:pt x="172571" y="108025"/>
                    </a:cubicBezTo>
                    <a:lnTo>
                      <a:pt x="60513" y="107352"/>
                    </a:lnTo>
                    <a:cubicBezTo>
                      <a:pt x="60289" y="107801"/>
                      <a:pt x="59840" y="108249"/>
                      <a:pt x="59616" y="108697"/>
                    </a:cubicBezTo>
                    <a:cubicBezTo>
                      <a:pt x="56703" y="111386"/>
                      <a:pt x="54237" y="114524"/>
                      <a:pt x="51548" y="117438"/>
                    </a:cubicBezTo>
                    <a:lnTo>
                      <a:pt x="177726" y="117886"/>
                    </a:lnTo>
                    <a:lnTo>
                      <a:pt x="177950" y="117886"/>
                    </a:lnTo>
                    <a:cubicBezTo>
                      <a:pt x="182881" y="125282"/>
                      <a:pt x="189156" y="129092"/>
                      <a:pt x="195880" y="129092"/>
                    </a:cubicBezTo>
                    <a:lnTo>
                      <a:pt x="231290" y="129092"/>
                    </a:lnTo>
                    <a:cubicBezTo>
                      <a:pt x="248323" y="129092"/>
                      <a:pt x="261322" y="101525"/>
                      <a:pt x="261322" y="64546"/>
                    </a:cubicBezTo>
                    <a:cubicBezTo>
                      <a:pt x="261322" y="27566"/>
                      <a:pt x="248323" y="0"/>
                      <a:pt x="231290" y="0"/>
                    </a:cubicBezTo>
                    <a:close/>
                    <a:moveTo>
                      <a:pt x="195656" y="119230"/>
                    </a:moveTo>
                    <a:cubicBezTo>
                      <a:pt x="186019" y="119230"/>
                      <a:pt x="174813" y="96819"/>
                      <a:pt x="174813" y="64546"/>
                    </a:cubicBezTo>
                    <a:cubicBezTo>
                      <a:pt x="174813" y="32497"/>
                      <a:pt x="185794" y="9861"/>
                      <a:pt x="195656" y="9861"/>
                    </a:cubicBezTo>
                    <a:lnTo>
                      <a:pt x="214706" y="9861"/>
                    </a:lnTo>
                    <a:cubicBezTo>
                      <a:pt x="206413" y="21291"/>
                      <a:pt x="201034" y="41013"/>
                      <a:pt x="201034" y="64546"/>
                    </a:cubicBezTo>
                    <a:cubicBezTo>
                      <a:pt x="201034" y="88302"/>
                      <a:pt x="206413" y="108025"/>
                      <a:pt x="214706" y="119230"/>
                    </a:cubicBezTo>
                    <a:close/>
                    <a:moveTo>
                      <a:pt x="231290" y="119230"/>
                    </a:moveTo>
                    <a:cubicBezTo>
                      <a:pt x="226808" y="119230"/>
                      <a:pt x="221877" y="113852"/>
                      <a:pt x="218067" y="104887"/>
                    </a:cubicBezTo>
                    <a:cubicBezTo>
                      <a:pt x="213585" y="94129"/>
                      <a:pt x="211120" y="80010"/>
                      <a:pt x="211120" y="64546"/>
                    </a:cubicBezTo>
                    <a:cubicBezTo>
                      <a:pt x="211120" y="33394"/>
                      <a:pt x="221653" y="9861"/>
                      <a:pt x="231290" y="9861"/>
                    </a:cubicBezTo>
                    <a:cubicBezTo>
                      <a:pt x="235549" y="9861"/>
                      <a:pt x="240479" y="15464"/>
                      <a:pt x="244289" y="24429"/>
                    </a:cubicBezTo>
                    <a:cubicBezTo>
                      <a:pt x="248771" y="34962"/>
                      <a:pt x="251237" y="49306"/>
                      <a:pt x="251237" y="64546"/>
                    </a:cubicBezTo>
                    <a:cubicBezTo>
                      <a:pt x="251237" y="95922"/>
                      <a:pt x="240703" y="119230"/>
                      <a:pt x="231290" y="11923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593" name="Google Shape;593;p48"/>
              <p:cNvSpPr/>
              <p:nvPr/>
            </p:nvSpPr>
            <p:spPr>
              <a:xfrm>
                <a:off x="663925" y="3005975"/>
                <a:ext cx="1512825" cy="1042150"/>
              </a:xfrm>
              <a:custGeom>
                <a:rect b="b" l="l" r="r" t="t"/>
                <a:pathLst>
                  <a:path extrusionOk="0" h="41686" w="60513">
                    <a:moveTo>
                      <a:pt x="59840" y="22636"/>
                    </a:moveTo>
                    <a:cubicBezTo>
                      <a:pt x="59840" y="22636"/>
                      <a:pt x="60064" y="22636"/>
                      <a:pt x="60064" y="22412"/>
                    </a:cubicBezTo>
                    <a:lnTo>
                      <a:pt x="60064" y="22412"/>
                    </a:lnTo>
                    <a:cubicBezTo>
                      <a:pt x="60289" y="21515"/>
                      <a:pt x="60513" y="20843"/>
                      <a:pt x="60289" y="19947"/>
                    </a:cubicBezTo>
                    <a:cubicBezTo>
                      <a:pt x="60289" y="19722"/>
                      <a:pt x="60289" y="19498"/>
                      <a:pt x="60289" y="19498"/>
                    </a:cubicBezTo>
                    <a:cubicBezTo>
                      <a:pt x="60064" y="18826"/>
                      <a:pt x="59616" y="18154"/>
                      <a:pt x="59168" y="17481"/>
                    </a:cubicBezTo>
                    <a:cubicBezTo>
                      <a:pt x="59168" y="17481"/>
                      <a:pt x="59168" y="17481"/>
                      <a:pt x="59168" y="17257"/>
                    </a:cubicBezTo>
                    <a:lnTo>
                      <a:pt x="44152" y="2017"/>
                    </a:lnTo>
                    <a:cubicBezTo>
                      <a:pt x="42359" y="0"/>
                      <a:pt x="39222" y="0"/>
                      <a:pt x="37429" y="1793"/>
                    </a:cubicBezTo>
                    <a:cubicBezTo>
                      <a:pt x="35636" y="3586"/>
                      <a:pt x="35636" y="6724"/>
                      <a:pt x="37429" y="8517"/>
                    </a:cubicBezTo>
                    <a:lnTo>
                      <a:pt x="44600" y="15912"/>
                    </a:lnTo>
                    <a:lnTo>
                      <a:pt x="4707" y="15912"/>
                    </a:lnTo>
                    <a:cubicBezTo>
                      <a:pt x="2242" y="15912"/>
                      <a:pt x="1" y="17930"/>
                      <a:pt x="1" y="20619"/>
                    </a:cubicBezTo>
                    <a:cubicBezTo>
                      <a:pt x="1" y="23308"/>
                      <a:pt x="2018" y="25325"/>
                      <a:pt x="4707" y="25325"/>
                    </a:cubicBezTo>
                    <a:lnTo>
                      <a:pt x="45049" y="25325"/>
                    </a:lnTo>
                    <a:lnTo>
                      <a:pt x="37204" y="33618"/>
                    </a:lnTo>
                    <a:cubicBezTo>
                      <a:pt x="35636" y="35635"/>
                      <a:pt x="35636" y="38548"/>
                      <a:pt x="37653" y="40341"/>
                    </a:cubicBezTo>
                    <a:cubicBezTo>
                      <a:pt x="38549" y="41238"/>
                      <a:pt x="39670" y="41686"/>
                      <a:pt x="40790" y="41686"/>
                    </a:cubicBezTo>
                    <a:cubicBezTo>
                      <a:pt x="41911" y="41686"/>
                      <a:pt x="43256" y="41014"/>
                      <a:pt x="44152" y="40117"/>
                    </a:cubicBezTo>
                    <a:lnTo>
                      <a:pt x="59168" y="23757"/>
                    </a:lnTo>
                    <a:cubicBezTo>
                      <a:pt x="59392" y="23532"/>
                      <a:pt x="59616" y="23084"/>
                      <a:pt x="59840" y="22636"/>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594" name="Google Shape;594;p48"/>
              <p:cNvSpPr/>
              <p:nvPr/>
            </p:nvSpPr>
            <p:spPr>
              <a:xfrm>
                <a:off x="512650" y="1907800"/>
                <a:ext cx="2218800" cy="1036550"/>
              </a:xfrm>
              <a:custGeom>
                <a:rect b="b" l="l" r="r" t="t"/>
                <a:pathLst>
                  <a:path extrusionOk="0" h="41462" w="88752">
                    <a:moveTo>
                      <a:pt x="4707" y="25325"/>
                    </a:moveTo>
                    <a:lnTo>
                      <a:pt x="73511" y="25325"/>
                    </a:lnTo>
                    <a:lnTo>
                      <a:pt x="65667" y="33618"/>
                    </a:lnTo>
                    <a:cubicBezTo>
                      <a:pt x="63874" y="35411"/>
                      <a:pt x="64098" y="38548"/>
                      <a:pt x="65891" y="40341"/>
                    </a:cubicBezTo>
                    <a:cubicBezTo>
                      <a:pt x="66788" y="41014"/>
                      <a:pt x="68133" y="41462"/>
                      <a:pt x="69253" y="41462"/>
                    </a:cubicBezTo>
                    <a:cubicBezTo>
                      <a:pt x="70374" y="41462"/>
                      <a:pt x="71718" y="41014"/>
                      <a:pt x="72615" y="39893"/>
                    </a:cubicBezTo>
                    <a:lnTo>
                      <a:pt x="87631" y="23757"/>
                    </a:lnTo>
                    <a:cubicBezTo>
                      <a:pt x="87855" y="23308"/>
                      <a:pt x="88079" y="23084"/>
                      <a:pt x="88303" y="22636"/>
                    </a:cubicBezTo>
                    <a:cubicBezTo>
                      <a:pt x="88303" y="22412"/>
                      <a:pt x="88303" y="22412"/>
                      <a:pt x="88527" y="22412"/>
                    </a:cubicBezTo>
                    <a:lnTo>
                      <a:pt x="88527" y="22188"/>
                    </a:lnTo>
                    <a:cubicBezTo>
                      <a:pt x="88751" y="21515"/>
                      <a:pt x="88751" y="20619"/>
                      <a:pt x="88751" y="19947"/>
                    </a:cubicBezTo>
                    <a:cubicBezTo>
                      <a:pt x="88751" y="19722"/>
                      <a:pt x="88527" y="19498"/>
                      <a:pt x="88527" y="19274"/>
                    </a:cubicBezTo>
                    <a:cubicBezTo>
                      <a:pt x="88303" y="18602"/>
                      <a:pt x="88079" y="18154"/>
                      <a:pt x="87631" y="17481"/>
                    </a:cubicBezTo>
                    <a:cubicBezTo>
                      <a:pt x="87631" y="17481"/>
                      <a:pt x="87631" y="17257"/>
                      <a:pt x="87407" y="17257"/>
                    </a:cubicBezTo>
                    <a:lnTo>
                      <a:pt x="72615" y="1793"/>
                    </a:lnTo>
                    <a:cubicBezTo>
                      <a:pt x="70598" y="0"/>
                      <a:pt x="67684" y="0"/>
                      <a:pt x="65891" y="1793"/>
                    </a:cubicBezTo>
                    <a:cubicBezTo>
                      <a:pt x="64098" y="3586"/>
                      <a:pt x="63874" y="6500"/>
                      <a:pt x="65667" y="8517"/>
                    </a:cubicBezTo>
                    <a:lnTo>
                      <a:pt x="72839" y="15912"/>
                    </a:lnTo>
                    <a:lnTo>
                      <a:pt x="4707" y="15912"/>
                    </a:lnTo>
                    <a:cubicBezTo>
                      <a:pt x="2242" y="15912"/>
                      <a:pt x="1" y="17929"/>
                      <a:pt x="1" y="20619"/>
                    </a:cubicBezTo>
                    <a:cubicBezTo>
                      <a:pt x="1" y="23084"/>
                      <a:pt x="2018" y="25325"/>
                      <a:pt x="4707" y="25325"/>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595" name="Google Shape;595;p48"/>
              <p:cNvSpPr/>
              <p:nvPr/>
            </p:nvSpPr>
            <p:spPr>
              <a:xfrm>
                <a:off x="294150" y="2871500"/>
                <a:ext cx="1070175" cy="212925"/>
              </a:xfrm>
              <a:custGeom>
                <a:rect b="b" l="l" r="r" t="t"/>
                <a:pathLst>
                  <a:path extrusionOk="0" h="8517" w="42807">
                    <a:moveTo>
                      <a:pt x="4258" y="8517"/>
                    </a:moveTo>
                    <a:lnTo>
                      <a:pt x="38548" y="8517"/>
                    </a:lnTo>
                    <a:cubicBezTo>
                      <a:pt x="41014" y="8517"/>
                      <a:pt x="42807" y="6724"/>
                      <a:pt x="42807" y="4259"/>
                    </a:cubicBezTo>
                    <a:cubicBezTo>
                      <a:pt x="42807" y="1793"/>
                      <a:pt x="41014" y="0"/>
                      <a:pt x="38548" y="0"/>
                    </a:cubicBezTo>
                    <a:lnTo>
                      <a:pt x="4258" y="0"/>
                    </a:lnTo>
                    <a:cubicBezTo>
                      <a:pt x="1793" y="0"/>
                      <a:pt x="0" y="1793"/>
                      <a:pt x="0" y="4259"/>
                    </a:cubicBezTo>
                    <a:cubicBezTo>
                      <a:pt x="0" y="6724"/>
                      <a:pt x="1793" y="8517"/>
                      <a:pt x="4258" y="8517"/>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596" name="Google Shape;596;p48"/>
              <p:cNvSpPr/>
              <p:nvPr/>
            </p:nvSpPr>
            <p:spPr>
              <a:xfrm>
                <a:off x="238125" y="4003300"/>
                <a:ext cx="1137400" cy="218525"/>
              </a:xfrm>
              <a:custGeom>
                <a:rect b="b" l="l" r="r" t="t"/>
                <a:pathLst>
                  <a:path extrusionOk="0" h="8741" w="45496">
                    <a:moveTo>
                      <a:pt x="41014" y="0"/>
                    </a:moveTo>
                    <a:lnTo>
                      <a:pt x="4258" y="0"/>
                    </a:lnTo>
                    <a:cubicBezTo>
                      <a:pt x="2017" y="0"/>
                      <a:pt x="0" y="2017"/>
                      <a:pt x="0" y="4258"/>
                    </a:cubicBezTo>
                    <a:cubicBezTo>
                      <a:pt x="0" y="6724"/>
                      <a:pt x="2017" y="8741"/>
                      <a:pt x="4258" y="8741"/>
                    </a:cubicBezTo>
                    <a:lnTo>
                      <a:pt x="41014" y="8741"/>
                    </a:lnTo>
                    <a:cubicBezTo>
                      <a:pt x="43479" y="8741"/>
                      <a:pt x="45496" y="6724"/>
                      <a:pt x="45496" y="4258"/>
                    </a:cubicBezTo>
                    <a:cubicBezTo>
                      <a:pt x="45496" y="2017"/>
                      <a:pt x="43479" y="0"/>
                      <a:pt x="4101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597" name="Google Shape;597;p48"/>
              <p:cNvSpPr/>
              <p:nvPr/>
            </p:nvSpPr>
            <p:spPr>
              <a:xfrm>
                <a:off x="3992075" y="2428875"/>
                <a:ext cx="565925" cy="638750"/>
              </a:xfrm>
              <a:custGeom>
                <a:rect b="b" l="l" r="r" t="t"/>
                <a:pathLst>
                  <a:path extrusionOk="0" h="25550" w="22637">
                    <a:moveTo>
                      <a:pt x="21516" y="2465"/>
                    </a:moveTo>
                    <a:cubicBezTo>
                      <a:pt x="20396" y="672"/>
                      <a:pt x="17930" y="0"/>
                      <a:pt x="15913" y="1121"/>
                    </a:cubicBezTo>
                    <a:lnTo>
                      <a:pt x="2018" y="9189"/>
                    </a:lnTo>
                    <a:cubicBezTo>
                      <a:pt x="897" y="9637"/>
                      <a:pt x="225" y="10534"/>
                      <a:pt x="1" y="11654"/>
                    </a:cubicBezTo>
                    <a:cubicBezTo>
                      <a:pt x="1" y="11878"/>
                      <a:pt x="1" y="12102"/>
                      <a:pt x="1" y="12551"/>
                    </a:cubicBezTo>
                    <a:cubicBezTo>
                      <a:pt x="1" y="12999"/>
                      <a:pt x="1" y="13447"/>
                      <a:pt x="1" y="13895"/>
                    </a:cubicBezTo>
                    <a:cubicBezTo>
                      <a:pt x="449" y="14792"/>
                      <a:pt x="1121" y="15688"/>
                      <a:pt x="2018" y="16136"/>
                    </a:cubicBezTo>
                    <a:lnTo>
                      <a:pt x="15913" y="24205"/>
                    </a:lnTo>
                    <a:cubicBezTo>
                      <a:pt x="17930" y="25549"/>
                      <a:pt x="20396" y="24877"/>
                      <a:pt x="21516" y="22860"/>
                    </a:cubicBezTo>
                    <a:cubicBezTo>
                      <a:pt x="22637" y="20843"/>
                      <a:pt x="21964" y="18378"/>
                      <a:pt x="19947" y="17257"/>
                    </a:cubicBezTo>
                    <a:lnTo>
                      <a:pt x="12327" y="12551"/>
                    </a:lnTo>
                    <a:lnTo>
                      <a:pt x="19947" y="8068"/>
                    </a:lnTo>
                    <a:cubicBezTo>
                      <a:pt x="21964" y="6948"/>
                      <a:pt x="22637" y="4482"/>
                      <a:pt x="21516" y="2465"/>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598" name="Google Shape;598;p48"/>
              <p:cNvSpPr/>
              <p:nvPr/>
            </p:nvSpPr>
            <p:spPr>
              <a:xfrm>
                <a:off x="3801575" y="2961150"/>
                <a:ext cx="571525" cy="610725"/>
              </a:xfrm>
              <a:custGeom>
                <a:rect b="b" l="l" r="r" t="t"/>
                <a:pathLst>
                  <a:path extrusionOk="0" h="24429" w="22861">
                    <a:moveTo>
                      <a:pt x="6276" y="673"/>
                    </a:moveTo>
                    <a:cubicBezTo>
                      <a:pt x="5604" y="224"/>
                      <a:pt x="4707" y="0"/>
                      <a:pt x="3811" y="224"/>
                    </a:cubicBezTo>
                    <a:cubicBezTo>
                      <a:pt x="1794" y="224"/>
                      <a:pt x="1" y="2017"/>
                      <a:pt x="1" y="4258"/>
                    </a:cubicBezTo>
                    <a:lnTo>
                      <a:pt x="1" y="20395"/>
                    </a:lnTo>
                    <a:cubicBezTo>
                      <a:pt x="1" y="22636"/>
                      <a:pt x="1794" y="24429"/>
                      <a:pt x="4259" y="24429"/>
                    </a:cubicBezTo>
                    <a:cubicBezTo>
                      <a:pt x="6500" y="24429"/>
                      <a:pt x="8293" y="22636"/>
                      <a:pt x="8293" y="20395"/>
                    </a:cubicBezTo>
                    <a:lnTo>
                      <a:pt x="8293" y="11430"/>
                    </a:lnTo>
                    <a:lnTo>
                      <a:pt x="16137" y="15913"/>
                    </a:lnTo>
                    <a:cubicBezTo>
                      <a:pt x="18154" y="17033"/>
                      <a:pt x="20620" y="16361"/>
                      <a:pt x="21740" y="14344"/>
                    </a:cubicBezTo>
                    <a:cubicBezTo>
                      <a:pt x="22861" y="12327"/>
                      <a:pt x="22188" y="9861"/>
                      <a:pt x="20171" y="8741"/>
                    </a:cubicBezTo>
                    <a:lnTo>
                      <a:pt x="6276" y="673"/>
                    </a:ln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599" name="Google Shape;599;p48"/>
              <p:cNvSpPr/>
              <p:nvPr/>
            </p:nvSpPr>
            <p:spPr>
              <a:xfrm>
                <a:off x="3527050" y="2552125"/>
                <a:ext cx="386625" cy="386625"/>
              </a:xfrm>
              <a:custGeom>
                <a:rect b="b" l="l" r="r" t="t"/>
                <a:pathLst>
                  <a:path extrusionOk="0" h="15465" w="15465">
                    <a:moveTo>
                      <a:pt x="8517" y="1"/>
                    </a:moveTo>
                    <a:lnTo>
                      <a:pt x="6948" y="1"/>
                    </a:lnTo>
                    <a:cubicBezTo>
                      <a:pt x="6724" y="1"/>
                      <a:pt x="6275" y="225"/>
                      <a:pt x="6051" y="449"/>
                    </a:cubicBezTo>
                    <a:lnTo>
                      <a:pt x="448" y="6052"/>
                    </a:lnTo>
                    <a:cubicBezTo>
                      <a:pt x="224" y="6276"/>
                      <a:pt x="0" y="6724"/>
                      <a:pt x="0" y="6948"/>
                    </a:cubicBezTo>
                    <a:lnTo>
                      <a:pt x="0" y="8517"/>
                    </a:lnTo>
                    <a:cubicBezTo>
                      <a:pt x="0" y="8741"/>
                      <a:pt x="224" y="9189"/>
                      <a:pt x="448" y="9414"/>
                    </a:cubicBezTo>
                    <a:lnTo>
                      <a:pt x="6051" y="15016"/>
                    </a:lnTo>
                    <a:cubicBezTo>
                      <a:pt x="6275" y="15241"/>
                      <a:pt x="6724" y="15465"/>
                      <a:pt x="6948" y="15465"/>
                    </a:cubicBezTo>
                    <a:lnTo>
                      <a:pt x="8517" y="15465"/>
                    </a:lnTo>
                    <a:cubicBezTo>
                      <a:pt x="8741" y="15465"/>
                      <a:pt x="9189" y="15241"/>
                      <a:pt x="9413" y="15016"/>
                    </a:cubicBezTo>
                    <a:lnTo>
                      <a:pt x="15016" y="9414"/>
                    </a:lnTo>
                    <a:cubicBezTo>
                      <a:pt x="15240" y="9189"/>
                      <a:pt x="15464" y="8741"/>
                      <a:pt x="15464" y="8517"/>
                    </a:cubicBezTo>
                    <a:lnTo>
                      <a:pt x="15464" y="6948"/>
                    </a:lnTo>
                    <a:cubicBezTo>
                      <a:pt x="15464" y="6724"/>
                      <a:pt x="15240" y="6276"/>
                      <a:pt x="15016" y="6052"/>
                    </a:cubicBezTo>
                    <a:lnTo>
                      <a:pt x="9413" y="449"/>
                    </a:lnTo>
                    <a:cubicBezTo>
                      <a:pt x="9189" y="225"/>
                      <a:pt x="8741" y="1"/>
                      <a:pt x="8517" y="1"/>
                    </a:cubicBezTo>
                    <a:close/>
                    <a:moveTo>
                      <a:pt x="10534" y="7621"/>
                    </a:moveTo>
                    <a:lnTo>
                      <a:pt x="10534" y="7845"/>
                    </a:lnTo>
                    <a:cubicBezTo>
                      <a:pt x="10534" y="8069"/>
                      <a:pt x="10309" y="8293"/>
                      <a:pt x="10085" y="8517"/>
                    </a:cubicBezTo>
                    <a:lnTo>
                      <a:pt x="8517" y="10086"/>
                    </a:lnTo>
                    <a:cubicBezTo>
                      <a:pt x="8292" y="10310"/>
                      <a:pt x="8068" y="10534"/>
                      <a:pt x="7844" y="10534"/>
                    </a:cubicBezTo>
                    <a:lnTo>
                      <a:pt x="7620" y="10534"/>
                    </a:lnTo>
                    <a:cubicBezTo>
                      <a:pt x="7396" y="10534"/>
                      <a:pt x="7172" y="10310"/>
                      <a:pt x="6948" y="10086"/>
                    </a:cubicBezTo>
                    <a:lnTo>
                      <a:pt x="5379" y="8517"/>
                    </a:lnTo>
                    <a:cubicBezTo>
                      <a:pt x="5155" y="8293"/>
                      <a:pt x="4931" y="8069"/>
                      <a:pt x="4931" y="7845"/>
                    </a:cubicBezTo>
                    <a:lnTo>
                      <a:pt x="4931" y="7621"/>
                    </a:lnTo>
                    <a:cubicBezTo>
                      <a:pt x="4931" y="7396"/>
                      <a:pt x="5155" y="7172"/>
                      <a:pt x="5379" y="6948"/>
                    </a:cubicBezTo>
                    <a:lnTo>
                      <a:pt x="6948" y="5379"/>
                    </a:lnTo>
                    <a:cubicBezTo>
                      <a:pt x="7172" y="5155"/>
                      <a:pt x="7396" y="4931"/>
                      <a:pt x="7620" y="4931"/>
                    </a:cubicBezTo>
                    <a:lnTo>
                      <a:pt x="7844" y="4931"/>
                    </a:lnTo>
                    <a:cubicBezTo>
                      <a:pt x="8068" y="4931"/>
                      <a:pt x="8292" y="5155"/>
                      <a:pt x="8517" y="5379"/>
                    </a:cubicBezTo>
                    <a:lnTo>
                      <a:pt x="10085" y="6948"/>
                    </a:lnTo>
                    <a:cubicBezTo>
                      <a:pt x="10309" y="7172"/>
                      <a:pt x="10534" y="7396"/>
                      <a:pt x="10534" y="762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600" name="Google Shape;600;p48"/>
              <p:cNvSpPr/>
              <p:nvPr/>
            </p:nvSpPr>
            <p:spPr>
              <a:xfrm>
                <a:off x="3067600" y="1919000"/>
                <a:ext cx="571525" cy="610750"/>
              </a:xfrm>
              <a:custGeom>
                <a:rect b="b" l="l" r="r" t="t"/>
                <a:pathLst>
                  <a:path extrusionOk="0" h="24430" w="22861">
                    <a:moveTo>
                      <a:pt x="18602" y="0"/>
                    </a:moveTo>
                    <a:cubicBezTo>
                      <a:pt x="16361" y="0"/>
                      <a:pt x="14568" y="1793"/>
                      <a:pt x="14568" y="4034"/>
                    </a:cubicBezTo>
                    <a:lnTo>
                      <a:pt x="14568" y="12999"/>
                    </a:lnTo>
                    <a:lnTo>
                      <a:pt x="6724" y="8517"/>
                    </a:lnTo>
                    <a:cubicBezTo>
                      <a:pt x="4707" y="7396"/>
                      <a:pt x="2242" y="8069"/>
                      <a:pt x="1121" y="10086"/>
                    </a:cubicBezTo>
                    <a:cubicBezTo>
                      <a:pt x="0" y="12103"/>
                      <a:pt x="673" y="14568"/>
                      <a:pt x="2690" y="15689"/>
                    </a:cubicBezTo>
                    <a:lnTo>
                      <a:pt x="16585" y="23757"/>
                    </a:lnTo>
                    <a:cubicBezTo>
                      <a:pt x="17257" y="24205"/>
                      <a:pt x="18154" y="24429"/>
                      <a:pt x="19050" y="24205"/>
                    </a:cubicBezTo>
                    <a:cubicBezTo>
                      <a:pt x="21067" y="24205"/>
                      <a:pt x="22860" y="22412"/>
                      <a:pt x="22860" y="20171"/>
                    </a:cubicBezTo>
                    <a:lnTo>
                      <a:pt x="22860" y="4034"/>
                    </a:lnTo>
                    <a:cubicBezTo>
                      <a:pt x="22860" y="1793"/>
                      <a:pt x="20843" y="0"/>
                      <a:pt x="1860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601" name="Google Shape;601;p48"/>
              <p:cNvSpPr/>
              <p:nvPr/>
            </p:nvSpPr>
            <p:spPr>
              <a:xfrm>
                <a:off x="3801575" y="1913400"/>
                <a:ext cx="571525" cy="616350"/>
              </a:xfrm>
              <a:custGeom>
                <a:rect b="b" l="l" r="r" t="t"/>
                <a:pathLst>
                  <a:path extrusionOk="0" h="24654" w="22861">
                    <a:moveTo>
                      <a:pt x="4259" y="224"/>
                    </a:moveTo>
                    <a:cubicBezTo>
                      <a:pt x="2018" y="224"/>
                      <a:pt x="1" y="2017"/>
                      <a:pt x="1" y="4258"/>
                    </a:cubicBezTo>
                    <a:lnTo>
                      <a:pt x="1" y="20395"/>
                    </a:lnTo>
                    <a:cubicBezTo>
                      <a:pt x="1" y="22636"/>
                      <a:pt x="1794" y="24429"/>
                      <a:pt x="3811" y="24429"/>
                    </a:cubicBezTo>
                    <a:cubicBezTo>
                      <a:pt x="4707" y="24653"/>
                      <a:pt x="5604" y="24429"/>
                      <a:pt x="6276" y="23981"/>
                    </a:cubicBezTo>
                    <a:lnTo>
                      <a:pt x="20171" y="15913"/>
                    </a:lnTo>
                    <a:cubicBezTo>
                      <a:pt x="22188" y="14792"/>
                      <a:pt x="22861" y="12327"/>
                      <a:pt x="21740" y="10310"/>
                    </a:cubicBezTo>
                    <a:cubicBezTo>
                      <a:pt x="20620" y="8293"/>
                      <a:pt x="18154" y="7620"/>
                      <a:pt x="16137" y="8741"/>
                    </a:cubicBezTo>
                    <a:lnTo>
                      <a:pt x="8293" y="13223"/>
                    </a:lnTo>
                    <a:lnTo>
                      <a:pt x="8293" y="4258"/>
                    </a:lnTo>
                    <a:cubicBezTo>
                      <a:pt x="8293" y="2017"/>
                      <a:pt x="6500" y="0"/>
                      <a:pt x="4259"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602" name="Google Shape;602;p48"/>
              <p:cNvSpPr/>
              <p:nvPr/>
            </p:nvSpPr>
            <p:spPr>
              <a:xfrm>
                <a:off x="3067600" y="2961150"/>
                <a:ext cx="571525" cy="610725"/>
              </a:xfrm>
              <a:custGeom>
                <a:rect b="b" l="l" r="r" t="t"/>
                <a:pathLst>
                  <a:path extrusionOk="0" h="24429" w="22861">
                    <a:moveTo>
                      <a:pt x="18602" y="24429"/>
                    </a:moveTo>
                    <a:cubicBezTo>
                      <a:pt x="20843" y="24429"/>
                      <a:pt x="22860" y="22636"/>
                      <a:pt x="22860" y="20395"/>
                    </a:cubicBezTo>
                    <a:lnTo>
                      <a:pt x="22860" y="4258"/>
                    </a:lnTo>
                    <a:cubicBezTo>
                      <a:pt x="22860" y="2017"/>
                      <a:pt x="21067" y="224"/>
                      <a:pt x="19050" y="224"/>
                    </a:cubicBezTo>
                    <a:cubicBezTo>
                      <a:pt x="18154" y="0"/>
                      <a:pt x="17257" y="224"/>
                      <a:pt x="16585" y="673"/>
                    </a:cubicBezTo>
                    <a:lnTo>
                      <a:pt x="2466" y="8741"/>
                    </a:lnTo>
                    <a:cubicBezTo>
                      <a:pt x="673" y="9861"/>
                      <a:pt x="0" y="12327"/>
                      <a:pt x="1121" y="14344"/>
                    </a:cubicBezTo>
                    <a:cubicBezTo>
                      <a:pt x="2242" y="16361"/>
                      <a:pt x="4707" y="17033"/>
                      <a:pt x="6724" y="15913"/>
                    </a:cubicBezTo>
                    <a:lnTo>
                      <a:pt x="14568" y="11430"/>
                    </a:lnTo>
                    <a:lnTo>
                      <a:pt x="14568" y="20395"/>
                    </a:lnTo>
                    <a:cubicBezTo>
                      <a:pt x="14568" y="22636"/>
                      <a:pt x="16361" y="24429"/>
                      <a:pt x="18602" y="24429"/>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603" name="Google Shape;603;p48"/>
              <p:cNvSpPr/>
              <p:nvPr/>
            </p:nvSpPr>
            <p:spPr>
              <a:xfrm>
                <a:off x="2882700" y="2423250"/>
                <a:ext cx="571525" cy="638775"/>
              </a:xfrm>
              <a:custGeom>
                <a:rect b="b" l="l" r="r" t="t"/>
                <a:pathLst>
                  <a:path extrusionOk="0" h="25551" w="22861">
                    <a:moveTo>
                      <a:pt x="1121" y="2690"/>
                    </a:moveTo>
                    <a:cubicBezTo>
                      <a:pt x="1" y="4707"/>
                      <a:pt x="673" y="7173"/>
                      <a:pt x="2690" y="8293"/>
                    </a:cubicBezTo>
                    <a:lnTo>
                      <a:pt x="10534" y="12776"/>
                    </a:lnTo>
                    <a:lnTo>
                      <a:pt x="2690" y="17482"/>
                    </a:lnTo>
                    <a:cubicBezTo>
                      <a:pt x="673" y="18603"/>
                      <a:pt x="1" y="21068"/>
                      <a:pt x="1121" y="23085"/>
                    </a:cubicBezTo>
                    <a:cubicBezTo>
                      <a:pt x="2242" y="24878"/>
                      <a:pt x="4707" y="25550"/>
                      <a:pt x="6724" y="24430"/>
                    </a:cubicBezTo>
                    <a:lnTo>
                      <a:pt x="20619" y="16361"/>
                    </a:lnTo>
                    <a:cubicBezTo>
                      <a:pt x="21740" y="15913"/>
                      <a:pt x="22188" y="15017"/>
                      <a:pt x="22636" y="14120"/>
                    </a:cubicBezTo>
                    <a:cubicBezTo>
                      <a:pt x="22636" y="13672"/>
                      <a:pt x="22861" y="13224"/>
                      <a:pt x="22861" y="12776"/>
                    </a:cubicBezTo>
                    <a:cubicBezTo>
                      <a:pt x="22861" y="12327"/>
                      <a:pt x="22636" y="12103"/>
                      <a:pt x="22636" y="11879"/>
                    </a:cubicBezTo>
                    <a:cubicBezTo>
                      <a:pt x="22412" y="10759"/>
                      <a:pt x="21740" y="9862"/>
                      <a:pt x="20619" y="9414"/>
                    </a:cubicBezTo>
                    <a:lnTo>
                      <a:pt x="6724" y="1346"/>
                    </a:lnTo>
                    <a:cubicBezTo>
                      <a:pt x="4707" y="1"/>
                      <a:pt x="2242" y="897"/>
                      <a:pt x="1121" y="269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grpSp>
        <p:nvGrpSpPr>
          <p:cNvPr id="604" name="Google Shape;604;p48"/>
          <p:cNvGrpSpPr/>
          <p:nvPr/>
        </p:nvGrpSpPr>
        <p:grpSpPr>
          <a:xfrm>
            <a:off x="7802952" y="1601126"/>
            <a:ext cx="879300" cy="651375"/>
            <a:chOff x="3394243" y="1825875"/>
            <a:chExt cx="879300" cy="651375"/>
          </a:xfrm>
        </p:grpSpPr>
        <p:sp>
          <p:nvSpPr>
            <p:cNvPr id="605" name="Google Shape;605;p48"/>
            <p:cNvSpPr txBox="1"/>
            <p:nvPr/>
          </p:nvSpPr>
          <p:spPr>
            <a:xfrm>
              <a:off x="3394243" y="2292450"/>
              <a:ext cx="879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dk1"/>
                  </a:solidFill>
                </a:rPr>
                <a:t>Vertex AI </a:t>
              </a:r>
              <a:endParaRPr sz="1200">
                <a:solidFill>
                  <a:schemeClr val="dk1"/>
                </a:solidFill>
              </a:endParaRPr>
            </a:p>
          </p:txBody>
        </p:sp>
        <p:pic>
          <p:nvPicPr>
            <p:cNvPr id="606" name="Google Shape;606;p48" title="VertexAI-512-color.png"/>
            <p:cNvPicPr preferRelativeResize="0"/>
            <p:nvPr/>
          </p:nvPicPr>
          <p:blipFill>
            <a:blip r:embed="rId6">
              <a:alphaModFix/>
            </a:blip>
            <a:stretch>
              <a:fillRect/>
            </a:stretch>
          </p:blipFill>
          <p:spPr>
            <a:xfrm>
              <a:off x="3605288" y="1825875"/>
              <a:ext cx="457201" cy="457201"/>
            </a:xfrm>
            <a:prstGeom prst="rect">
              <a:avLst/>
            </a:prstGeom>
            <a:noFill/>
            <a:ln>
              <a:noFill/>
            </a:ln>
          </p:spPr>
        </p:pic>
      </p:grpSp>
      <p:grpSp>
        <p:nvGrpSpPr>
          <p:cNvPr id="607" name="Google Shape;607;p48"/>
          <p:cNvGrpSpPr/>
          <p:nvPr/>
        </p:nvGrpSpPr>
        <p:grpSpPr>
          <a:xfrm>
            <a:off x="7759000" y="2368700"/>
            <a:ext cx="879300" cy="651375"/>
            <a:chOff x="5555471" y="1825875"/>
            <a:chExt cx="879300" cy="651375"/>
          </a:xfrm>
        </p:grpSpPr>
        <p:sp>
          <p:nvSpPr>
            <p:cNvPr id="608" name="Google Shape;608;p48"/>
            <p:cNvSpPr txBox="1"/>
            <p:nvPr/>
          </p:nvSpPr>
          <p:spPr>
            <a:xfrm>
              <a:off x="5555471" y="2292450"/>
              <a:ext cx="879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dk1"/>
                  </a:solidFill>
                </a:rPr>
                <a:t>PubSub</a:t>
              </a:r>
              <a:endParaRPr sz="1200">
                <a:solidFill>
                  <a:schemeClr val="dk1"/>
                </a:solidFill>
              </a:endParaRPr>
            </a:p>
          </p:txBody>
        </p:sp>
        <p:pic>
          <p:nvPicPr>
            <p:cNvPr id="609" name="Google Shape;609;p48" title="PubSub.png"/>
            <p:cNvPicPr preferRelativeResize="0"/>
            <p:nvPr/>
          </p:nvPicPr>
          <p:blipFill>
            <a:blip r:embed="rId7">
              <a:alphaModFix/>
            </a:blip>
            <a:stretch>
              <a:fillRect/>
            </a:stretch>
          </p:blipFill>
          <p:spPr>
            <a:xfrm>
              <a:off x="5766513" y="1825875"/>
              <a:ext cx="457201" cy="457201"/>
            </a:xfrm>
            <a:prstGeom prst="rect">
              <a:avLst/>
            </a:prstGeom>
            <a:noFill/>
            <a:ln>
              <a:noFill/>
            </a:ln>
          </p:spPr>
        </p:pic>
      </p:grpSp>
      <p:grpSp>
        <p:nvGrpSpPr>
          <p:cNvPr id="610" name="Google Shape;610;p48"/>
          <p:cNvGrpSpPr/>
          <p:nvPr/>
        </p:nvGrpSpPr>
        <p:grpSpPr>
          <a:xfrm>
            <a:off x="7758991" y="3946404"/>
            <a:ext cx="879300" cy="651375"/>
            <a:chOff x="2313629" y="1825875"/>
            <a:chExt cx="879300" cy="651375"/>
          </a:xfrm>
        </p:grpSpPr>
        <p:sp>
          <p:nvSpPr>
            <p:cNvPr id="611" name="Google Shape;611;p48"/>
            <p:cNvSpPr txBox="1"/>
            <p:nvPr/>
          </p:nvSpPr>
          <p:spPr>
            <a:xfrm>
              <a:off x="2313629" y="2292450"/>
              <a:ext cx="879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dk1"/>
                  </a:solidFill>
                </a:rPr>
                <a:t>Looker</a:t>
              </a:r>
              <a:endParaRPr sz="1200">
                <a:solidFill>
                  <a:schemeClr val="dk1"/>
                </a:solidFill>
              </a:endParaRPr>
            </a:p>
          </p:txBody>
        </p:sp>
        <p:pic>
          <p:nvPicPr>
            <p:cNvPr id="612" name="Google Shape;612;p48" title="Looker-512-color.png"/>
            <p:cNvPicPr preferRelativeResize="0"/>
            <p:nvPr/>
          </p:nvPicPr>
          <p:blipFill>
            <a:blip r:embed="rId8">
              <a:alphaModFix/>
            </a:blip>
            <a:stretch>
              <a:fillRect/>
            </a:stretch>
          </p:blipFill>
          <p:spPr>
            <a:xfrm>
              <a:off x="2524688" y="1825875"/>
              <a:ext cx="457201" cy="457201"/>
            </a:xfrm>
            <a:prstGeom prst="rect">
              <a:avLst/>
            </a:prstGeom>
            <a:noFill/>
            <a:ln>
              <a:noFill/>
            </a:ln>
          </p:spPr>
        </p:pic>
      </p:grpSp>
      <p:grpSp>
        <p:nvGrpSpPr>
          <p:cNvPr id="613" name="Google Shape;613;p48"/>
          <p:cNvGrpSpPr/>
          <p:nvPr/>
        </p:nvGrpSpPr>
        <p:grpSpPr>
          <a:xfrm>
            <a:off x="7758991" y="3180253"/>
            <a:ext cx="879300" cy="627050"/>
            <a:chOff x="152400" y="1637725"/>
            <a:chExt cx="879300" cy="627050"/>
          </a:xfrm>
        </p:grpSpPr>
        <p:pic>
          <p:nvPicPr>
            <p:cNvPr id="614" name="Google Shape;614;p48" title="CloudRun-512-color-rgb.png"/>
            <p:cNvPicPr preferRelativeResize="0"/>
            <p:nvPr/>
          </p:nvPicPr>
          <p:blipFill>
            <a:blip r:embed="rId9">
              <a:alphaModFix/>
            </a:blip>
            <a:stretch>
              <a:fillRect/>
            </a:stretch>
          </p:blipFill>
          <p:spPr>
            <a:xfrm>
              <a:off x="363450" y="1637725"/>
              <a:ext cx="457199" cy="457199"/>
            </a:xfrm>
            <a:prstGeom prst="rect">
              <a:avLst/>
            </a:prstGeom>
            <a:noFill/>
            <a:ln>
              <a:noFill/>
            </a:ln>
          </p:spPr>
        </p:pic>
        <p:sp>
          <p:nvSpPr>
            <p:cNvPr id="615" name="Google Shape;615;p48"/>
            <p:cNvSpPr txBox="1"/>
            <p:nvPr/>
          </p:nvSpPr>
          <p:spPr>
            <a:xfrm>
              <a:off x="152400" y="2079975"/>
              <a:ext cx="879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dk1"/>
                  </a:solidFill>
                </a:rPr>
                <a:t>Cloud Run</a:t>
              </a:r>
              <a:endParaRPr sz="1200">
                <a:solidFill>
                  <a:schemeClr val="dk1"/>
                </a:solidFill>
              </a:endParaRPr>
            </a:p>
          </p:txBody>
        </p:sp>
      </p:grpSp>
      <p:grpSp>
        <p:nvGrpSpPr>
          <p:cNvPr id="616" name="Google Shape;616;p48"/>
          <p:cNvGrpSpPr/>
          <p:nvPr/>
        </p:nvGrpSpPr>
        <p:grpSpPr>
          <a:xfrm>
            <a:off x="4291900" y="938688"/>
            <a:ext cx="879241" cy="569407"/>
            <a:chOff x="4239146" y="851614"/>
            <a:chExt cx="879241" cy="569407"/>
          </a:xfrm>
        </p:grpSpPr>
        <p:grpSp>
          <p:nvGrpSpPr>
            <p:cNvPr id="617" name="Google Shape;617;p48"/>
            <p:cNvGrpSpPr/>
            <p:nvPr/>
          </p:nvGrpSpPr>
          <p:grpSpPr>
            <a:xfrm>
              <a:off x="4239146" y="851614"/>
              <a:ext cx="879241" cy="569407"/>
              <a:chOff x="4239146" y="851614"/>
              <a:chExt cx="879241" cy="569407"/>
            </a:xfrm>
          </p:grpSpPr>
          <p:sp>
            <p:nvSpPr>
              <p:cNvPr id="618" name="Google Shape;618;p48"/>
              <p:cNvSpPr/>
              <p:nvPr/>
            </p:nvSpPr>
            <p:spPr>
              <a:xfrm>
                <a:off x="4406513" y="851614"/>
                <a:ext cx="467056" cy="391525"/>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132175" lIns="132175" spcFirstLastPara="1" rIns="132175" wrap="square" tIns="132175">
                <a:noAutofit/>
              </a:bodyPr>
              <a:lstStyle/>
              <a:p>
                <a:pPr indent="0" lvl="0" marL="0" marR="0" rtl="0" algn="l">
                  <a:spcBef>
                    <a:spcPts val="0"/>
                  </a:spcBef>
                  <a:spcAft>
                    <a:spcPts val="0"/>
                  </a:spcAft>
                  <a:buClr>
                    <a:srgbClr val="252525"/>
                  </a:buClr>
                  <a:buSzPts val="723"/>
                  <a:buFont typeface="Arial"/>
                  <a:buNone/>
                </a:pPr>
                <a:r>
                  <a:t/>
                </a:r>
                <a:endParaRPr sz="723">
                  <a:solidFill>
                    <a:srgbClr val="252525"/>
                  </a:solidFill>
                  <a:latin typeface="Arial"/>
                  <a:ea typeface="Arial"/>
                  <a:cs typeface="Arial"/>
                  <a:sym typeface="Arial"/>
                </a:endParaRPr>
              </a:p>
            </p:txBody>
          </p:sp>
          <p:sp>
            <p:nvSpPr>
              <p:cNvPr id="619" name="Google Shape;619;p48"/>
              <p:cNvSpPr/>
              <p:nvPr/>
            </p:nvSpPr>
            <p:spPr>
              <a:xfrm>
                <a:off x="4239146" y="1276944"/>
                <a:ext cx="879241" cy="144078"/>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900">
                    <a:solidFill>
                      <a:schemeClr val="dk1"/>
                    </a:solidFill>
                  </a:rPr>
                  <a:t>External Stages</a:t>
                </a:r>
                <a:endParaRPr sz="900">
                  <a:solidFill>
                    <a:schemeClr val="dk1"/>
                  </a:solidFill>
                </a:endParaRPr>
              </a:p>
            </p:txBody>
          </p:sp>
        </p:grpSp>
        <p:sp>
          <p:nvSpPr>
            <p:cNvPr id="620" name="Google Shape;620;p48"/>
            <p:cNvSpPr txBox="1"/>
            <p:nvPr/>
          </p:nvSpPr>
          <p:spPr>
            <a:xfrm>
              <a:off x="4444725" y="878850"/>
              <a:ext cx="4179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5B5B5B"/>
                </a:solidFill>
              </a:endParaRPr>
            </a:p>
          </p:txBody>
        </p:sp>
      </p:grpSp>
      <p:cxnSp>
        <p:nvCxnSpPr>
          <p:cNvPr id="621" name="Google Shape;621;p48"/>
          <p:cNvCxnSpPr>
            <a:stCxn id="577" idx="3"/>
            <a:endCxn id="620" idx="1"/>
          </p:cNvCxnSpPr>
          <p:nvPr/>
        </p:nvCxnSpPr>
        <p:spPr>
          <a:xfrm flipH="1" rot="10800000">
            <a:off x="3363162" y="1142530"/>
            <a:ext cx="1134300" cy="618300"/>
          </a:xfrm>
          <a:prstGeom prst="bentConnector3">
            <a:avLst>
              <a:gd fmla="val 50001" name="adj1"/>
            </a:avLst>
          </a:prstGeom>
          <a:noFill/>
          <a:ln cap="flat" cmpd="sng" w="9525">
            <a:solidFill>
              <a:schemeClr val="dk2"/>
            </a:solidFill>
            <a:prstDash val="solid"/>
            <a:round/>
            <a:headEnd len="med" w="med" type="none"/>
            <a:tailEnd len="med" w="med" type="triangle"/>
          </a:ln>
        </p:spPr>
      </p:cxnSp>
      <p:cxnSp>
        <p:nvCxnSpPr>
          <p:cNvPr id="622" name="Google Shape;622;p48"/>
          <p:cNvCxnSpPr>
            <a:stCxn id="620" idx="3"/>
            <a:endCxn id="572" idx="1"/>
          </p:cNvCxnSpPr>
          <p:nvPr/>
        </p:nvCxnSpPr>
        <p:spPr>
          <a:xfrm>
            <a:off x="4915379" y="1142473"/>
            <a:ext cx="1113600" cy="1839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623" name="Google Shape;623;p48"/>
          <p:cNvSpPr/>
          <p:nvPr/>
        </p:nvSpPr>
        <p:spPr>
          <a:xfrm>
            <a:off x="5108822" y="1007822"/>
            <a:ext cx="800323" cy="124416"/>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800">
                <a:solidFill>
                  <a:schemeClr val="dk1"/>
                </a:solidFill>
              </a:rPr>
              <a:t>Bulk Update</a:t>
            </a:r>
            <a:endParaRPr sz="800">
              <a:solidFill>
                <a:schemeClr val="dk1"/>
              </a:solidFill>
            </a:endParaRPr>
          </a:p>
        </p:txBody>
      </p:sp>
      <p:cxnSp>
        <p:nvCxnSpPr>
          <p:cNvPr id="624" name="Google Shape;624;p48"/>
          <p:cNvCxnSpPr>
            <a:stCxn id="577" idx="3"/>
          </p:cNvCxnSpPr>
          <p:nvPr/>
        </p:nvCxnSpPr>
        <p:spPr>
          <a:xfrm>
            <a:off x="3363162" y="1760830"/>
            <a:ext cx="1041900" cy="613200"/>
          </a:xfrm>
          <a:prstGeom prst="bentConnector3">
            <a:avLst>
              <a:gd fmla="val 54419" name="adj1"/>
            </a:avLst>
          </a:prstGeom>
          <a:noFill/>
          <a:ln cap="flat" cmpd="sng" w="9525">
            <a:solidFill>
              <a:schemeClr val="dk2"/>
            </a:solidFill>
            <a:prstDash val="solid"/>
            <a:round/>
            <a:headEnd len="med" w="med" type="none"/>
            <a:tailEnd len="med" w="med" type="triangle"/>
          </a:ln>
        </p:spPr>
      </p:cxnSp>
      <p:sp>
        <p:nvSpPr>
          <p:cNvPr id="625" name="Google Shape;625;p48"/>
          <p:cNvSpPr/>
          <p:nvPr/>
        </p:nvSpPr>
        <p:spPr>
          <a:xfrm>
            <a:off x="3483934" y="2028072"/>
            <a:ext cx="800323" cy="124416"/>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800">
                <a:solidFill>
                  <a:schemeClr val="dk1"/>
                </a:solidFill>
              </a:rPr>
              <a:t>SF Streams</a:t>
            </a:r>
            <a:endParaRPr sz="800">
              <a:solidFill>
                <a:schemeClr val="dk1"/>
              </a:solidFill>
            </a:endParaRPr>
          </a:p>
        </p:txBody>
      </p:sp>
      <p:cxnSp>
        <p:nvCxnSpPr>
          <p:cNvPr id="626" name="Google Shape;626;p48"/>
          <p:cNvCxnSpPr>
            <a:stCxn id="589" idx="3"/>
            <a:endCxn id="571" idx="2"/>
          </p:cNvCxnSpPr>
          <p:nvPr/>
        </p:nvCxnSpPr>
        <p:spPr>
          <a:xfrm flipH="1" rot="10800000">
            <a:off x="5315790" y="1749110"/>
            <a:ext cx="941700" cy="635100"/>
          </a:xfrm>
          <a:prstGeom prst="bentConnector2">
            <a:avLst/>
          </a:prstGeom>
          <a:noFill/>
          <a:ln cap="flat" cmpd="sng" w="9525">
            <a:solidFill>
              <a:schemeClr val="dk2"/>
            </a:solidFill>
            <a:prstDash val="solid"/>
            <a:round/>
            <a:headEnd len="med" w="med" type="none"/>
            <a:tailEnd len="med" w="med" type="triangle"/>
          </a:ln>
        </p:spPr>
      </p:cxnSp>
      <p:sp>
        <p:nvSpPr>
          <p:cNvPr id="627" name="Google Shape;627;p48"/>
          <p:cNvSpPr/>
          <p:nvPr/>
        </p:nvSpPr>
        <p:spPr>
          <a:xfrm>
            <a:off x="5932131" y="2106787"/>
            <a:ext cx="800323" cy="124416"/>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800">
                <a:solidFill>
                  <a:schemeClr val="dk1"/>
                </a:solidFill>
              </a:rPr>
              <a:t>PutGCSObject</a:t>
            </a:r>
            <a:endParaRPr sz="800">
              <a:solidFill>
                <a:schemeClr val="dk1"/>
              </a:solidFill>
            </a:endParaRPr>
          </a:p>
        </p:txBody>
      </p:sp>
      <p:cxnSp>
        <p:nvCxnSpPr>
          <p:cNvPr id="628" name="Google Shape;628;p48"/>
          <p:cNvCxnSpPr>
            <a:stCxn id="589" idx="3"/>
            <a:endCxn id="609" idx="1"/>
          </p:cNvCxnSpPr>
          <p:nvPr/>
        </p:nvCxnSpPr>
        <p:spPr>
          <a:xfrm>
            <a:off x="5315790" y="2384210"/>
            <a:ext cx="2654400" cy="213000"/>
          </a:xfrm>
          <a:prstGeom prst="bentConnector3">
            <a:avLst>
              <a:gd fmla="val 35576" name="adj1"/>
            </a:avLst>
          </a:prstGeom>
          <a:noFill/>
          <a:ln cap="flat" cmpd="sng" w="9525">
            <a:solidFill>
              <a:schemeClr val="dk2"/>
            </a:solidFill>
            <a:prstDash val="solid"/>
            <a:round/>
            <a:headEnd len="med" w="med" type="none"/>
            <a:tailEnd len="med" w="med" type="triangle"/>
          </a:ln>
        </p:spPr>
      </p:cxnSp>
      <p:cxnSp>
        <p:nvCxnSpPr>
          <p:cNvPr id="629" name="Google Shape;629;p48"/>
          <p:cNvCxnSpPr>
            <a:stCxn id="572" idx="3"/>
            <a:endCxn id="575" idx="1"/>
          </p:cNvCxnSpPr>
          <p:nvPr/>
        </p:nvCxnSpPr>
        <p:spPr>
          <a:xfrm flipH="1" rot="10800000">
            <a:off x="6486178" y="1096165"/>
            <a:ext cx="1483800" cy="230100"/>
          </a:xfrm>
          <a:prstGeom prst="bentConnector3">
            <a:avLst>
              <a:gd fmla="val 59427" name="adj1"/>
            </a:avLst>
          </a:prstGeom>
          <a:noFill/>
          <a:ln cap="flat" cmpd="sng" w="9525">
            <a:solidFill>
              <a:schemeClr val="dk2"/>
            </a:solidFill>
            <a:prstDash val="solid"/>
            <a:round/>
            <a:headEnd len="med" w="med" type="none"/>
            <a:tailEnd len="med" w="med" type="triangle"/>
          </a:ln>
        </p:spPr>
      </p:cxnSp>
      <p:cxnSp>
        <p:nvCxnSpPr>
          <p:cNvPr id="630" name="Google Shape;630;p48"/>
          <p:cNvCxnSpPr>
            <a:stCxn id="572" idx="3"/>
            <a:endCxn id="606" idx="1"/>
          </p:cNvCxnSpPr>
          <p:nvPr/>
        </p:nvCxnSpPr>
        <p:spPr>
          <a:xfrm>
            <a:off x="6486178" y="1326265"/>
            <a:ext cx="1527900" cy="503400"/>
          </a:xfrm>
          <a:prstGeom prst="bentConnector3">
            <a:avLst>
              <a:gd fmla="val 57135" name="adj1"/>
            </a:avLst>
          </a:prstGeom>
          <a:noFill/>
          <a:ln cap="flat" cmpd="sng" w="9525">
            <a:solidFill>
              <a:schemeClr val="dk2"/>
            </a:solidFill>
            <a:prstDash val="solid"/>
            <a:round/>
            <a:headEnd len="med" w="med" type="none"/>
            <a:tailEnd len="med" w="med" type="triangle"/>
          </a:ln>
        </p:spPr>
      </p:cxnSp>
      <p:sp>
        <p:nvSpPr>
          <p:cNvPr id="631" name="Google Shape;631;p48"/>
          <p:cNvSpPr/>
          <p:nvPr/>
        </p:nvSpPr>
        <p:spPr>
          <a:xfrm>
            <a:off x="6591708" y="1044371"/>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4</a:t>
            </a:r>
            <a:endParaRPr sz="1100"/>
          </a:p>
        </p:txBody>
      </p:sp>
      <p:sp>
        <p:nvSpPr>
          <p:cNvPr id="632" name="Google Shape;632;p48"/>
          <p:cNvSpPr/>
          <p:nvPr/>
        </p:nvSpPr>
        <p:spPr>
          <a:xfrm>
            <a:off x="5971688" y="2387417"/>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3</a:t>
            </a:r>
            <a:endParaRPr sz="1100"/>
          </a:p>
        </p:txBody>
      </p:sp>
      <p:sp>
        <p:nvSpPr>
          <p:cNvPr id="633" name="Google Shape;633;p48"/>
          <p:cNvSpPr/>
          <p:nvPr/>
        </p:nvSpPr>
        <p:spPr>
          <a:xfrm>
            <a:off x="4060596" y="2398719"/>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2</a:t>
            </a:r>
            <a:endParaRPr sz="1100"/>
          </a:p>
        </p:txBody>
      </p:sp>
      <p:sp>
        <p:nvSpPr>
          <p:cNvPr id="634" name="Google Shape;634;p48"/>
          <p:cNvSpPr/>
          <p:nvPr/>
        </p:nvSpPr>
        <p:spPr>
          <a:xfrm>
            <a:off x="4161768" y="915685"/>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1</a:t>
            </a:r>
            <a:endParaRPr sz="1100"/>
          </a:p>
        </p:txBody>
      </p:sp>
      <p:grpSp>
        <p:nvGrpSpPr>
          <p:cNvPr id="635" name="Google Shape;635;p48"/>
          <p:cNvGrpSpPr/>
          <p:nvPr/>
        </p:nvGrpSpPr>
        <p:grpSpPr>
          <a:xfrm>
            <a:off x="6520500" y="1030998"/>
            <a:ext cx="667705" cy="439457"/>
            <a:chOff x="-2078498" y="292650"/>
            <a:chExt cx="7883180" cy="5188394"/>
          </a:xfrm>
        </p:grpSpPr>
        <p:sp>
          <p:nvSpPr>
            <p:cNvPr id="636" name="Google Shape;636;p48"/>
            <p:cNvSpPr/>
            <p:nvPr/>
          </p:nvSpPr>
          <p:spPr>
            <a:xfrm>
              <a:off x="-2078498" y="3908144"/>
              <a:ext cx="7883180" cy="1572900"/>
            </a:xfrm>
            <a:custGeom>
              <a:rect b="b" l="l" r="r" t="t"/>
              <a:pathLst>
                <a:path extrusionOk="0" h="62916" w="16140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lang="en" sz="800">
                  <a:solidFill>
                    <a:schemeClr val="dk1"/>
                  </a:solidFill>
                </a:rPr>
                <a:t>Big Lake</a:t>
              </a:r>
              <a:endParaRPr sz="800">
                <a:solidFill>
                  <a:schemeClr val="dk1"/>
                </a:solidFill>
              </a:endParaRPr>
            </a:p>
          </p:txBody>
        </p:sp>
        <p:sp>
          <p:nvSpPr>
            <p:cNvPr id="637" name="Google Shape;637;p48"/>
            <p:cNvSpPr/>
            <p:nvPr/>
          </p:nvSpPr>
          <p:spPr>
            <a:xfrm>
              <a:off x="1907850" y="292650"/>
              <a:ext cx="3812700" cy="3196125"/>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sp>
        <p:nvSpPr>
          <p:cNvPr id="638" name="Google Shape;638;p48"/>
          <p:cNvSpPr/>
          <p:nvPr/>
        </p:nvSpPr>
        <p:spPr>
          <a:xfrm>
            <a:off x="6829094" y="2425812"/>
            <a:ext cx="800323" cy="124416"/>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800">
                <a:solidFill>
                  <a:schemeClr val="dk1"/>
                </a:solidFill>
              </a:rPr>
              <a:t>PutGCPubSub</a:t>
            </a:r>
            <a:endParaRPr sz="800">
              <a:solidFill>
                <a:schemeClr val="dk1"/>
              </a:solidFill>
            </a:endParaRPr>
          </a:p>
        </p:txBody>
      </p:sp>
      <p:grpSp>
        <p:nvGrpSpPr>
          <p:cNvPr id="639" name="Google Shape;639;p48"/>
          <p:cNvGrpSpPr/>
          <p:nvPr/>
        </p:nvGrpSpPr>
        <p:grpSpPr>
          <a:xfrm>
            <a:off x="4442434" y="4019408"/>
            <a:ext cx="800193" cy="417436"/>
            <a:chOff x="-811971" y="447825"/>
            <a:chExt cx="9447381" cy="4928405"/>
          </a:xfrm>
        </p:grpSpPr>
        <p:sp>
          <p:nvSpPr>
            <p:cNvPr id="640" name="Google Shape;640;p48"/>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641" name="Google Shape;641;p48"/>
            <p:cNvSpPr/>
            <p:nvPr/>
          </p:nvSpPr>
          <p:spPr>
            <a:xfrm>
              <a:off x="-811971" y="3908086"/>
              <a:ext cx="9447381" cy="1468145"/>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1000">
                  <a:solidFill>
                    <a:schemeClr val="dk1"/>
                  </a:solidFill>
                </a:rPr>
                <a:t>JDBC</a:t>
              </a:r>
              <a:endParaRPr sz="1000">
                <a:solidFill>
                  <a:schemeClr val="dk1"/>
                </a:solidFill>
              </a:endParaRPr>
            </a:p>
          </p:txBody>
        </p:sp>
      </p:grpSp>
      <p:grpSp>
        <p:nvGrpSpPr>
          <p:cNvPr id="642" name="Google Shape;642;p48"/>
          <p:cNvGrpSpPr/>
          <p:nvPr/>
        </p:nvGrpSpPr>
        <p:grpSpPr>
          <a:xfrm>
            <a:off x="4451230" y="3226093"/>
            <a:ext cx="800193" cy="417436"/>
            <a:chOff x="-811971" y="447825"/>
            <a:chExt cx="9447381" cy="4928405"/>
          </a:xfrm>
        </p:grpSpPr>
        <p:sp>
          <p:nvSpPr>
            <p:cNvPr id="643" name="Google Shape;643;p48"/>
            <p:cNvSpPr/>
            <p:nvPr/>
          </p:nvSpPr>
          <p:spPr>
            <a:xfrm>
              <a:off x="2138525" y="447825"/>
              <a:ext cx="3380700" cy="3040950"/>
            </a:xfrm>
            <a:custGeom>
              <a:rect b="b" l="l" r="r" t="t"/>
              <a:pathLst>
                <a:path extrusionOk="0" h="121638" w="135228">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100"/>
                <a:buFont typeface="Arial"/>
                <a:buNone/>
              </a:pPr>
              <a:r>
                <a:t/>
              </a:r>
              <a:endParaRPr sz="1000">
                <a:solidFill>
                  <a:srgbClr val="252525"/>
                </a:solidFill>
                <a:latin typeface="Arial"/>
                <a:ea typeface="Arial"/>
                <a:cs typeface="Arial"/>
                <a:sym typeface="Arial"/>
              </a:endParaRPr>
            </a:p>
          </p:txBody>
        </p:sp>
        <p:sp>
          <p:nvSpPr>
            <p:cNvPr id="644" name="Google Shape;644;p48"/>
            <p:cNvSpPr/>
            <p:nvPr/>
          </p:nvSpPr>
          <p:spPr>
            <a:xfrm>
              <a:off x="-811971" y="3908086"/>
              <a:ext cx="9447381" cy="1468145"/>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1000">
                  <a:solidFill>
                    <a:schemeClr val="dk1"/>
                  </a:solidFill>
                </a:rPr>
                <a:t>Connectors</a:t>
              </a:r>
              <a:endParaRPr sz="1000">
                <a:solidFill>
                  <a:schemeClr val="dk1"/>
                </a:solidFill>
              </a:endParaRPr>
            </a:p>
          </p:txBody>
        </p:sp>
      </p:grpSp>
      <p:cxnSp>
        <p:nvCxnSpPr>
          <p:cNvPr id="645" name="Google Shape;645;p48"/>
          <p:cNvCxnSpPr>
            <a:stCxn id="577" idx="2"/>
            <a:endCxn id="646" idx="1"/>
          </p:cNvCxnSpPr>
          <p:nvPr/>
        </p:nvCxnSpPr>
        <p:spPr>
          <a:xfrm flipH="1" rot="-5400000">
            <a:off x="2771412" y="2460580"/>
            <a:ext cx="1874400" cy="1656300"/>
          </a:xfrm>
          <a:prstGeom prst="bentConnector3">
            <a:avLst>
              <a:gd fmla="val 99701" name="adj1"/>
            </a:avLst>
          </a:prstGeom>
          <a:noFill/>
          <a:ln cap="flat" cmpd="sng" w="9525">
            <a:solidFill>
              <a:schemeClr val="dk2"/>
            </a:solidFill>
            <a:prstDash val="solid"/>
            <a:round/>
            <a:headEnd len="med" w="med" type="none"/>
            <a:tailEnd len="med" w="med" type="triangle"/>
          </a:ln>
        </p:spPr>
      </p:cxnSp>
      <p:cxnSp>
        <p:nvCxnSpPr>
          <p:cNvPr id="647" name="Google Shape;647;p48"/>
          <p:cNvCxnSpPr>
            <a:stCxn id="577" idx="2"/>
            <a:endCxn id="648" idx="1"/>
          </p:cNvCxnSpPr>
          <p:nvPr/>
        </p:nvCxnSpPr>
        <p:spPr>
          <a:xfrm flipH="1" rot="-5400000">
            <a:off x="3181362" y="2050630"/>
            <a:ext cx="1054500" cy="1656300"/>
          </a:xfrm>
          <a:prstGeom prst="bentConnector2">
            <a:avLst/>
          </a:prstGeom>
          <a:noFill/>
          <a:ln cap="flat" cmpd="sng" w="9525">
            <a:solidFill>
              <a:schemeClr val="dk2"/>
            </a:solidFill>
            <a:prstDash val="solid"/>
            <a:round/>
            <a:headEnd len="med" w="med" type="none"/>
            <a:tailEnd len="med" w="med" type="triangle"/>
          </a:ln>
        </p:spPr>
      </p:cxnSp>
      <p:cxnSp>
        <p:nvCxnSpPr>
          <p:cNvPr id="649" name="Google Shape;649;p48"/>
          <p:cNvCxnSpPr>
            <a:stCxn id="648" idx="3"/>
            <a:endCxn id="614" idx="1"/>
          </p:cNvCxnSpPr>
          <p:nvPr/>
        </p:nvCxnSpPr>
        <p:spPr>
          <a:xfrm>
            <a:off x="5204641" y="3406153"/>
            <a:ext cx="2765400" cy="27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650" name="Google Shape;650;p48"/>
          <p:cNvCxnSpPr/>
          <p:nvPr/>
        </p:nvCxnSpPr>
        <p:spPr>
          <a:xfrm>
            <a:off x="5204650" y="4208374"/>
            <a:ext cx="2765400" cy="18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651" name="Google Shape;651;p48"/>
          <p:cNvSpPr/>
          <p:nvPr/>
        </p:nvSpPr>
        <p:spPr>
          <a:xfrm>
            <a:off x="3598497" y="1572697"/>
            <a:ext cx="800323" cy="124416"/>
          </a:xfrm>
          <a:custGeom>
            <a:rect b="b" l="l" r="r" t="t"/>
            <a:pathLst>
              <a:path extrusionOk="0" h="62916" w="178345">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800">
                <a:solidFill>
                  <a:schemeClr val="dk1"/>
                </a:solidFill>
              </a:rPr>
              <a:t>Copy Into</a:t>
            </a:r>
            <a:endParaRPr sz="800">
              <a:solidFill>
                <a:schemeClr val="dk1"/>
              </a:solidFill>
            </a:endParaRPr>
          </a:p>
        </p:txBody>
      </p:sp>
      <p:sp>
        <p:nvSpPr>
          <p:cNvPr id="652" name="Google Shape;652;p48"/>
          <p:cNvSpPr txBox="1"/>
          <p:nvPr/>
        </p:nvSpPr>
        <p:spPr>
          <a:xfrm>
            <a:off x="254975" y="606675"/>
            <a:ext cx="1907400" cy="40797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1- Use External Stages to unload massive datasets to GCS for initial and infrequent loads.</a:t>
            </a:r>
            <a:endParaRPr sz="900">
              <a:solidFill>
                <a:schemeClr val="dk1"/>
              </a:solidFill>
              <a:latin typeface="Roboto"/>
              <a:ea typeface="Roboto"/>
              <a:cs typeface="Roboto"/>
              <a:sym typeface="Roboto"/>
            </a:endParaRPr>
          </a:p>
          <a:p>
            <a:pPr indent="0" lvl="0" marL="0" rtl="0" algn="l">
              <a:spcBef>
                <a:spcPts val="0"/>
              </a:spcBef>
              <a:spcAft>
                <a:spcPts val="0"/>
              </a:spcAft>
              <a:buNone/>
            </a:pPr>
            <a:r>
              <a:t/>
            </a:r>
            <a:endParaRPr sz="900">
              <a:solidFill>
                <a:schemeClr val="dk1"/>
              </a:solidFill>
              <a:latin typeface="Roboto"/>
              <a:ea typeface="Roboto"/>
              <a:cs typeface="Roboto"/>
              <a:sym typeface="Roboto"/>
            </a:endParaRPr>
          </a:p>
          <a:p>
            <a:pPr indent="0" lvl="0" marL="0" rtl="0" algn="l">
              <a:spcBef>
                <a:spcPts val="0"/>
              </a:spcBef>
              <a:spcAft>
                <a:spcPts val="0"/>
              </a:spcAft>
              <a:buNone/>
            </a:pPr>
            <a:r>
              <a:rPr lang="en" sz="900">
                <a:solidFill>
                  <a:schemeClr val="dk1"/>
                </a:solidFill>
                <a:latin typeface="Roboto"/>
                <a:ea typeface="Roboto"/>
                <a:cs typeface="Roboto"/>
                <a:sym typeface="Roboto"/>
              </a:rPr>
              <a:t>2- Use OpenFlow for delta updates and to manage advanced ETL</a:t>
            </a:r>
            <a:endParaRPr sz="900">
              <a:solidFill>
                <a:schemeClr val="dk1"/>
              </a:solidFill>
              <a:latin typeface="Roboto"/>
              <a:ea typeface="Roboto"/>
              <a:cs typeface="Roboto"/>
              <a:sym typeface="Roboto"/>
            </a:endParaRPr>
          </a:p>
          <a:p>
            <a:pPr indent="0" lvl="0" marL="0" rtl="0" algn="l">
              <a:spcBef>
                <a:spcPts val="0"/>
              </a:spcBef>
              <a:spcAft>
                <a:spcPts val="0"/>
              </a:spcAft>
              <a:buNone/>
            </a:pPr>
            <a:r>
              <a:t/>
            </a:r>
            <a:endParaRPr sz="900">
              <a:solidFill>
                <a:schemeClr val="dk1"/>
              </a:solidFill>
              <a:latin typeface="Roboto"/>
              <a:ea typeface="Roboto"/>
              <a:cs typeface="Roboto"/>
              <a:sym typeface="Roboto"/>
            </a:endParaRPr>
          </a:p>
          <a:p>
            <a:pPr indent="0" lvl="0" marL="0" rtl="0" algn="l">
              <a:spcBef>
                <a:spcPts val="0"/>
              </a:spcBef>
              <a:spcAft>
                <a:spcPts val="0"/>
              </a:spcAft>
              <a:buNone/>
            </a:pPr>
            <a:r>
              <a:rPr lang="en" sz="900">
                <a:solidFill>
                  <a:schemeClr val="dk1"/>
                </a:solidFill>
                <a:latin typeface="Roboto"/>
                <a:ea typeface="Roboto"/>
                <a:cs typeface="Roboto"/>
                <a:sym typeface="Roboto"/>
              </a:rPr>
              <a:t>3- OpenFlow can output to GCS (microbatch) or PubSub (streaming)</a:t>
            </a:r>
            <a:endParaRPr sz="900">
              <a:solidFill>
                <a:schemeClr val="dk1"/>
              </a:solidFill>
              <a:latin typeface="Roboto"/>
              <a:ea typeface="Roboto"/>
              <a:cs typeface="Roboto"/>
              <a:sym typeface="Roboto"/>
            </a:endParaRPr>
          </a:p>
          <a:p>
            <a:pPr indent="0" lvl="0" marL="0" rtl="0" algn="l">
              <a:spcBef>
                <a:spcPts val="0"/>
              </a:spcBef>
              <a:spcAft>
                <a:spcPts val="0"/>
              </a:spcAft>
              <a:buNone/>
            </a:pPr>
            <a:r>
              <a:t/>
            </a:r>
            <a:endParaRPr sz="900">
              <a:solidFill>
                <a:schemeClr val="dk1"/>
              </a:solidFill>
              <a:latin typeface="Roboto"/>
              <a:ea typeface="Roboto"/>
              <a:cs typeface="Roboto"/>
              <a:sym typeface="Roboto"/>
            </a:endParaRPr>
          </a:p>
          <a:p>
            <a:pPr indent="0" lvl="0" marL="0" rtl="0" algn="l">
              <a:spcBef>
                <a:spcPts val="0"/>
              </a:spcBef>
              <a:spcAft>
                <a:spcPts val="0"/>
              </a:spcAft>
              <a:buNone/>
            </a:pPr>
            <a:r>
              <a:rPr lang="en" sz="900">
                <a:solidFill>
                  <a:schemeClr val="dk1"/>
                </a:solidFill>
                <a:latin typeface="Roboto"/>
                <a:ea typeface="Roboto"/>
                <a:cs typeface="Roboto"/>
                <a:sym typeface="Roboto"/>
              </a:rPr>
              <a:t>4-Utilize BigLake to enable BigQuery to read Snowflake data in GCS without physical egress</a:t>
            </a:r>
            <a:endParaRPr sz="900">
              <a:solidFill>
                <a:schemeClr val="dk1"/>
              </a:solidFill>
              <a:latin typeface="Roboto"/>
              <a:ea typeface="Roboto"/>
              <a:cs typeface="Roboto"/>
              <a:sym typeface="Roboto"/>
            </a:endParaRPr>
          </a:p>
          <a:p>
            <a:pPr indent="0" lvl="0" marL="0" rtl="0" algn="l">
              <a:spcBef>
                <a:spcPts val="0"/>
              </a:spcBef>
              <a:spcAft>
                <a:spcPts val="0"/>
              </a:spcAft>
              <a:buNone/>
            </a:pPr>
            <a:r>
              <a:t/>
            </a:r>
            <a:endParaRPr sz="900">
              <a:solidFill>
                <a:schemeClr val="dk1"/>
              </a:solidFill>
              <a:latin typeface="Roboto"/>
              <a:ea typeface="Roboto"/>
              <a:cs typeface="Roboto"/>
              <a:sym typeface="Roboto"/>
            </a:endParaRPr>
          </a:p>
          <a:p>
            <a:pPr indent="0" lvl="0" marL="0" rtl="0" algn="l">
              <a:spcBef>
                <a:spcPts val="0"/>
              </a:spcBef>
              <a:spcAft>
                <a:spcPts val="0"/>
              </a:spcAft>
              <a:buNone/>
            </a:pPr>
            <a:r>
              <a:rPr lang="en" sz="900">
                <a:solidFill>
                  <a:schemeClr val="dk1"/>
                </a:solidFill>
                <a:latin typeface="Roboto"/>
                <a:ea typeface="Roboto"/>
                <a:cs typeface="Roboto"/>
                <a:sym typeface="Roboto"/>
              </a:rPr>
              <a:t>5- Native connectors (JDBC, Python) enable Cloud Run or Compute Engine applications to query Snowflake directly.</a:t>
            </a:r>
            <a:endParaRPr sz="900">
              <a:solidFill>
                <a:schemeClr val="dk1"/>
              </a:solidFill>
              <a:latin typeface="Roboto"/>
              <a:ea typeface="Roboto"/>
              <a:cs typeface="Roboto"/>
              <a:sym typeface="Roboto"/>
            </a:endParaRPr>
          </a:p>
          <a:p>
            <a:pPr indent="0" lvl="0" marL="0" rtl="0" algn="l">
              <a:spcBef>
                <a:spcPts val="0"/>
              </a:spcBef>
              <a:spcAft>
                <a:spcPts val="0"/>
              </a:spcAft>
              <a:buNone/>
            </a:pPr>
            <a:r>
              <a:t/>
            </a:r>
            <a:endParaRPr sz="900">
              <a:solidFill>
                <a:schemeClr val="dk1"/>
              </a:solidFill>
              <a:latin typeface="Roboto"/>
              <a:ea typeface="Roboto"/>
              <a:cs typeface="Roboto"/>
              <a:sym typeface="Roboto"/>
            </a:endParaRPr>
          </a:p>
        </p:txBody>
      </p:sp>
      <p:sp>
        <p:nvSpPr>
          <p:cNvPr id="653" name="Google Shape;653;p48"/>
          <p:cNvSpPr/>
          <p:nvPr/>
        </p:nvSpPr>
        <p:spPr>
          <a:xfrm>
            <a:off x="2880458" y="2818471"/>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5</a:t>
            </a:r>
            <a:endParaRPr sz="1100"/>
          </a:p>
        </p:txBody>
      </p:sp>
      <p:sp>
        <p:nvSpPr>
          <p:cNvPr id="654" name="Google Shape;654;p48"/>
          <p:cNvSpPr txBox="1"/>
          <p:nvPr/>
        </p:nvSpPr>
        <p:spPr>
          <a:xfrm>
            <a:off x="4218238" y="582552"/>
            <a:ext cx="28617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Transformation</a:t>
            </a:r>
            <a:endParaRPr sz="1200">
              <a:solidFill>
                <a:srgbClr val="FFFFFF"/>
              </a:solidFill>
            </a:endParaRPr>
          </a:p>
        </p:txBody>
      </p:sp>
      <p:sp>
        <p:nvSpPr>
          <p:cNvPr id="655" name="Google Shape;655;p48"/>
          <p:cNvSpPr txBox="1"/>
          <p:nvPr/>
        </p:nvSpPr>
        <p:spPr>
          <a:xfrm>
            <a:off x="2239644" y="604606"/>
            <a:ext cx="12816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Source</a:t>
            </a:r>
            <a:endParaRPr sz="1200">
              <a:solidFill>
                <a:srgbClr val="FFFFFF"/>
              </a:solidFill>
            </a:endParaRPr>
          </a:p>
        </p:txBody>
      </p:sp>
      <p:sp>
        <p:nvSpPr>
          <p:cNvPr id="656" name="Google Shape;656;p48"/>
          <p:cNvSpPr txBox="1"/>
          <p:nvPr/>
        </p:nvSpPr>
        <p:spPr>
          <a:xfrm>
            <a:off x="7546846" y="593659"/>
            <a:ext cx="11733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Consumption*</a:t>
            </a:r>
            <a:endParaRPr sz="1200">
              <a:solidFill>
                <a:srgbClr val="FFFFFF"/>
              </a:solidFill>
            </a:endParaRPr>
          </a:p>
        </p:txBody>
      </p:sp>
      <p:sp>
        <p:nvSpPr>
          <p:cNvPr id="657" name="Google Shape;657;p48"/>
          <p:cNvSpPr txBox="1"/>
          <p:nvPr/>
        </p:nvSpPr>
        <p:spPr>
          <a:xfrm>
            <a:off x="2162375" y="4666525"/>
            <a:ext cx="6550200" cy="137100"/>
          </a:xfrm>
          <a:prstGeom prst="rect">
            <a:avLst/>
          </a:prstGeom>
          <a:solidFill>
            <a:srgbClr val="F1F8E9"/>
          </a:solidFill>
          <a:ln>
            <a:noFill/>
          </a:ln>
        </p:spPr>
        <p:txBody>
          <a:bodyPr anchorCtr="0" anchor="t" bIns="0" lIns="0" spcFirstLastPara="1" rIns="0" wrap="square" tIns="0">
            <a:noAutofit/>
          </a:bodyPr>
          <a:lstStyle/>
          <a:p>
            <a:pPr indent="0" lvl="0" marL="0" rtl="0" algn="ctr">
              <a:spcBef>
                <a:spcPts val="0"/>
              </a:spcBef>
              <a:spcAft>
                <a:spcPts val="0"/>
              </a:spcAft>
              <a:buNone/>
            </a:pPr>
            <a:r>
              <a:rPr lang="en" sz="900">
                <a:solidFill>
                  <a:schemeClr val="dk1"/>
                </a:solidFill>
                <a:latin typeface="Roboto"/>
                <a:ea typeface="Roboto"/>
                <a:cs typeface="Roboto"/>
                <a:sym typeface="Roboto"/>
              </a:rPr>
              <a:t>* </a:t>
            </a:r>
            <a:r>
              <a:rPr lang="en" sz="900">
                <a:solidFill>
                  <a:schemeClr val="dk1"/>
                </a:solidFill>
                <a:latin typeface="Roboto"/>
                <a:ea typeface="Roboto"/>
                <a:cs typeface="Roboto"/>
                <a:sym typeface="Roboto"/>
              </a:rPr>
              <a:t>Consumption services can be replaced by similar services such as Kafka for PubSub, Compute Engine for Cloud Run.</a:t>
            </a:r>
            <a:endParaRPr sz="9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49"/>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SF on GCP Producer, Azure Consumer</a:t>
            </a:r>
            <a:endParaRPr/>
          </a:p>
        </p:txBody>
      </p:sp>
      <p:sp>
        <p:nvSpPr>
          <p:cNvPr id="663" name="Google Shape;663;p49"/>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GCP -&gt; Snow -&gt; Azure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0"/>
          <p:cNvSpPr/>
          <p:nvPr/>
        </p:nvSpPr>
        <p:spPr>
          <a:xfrm>
            <a:off x="2162400" y="977225"/>
            <a:ext cx="1436100" cy="38052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669" name="Google Shape;669;p50"/>
          <p:cNvSpPr/>
          <p:nvPr/>
        </p:nvSpPr>
        <p:spPr>
          <a:xfrm>
            <a:off x="7016875" y="1415975"/>
            <a:ext cx="1656900" cy="1673700"/>
          </a:xfrm>
          <a:prstGeom prst="roundRect">
            <a:avLst>
              <a:gd fmla="val 827" name="adj"/>
            </a:avLst>
          </a:prstGeom>
          <a:solidFill>
            <a:srgbClr val="F1F8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0" name="Google Shape;670;p50"/>
          <p:cNvGrpSpPr/>
          <p:nvPr/>
        </p:nvGrpSpPr>
        <p:grpSpPr>
          <a:xfrm>
            <a:off x="2275282" y="1808398"/>
            <a:ext cx="1188600" cy="382200"/>
            <a:chOff x="1548049" y="2444965"/>
            <a:chExt cx="1188600" cy="382200"/>
          </a:xfrm>
        </p:grpSpPr>
        <p:sp>
          <p:nvSpPr>
            <p:cNvPr id="671" name="Google Shape;671;p50"/>
            <p:cNvSpPr/>
            <p:nvPr/>
          </p:nvSpPr>
          <p:spPr>
            <a:xfrm>
              <a:off x="1548049" y="2444965"/>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Upstream Data</a:t>
              </a:r>
              <a:br>
                <a:rPr b="0" i="0" lang="en" sz="700" u="none" cap="none" strike="noStrike">
                  <a:solidFill>
                    <a:srgbClr val="212121"/>
                  </a:solidFill>
                  <a:latin typeface="Roboto"/>
                  <a:ea typeface="Roboto"/>
                  <a:cs typeface="Roboto"/>
                  <a:sym typeface="Roboto"/>
                </a:rPr>
              </a:br>
              <a:r>
                <a:rPr b="0" i="0" lang="en" sz="700" u="none" cap="none" strike="noStrike">
                  <a:solidFill>
                    <a:srgbClr val="757575"/>
                  </a:solidFill>
                  <a:latin typeface="Roboto"/>
                  <a:ea typeface="Roboto"/>
                  <a:cs typeface="Roboto"/>
                  <a:sym typeface="Roboto"/>
                </a:rPr>
                <a:t>BigQuery</a:t>
              </a:r>
              <a:endParaRPr/>
            </a:p>
          </p:txBody>
        </p:sp>
        <p:pic>
          <p:nvPicPr>
            <p:cNvPr descr="BigQuery.png" id="672" name="Google Shape;672;p50"/>
            <p:cNvPicPr preferRelativeResize="0"/>
            <p:nvPr/>
          </p:nvPicPr>
          <p:blipFill rotWithShape="1">
            <a:blip r:embed="rId3">
              <a:alphaModFix/>
            </a:blip>
            <a:srcRect b="5076" l="0" r="0" t="5076"/>
            <a:stretch/>
          </p:blipFill>
          <p:spPr>
            <a:xfrm>
              <a:off x="1599242" y="2511373"/>
              <a:ext cx="274200" cy="246600"/>
            </a:xfrm>
            <a:prstGeom prst="rect">
              <a:avLst/>
            </a:prstGeom>
            <a:noFill/>
            <a:ln>
              <a:noFill/>
            </a:ln>
          </p:spPr>
        </p:pic>
      </p:grpSp>
      <p:grpSp>
        <p:nvGrpSpPr>
          <p:cNvPr id="673" name="Google Shape;673;p50"/>
          <p:cNvGrpSpPr/>
          <p:nvPr/>
        </p:nvGrpSpPr>
        <p:grpSpPr>
          <a:xfrm>
            <a:off x="3732343" y="952115"/>
            <a:ext cx="5205921" cy="3830164"/>
            <a:chOff x="2178036" y="1054763"/>
            <a:chExt cx="1146300" cy="637500"/>
          </a:xfrm>
        </p:grpSpPr>
        <p:sp>
          <p:nvSpPr>
            <p:cNvPr id="674" name="Google Shape;674;p50"/>
            <p:cNvSpPr/>
            <p:nvPr/>
          </p:nvSpPr>
          <p:spPr>
            <a:xfrm>
              <a:off x="2178036" y="1054763"/>
              <a:ext cx="1146300" cy="6375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675" name="Google Shape;675;p50"/>
            <p:cNvSpPr txBox="1"/>
            <p:nvPr/>
          </p:nvSpPr>
          <p:spPr>
            <a:xfrm>
              <a:off x="2178036" y="1055069"/>
              <a:ext cx="456900" cy="50700"/>
            </a:xfrm>
            <a:prstGeom prst="rect">
              <a:avLst/>
            </a:prstGeom>
            <a:noFill/>
            <a:ln>
              <a:noFill/>
            </a:ln>
          </p:spPr>
          <p:txBody>
            <a:bodyPr anchorCtr="0" anchor="t" bIns="0" lIns="91525" spcFirstLastPara="1" rIns="0" wrap="square" tIns="64050">
              <a:noAutofit/>
            </a:bodyPr>
            <a:lstStyle/>
            <a:p>
              <a:pPr indent="0" lvl="0" marL="0" marR="0" rtl="0" algn="l">
                <a:lnSpc>
                  <a:spcPct val="133333"/>
                </a:lnSpc>
                <a:spcBef>
                  <a:spcPts val="0"/>
                </a:spcBef>
                <a:spcAft>
                  <a:spcPts val="0"/>
                </a:spcAft>
                <a:buClr>
                  <a:srgbClr val="9E9E9E"/>
                </a:buClr>
                <a:buSzPts val="188"/>
                <a:buFont typeface="Roboto"/>
                <a:buNone/>
              </a:pPr>
              <a:r>
                <a:rPr lang="en" sz="751">
                  <a:solidFill>
                    <a:srgbClr val="9E9E9E"/>
                  </a:solidFill>
                  <a:latin typeface="Roboto"/>
                  <a:ea typeface="Roboto"/>
                  <a:cs typeface="Roboto"/>
                  <a:sym typeface="Roboto"/>
                </a:rPr>
                <a:t>Azure VPC</a:t>
              </a:r>
              <a:endParaRPr sz="1401"/>
            </a:p>
          </p:txBody>
        </p:sp>
      </p:grpSp>
      <p:pic>
        <p:nvPicPr>
          <p:cNvPr id="676" name="Google Shape;676;p50"/>
          <p:cNvPicPr preferRelativeResize="0"/>
          <p:nvPr/>
        </p:nvPicPr>
        <p:blipFill rotWithShape="1">
          <a:blip r:embed="rId4">
            <a:alphaModFix/>
          </a:blip>
          <a:srcRect b="0" l="0" r="0" t="0"/>
          <a:stretch/>
        </p:blipFill>
        <p:spPr>
          <a:xfrm>
            <a:off x="4306598" y="978396"/>
            <a:ext cx="265400" cy="265400"/>
          </a:xfrm>
          <a:prstGeom prst="rect">
            <a:avLst/>
          </a:prstGeom>
          <a:noFill/>
          <a:ln>
            <a:noFill/>
          </a:ln>
        </p:spPr>
      </p:pic>
      <p:sp>
        <p:nvSpPr>
          <p:cNvPr id="677" name="Google Shape;677;p50"/>
          <p:cNvSpPr/>
          <p:nvPr/>
        </p:nvSpPr>
        <p:spPr>
          <a:xfrm>
            <a:off x="5012850" y="1069050"/>
            <a:ext cx="1656900" cy="2020800"/>
          </a:xfrm>
          <a:prstGeom prst="roundRect">
            <a:avLst>
              <a:gd fmla="val 827" name="adj"/>
            </a:avLst>
          </a:prstGeom>
          <a:solidFill>
            <a:srgbClr val="F1F8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8" name="Google Shape;678;p50"/>
          <p:cNvGrpSpPr/>
          <p:nvPr/>
        </p:nvGrpSpPr>
        <p:grpSpPr>
          <a:xfrm>
            <a:off x="5258174" y="2508178"/>
            <a:ext cx="1188600" cy="382200"/>
            <a:chOff x="5235949" y="1848965"/>
            <a:chExt cx="1188600" cy="382200"/>
          </a:xfrm>
        </p:grpSpPr>
        <p:sp>
          <p:nvSpPr>
            <p:cNvPr id="679" name="Google Shape;679;p50"/>
            <p:cNvSpPr/>
            <p:nvPr/>
          </p:nvSpPr>
          <p:spPr>
            <a:xfrm>
              <a:off x="5235949" y="1848965"/>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Table Metadata</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Iceberg</a:t>
              </a:r>
              <a:endParaRPr/>
            </a:p>
          </p:txBody>
        </p:sp>
        <p:grpSp>
          <p:nvGrpSpPr>
            <p:cNvPr id="680" name="Google Shape;680;p50"/>
            <p:cNvGrpSpPr/>
            <p:nvPr/>
          </p:nvGrpSpPr>
          <p:grpSpPr>
            <a:xfrm>
              <a:off x="5271833" y="1914861"/>
              <a:ext cx="264310" cy="250438"/>
              <a:chOff x="345049" y="1086515"/>
              <a:chExt cx="3135348" cy="2970796"/>
            </a:xfrm>
          </p:grpSpPr>
          <p:sp>
            <p:nvSpPr>
              <p:cNvPr id="681" name="Google Shape;681;p50"/>
              <p:cNvSpPr/>
              <p:nvPr/>
            </p:nvSpPr>
            <p:spPr>
              <a:xfrm>
                <a:off x="345049" y="1086515"/>
                <a:ext cx="2431159" cy="2431159"/>
              </a:xfrm>
              <a:custGeom>
                <a:rect b="b" l="l" r="r" t="t"/>
                <a:pathLst>
                  <a:path extrusionOk="0" h="2431159" w="2431159">
                    <a:moveTo>
                      <a:pt x="1370278" y="2431160"/>
                    </a:moveTo>
                    <a:lnTo>
                      <a:pt x="302499" y="2431160"/>
                    </a:lnTo>
                    <a:cubicBezTo>
                      <a:pt x="135648" y="2431160"/>
                      <a:pt x="0" y="2295511"/>
                      <a:pt x="0" y="2128660"/>
                    </a:cubicBezTo>
                    <a:lnTo>
                      <a:pt x="0" y="302499"/>
                    </a:lnTo>
                    <a:cubicBezTo>
                      <a:pt x="0" y="135648"/>
                      <a:pt x="135648" y="0"/>
                      <a:pt x="302499" y="0"/>
                    </a:cubicBezTo>
                    <a:lnTo>
                      <a:pt x="2128661" y="0"/>
                    </a:lnTo>
                    <a:cubicBezTo>
                      <a:pt x="2295511" y="0"/>
                      <a:pt x="2431160" y="135648"/>
                      <a:pt x="2431160" y="302499"/>
                    </a:cubicBezTo>
                    <a:lnTo>
                      <a:pt x="2431160" y="973843"/>
                    </a:lnTo>
                    <a:cubicBezTo>
                      <a:pt x="2431160" y="1018184"/>
                      <a:pt x="2395359" y="1054313"/>
                      <a:pt x="2350690" y="1054313"/>
                    </a:cubicBezTo>
                    <a:cubicBezTo>
                      <a:pt x="2306350" y="1054313"/>
                      <a:pt x="2270221" y="1018184"/>
                      <a:pt x="2270221" y="973843"/>
                    </a:cubicBezTo>
                    <a:lnTo>
                      <a:pt x="2270221" y="302171"/>
                    </a:lnTo>
                    <a:cubicBezTo>
                      <a:pt x="2270221" y="224000"/>
                      <a:pt x="2206502" y="160282"/>
                      <a:pt x="2128332" y="160282"/>
                    </a:cubicBezTo>
                    <a:lnTo>
                      <a:pt x="302171" y="160282"/>
                    </a:lnTo>
                    <a:cubicBezTo>
                      <a:pt x="224000" y="160282"/>
                      <a:pt x="160282" y="224000"/>
                      <a:pt x="160282" y="302171"/>
                    </a:cubicBezTo>
                    <a:lnTo>
                      <a:pt x="160282" y="2128332"/>
                    </a:lnTo>
                    <a:cubicBezTo>
                      <a:pt x="160282" y="2206502"/>
                      <a:pt x="224000" y="2270221"/>
                      <a:pt x="302171" y="2270221"/>
                    </a:cubicBezTo>
                    <a:lnTo>
                      <a:pt x="1369950" y="2270221"/>
                    </a:lnTo>
                    <a:cubicBezTo>
                      <a:pt x="1414290" y="2270221"/>
                      <a:pt x="1450419" y="2306350"/>
                      <a:pt x="1450419" y="2350690"/>
                    </a:cubicBezTo>
                    <a:cubicBezTo>
                      <a:pt x="1450747" y="2395030"/>
                      <a:pt x="1414618" y="2431160"/>
                      <a:pt x="1370278" y="2431160"/>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82" name="Google Shape;682;p50"/>
              <p:cNvSpPr/>
              <p:nvPr/>
            </p:nvSpPr>
            <p:spPr>
              <a:xfrm>
                <a:off x="1507092" y="2952090"/>
                <a:ext cx="1973305" cy="107073"/>
              </a:xfrm>
              <a:custGeom>
                <a:rect b="b" l="l" r="r" t="t"/>
                <a:pathLst>
                  <a:path extrusionOk="0" h="107073" w="1973305">
                    <a:moveTo>
                      <a:pt x="1919769" y="107073"/>
                    </a:moveTo>
                    <a:lnTo>
                      <a:pt x="53537" y="107073"/>
                    </a:lnTo>
                    <a:cubicBezTo>
                      <a:pt x="23977" y="107073"/>
                      <a:pt x="0" y="83097"/>
                      <a:pt x="0" y="53537"/>
                    </a:cubicBezTo>
                    <a:cubicBezTo>
                      <a:pt x="0" y="23977"/>
                      <a:pt x="23977" y="0"/>
                      <a:pt x="53537" y="0"/>
                    </a:cubicBezTo>
                    <a:lnTo>
                      <a:pt x="1919769" y="0"/>
                    </a:lnTo>
                    <a:cubicBezTo>
                      <a:pt x="1949329" y="0"/>
                      <a:pt x="1973305" y="23977"/>
                      <a:pt x="1973305" y="53537"/>
                    </a:cubicBezTo>
                    <a:cubicBezTo>
                      <a:pt x="1973305" y="83097"/>
                      <a:pt x="1949329" y="107073"/>
                      <a:pt x="1919769" y="107073"/>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83" name="Google Shape;683;p50"/>
              <p:cNvSpPr/>
              <p:nvPr/>
            </p:nvSpPr>
            <p:spPr>
              <a:xfrm>
                <a:off x="1802422" y="2188406"/>
                <a:ext cx="1396425" cy="833072"/>
              </a:xfrm>
              <a:custGeom>
                <a:rect b="b" l="l" r="r" t="t"/>
                <a:pathLst>
                  <a:path extrusionOk="0" h="833072" w="1396425">
                    <a:moveTo>
                      <a:pt x="1342631" y="832985"/>
                    </a:moveTo>
                    <a:cubicBezTo>
                      <a:pt x="1324238" y="832985"/>
                      <a:pt x="1306174" y="823461"/>
                      <a:pt x="1296321" y="806053"/>
                    </a:cubicBezTo>
                    <a:lnTo>
                      <a:pt x="1113705" y="490088"/>
                    </a:lnTo>
                    <a:lnTo>
                      <a:pt x="958349" y="469724"/>
                    </a:lnTo>
                    <a:cubicBezTo>
                      <a:pt x="942912" y="467753"/>
                      <a:pt x="928789" y="458885"/>
                      <a:pt x="920250" y="445747"/>
                    </a:cubicBezTo>
                    <a:lnTo>
                      <a:pt x="722196" y="138650"/>
                    </a:lnTo>
                    <a:lnTo>
                      <a:pt x="558302" y="302545"/>
                    </a:lnTo>
                    <a:lnTo>
                      <a:pt x="476519" y="539026"/>
                    </a:lnTo>
                    <a:cubicBezTo>
                      <a:pt x="470935" y="554792"/>
                      <a:pt x="458454" y="567272"/>
                      <a:pt x="442360" y="572528"/>
                    </a:cubicBezTo>
                    <a:lnTo>
                      <a:pt x="206864" y="648070"/>
                    </a:lnTo>
                    <a:lnTo>
                      <a:pt x="97820" y="809337"/>
                    </a:lnTo>
                    <a:cubicBezTo>
                      <a:pt x="81398" y="833971"/>
                      <a:pt x="47896" y="840540"/>
                      <a:pt x="23591" y="823789"/>
                    </a:cubicBezTo>
                    <a:cubicBezTo>
                      <a:pt x="-1042" y="807367"/>
                      <a:pt x="-7283" y="773865"/>
                      <a:pt x="9139" y="749560"/>
                    </a:cubicBezTo>
                    <a:lnTo>
                      <a:pt x="128365" y="572856"/>
                    </a:lnTo>
                    <a:cubicBezTo>
                      <a:pt x="134934" y="563003"/>
                      <a:pt x="145116" y="555448"/>
                      <a:pt x="156283" y="551836"/>
                    </a:cubicBezTo>
                    <a:lnTo>
                      <a:pt x="383897" y="478920"/>
                    </a:lnTo>
                    <a:lnTo>
                      <a:pt x="461082" y="255905"/>
                    </a:lnTo>
                    <a:cubicBezTo>
                      <a:pt x="463709" y="248351"/>
                      <a:pt x="467979" y="241454"/>
                      <a:pt x="473891" y="235542"/>
                    </a:cubicBezTo>
                    <a:lnTo>
                      <a:pt x="693622" y="15811"/>
                    </a:lnTo>
                    <a:cubicBezTo>
                      <a:pt x="705117" y="4315"/>
                      <a:pt x="721211" y="-1597"/>
                      <a:pt x="737305" y="374"/>
                    </a:cubicBezTo>
                    <a:cubicBezTo>
                      <a:pt x="753399" y="2016"/>
                      <a:pt x="767850" y="10884"/>
                      <a:pt x="776719" y="24679"/>
                    </a:cubicBezTo>
                    <a:lnTo>
                      <a:pt x="997106" y="366592"/>
                    </a:lnTo>
                    <a:lnTo>
                      <a:pt x="1154103" y="387284"/>
                    </a:lnTo>
                    <a:cubicBezTo>
                      <a:pt x="1170526" y="389583"/>
                      <a:pt x="1185306" y="399108"/>
                      <a:pt x="1193517" y="413560"/>
                    </a:cubicBezTo>
                    <a:lnTo>
                      <a:pt x="1389271" y="752516"/>
                    </a:lnTo>
                    <a:cubicBezTo>
                      <a:pt x="1404051" y="778135"/>
                      <a:pt x="1395183" y="810980"/>
                      <a:pt x="1369564" y="825760"/>
                    </a:cubicBezTo>
                    <a:cubicBezTo>
                      <a:pt x="1361025" y="830686"/>
                      <a:pt x="1351828" y="832985"/>
                      <a:pt x="1342631" y="832985"/>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84" name="Google Shape;684;p50"/>
              <p:cNvSpPr/>
              <p:nvPr/>
            </p:nvSpPr>
            <p:spPr>
              <a:xfrm>
                <a:off x="1840945" y="3095959"/>
                <a:ext cx="1291611" cy="961352"/>
              </a:xfrm>
              <a:custGeom>
                <a:rect b="b" l="l" r="r" t="t"/>
                <a:pathLst>
                  <a:path extrusionOk="0" h="961352" w="1291611">
                    <a:moveTo>
                      <a:pt x="769398" y="961352"/>
                    </a:moveTo>
                    <a:cubicBezTo>
                      <a:pt x="758560" y="961352"/>
                      <a:pt x="748049" y="958068"/>
                      <a:pt x="739181" y="951827"/>
                    </a:cubicBezTo>
                    <a:lnTo>
                      <a:pt x="447849" y="751475"/>
                    </a:lnTo>
                    <a:cubicBezTo>
                      <a:pt x="438324" y="744906"/>
                      <a:pt x="431098" y="735710"/>
                      <a:pt x="427486" y="724542"/>
                    </a:cubicBezTo>
                    <a:lnTo>
                      <a:pt x="309902" y="380659"/>
                    </a:lnTo>
                    <a:lnTo>
                      <a:pt x="98054" y="257163"/>
                    </a:lnTo>
                    <a:cubicBezTo>
                      <a:pt x="88529" y="251580"/>
                      <a:pt x="80975" y="243040"/>
                      <a:pt x="76376" y="233187"/>
                    </a:cubicBezTo>
                    <a:lnTo>
                      <a:pt x="4775" y="75861"/>
                    </a:lnTo>
                    <a:cubicBezTo>
                      <a:pt x="-7377" y="48928"/>
                      <a:pt x="4447" y="17069"/>
                      <a:pt x="31379" y="4917"/>
                    </a:cubicBezTo>
                    <a:cubicBezTo>
                      <a:pt x="58312" y="-7564"/>
                      <a:pt x="90171" y="4588"/>
                      <a:pt x="102324" y="31521"/>
                    </a:cubicBezTo>
                    <a:lnTo>
                      <a:pt x="167028" y="173409"/>
                    </a:lnTo>
                    <a:lnTo>
                      <a:pt x="381503" y="298548"/>
                    </a:lnTo>
                    <a:cubicBezTo>
                      <a:pt x="392670" y="305116"/>
                      <a:pt x="400881" y="315298"/>
                      <a:pt x="405151" y="327451"/>
                    </a:cubicBezTo>
                    <a:lnTo>
                      <a:pt x="523392" y="673633"/>
                    </a:lnTo>
                    <a:lnTo>
                      <a:pt x="745422" y="826689"/>
                    </a:lnTo>
                    <a:lnTo>
                      <a:pt x="896835" y="460800"/>
                    </a:lnTo>
                    <a:cubicBezTo>
                      <a:pt x="905047" y="440765"/>
                      <a:pt x="924753" y="427627"/>
                      <a:pt x="946431" y="427627"/>
                    </a:cubicBezTo>
                    <a:lnTo>
                      <a:pt x="1003252" y="427627"/>
                    </a:lnTo>
                    <a:lnTo>
                      <a:pt x="1189481" y="31192"/>
                    </a:lnTo>
                    <a:cubicBezTo>
                      <a:pt x="1201962" y="4259"/>
                      <a:pt x="1233821" y="-7236"/>
                      <a:pt x="1260754" y="5573"/>
                    </a:cubicBezTo>
                    <a:cubicBezTo>
                      <a:pt x="1287686" y="18054"/>
                      <a:pt x="1299182" y="49914"/>
                      <a:pt x="1286373" y="76846"/>
                    </a:cubicBezTo>
                    <a:lnTo>
                      <a:pt x="1085692" y="504155"/>
                    </a:lnTo>
                    <a:cubicBezTo>
                      <a:pt x="1076824" y="522876"/>
                      <a:pt x="1058102" y="535029"/>
                      <a:pt x="1037082" y="535029"/>
                    </a:cubicBezTo>
                    <a:lnTo>
                      <a:pt x="982231" y="535029"/>
                    </a:lnTo>
                    <a:lnTo>
                      <a:pt x="819322" y="929164"/>
                    </a:lnTo>
                    <a:cubicBezTo>
                      <a:pt x="813082" y="944273"/>
                      <a:pt x="800601" y="955440"/>
                      <a:pt x="785164" y="960038"/>
                    </a:cubicBezTo>
                    <a:cubicBezTo>
                      <a:pt x="779580" y="960695"/>
                      <a:pt x="774653" y="961352"/>
                      <a:pt x="769398" y="961352"/>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85" name="Google Shape;685;p50"/>
              <p:cNvSpPr/>
              <p:nvPr/>
            </p:nvSpPr>
            <p:spPr>
              <a:xfrm>
                <a:off x="2453555" y="2246797"/>
                <a:ext cx="388683" cy="774595"/>
              </a:xfrm>
              <a:custGeom>
                <a:rect b="b" l="l" r="r" t="t"/>
                <a:pathLst>
                  <a:path extrusionOk="0" h="774595" w="388683">
                    <a:moveTo>
                      <a:pt x="334806" y="774595"/>
                    </a:moveTo>
                    <a:cubicBezTo>
                      <a:pt x="316413" y="774595"/>
                      <a:pt x="298349" y="765070"/>
                      <a:pt x="288495" y="747991"/>
                    </a:cubicBezTo>
                    <a:lnTo>
                      <a:pt x="216565" y="624495"/>
                    </a:lnTo>
                    <a:lnTo>
                      <a:pt x="56284" y="321011"/>
                    </a:lnTo>
                    <a:cubicBezTo>
                      <a:pt x="53985" y="316413"/>
                      <a:pt x="52342" y="311814"/>
                      <a:pt x="51357" y="306888"/>
                    </a:cubicBezTo>
                    <a:lnTo>
                      <a:pt x="1105" y="64494"/>
                    </a:lnTo>
                    <a:cubicBezTo>
                      <a:pt x="-4807" y="35591"/>
                      <a:pt x="13586" y="7345"/>
                      <a:pt x="42489" y="1104"/>
                    </a:cubicBezTo>
                    <a:cubicBezTo>
                      <a:pt x="71392" y="-4808"/>
                      <a:pt x="99639" y="13585"/>
                      <a:pt x="105879" y="42817"/>
                    </a:cubicBezTo>
                    <a:lnTo>
                      <a:pt x="154818" y="277984"/>
                    </a:lnTo>
                    <a:lnTo>
                      <a:pt x="310501" y="572601"/>
                    </a:lnTo>
                    <a:lnTo>
                      <a:pt x="381446" y="694126"/>
                    </a:lnTo>
                    <a:cubicBezTo>
                      <a:pt x="396226" y="719745"/>
                      <a:pt x="387686" y="752261"/>
                      <a:pt x="362067" y="767369"/>
                    </a:cubicBezTo>
                    <a:cubicBezTo>
                      <a:pt x="353199" y="771968"/>
                      <a:pt x="344003" y="774595"/>
                      <a:pt x="334806" y="774595"/>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86" name="Google Shape;686;p50"/>
              <p:cNvSpPr/>
              <p:nvPr/>
            </p:nvSpPr>
            <p:spPr>
              <a:xfrm>
                <a:off x="1303127"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942" y="106745"/>
                    </a:moveTo>
                    <a:cubicBezTo>
                      <a:pt x="111015" y="106745"/>
                      <a:pt x="107074" y="110686"/>
                      <a:pt x="107074" y="115613"/>
                    </a:cubicBezTo>
                    <a:lnTo>
                      <a:pt x="107074" y="398734"/>
                    </a:lnTo>
                    <a:cubicBezTo>
                      <a:pt x="107074" y="403661"/>
                      <a:pt x="111015" y="407602"/>
                      <a:pt x="115942" y="407602"/>
                    </a:cubicBezTo>
                    <a:lnTo>
                      <a:pt x="399062" y="407602"/>
                    </a:lnTo>
                    <a:cubicBezTo>
                      <a:pt x="403989" y="407602"/>
                      <a:pt x="407930" y="403661"/>
                      <a:pt x="407930" y="398734"/>
                    </a:cubicBezTo>
                    <a:lnTo>
                      <a:pt x="407930" y="115613"/>
                    </a:lnTo>
                    <a:cubicBezTo>
                      <a:pt x="407930" y="110686"/>
                      <a:pt x="403989" y="106745"/>
                      <a:pt x="399062" y="106745"/>
                    </a:cubicBezTo>
                    <a:lnTo>
                      <a:pt x="115942"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87" name="Google Shape;687;p50"/>
              <p:cNvSpPr/>
              <p:nvPr/>
            </p:nvSpPr>
            <p:spPr>
              <a:xfrm>
                <a:off x="1303127"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942" y="107073"/>
                    </a:moveTo>
                    <a:cubicBezTo>
                      <a:pt x="111015" y="107073"/>
                      <a:pt x="107074" y="111015"/>
                      <a:pt x="107074" y="115942"/>
                    </a:cubicBezTo>
                    <a:lnTo>
                      <a:pt x="107074" y="399062"/>
                    </a:lnTo>
                    <a:cubicBezTo>
                      <a:pt x="107074" y="403989"/>
                      <a:pt x="111015" y="407930"/>
                      <a:pt x="115942" y="407930"/>
                    </a:cubicBezTo>
                    <a:lnTo>
                      <a:pt x="399062" y="407930"/>
                    </a:lnTo>
                    <a:cubicBezTo>
                      <a:pt x="403989" y="407930"/>
                      <a:pt x="407930" y="403989"/>
                      <a:pt x="407930" y="399062"/>
                    </a:cubicBezTo>
                    <a:lnTo>
                      <a:pt x="407930" y="115942"/>
                    </a:lnTo>
                    <a:cubicBezTo>
                      <a:pt x="407930" y="111015"/>
                      <a:pt x="403989" y="107073"/>
                      <a:pt x="399062" y="107073"/>
                    </a:cubicBezTo>
                    <a:lnTo>
                      <a:pt x="115942"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88" name="Google Shape;688;p50"/>
              <p:cNvSpPr/>
              <p:nvPr/>
            </p:nvSpPr>
            <p:spPr>
              <a:xfrm>
                <a:off x="1920934"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2781"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89" name="Google Shape;689;p50"/>
              <p:cNvSpPr/>
              <p:nvPr/>
            </p:nvSpPr>
            <p:spPr>
              <a:xfrm>
                <a:off x="685648"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90" name="Google Shape;690;p50"/>
              <p:cNvSpPr/>
              <p:nvPr/>
            </p:nvSpPr>
            <p:spPr>
              <a:xfrm>
                <a:off x="685648"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691" name="Google Shape;691;p50"/>
              <p:cNvSpPr/>
              <p:nvPr/>
            </p:nvSpPr>
            <p:spPr>
              <a:xfrm>
                <a:off x="685648" y="2659773"/>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grpSp>
      </p:grpSp>
      <p:grpSp>
        <p:nvGrpSpPr>
          <p:cNvPr id="692" name="Google Shape;692;p50"/>
          <p:cNvGrpSpPr/>
          <p:nvPr/>
        </p:nvGrpSpPr>
        <p:grpSpPr>
          <a:xfrm>
            <a:off x="5012838" y="1108221"/>
            <a:ext cx="914422" cy="387000"/>
            <a:chOff x="5012838" y="1188904"/>
            <a:chExt cx="914422" cy="387000"/>
          </a:xfrm>
        </p:grpSpPr>
        <p:sp>
          <p:nvSpPr>
            <p:cNvPr id="693" name="Google Shape;693;p50"/>
            <p:cNvSpPr/>
            <p:nvPr/>
          </p:nvSpPr>
          <p:spPr>
            <a:xfrm>
              <a:off x="5012860" y="1188904"/>
              <a:ext cx="914400" cy="387000"/>
            </a:xfrm>
            <a:prstGeom prst="roundRect">
              <a:avLst>
                <a:gd fmla="val 1674" name="adj"/>
              </a:avLst>
            </a:prstGeom>
            <a:noFill/>
            <a:ln>
              <a:noFill/>
            </a:ln>
            <a:effectLst>
              <a:outerShdw blurRad="19050" rotWithShape="0" algn="ctr" dir="5400000" dist="6350">
                <a:srgbClr val="000000">
                  <a:alpha val="44310"/>
                </a:srgbClr>
              </a:outerShdw>
            </a:effectLst>
          </p:spPr>
          <p:txBody>
            <a:bodyPr anchorCtr="0" anchor="ctr" bIns="146300" lIns="429750" spcFirstLastPara="1" rIns="45700" wrap="square" tIns="118850">
              <a:noAutofit/>
            </a:bodyPr>
            <a:lstStyle/>
            <a:p>
              <a:pPr indent="0" lvl="0" marL="0" marR="0" rtl="0" algn="l">
                <a:lnSpc>
                  <a:spcPct val="100000"/>
                </a:lnSpc>
                <a:spcBef>
                  <a:spcPts val="0"/>
                </a:spcBef>
                <a:spcAft>
                  <a:spcPts val="0"/>
                </a:spcAft>
                <a:buClr>
                  <a:srgbClr val="000000"/>
                </a:buClr>
                <a:buSzPts val="175"/>
                <a:buFont typeface="Roboto"/>
                <a:buNone/>
              </a:pPr>
              <a:r>
                <a:rPr lang="en" sz="700">
                  <a:solidFill>
                    <a:srgbClr val="757575"/>
                  </a:solidFill>
                  <a:latin typeface="Roboto"/>
                  <a:ea typeface="Roboto"/>
                  <a:cs typeface="Roboto"/>
                  <a:sym typeface="Roboto"/>
                </a:rPr>
                <a:t>ADSL</a:t>
              </a:r>
              <a:endParaRPr/>
            </a:p>
          </p:txBody>
        </p:sp>
        <p:pic>
          <p:nvPicPr>
            <p:cNvPr id="694" name="Google Shape;694;p50"/>
            <p:cNvPicPr preferRelativeResize="0"/>
            <p:nvPr/>
          </p:nvPicPr>
          <p:blipFill rotWithShape="1">
            <a:blip r:embed="rId5">
              <a:alphaModFix/>
            </a:blip>
            <a:srcRect b="0" l="0" r="0" t="0"/>
            <a:stretch/>
          </p:blipFill>
          <p:spPr>
            <a:xfrm>
              <a:off x="5012838" y="1192936"/>
              <a:ext cx="341650" cy="341650"/>
            </a:xfrm>
            <a:prstGeom prst="rect">
              <a:avLst/>
            </a:prstGeom>
            <a:noFill/>
            <a:ln>
              <a:noFill/>
            </a:ln>
            <a:effectLst>
              <a:outerShdw blurRad="57150" rotWithShape="0" algn="bl" dir="5400000" dist="19050">
                <a:srgbClr val="000000">
                  <a:alpha val="50000"/>
                </a:srgbClr>
              </a:outerShdw>
            </a:effectLst>
          </p:spPr>
        </p:pic>
      </p:grpSp>
      <p:sp>
        <p:nvSpPr>
          <p:cNvPr id="695" name="Google Shape;695;p50"/>
          <p:cNvSpPr/>
          <p:nvPr/>
        </p:nvSpPr>
        <p:spPr>
          <a:xfrm>
            <a:off x="5012850" y="3193200"/>
            <a:ext cx="3618000" cy="921600"/>
          </a:xfrm>
          <a:prstGeom prst="roundRect">
            <a:avLst>
              <a:gd fmla="val 827" name="adj"/>
            </a:avLst>
          </a:prstGeom>
          <a:solidFill>
            <a:srgbClr val="F1F8E9"/>
          </a:solidFill>
          <a:ln>
            <a:noFill/>
          </a:ln>
          <a:effectLst>
            <a:outerShdw blurRad="58271" rotWithShape="0" algn="bl" dir="5400000" dist="19424">
              <a:srgbClr val="000000">
                <a:alpha val="50000"/>
              </a:srgbClr>
            </a:outerShdw>
          </a:effectLst>
        </p:spPr>
        <p:txBody>
          <a:bodyPr anchorCtr="0" anchor="ctr" bIns="93225" lIns="93225" spcFirstLastPara="1" rIns="93225" wrap="square" tIns="93225">
            <a:noAutofit/>
          </a:bodyPr>
          <a:lstStyle/>
          <a:p>
            <a:pPr indent="0" lvl="0" marL="0" marR="0" rtl="0" algn="l">
              <a:lnSpc>
                <a:spcPct val="100000"/>
              </a:lnSpc>
              <a:spcBef>
                <a:spcPts val="0"/>
              </a:spcBef>
              <a:spcAft>
                <a:spcPts val="0"/>
              </a:spcAft>
              <a:buClr>
                <a:srgbClr val="000000"/>
              </a:buClr>
              <a:buSzPts val="1427"/>
              <a:buFont typeface="Arial"/>
              <a:buNone/>
            </a:pPr>
            <a:r>
              <a:t/>
            </a:r>
            <a:endParaRPr b="0" i="0" sz="1427" u="none" cap="none" strike="noStrike">
              <a:solidFill>
                <a:srgbClr val="000000"/>
              </a:solidFill>
              <a:latin typeface="Arial"/>
              <a:ea typeface="Arial"/>
              <a:cs typeface="Arial"/>
              <a:sym typeface="Arial"/>
            </a:endParaRPr>
          </a:p>
        </p:txBody>
      </p:sp>
      <p:pic>
        <p:nvPicPr>
          <p:cNvPr id="696" name="Google Shape;696;p50"/>
          <p:cNvPicPr preferRelativeResize="0"/>
          <p:nvPr/>
        </p:nvPicPr>
        <p:blipFill rotWithShape="1">
          <a:blip r:embed="rId6">
            <a:alphaModFix/>
          </a:blip>
          <a:srcRect b="0" l="0" r="0" t="0"/>
          <a:stretch/>
        </p:blipFill>
        <p:spPr>
          <a:xfrm>
            <a:off x="6319029" y="3787400"/>
            <a:ext cx="932323" cy="227396"/>
          </a:xfrm>
          <a:prstGeom prst="rect">
            <a:avLst/>
          </a:prstGeom>
          <a:noFill/>
          <a:ln>
            <a:noFill/>
          </a:ln>
        </p:spPr>
      </p:pic>
      <p:grpSp>
        <p:nvGrpSpPr>
          <p:cNvPr id="697" name="Google Shape;697;p50"/>
          <p:cNvGrpSpPr/>
          <p:nvPr/>
        </p:nvGrpSpPr>
        <p:grpSpPr>
          <a:xfrm>
            <a:off x="5235291" y="3334207"/>
            <a:ext cx="1212000" cy="389700"/>
            <a:chOff x="5056141" y="3618246"/>
            <a:chExt cx="1212000" cy="389700"/>
          </a:xfrm>
        </p:grpSpPr>
        <p:sp>
          <p:nvSpPr>
            <p:cNvPr id="698" name="Google Shape;698;p50"/>
            <p:cNvSpPr/>
            <p:nvPr/>
          </p:nvSpPr>
          <p:spPr>
            <a:xfrm>
              <a:off x="5056141" y="3618246"/>
              <a:ext cx="1212000" cy="389700"/>
            </a:xfrm>
            <a:prstGeom prst="roundRect">
              <a:avLst>
                <a:gd fmla="val 1674" name="adj"/>
              </a:avLst>
            </a:prstGeom>
            <a:solidFill>
              <a:srgbClr val="FFFFFF"/>
            </a:solidFill>
            <a:ln>
              <a:noFill/>
            </a:ln>
            <a:effectLst>
              <a:outerShdw blurRad="19424" rotWithShape="0" algn="ctr" dir="5400000" dist="6475">
                <a:srgbClr val="000000">
                  <a:alpha val="44310"/>
                </a:srgbClr>
              </a:outerShdw>
            </a:effectLst>
          </p:spPr>
          <p:txBody>
            <a:bodyPr anchorCtr="0" anchor="ctr" bIns="74575" lIns="438175" spcFirstLastPara="1" rIns="46600" wrap="square" tIns="74575">
              <a:noAutofit/>
            </a:bodyPr>
            <a:lstStyle/>
            <a:p>
              <a:pPr indent="0" lvl="0" marL="0" marR="0" rtl="0" algn="l">
                <a:lnSpc>
                  <a:spcPct val="113333"/>
                </a:lnSpc>
                <a:spcBef>
                  <a:spcPts val="0"/>
                </a:spcBef>
                <a:spcAft>
                  <a:spcPts val="0"/>
                </a:spcAft>
                <a:buClr>
                  <a:srgbClr val="212121"/>
                </a:buClr>
                <a:buSzPts val="191"/>
                <a:buFont typeface="Roboto"/>
                <a:buNone/>
              </a:pPr>
              <a:r>
                <a:rPr lang="en" sz="765">
                  <a:solidFill>
                    <a:srgbClr val="212121"/>
                  </a:solidFill>
                  <a:latin typeface="Roboto"/>
                  <a:ea typeface="Roboto"/>
                  <a:cs typeface="Roboto"/>
                  <a:sym typeface="Roboto"/>
                </a:rPr>
                <a:t>Data Catalog</a:t>
              </a:r>
              <a:br>
                <a:rPr b="0" i="0" lang="en" sz="714" u="none" cap="none" strike="noStrike">
                  <a:solidFill>
                    <a:srgbClr val="212121"/>
                  </a:solidFill>
                  <a:latin typeface="Roboto"/>
                  <a:ea typeface="Roboto"/>
                  <a:cs typeface="Roboto"/>
                  <a:sym typeface="Roboto"/>
                </a:rPr>
              </a:br>
              <a:r>
                <a:rPr lang="en" sz="714">
                  <a:solidFill>
                    <a:srgbClr val="757575"/>
                  </a:solidFill>
                  <a:latin typeface="Roboto"/>
                  <a:ea typeface="Roboto"/>
                  <a:cs typeface="Roboto"/>
                  <a:sym typeface="Roboto"/>
                </a:rPr>
                <a:t>Polaris</a:t>
              </a:r>
              <a:endParaRPr sz="1427"/>
            </a:p>
          </p:txBody>
        </p:sp>
        <p:pic>
          <p:nvPicPr>
            <p:cNvPr id="699" name="Google Shape;699;p50"/>
            <p:cNvPicPr preferRelativeResize="0"/>
            <p:nvPr/>
          </p:nvPicPr>
          <p:blipFill>
            <a:blip r:embed="rId7">
              <a:alphaModFix/>
            </a:blip>
            <a:stretch>
              <a:fillRect/>
            </a:stretch>
          </p:blipFill>
          <p:spPr>
            <a:xfrm>
              <a:off x="5074952" y="3638925"/>
              <a:ext cx="348346" cy="348346"/>
            </a:xfrm>
            <a:prstGeom prst="rect">
              <a:avLst/>
            </a:prstGeom>
            <a:noFill/>
            <a:ln>
              <a:noFill/>
            </a:ln>
          </p:spPr>
        </p:pic>
      </p:grpSp>
      <p:pic>
        <p:nvPicPr>
          <p:cNvPr id="700" name="Google Shape;700;p50"/>
          <p:cNvPicPr preferRelativeResize="0"/>
          <p:nvPr/>
        </p:nvPicPr>
        <p:blipFill rotWithShape="1">
          <a:blip r:embed="rId8">
            <a:alphaModFix/>
          </a:blip>
          <a:srcRect b="0" l="0" r="0" t="0"/>
          <a:stretch/>
        </p:blipFill>
        <p:spPr>
          <a:xfrm>
            <a:off x="2212680" y="978407"/>
            <a:ext cx="1360716" cy="173708"/>
          </a:xfrm>
          <a:prstGeom prst="rect">
            <a:avLst/>
          </a:prstGeom>
          <a:noFill/>
          <a:ln>
            <a:noFill/>
          </a:ln>
        </p:spPr>
      </p:pic>
      <p:grpSp>
        <p:nvGrpSpPr>
          <p:cNvPr id="701" name="Google Shape;701;p50"/>
          <p:cNvGrpSpPr/>
          <p:nvPr/>
        </p:nvGrpSpPr>
        <p:grpSpPr>
          <a:xfrm>
            <a:off x="5257258" y="1775790"/>
            <a:ext cx="1190432" cy="382200"/>
            <a:chOff x="5267517" y="1775790"/>
            <a:chExt cx="1190432" cy="382200"/>
          </a:xfrm>
        </p:grpSpPr>
        <p:sp>
          <p:nvSpPr>
            <p:cNvPr id="702" name="Google Shape;702;p50"/>
            <p:cNvSpPr/>
            <p:nvPr/>
          </p:nvSpPr>
          <p:spPr>
            <a:xfrm>
              <a:off x="5269349" y="1775790"/>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Data Files</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Parquet</a:t>
              </a:r>
              <a:endParaRPr/>
            </a:p>
          </p:txBody>
        </p:sp>
        <p:grpSp>
          <p:nvGrpSpPr>
            <p:cNvPr id="703" name="Google Shape;703;p50"/>
            <p:cNvGrpSpPr/>
            <p:nvPr/>
          </p:nvGrpSpPr>
          <p:grpSpPr>
            <a:xfrm>
              <a:off x="5267517" y="1805598"/>
              <a:ext cx="306941" cy="317881"/>
              <a:chOff x="1714900" y="552700"/>
              <a:chExt cx="4353775" cy="4508950"/>
            </a:xfrm>
          </p:grpSpPr>
          <p:sp>
            <p:nvSpPr>
              <p:cNvPr id="704" name="Google Shape;704;p5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915"/>
                  <a:buFont typeface="Arial"/>
                  <a:buNone/>
                </a:pPr>
                <a:r>
                  <a:t/>
                </a:r>
                <a:endParaRPr sz="915">
                  <a:solidFill>
                    <a:srgbClr val="252525"/>
                  </a:solidFill>
                  <a:latin typeface="Arial"/>
                  <a:ea typeface="Arial"/>
                  <a:cs typeface="Arial"/>
                  <a:sym typeface="Arial"/>
                </a:endParaRPr>
              </a:p>
            </p:txBody>
          </p:sp>
          <p:sp>
            <p:nvSpPr>
              <p:cNvPr id="705" name="Google Shape;705;p5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33"/>
                  <a:buFont typeface="Arial"/>
                  <a:buNone/>
                </a:pPr>
                <a:r>
                  <a:rPr b="1" lang="en" sz="333">
                    <a:solidFill>
                      <a:srgbClr val="FFFFFF"/>
                    </a:solidFill>
                    <a:latin typeface="Arial"/>
                    <a:ea typeface="Arial"/>
                    <a:cs typeface="Arial"/>
                    <a:sym typeface="Arial"/>
                  </a:rPr>
                  <a:t>PARQUET</a:t>
                </a:r>
                <a:endParaRPr sz="832">
                  <a:solidFill>
                    <a:srgbClr val="252525"/>
                  </a:solidFill>
                  <a:latin typeface="Arial"/>
                  <a:ea typeface="Arial"/>
                  <a:cs typeface="Arial"/>
                  <a:sym typeface="Arial"/>
                </a:endParaRPr>
              </a:p>
            </p:txBody>
          </p:sp>
        </p:grpSp>
      </p:grpSp>
      <p:sp>
        <p:nvSpPr>
          <p:cNvPr id="706" name="Google Shape;706;p50"/>
          <p:cNvSpPr/>
          <p:nvPr/>
        </p:nvSpPr>
        <p:spPr>
          <a:xfrm>
            <a:off x="6974000" y="1068875"/>
            <a:ext cx="1656900" cy="2020800"/>
          </a:xfrm>
          <a:prstGeom prst="roundRect">
            <a:avLst>
              <a:gd fmla="val 827" name="adj"/>
            </a:avLst>
          </a:prstGeom>
          <a:solidFill>
            <a:srgbClr val="F1F8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07" name="Google Shape;707;p50"/>
          <p:cNvCxnSpPr>
            <a:stCxn id="671" idx="3"/>
            <a:endCxn id="702" idx="1"/>
          </p:cNvCxnSpPr>
          <p:nvPr/>
        </p:nvCxnSpPr>
        <p:spPr>
          <a:xfrm flipH="1" rot="10800000">
            <a:off x="3463882" y="1966798"/>
            <a:ext cx="1795200" cy="32700"/>
          </a:xfrm>
          <a:prstGeom prst="straightConnector1">
            <a:avLst/>
          </a:prstGeom>
          <a:noFill/>
          <a:ln cap="flat" cmpd="sng" w="28575">
            <a:solidFill>
              <a:schemeClr val="accent1"/>
            </a:solidFill>
            <a:prstDash val="solid"/>
            <a:round/>
            <a:headEnd len="med" w="med" type="none"/>
            <a:tailEnd len="med" w="med" type="triangle"/>
          </a:ln>
        </p:spPr>
      </p:cxnSp>
      <p:grpSp>
        <p:nvGrpSpPr>
          <p:cNvPr id="708" name="Google Shape;708;p50"/>
          <p:cNvGrpSpPr/>
          <p:nvPr/>
        </p:nvGrpSpPr>
        <p:grpSpPr>
          <a:xfrm>
            <a:off x="3859600" y="1808400"/>
            <a:ext cx="849000" cy="382200"/>
            <a:chOff x="2604150" y="1524700"/>
            <a:chExt cx="849000" cy="382200"/>
          </a:xfrm>
        </p:grpSpPr>
        <p:sp>
          <p:nvSpPr>
            <p:cNvPr id="709" name="Google Shape;709;p50"/>
            <p:cNvSpPr/>
            <p:nvPr/>
          </p:nvSpPr>
          <p:spPr>
            <a:xfrm>
              <a:off x="2604150" y="1524700"/>
              <a:ext cx="8490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Pipeline</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ADF</a:t>
              </a:r>
              <a:endParaRPr/>
            </a:p>
          </p:txBody>
        </p:sp>
        <p:pic>
          <p:nvPicPr>
            <p:cNvPr id="710" name="Google Shape;710;p50"/>
            <p:cNvPicPr preferRelativeResize="0"/>
            <p:nvPr/>
          </p:nvPicPr>
          <p:blipFill rotWithShape="1">
            <a:blip r:embed="rId9">
              <a:alphaModFix/>
            </a:blip>
            <a:srcRect b="0" l="0" r="0" t="0"/>
            <a:stretch/>
          </p:blipFill>
          <p:spPr>
            <a:xfrm>
              <a:off x="2604150" y="1524700"/>
              <a:ext cx="382200" cy="382200"/>
            </a:xfrm>
            <a:prstGeom prst="rect">
              <a:avLst/>
            </a:prstGeom>
            <a:noFill/>
            <a:ln>
              <a:noFill/>
            </a:ln>
          </p:spPr>
        </p:pic>
      </p:grpSp>
      <p:grpSp>
        <p:nvGrpSpPr>
          <p:cNvPr id="711" name="Google Shape;711;p50"/>
          <p:cNvGrpSpPr/>
          <p:nvPr/>
        </p:nvGrpSpPr>
        <p:grpSpPr>
          <a:xfrm>
            <a:off x="7016875" y="1096295"/>
            <a:ext cx="914410" cy="387000"/>
            <a:chOff x="7016875" y="1170254"/>
            <a:chExt cx="914410" cy="387000"/>
          </a:xfrm>
        </p:grpSpPr>
        <p:sp>
          <p:nvSpPr>
            <p:cNvPr id="712" name="Google Shape;712;p50"/>
            <p:cNvSpPr/>
            <p:nvPr/>
          </p:nvSpPr>
          <p:spPr>
            <a:xfrm>
              <a:off x="7016885" y="1170254"/>
              <a:ext cx="914400" cy="387000"/>
            </a:xfrm>
            <a:prstGeom prst="roundRect">
              <a:avLst>
                <a:gd fmla="val 1674" name="adj"/>
              </a:avLst>
            </a:prstGeom>
            <a:noFill/>
            <a:ln>
              <a:noFill/>
            </a:ln>
            <a:effectLst>
              <a:outerShdw blurRad="19050" rotWithShape="0" algn="ctr" dir="5400000" dist="6350">
                <a:srgbClr val="000000">
                  <a:alpha val="44310"/>
                </a:srgbClr>
              </a:outerShdw>
            </a:effectLst>
          </p:spPr>
          <p:txBody>
            <a:bodyPr anchorCtr="0" anchor="ctr" bIns="146300" lIns="429750" spcFirstLastPara="1" rIns="45700" wrap="square" tIns="118850">
              <a:noAutofit/>
            </a:bodyPr>
            <a:lstStyle/>
            <a:p>
              <a:pPr indent="0" lvl="0" marL="0" marR="0" rtl="0" algn="l">
                <a:lnSpc>
                  <a:spcPct val="100000"/>
                </a:lnSpc>
                <a:spcBef>
                  <a:spcPts val="0"/>
                </a:spcBef>
                <a:spcAft>
                  <a:spcPts val="0"/>
                </a:spcAft>
                <a:buClr>
                  <a:srgbClr val="000000"/>
                </a:buClr>
                <a:buSzPts val="175"/>
                <a:buFont typeface="Roboto"/>
                <a:buNone/>
              </a:pPr>
              <a:r>
                <a:rPr lang="en" sz="700">
                  <a:solidFill>
                    <a:srgbClr val="757575"/>
                  </a:solidFill>
                  <a:latin typeface="Roboto"/>
                  <a:ea typeface="Roboto"/>
                  <a:cs typeface="Roboto"/>
                  <a:sym typeface="Roboto"/>
                </a:rPr>
                <a:t>Enterprise Services</a:t>
              </a:r>
              <a:endParaRPr/>
            </a:p>
          </p:txBody>
        </p:sp>
        <p:pic>
          <p:nvPicPr>
            <p:cNvPr id="713" name="Google Shape;713;p50"/>
            <p:cNvPicPr preferRelativeResize="0"/>
            <p:nvPr/>
          </p:nvPicPr>
          <p:blipFill rotWithShape="1">
            <a:blip r:embed="rId10">
              <a:alphaModFix/>
            </a:blip>
            <a:srcRect b="0" l="0" r="0" t="0"/>
            <a:stretch/>
          </p:blipFill>
          <p:spPr>
            <a:xfrm>
              <a:off x="7016875" y="1172663"/>
              <a:ext cx="382200" cy="382200"/>
            </a:xfrm>
            <a:prstGeom prst="rect">
              <a:avLst/>
            </a:prstGeom>
            <a:noFill/>
            <a:ln>
              <a:noFill/>
            </a:ln>
          </p:spPr>
        </p:pic>
      </p:grpSp>
      <p:grpSp>
        <p:nvGrpSpPr>
          <p:cNvPr id="714" name="Google Shape;714;p50"/>
          <p:cNvGrpSpPr/>
          <p:nvPr/>
        </p:nvGrpSpPr>
        <p:grpSpPr>
          <a:xfrm>
            <a:off x="7180599" y="1929501"/>
            <a:ext cx="1188600" cy="382200"/>
            <a:chOff x="7097474" y="3337115"/>
            <a:chExt cx="1188600" cy="382200"/>
          </a:xfrm>
        </p:grpSpPr>
        <p:sp>
          <p:nvSpPr>
            <p:cNvPr id="715" name="Google Shape;715;p50"/>
            <p:cNvSpPr/>
            <p:nvPr/>
          </p:nvSpPr>
          <p:spPr>
            <a:xfrm>
              <a:off x="7097474" y="3337115"/>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Other Databases</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DB</a:t>
              </a:r>
              <a:endParaRPr/>
            </a:p>
          </p:txBody>
        </p:sp>
        <p:sp>
          <p:nvSpPr>
            <p:cNvPr id="716" name="Google Shape;716;p50"/>
            <p:cNvSpPr/>
            <p:nvPr/>
          </p:nvSpPr>
          <p:spPr>
            <a:xfrm>
              <a:off x="7150425" y="3389624"/>
              <a:ext cx="302397" cy="277200"/>
            </a:xfrm>
            <a:custGeom>
              <a:rect b="b" l="l" r="r" t="t"/>
              <a:pathLst>
                <a:path extrusionOk="0" h="8448" w="7350">
                  <a:moveTo>
                    <a:pt x="3674" y="708"/>
                  </a:moveTo>
                  <a:cubicBezTo>
                    <a:pt x="5594" y="708"/>
                    <a:pt x="6641" y="1317"/>
                    <a:pt x="6641" y="1629"/>
                  </a:cubicBezTo>
                  <a:cubicBezTo>
                    <a:pt x="6641" y="1941"/>
                    <a:pt x="5594" y="2550"/>
                    <a:pt x="3674" y="2550"/>
                  </a:cubicBezTo>
                  <a:cubicBezTo>
                    <a:pt x="1756" y="2550"/>
                    <a:pt x="709" y="1941"/>
                    <a:pt x="709" y="1629"/>
                  </a:cubicBezTo>
                  <a:cubicBezTo>
                    <a:pt x="709" y="1317"/>
                    <a:pt x="1756" y="708"/>
                    <a:pt x="3674" y="708"/>
                  </a:cubicBezTo>
                  <a:close/>
                  <a:moveTo>
                    <a:pt x="6641" y="2628"/>
                  </a:moveTo>
                  <a:lnTo>
                    <a:pt x="6641" y="3360"/>
                  </a:lnTo>
                  <a:cubicBezTo>
                    <a:pt x="6641" y="3672"/>
                    <a:pt x="5594" y="4281"/>
                    <a:pt x="3674" y="4281"/>
                  </a:cubicBezTo>
                  <a:cubicBezTo>
                    <a:pt x="1756" y="4281"/>
                    <a:pt x="709" y="3672"/>
                    <a:pt x="709" y="3360"/>
                  </a:cubicBezTo>
                  <a:lnTo>
                    <a:pt x="709" y="2628"/>
                  </a:lnTo>
                  <a:cubicBezTo>
                    <a:pt x="1411" y="3044"/>
                    <a:pt x="2547" y="3258"/>
                    <a:pt x="3674" y="3258"/>
                  </a:cubicBezTo>
                  <a:cubicBezTo>
                    <a:pt x="4802" y="3258"/>
                    <a:pt x="5937" y="3044"/>
                    <a:pt x="6641" y="2628"/>
                  </a:cubicBezTo>
                  <a:close/>
                  <a:moveTo>
                    <a:pt x="6641" y="4361"/>
                  </a:moveTo>
                  <a:lnTo>
                    <a:pt x="6641" y="5086"/>
                  </a:lnTo>
                  <a:cubicBezTo>
                    <a:pt x="6641" y="5398"/>
                    <a:pt x="5594" y="6007"/>
                    <a:pt x="3674" y="6007"/>
                  </a:cubicBezTo>
                  <a:cubicBezTo>
                    <a:pt x="1756" y="6007"/>
                    <a:pt x="709" y="5398"/>
                    <a:pt x="709" y="5086"/>
                  </a:cubicBezTo>
                  <a:lnTo>
                    <a:pt x="709" y="4361"/>
                  </a:lnTo>
                  <a:cubicBezTo>
                    <a:pt x="1411" y="4777"/>
                    <a:pt x="2547" y="4989"/>
                    <a:pt x="3674" y="4989"/>
                  </a:cubicBezTo>
                  <a:cubicBezTo>
                    <a:pt x="4802" y="4989"/>
                    <a:pt x="5937" y="4777"/>
                    <a:pt x="6641" y="4361"/>
                  </a:cubicBezTo>
                  <a:close/>
                  <a:moveTo>
                    <a:pt x="6641" y="6087"/>
                  </a:moveTo>
                  <a:lnTo>
                    <a:pt x="6641" y="6819"/>
                  </a:lnTo>
                  <a:cubicBezTo>
                    <a:pt x="6641" y="7131"/>
                    <a:pt x="5594" y="7740"/>
                    <a:pt x="3674" y="7740"/>
                  </a:cubicBezTo>
                  <a:cubicBezTo>
                    <a:pt x="1756" y="7740"/>
                    <a:pt x="709" y="7131"/>
                    <a:pt x="709" y="6819"/>
                  </a:cubicBezTo>
                  <a:lnTo>
                    <a:pt x="709" y="6087"/>
                  </a:lnTo>
                  <a:cubicBezTo>
                    <a:pt x="1411" y="6503"/>
                    <a:pt x="2547" y="6716"/>
                    <a:pt x="3674" y="6716"/>
                  </a:cubicBezTo>
                  <a:cubicBezTo>
                    <a:pt x="4802" y="6716"/>
                    <a:pt x="5937" y="6503"/>
                    <a:pt x="6641" y="6087"/>
                  </a:cubicBezTo>
                  <a:close/>
                  <a:moveTo>
                    <a:pt x="3674" y="0"/>
                  </a:moveTo>
                  <a:cubicBezTo>
                    <a:pt x="1848" y="0"/>
                    <a:pt x="1" y="560"/>
                    <a:pt x="1" y="1630"/>
                  </a:cubicBezTo>
                  <a:lnTo>
                    <a:pt x="1" y="6819"/>
                  </a:lnTo>
                  <a:cubicBezTo>
                    <a:pt x="1" y="7888"/>
                    <a:pt x="1849" y="8448"/>
                    <a:pt x="3674" y="8448"/>
                  </a:cubicBezTo>
                  <a:cubicBezTo>
                    <a:pt x="5499" y="8448"/>
                    <a:pt x="7348" y="7890"/>
                    <a:pt x="7348" y="6819"/>
                  </a:cubicBezTo>
                  <a:lnTo>
                    <a:pt x="7348" y="1629"/>
                  </a:lnTo>
                  <a:cubicBezTo>
                    <a:pt x="7350" y="560"/>
                    <a:pt x="5501" y="0"/>
                    <a:pt x="367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nvGrpSpPr>
          <p:cNvPr id="717" name="Google Shape;717;p50"/>
          <p:cNvGrpSpPr/>
          <p:nvPr/>
        </p:nvGrpSpPr>
        <p:grpSpPr>
          <a:xfrm>
            <a:off x="7208149" y="2561338"/>
            <a:ext cx="1188600" cy="382200"/>
            <a:chOff x="7242624" y="1940553"/>
            <a:chExt cx="1188600" cy="382200"/>
          </a:xfrm>
        </p:grpSpPr>
        <p:sp>
          <p:nvSpPr>
            <p:cNvPr id="718" name="Google Shape;718;p50"/>
            <p:cNvSpPr/>
            <p:nvPr/>
          </p:nvSpPr>
          <p:spPr>
            <a:xfrm>
              <a:off x="7242624" y="1940553"/>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Other Services</a:t>
              </a:r>
              <a:endParaRPr sz="750">
                <a:solidFill>
                  <a:srgbClr val="212121"/>
                </a:solidFill>
                <a:latin typeface="Roboto"/>
                <a:ea typeface="Roboto"/>
                <a:cs typeface="Roboto"/>
                <a:sym typeface="Roboto"/>
              </a:endParaRPr>
            </a:p>
            <a:p>
              <a:pPr indent="0" lvl="0" marL="0" marR="0" rtl="0" algn="l">
                <a:lnSpc>
                  <a:spcPct val="113333"/>
                </a:lnSpc>
                <a:spcBef>
                  <a:spcPts val="0"/>
                </a:spcBef>
                <a:spcAft>
                  <a:spcPts val="0"/>
                </a:spcAft>
                <a:buClr>
                  <a:srgbClr val="212121"/>
                </a:buClr>
                <a:buSzPts val="188"/>
                <a:buFont typeface="Roboto"/>
                <a:buNone/>
              </a:pPr>
              <a:r>
                <a:rPr lang="en" sz="700">
                  <a:solidFill>
                    <a:srgbClr val="757575"/>
                  </a:solidFill>
                  <a:latin typeface="Roboto"/>
                  <a:ea typeface="Roboto"/>
                  <a:cs typeface="Roboto"/>
                  <a:sym typeface="Roboto"/>
                </a:rPr>
                <a:t>Databricks</a:t>
              </a:r>
              <a:endParaRPr/>
            </a:p>
          </p:txBody>
        </p:sp>
        <p:pic>
          <p:nvPicPr>
            <p:cNvPr id="719" name="Google Shape;719;p50"/>
            <p:cNvPicPr preferRelativeResize="0"/>
            <p:nvPr/>
          </p:nvPicPr>
          <p:blipFill>
            <a:blip r:embed="rId11">
              <a:alphaModFix/>
            </a:blip>
            <a:stretch>
              <a:fillRect/>
            </a:stretch>
          </p:blipFill>
          <p:spPr>
            <a:xfrm>
              <a:off x="7242625" y="1959813"/>
              <a:ext cx="418035" cy="348350"/>
            </a:xfrm>
            <a:prstGeom prst="rect">
              <a:avLst/>
            </a:prstGeom>
            <a:solidFill>
              <a:srgbClr val="F1F8E9"/>
            </a:solidFill>
            <a:ln>
              <a:noFill/>
            </a:ln>
          </p:spPr>
        </p:pic>
      </p:grpSp>
      <p:cxnSp>
        <p:nvCxnSpPr>
          <p:cNvPr id="720" name="Google Shape;720;p50"/>
          <p:cNvCxnSpPr>
            <a:stCxn id="709" idx="2"/>
            <a:endCxn id="699" idx="1"/>
          </p:cNvCxnSpPr>
          <p:nvPr/>
        </p:nvCxnSpPr>
        <p:spPr>
          <a:xfrm flipH="1" rot="-5400000">
            <a:off x="4099750" y="2374950"/>
            <a:ext cx="1338600" cy="969900"/>
          </a:xfrm>
          <a:prstGeom prst="bentConnector2">
            <a:avLst/>
          </a:prstGeom>
          <a:noFill/>
          <a:ln cap="flat" cmpd="sng" w="28575">
            <a:solidFill>
              <a:schemeClr val="accent1"/>
            </a:solidFill>
            <a:prstDash val="solid"/>
            <a:round/>
            <a:headEnd len="med" w="med" type="none"/>
            <a:tailEnd len="med" w="med" type="triangle"/>
          </a:ln>
        </p:spPr>
      </p:cxnSp>
      <p:cxnSp>
        <p:nvCxnSpPr>
          <p:cNvPr id="721" name="Google Shape;721;p50"/>
          <p:cNvCxnSpPr>
            <a:stCxn id="698" idx="0"/>
            <a:endCxn id="679" idx="2"/>
          </p:cNvCxnSpPr>
          <p:nvPr/>
        </p:nvCxnSpPr>
        <p:spPr>
          <a:xfrm rot="-5400000">
            <a:off x="5624991" y="3106807"/>
            <a:ext cx="443700" cy="11100"/>
          </a:xfrm>
          <a:prstGeom prst="curvedConnector3">
            <a:avLst>
              <a:gd fmla="val 50015" name="adj1"/>
            </a:avLst>
          </a:prstGeom>
          <a:noFill/>
          <a:ln cap="flat" cmpd="sng" w="28575">
            <a:solidFill>
              <a:schemeClr val="accent1"/>
            </a:solidFill>
            <a:prstDash val="solid"/>
            <a:round/>
            <a:headEnd len="med" w="med" type="none"/>
            <a:tailEnd len="med" w="med" type="stealth"/>
          </a:ln>
        </p:spPr>
      </p:cxnSp>
      <p:cxnSp>
        <p:nvCxnSpPr>
          <p:cNvPr id="722" name="Google Shape;722;p50"/>
          <p:cNvCxnSpPr>
            <a:stCxn id="702" idx="2"/>
            <a:endCxn id="679" idx="0"/>
          </p:cNvCxnSpPr>
          <p:nvPr/>
        </p:nvCxnSpPr>
        <p:spPr>
          <a:xfrm rot="5400000">
            <a:off x="5677890" y="2332590"/>
            <a:ext cx="350100" cy="900"/>
          </a:xfrm>
          <a:prstGeom prst="curvedConnector3">
            <a:avLst>
              <a:gd fmla="val 50012" name="adj1"/>
            </a:avLst>
          </a:prstGeom>
          <a:noFill/>
          <a:ln cap="flat" cmpd="sng" w="28575">
            <a:solidFill>
              <a:schemeClr val="accent1"/>
            </a:solidFill>
            <a:prstDash val="solid"/>
            <a:round/>
            <a:headEnd len="med" w="med" type="none"/>
            <a:tailEnd len="med" w="med" type="stealth"/>
          </a:ln>
        </p:spPr>
      </p:cxnSp>
      <p:cxnSp>
        <p:nvCxnSpPr>
          <p:cNvPr id="723" name="Google Shape;723;p50"/>
          <p:cNvCxnSpPr>
            <a:stCxn id="698" idx="3"/>
            <a:endCxn id="706" idx="1"/>
          </p:cNvCxnSpPr>
          <p:nvPr/>
        </p:nvCxnSpPr>
        <p:spPr>
          <a:xfrm flipH="1" rot="10800000">
            <a:off x="6447291" y="2079157"/>
            <a:ext cx="526800" cy="1449900"/>
          </a:xfrm>
          <a:prstGeom prst="bentConnector3">
            <a:avLst>
              <a:gd fmla="val 66602" name="adj1"/>
            </a:avLst>
          </a:prstGeom>
          <a:noFill/>
          <a:ln cap="flat" cmpd="sng" w="28575">
            <a:solidFill>
              <a:schemeClr val="accent1"/>
            </a:solidFill>
            <a:prstDash val="solid"/>
            <a:round/>
            <a:headEnd len="med" w="med" type="none"/>
            <a:tailEnd len="med" w="med" type="stealth"/>
          </a:ln>
        </p:spPr>
      </p:cxnSp>
      <p:cxnSp>
        <p:nvCxnSpPr>
          <p:cNvPr id="724" name="Google Shape;724;p50"/>
          <p:cNvCxnSpPr>
            <a:stCxn id="702" idx="3"/>
            <a:endCxn id="706" idx="1"/>
          </p:cNvCxnSpPr>
          <p:nvPr/>
        </p:nvCxnSpPr>
        <p:spPr>
          <a:xfrm>
            <a:off x="6447690" y="1966890"/>
            <a:ext cx="526200" cy="112500"/>
          </a:xfrm>
          <a:prstGeom prst="bentConnector3">
            <a:avLst>
              <a:gd fmla="val 65695" name="adj1"/>
            </a:avLst>
          </a:prstGeom>
          <a:noFill/>
          <a:ln cap="flat" cmpd="sng" w="28575">
            <a:solidFill>
              <a:schemeClr val="accent1"/>
            </a:solidFill>
            <a:prstDash val="solid"/>
            <a:round/>
            <a:headEnd len="med" w="med" type="none"/>
            <a:tailEnd len="med" w="med" type="none"/>
          </a:ln>
        </p:spPr>
      </p:cxnSp>
      <p:sp>
        <p:nvSpPr>
          <p:cNvPr id="725" name="Google Shape;725;p50"/>
          <p:cNvSpPr txBox="1"/>
          <p:nvPr/>
        </p:nvSpPr>
        <p:spPr>
          <a:xfrm>
            <a:off x="105950" y="978400"/>
            <a:ext cx="2056500" cy="3805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2"/>
                </a:solidFill>
                <a:latin typeface="Roboto"/>
                <a:ea typeface="Roboto"/>
                <a:cs typeface="Roboto"/>
                <a:sym typeface="Roboto"/>
              </a:rPr>
              <a:t>0- Setup</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900">
                <a:solidFill>
                  <a:schemeClr val="accent2"/>
                </a:solidFill>
                <a:latin typeface="Roboto"/>
                <a:ea typeface="Roboto"/>
                <a:cs typeface="Roboto"/>
                <a:sym typeface="Roboto"/>
              </a:rPr>
              <a:t>Create BigQuery Connection to ADSL, Define ADF pipeline, setup Snowflake Polaris</a:t>
            </a:r>
            <a:endParaRPr sz="900">
              <a:solidFill>
                <a:schemeClr val="accent2"/>
              </a:solidFill>
              <a:latin typeface="Roboto"/>
              <a:ea typeface="Roboto"/>
              <a:cs typeface="Roboto"/>
              <a:sym typeface="Roboto"/>
            </a:endParaRPr>
          </a:p>
          <a:p>
            <a:pPr indent="0" lvl="0" marL="0" rtl="0" algn="l">
              <a:spcBef>
                <a:spcPts val="0"/>
              </a:spcBef>
              <a:spcAft>
                <a:spcPts val="0"/>
              </a:spcAft>
              <a:buNone/>
            </a:pPr>
            <a:r>
              <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200">
                <a:solidFill>
                  <a:schemeClr val="accent2"/>
                </a:solidFill>
                <a:latin typeface="Roboto"/>
                <a:ea typeface="Roboto"/>
                <a:cs typeface="Roboto"/>
                <a:sym typeface="Roboto"/>
              </a:rPr>
              <a:t>1- Export Data </a:t>
            </a:r>
            <a:br>
              <a:rPr lang="en" sz="1200">
                <a:solidFill>
                  <a:schemeClr val="accent2"/>
                </a:solidFill>
                <a:latin typeface="Roboto"/>
                <a:ea typeface="Roboto"/>
                <a:cs typeface="Roboto"/>
                <a:sym typeface="Roboto"/>
              </a:rPr>
            </a:br>
            <a:r>
              <a:rPr lang="en" sz="1000">
                <a:solidFill>
                  <a:schemeClr val="accent2"/>
                </a:solidFill>
                <a:latin typeface="Roboto"/>
                <a:ea typeface="Roboto"/>
                <a:cs typeface="Roboto"/>
                <a:sym typeface="Roboto"/>
              </a:rPr>
              <a:t>ADF pipeline triggers BigQuery Export Data of Parquet Files </a:t>
            </a:r>
            <a:endParaRPr sz="1000">
              <a:solidFill>
                <a:schemeClr val="accent2"/>
              </a:solidFill>
              <a:latin typeface="Roboto"/>
              <a:ea typeface="Roboto"/>
              <a:cs typeface="Roboto"/>
              <a:sym typeface="Roboto"/>
            </a:endParaRPr>
          </a:p>
          <a:p>
            <a:pPr indent="0" lvl="0" marL="0" rtl="0" algn="l">
              <a:spcBef>
                <a:spcPts val="0"/>
              </a:spcBef>
              <a:spcAft>
                <a:spcPts val="0"/>
              </a:spcAft>
              <a:buNone/>
            </a:pPr>
            <a:r>
              <a:t/>
            </a:r>
            <a:endParaRPr sz="1000">
              <a:solidFill>
                <a:schemeClr val="accent2"/>
              </a:solidFill>
              <a:latin typeface="Roboto"/>
              <a:ea typeface="Roboto"/>
              <a:cs typeface="Roboto"/>
              <a:sym typeface="Roboto"/>
            </a:endParaRPr>
          </a:p>
          <a:p>
            <a:pPr indent="0" lvl="0" marL="0" rtl="0" algn="l">
              <a:spcBef>
                <a:spcPts val="0"/>
              </a:spcBef>
              <a:spcAft>
                <a:spcPts val="0"/>
              </a:spcAft>
              <a:buNone/>
            </a:pPr>
            <a:r>
              <a:rPr lang="en" sz="1200">
                <a:solidFill>
                  <a:schemeClr val="accent2"/>
                </a:solidFill>
                <a:latin typeface="Roboto"/>
                <a:ea typeface="Roboto"/>
                <a:cs typeface="Roboto"/>
                <a:sym typeface="Roboto"/>
              </a:rPr>
              <a:t>2- Trigger Polaris</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ADF triggers Snowflake Merge task that updates Iceberg tables and Polaris catalog</a:t>
            </a:r>
            <a:endParaRPr sz="1000">
              <a:solidFill>
                <a:schemeClr val="accent2"/>
              </a:solidFill>
              <a:latin typeface="Roboto"/>
              <a:ea typeface="Roboto"/>
              <a:cs typeface="Roboto"/>
              <a:sym typeface="Roboto"/>
            </a:endParaRPr>
          </a:p>
          <a:p>
            <a:pPr indent="0" lvl="0" marL="0" rtl="0" algn="l">
              <a:spcBef>
                <a:spcPts val="0"/>
              </a:spcBef>
              <a:spcAft>
                <a:spcPts val="0"/>
              </a:spcAft>
              <a:buNone/>
            </a:pPr>
            <a:r>
              <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200">
                <a:solidFill>
                  <a:schemeClr val="accent2"/>
                </a:solidFill>
                <a:latin typeface="Roboto"/>
                <a:ea typeface="Roboto"/>
                <a:cs typeface="Roboto"/>
                <a:sym typeface="Roboto"/>
              </a:rPr>
              <a:t>3- Connect Services</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Services and databases that support Iceberg use Polaris to access Iceberg Tables</a:t>
            </a:r>
            <a:endParaRPr sz="1000">
              <a:solidFill>
                <a:schemeClr val="accent2"/>
              </a:solidFill>
              <a:latin typeface="Roboto"/>
              <a:ea typeface="Roboto"/>
              <a:cs typeface="Roboto"/>
              <a:sym typeface="Roboto"/>
            </a:endParaRPr>
          </a:p>
          <a:p>
            <a:pPr indent="0" lvl="0" marL="0" rtl="0" algn="l">
              <a:spcBef>
                <a:spcPts val="0"/>
              </a:spcBef>
              <a:spcAft>
                <a:spcPts val="0"/>
              </a:spcAft>
              <a:buNone/>
            </a:pPr>
            <a:r>
              <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200">
                <a:solidFill>
                  <a:schemeClr val="accent2"/>
                </a:solidFill>
                <a:latin typeface="Roboto"/>
                <a:ea typeface="Roboto"/>
                <a:cs typeface="Roboto"/>
                <a:sym typeface="Roboto"/>
              </a:rPr>
              <a:t>4- Consume</a:t>
            </a:r>
            <a:br>
              <a:rPr lang="en" sz="1200">
                <a:solidFill>
                  <a:schemeClr val="accent2"/>
                </a:solidFill>
                <a:latin typeface="Roboto"/>
                <a:ea typeface="Roboto"/>
                <a:cs typeface="Roboto"/>
                <a:sym typeface="Roboto"/>
              </a:rPr>
            </a:br>
            <a:r>
              <a:rPr lang="en" sz="1000">
                <a:solidFill>
                  <a:schemeClr val="accent2"/>
                </a:solidFill>
                <a:latin typeface="Roboto"/>
                <a:ea typeface="Roboto"/>
                <a:cs typeface="Roboto"/>
                <a:sym typeface="Roboto"/>
              </a:rPr>
              <a:t>The service engines read/write Iceberg tables in ADSL</a:t>
            </a:r>
            <a:endParaRPr sz="1000">
              <a:solidFill>
                <a:schemeClr val="accent2"/>
              </a:solidFill>
              <a:latin typeface="Roboto"/>
              <a:ea typeface="Roboto"/>
              <a:cs typeface="Roboto"/>
              <a:sym typeface="Roboto"/>
            </a:endParaRPr>
          </a:p>
        </p:txBody>
      </p:sp>
      <p:grpSp>
        <p:nvGrpSpPr>
          <p:cNvPr id="726" name="Google Shape;726;p50"/>
          <p:cNvGrpSpPr/>
          <p:nvPr/>
        </p:nvGrpSpPr>
        <p:grpSpPr>
          <a:xfrm>
            <a:off x="4684517" y="1625116"/>
            <a:ext cx="419100" cy="304375"/>
            <a:chOff x="2795550" y="2147950"/>
            <a:chExt cx="419100" cy="304375"/>
          </a:xfrm>
        </p:grpSpPr>
        <p:sp>
          <p:nvSpPr>
            <p:cNvPr id="727" name="Google Shape;727;p50"/>
            <p:cNvSpPr/>
            <p:nvPr/>
          </p:nvSpPr>
          <p:spPr>
            <a:xfrm>
              <a:off x="2895900" y="2233925"/>
              <a:ext cx="218400" cy="218400"/>
            </a:xfrm>
            <a:prstGeom prst="ellipse">
              <a:avLst/>
            </a:prstGeom>
            <a:solidFill>
              <a:srgbClr val="F4B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0"/>
            <p:cNvSpPr txBox="1"/>
            <p:nvPr/>
          </p:nvSpPr>
          <p:spPr>
            <a:xfrm>
              <a:off x="2795550" y="2147950"/>
              <a:ext cx="419100" cy="29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50"/>
                <a:buFont typeface="Roboto"/>
                <a:buNone/>
              </a:pPr>
              <a:r>
                <a:rPr b="1" i="0" lang="en" sz="1400" u="none" cap="none" strike="noStrike">
                  <a:solidFill>
                    <a:srgbClr val="FFFFFF"/>
                  </a:solidFill>
                  <a:latin typeface="Roboto"/>
                  <a:ea typeface="Roboto"/>
                  <a:cs typeface="Roboto"/>
                  <a:sym typeface="Roboto"/>
                </a:rPr>
                <a:t>1</a:t>
              </a:r>
              <a:endParaRPr/>
            </a:p>
          </p:txBody>
        </p:sp>
      </p:grpSp>
      <p:sp>
        <p:nvSpPr>
          <p:cNvPr id="729" name="Google Shape;729;p50"/>
          <p:cNvSpPr/>
          <p:nvPr/>
        </p:nvSpPr>
        <p:spPr>
          <a:xfrm>
            <a:off x="4598442" y="3257991"/>
            <a:ext cx="218400" cy="218400"/>
          </a:xfrm>
          <a:prstGeom prst="ellipse">
            <a:avLst/>
          </a:prstGeom>
          <a:solidFill>
            <a:srgbClr val="F4B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50"/>
          <p:cNvSpPr txBox="1"/>
          <p:nvPr/>
        </p:nvSpPr>
        <p:spPr>
          <a:xfrm>
            <a:off x="4498092" y="3172016"/>
            <a:ext cx="419100" cy="29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50"/>
              <a:buFont typeface="Roboto"/>
              <a:buNone/>
            </a:pPr>
            <a:r>
              <a:rPr b="1" lang="en">
                <a:solidFill>
                  <a:srgbClr val="FFFFFF"/>
                </a:solidFill>
                <a:latin typeface="Roboto"/>
                <a:ea typeface="Roboto"/>
                <a:cs typeface="Roboto"/>
                <a:sym typeface="Roboto"/>
              </a:rPr>
              <a:t>2</a:t>
            </a:r>
            <a:endParaRPr/>
          </a:p>
        </p:txBody>
      </p:sp>
      <p:grpSp>
        <p:nvGrpSpPr>
          <p:cNvPr id="731" name="Google Shape;731;p50"/>
          <p:cNvGrpSpPr/>
          <p:nvPr/>
        </p:nvGrpSpPr>
        <p:grpSpPr>
          <a:xfrm>
            <a:off x="6405292" y="3186704"/>
            <a:ext cx="419100" cy="304375"/>
            <a:chOff x="2795550" y="2147950"/>
            <a:chExt cx="419100" cy="304375"/>
          </a:xfrm>
        </p:grpSpPr>
        <p:sp>
          <p:nvSpPr>
            <p:cNvPr id="732" name="Google Shape;732;p50"/>
            <p:cNvSpPr/>
            <p:nvPr/>
          </p:nvSpPr>
          <p:spPr>
            <a:xfrm>
              <a:off x="2895900" y="2233925"/>
              <a:ext cx="218400" cy="218400"/>
            </a:xfrm>
            <a:prstGeom prst="ellipse">
              <a:avLst/>
            </a:prstGeom>
            <a:solidFill>
              <a:srgbClr val="F4B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0"/>
            <p:cNvSpPr txBox="1"/>
            <p:nvPr/>
          </p:nvSpPr>
          <p:spPr>
            <a:xfrm>
              <a:off x="2795550" y="2147950"/>
              <a:ext cx="419100" cy="29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50"/>
                <a:buFont typeface="Roboto"/>
                <a:buNone/>
              </a:pPr>
              <a:r>
                <a:rPr b="1" lang="en">
                  <a:solidFill>
                    <a:srgbClr val="FFFFFF"/>
                  </a:solidFill>
                  <a:latin typeface="Roboto"/>
                  <a:ea typeface="Roboto"/>
                  <a:cs typeface="Roboto"/>
                  <a:sym typeface="Roboto"/>
                </a:rPr>
                <a:t>3</a:t>
              </a:r>
              <a:endParaRPr/>
            </a:p>
          </p:txBody>
        </p:sp>
      </p:grpSp>
      <p:grpSp>
        <p:nvGrpSpPr>
          <p:cNvPr id="734" name="Google Shape;734;p50"/>
          <p:cNvGrpSpPr/>
          <p:nvPr/>
        </p:nvGrpSpPr>
        <p:grpSpPr>
          <a:xfrm>
            <a:off x="6501292" y="1662416"/>
            <a:ext cx="419100" cy="304375"/>
            <a:chOff x="2795550" y="2147950"/>
            <a:chExt cx="419100" cy="304375"/>
          </a:xfrm>
        </p:grpSpPr>
        <p:sp>
          <p:nvSpPr>
            <p:cNvPr id="735" name="Google Shape;735;p50"/>
            <p:cNvSpPr/>
            <p:nvPr/>
          </p:nvSpPr>
          <p:spPr>
            <a:xfrm>
              <a:off x="2895900" y="2233925"/>
              <a:ext cx="218400" cy="218400"/>
            </a:xfrm>
            <a:prstGeom prst="ellipse">
              <a:avLst/>
            </a:prstGeom>
            <a:solidFill>
              <a:srgbClr val="F4B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50"/>
            <p:cNvSpPr txBox="1"/>
            <p:nvPr/>
          </p:nvSpPr>
          <p:spPr>
            <a:xfrm>
              <a:off x="2795550" y="2147950"/>
              <a:ext cx="419100" cy="29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50"/>
                <a:buFont typeface="Roboto"/>
                <a:buNone/>
              </a:pPr>
              <a:r>
                <a:rPr b="1" lang="en">
                  <a:solidFill>
                    <a:srgbClr val="FFFFFF"/>
                  </a:solidFill>
                  <a:latin typeface="Roboto"/>
                  <a:ea typeface="Roboto"/>
                  <a:cs typeface="Roboto"/>
                  <a:sym typeface="Roboto"/>
                </a:rPr>
                <a:t>4</a:t>
              </a:r>
              <a:endParaRPr/>
            </a:p>
          </p:txBody>
        </p:sp>
      </p:grpSp>
      <p:sp>
        <p:nvSpPr>
          <p:cNvPr id="737" name="Google Shape;737;p50"/>
          <p:cNvSpPr txBox="1"/>
          <p:nvPr>
            <p:ph type="title"/>
          </p:nvPr>
        </p:nvSpPr>
        <p:spPr>
          <a:xfrm>
            <a:off x="274325" y="91450"/>
            <a:ext cx="8682600" cy="3813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2600"/>
              <a:buNone/>
            </a:pPr>
            <a:r>
              <a:rPr lang="en"/>
              <a:t>BigQuery to ADSL: Iceberg + Polaris + Snowflake</a:t>
            </a:r>
            <a:endParaRPr/>
          </a:p>
        </p:txBody>
      </p:sp>
      <p:grpSp>
        <p:nvGrpSpPr>
          <p:cNvPr id="738" name="Google Shape;738;p50"/>
          <p:cNvGrpSpPr/>
          <p:nvPr/>
        </p:nvGrpSpPr>
        <p:grpSpPr>
          <a:xfrm>
            <a:off x="7208149" y="3342732"/>
            <a:ext cx="1188600" cy="382200"/>
            <a:chOff x="7208149" y="3089663"/>
            <a:chExt cx="1188600" cy="382200"/>
          </a:xfrm>
        </p:grpSpPr>
        <p:sp>
          <p:nvSpPr>
            <p:cNvPr id="739" name="Google Shape;739;p50"/>
            <p:cNvSpPr/>
            <p:nvPr/>
          </p:nvSpPr>
          <p:spPr>
            <a:xfrm>
              <a:off x="7208149" y="3089663"/>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Data Warehouse</a:t>
              </a:r>
              <a:endParaRPr sz="750">
                <a:solidFill>
                  <a:srgbClr val="212121"/>
                </a:solidFill>
                <a:latin typeface="Roboto"/>
                <a:ea typeface="Roboto"/>
                <a:cs typeface="Roboto"/>
                <a:sym typeface="Roboto"/>
              </a:endParaRPr>
            </a:p>
            <a:p>
              <a:pPr indent="0" lvl="0" marL="0" marR="0" rtl="0" algn="l">
                <a:lnSpc>
                  <a:spcPct val="113333"/>
                </a:lnSpc>
                <a:spcBef>
                  <a:spcPts val="0"/>
                </a:spcBef>
                <a:spcAft>
                  <a:spcPts val="0"/>
                </a:spcAft>
                <a:buClr>
                  <a:srgbClr val="212121"/>
                </a:buClr>
                <a:buSzPts val="188"/>
                <a:buFont typeface="Roboto"/>
                <a:buNone/>
              </a:pPr>
              <a:r>
                <a:rPr lang="en" sz="700">
                  <a:solidFill>
                    <a:srgbClr val="757575"/>
                  </a:solidFill>
                  <a:latin typeface="Roboto"/>
                  <a:ea typeface="Roboto"/>
                  <a:cs typeface="Roboto"/>
                  <a:sym typeface="Roboto"/>
                </a:rPr>
                <a:t>Snowflake</a:t>
              </a:r>
              <a:endParaRPr/>
            </a:p>
          </p:txBody>
        </p:sp>
        <p:pic>
          <p:nvPicPr>
            <p:cNvPr id="740" name="Google Shape;740;p50"/>
            <p:cNvPicPr preferRelativeResize="0"/>
            <p:nvPr/>
          </p:nvPicPr>
          <p:blipFill rotWithShape="1">
            <a:blip r:embed="rId12">
              <a:alphaModFix/>
            </a:blip>
            <a:srcRect b="0" l="0" r="0" t="0"/>
            <a:stretch/>
          </p:blipFill>
          <p:spPr>
            <a:xfrm>
              <a:off x="7222511" y="3104038"/>
              <a:ext cx="382200" cy="353258"/>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51"/>
          <p:cNvSpPr/>
          <p:nvPr/>
        </p:nvSpPr>
        <p:spPr>
          <a:xfrm>
            <a:off x="2162400" y="977225"/>
            <a:ext cx="1436100" cy="38052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746" name="Google Shape;746;p51"/>
          <p:cNvSpPr/>
          <p:nvPr/>
        </p:nvSpPr>
        <p:spPr>
          <a:xfrm>
            <a:off x="7016875" y="1415975"/>
            <a:ext cx="1656900" cy="1673700"/>
          </a:xfrm>
          <a:prstGeom prst="roundRect">
            <a:avLst>
              <a:gd fmla="val 827" name="adj"/>
            </a:avLst>
          </a:prstGeom>
          <a:solidFill>
            <a:srgbClr val="F1F8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7" name="Google Shape;747;p51"/>
          <p:cNvGrpSpPr/>
          <p:nvPr/>
        </p:nvGrpSpPr>
        <p:grpSpPr>
          <a:xfrm>
            <a:off x="2275282" y="1808398"/>
            <a:ext cx="1188600" cy="382200"/>
            <a:chOff x="1548049" y="2444965"/>
            <a:chExt cx="1188600" cy="382200"/>
          </a:xfrm>
        </p:grpSpPr>
        <p:sp>
          <p:nvSpPr>
            <p:cNvPr id="748" name="Google Shape;748;p51"/>
            <p:cNvSpPr/>
            <p:nvPr/>
          </p:nvSpPr>
          <p:spPr>
            <a:xfrm>
              <a:off x="1548049" y="2444965"/>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Upstream Data</a:t>
              </a:r>
              <a:br>
                <a:rPr b="0" i="0" lang="en" sz="700" u="none" cap="none" strike="noStrike">
                  <a:solidFill>
                    <a:srgbClr val="212121"/>
                  </a:solidFill>
                  <a:latin typeface="Roboto"/>
                  <a:ea typeface="Roboto"/>
                  <a:cs typeface="Roboto"/>
                  <a:sym typeface="Roboto"/>
                </a:rPr>
              </a:br>
              <a:r>
                <a:rPr b="0" i="0" lang="en" sz="700" u="none" cap="none" strike="noStrike">
                  <a:solidFill>
                    <a:srgbClr val="757575"/>
                  </a:solidFill>
                  <a:latin typeface="Roboto"/>
                  <a:ea typeface="Roboto"/>
                  <a:cs typeface="Roboto"/>
                  <a:sym typeface="Roboto"/>
                </a:rPr>
                <a:t>BigQuery</a:t>
              </a:r>
              <a:endParaRPr/>
            </a:p>
          </p:txBody>
        </p:sp>
        <p:pic>
          <p:nvPicPr>
            <p:cNvPr descr="BigQuery.png" id="749" name="Google Shape;749;p51"/>
            <p:cNvPicPr preferRelativeResize="0"/>
            <p:nvPr/>
          </p:nvPicPr>
          <p:blipFill rotWithShape="1">
            <a:blip r:embed="rId3">
              <a:alphaModFix/>
            </a:blip>
            <a:srcRect b="5076" l="0" r="0" t="5076"/>
            <a:stretch/>
          </p:blipFill>
          <p:spPr>
            <a:xfrm>
              <a:off x="1599242" y="2511373"/>
              <a:ext cx="274200" cy="246600"/>
            </a:xfrm>
            <a:prstGeom prst="rect">
              <a:avLst/>
            </a:prstGeom>
            <a:noFill/>
            <a:ln>
              <a:noFill/>
            </a:ln>
          </p:spPr>
        </p:pic>
      </p:grpSp>
      <p:grpSp>
        <p:nvGrpSpPr>
          <p:cNvPr id="750" name="Google Shape;750;p51"/>
          <p:cNvGrpSpPr/>
          <p:nvPr/>
        </p:nvGrpSpPr>
        <p:grpSpPr>
          <a:xfrm>
            <a:off x="3732343" y="952115"/>
            <a:ext cx="5205921" cy="3830164"/>
            <a:chOff x="2178036" y="1054763"/>
            <a:chExt cx="1146300" cy="637500"/>
          </a:xfrm>
        </p:grpSpPr>
        <p:sp>
          <p:nvSpPr>
            <p:cNvPr id="751" name="Google Shape;751;p51"/>
            <p:cNvSpPr/>
            <p:nvPr/>
          </p:nvSpPr>
          <p:spPr>
            <a:xfrm>
              <a:off x="2178036" y="1054763"/>
              <a:ext cx="1146300" cy="6375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752" name="Google Shape;752;p51"/>
            <p:cNvSpPr txBox="1"/>
            <p:nvPr/>
          </p:nvSpPr>
          <p:spPr>
            <a:xfrm>
              <a:off x="2178036" y="1055069"/>
              <a:ext cx="456900" cy="50700"/>
            </a:xfrm>
            <a:prstGeom prst="rect">
              <a:avLst/>
            </a:prstGeom>
            <a:noFill/>
            <a:ln>
              <a:noFill/>
            </a:ln>
          </p:spPr>
          <p:txBody>
            <a:bodyPr anchorCtr="0" anchor="t" bIns="0" lIns="91525" spcFirstLastPara="1" rIns="0" wrap="square" tIns="64050">
              <a:noAutofit/>
            </a:bodyPr>
            <a:lstStyle/>
            <a:p>
              <a:pPr indent="0" lvl="0" marL="0" marR="0" rtl="0" algn="l">
                <a:lnSpc>
                  <a:spcPct val="133333"/>
                </a:lnSpc>
                <a:spcBef>
                  <a:spcPts val="0"/>
                </a:spcBef>
                <a:spcAft>
                  <a:spcPts val="0"/>
                </a:spcAft>
                <a:buClr>
                  <a:srgbClr val="9E9E9E"/>
                </a:buClr>
                <a:buSzPts val="188"/>
                <a:buFont typeface="Roboto"/>
                <a:buNone/>
              </a:pPr>
              <a:r>
                <a:rPr lang="en" sz="751">
                  <a:solidFill>
                    <a:srgbClr val="9E9E9E"/>
                  </a:solidFill>
                  <a:latin typeface="Roboto"/>
                  <a:ea typeface="Roboto"/>
                  <a:cs typeface="Roboto"/>
                  <a:sym typeface="Roboto"/>
                </a:rPr>
                <a:t>Azure VPC</a:t>
              </a:r>
              <a:endParaRPr sz="1401"/>
            </a:p>
          </p:txBody>
        </p:sp>
      </p:grpSp>
      <p:pic>
        <p:nvPicPr>
          <p:cNvPr id="753" name="Google Shape;753;p51"/>
          <p:cNvPicPr preferRelativeResize="0"/>
          <p:nvPr/>
        </p:nvPicPr>
        <p:blipFill rotWithShape="1">
          <a:blip r:embed="rId4">
            <a:alphaModFix/>
          </a:blip>
          <a:srcRect b="0" l="0" r="0" t="0"/>
          <a:stretch/>
        </p:blipFill>
        <p:spPr>
          <a:xfrm>
            <a:off x="4306598" y="978396"/>
            <a:ext cx="265400" cy="265400"/>
          </a:xfrm>
          <a:prstGeom prst="rect">
            <a:avLst/>
          </a:prstGeom>
          <a:noFill/>
          <a:ln>
            <a:noFill/>
          </a:ln>
        </p:spPr>
      </p:pic>
      <p:sp>
        <p:nvSpPr>
          <p:cNvPr id="754" name="Google Shape;754;p51"/>
          <p:cNvSpPr/>
          <p:nvPr/>
        </p:nvSpPr>
        <p:spPr>
          <a:xfrm>
            <a:off x="5012850" y="1115475"/>
            <a:ext cx="1656900" cy="2867700"/>
          </a:xfrm>
          <a:prstGeom prst="roundRect">
            <a:avLst>
              <a:gd fmla="val 827" name="adj"/>
            </a:avLst>
          </a:prstGeom>
          <a:solidFill>
            <a:srgbClr val="F1F8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55" name="Google Shape;755;p51"/>
          <p:cNvGrpSpPr/>
          <p:nvPr/>
        </p:nvGrpSpPr>
        <p:grpSpPr>
          <a:xfrm>
            <a:off x="5252541" y="2285241"/>
            <a:ext cx="1188600" cy="382200"/>
            <a:chOff x="5235949" y="1848965"/>
            <a:chExt cx="1188600" cy="382200"/>
          </a:xfrm>
        </p:grpSpPr>
        <p:sp>
          <p:nvSpPr>
            <p:cNvPr id="756" name="Google Shape;756;p51"/>
            <p:cNvSpPr/>
            <p:nvPr/>
          </p:nvSpPr>
          <p:spPr>
            <a:xfrm>
              <a:off x="5235949" y="1848965"/>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Table Metadata</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Iceberg</a:t>
              </a:r>
              <a:endParaRPr/>
            </a:p>
          </p:txBody>
        </p:sp>
        <p:grpSp>
          <p:nvGrpSpPr>
            <p:cNvPr id="757" name="Google Shape;757;p51"/>
            <p:cNvGrpSpPr/>
            <p:nvPr/>
          </p:nvGrpSpPr>
          <p:grpSpPr>
            <a:xfrm>
              <a:off x="5271833" y="1914861"/>
              <a:ext cx="264310" cy="250438"/>
              <a:chOff x="345049" y="1086515"/>
              <a:chExt cx="3135348" cy="2970796"/>
            </a:xfrm>
          </p:grpSpPr>
          <p:sp>
            <p:nvSpPr>
              <p:cNvPr id="758" name="Google Shape;758;p51"/>
              <p:cNvSpPr/>
              <p:nvPr/>
            </p:nvSpPr>
            <p:spPr>
              <a:xfrm>
                <a:off x="345049" y="1086515"/>
                <a:ext cx="2431159" cy="2431159"/>
              </a:xfrm>
              <a:custGeom>
                <a:rect b="b" l="l" r="r" t="t"/>
                <a:pathLst>
                  <a:path extrusionOk="0" h="2431159" w="2431159">
                    <a:moveTo>
                      <a:pt x="1370278" y="2431160"/>
                    </a:moveTo>
                    <a:lnTo>
                      <a:pt x="302499" y="2431160"/>
                    </a:lnTo>
                    <a:cubicBezTo>
                      <a:pt x="135648" y="2431160"/>
                      <a:pt x="0" y="2295511"/>
                      <a:pt x="0" y="2128660"/>
                    </a:cubicBezTo>
                    <a:lnTo>
                      <a:pt x="0" y="302499"/>
                    </a:lnTo>
                    <a:cubicBezTo>
                      <a:pt x="0" y="135648"/>
                      <a:pt x="135648" y="0"/>
                      <a:pt x="302499" y="0"/>
                    </a:cubicBezTo>
                    <a:lnTo>
                      <a:pt x="2128661" y="0"/>
                    </a:lnTo>
                    <a:cubicBezTo>
                      <a:pt x="2295511" y="0"/>
                      <a:pt x="2431160" y="135648"/>
                      <a:pt x="2431160" y="302499"/>
                    </a:cubicBezTo>
                    <a:lnTo>
                      <a:pt x="2431160" y="973843"/>
                    </a:lnTo>
                    <a:cubicBezTo>
                      <a:pt x="2431160" y="1018184"/>
                      <a:pt x="2395359" y="1054313"/>
                      <a:pt x="2350690" y="1054313"/>
                    </a:cubicBezTo>
                    <a:cubicBezTo>
                      <a:pt x="2306350" y="1054313"/>
                      <a:pt x="2270221" y="1018184"/>
                      <a:pt x="2270221" y="973843"/>
                    </a:cubicBezTo>
                    <a:lnTo>
                      <a:pt x="2270221" y="302171"/>
                    </a:lnTo>
                    <a:cubicBezTo>
                      <a:pt x="2270221" y="224000"/>
                      <a:pt x="2206502" y="160282"/>
                      <a:pt x="2128332" y="160282"/>
                    </a:cubicBezTo>
                    <a:lnTo>
                      <a:pt x="302171" y="160282"/>
                    </a:lnTo>
                    <a:cubicBezTo>
                      <a:pt x="224000" y="160282"/>
                      <a:pt x="160282" y="224000"/>
                      <a:pt x="160282" y="302171"/>
                    </a:cubicBezTo>
                    <a:lnTo>
                      <a:pt x="160282" y="2128332"/>
                    </a:lnTo>
                    <a:cubicBezTo>
                      <a:pt x="160282" y="2206502"/>
                      <a:pt x="224000" y="2270221"/>
                      <a:pt x="302171" y="2270221"/>
                    </a:cubicBezTo>
                    <a:lnTo>
                      <a:pt x="1369950" y="2270221"/>
                    </a:lnTo>
                    <a:cubicBezTo>
                      <a:pt x="1414290" y="2270221"/>
                      <a:pt x="1450419" y="2306350"/>
                      <a:pt x="1450419" y="2350690"/>
                    </a:cubicBezTo>
                    <a:cubicBezTo>
                      <a:pt x="1450747" y="2395030"/>
                      <a:pt x="1414618" y="2431160"/>
                      <a:pt x="1370278" y="2431160"/>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59" name="Google Shape;759;p51"/>
              <p:cNvSpPr/>
              <p:nvPr/>
            </p:nvSpPr>
            <p:spPr>
              <a:xfrm>
                <a:off x="1507092" y="2952090"/>
                <a:ext cx="1973305" cy="107073"/>
              </a:xfrm>
              <a:custGeom>
                <a:rect b="b" l="l" r="r" t="t"/>
                <a:pathLst>
                  <a:path extrusionOk="0" h="107073" w="1973305">
                    <a:moveTo>
                      <a:pt x="1919769" y="107073"/>
                    </a:moveTo>
                    <a:lnTo>
                      <a:pt x="53537" y="107073"/>
                    </a:lnTo>
                    <a:cubicBezTo>
                      <a:pt x="23977" y="107073"/>
                      <a:pt x="0" y="83097"/>
                      <a:pt x="0" y="53537"/>
                    </a:cubicBezTo>
                    <a:cubicBezTo>
                      <a:pt x="0" y="23977"/>
                      <a:pt x="23977" y="0"/>
                      <a:pt x="53537" y="0"/>
                    </a:cubicBezTo>
                    <a:lnTo>
                      <a:pt x="1919769" y="0"/>
                    </a:lnTo>
                    <a:cubicBezTo>
                      <a:pt x="1949329" y="0"/>
                      <a:pt x="1973305" y="23977"/>
                      <a:pt x="1973305" y="53537"/>
                    </a:cubicBezTo>
                    <a:cubicBezTo>
                      <a:pt x="1973305" y="83097"/>
                      <a:pt x="1949329" y="107073"/>
                      <a:pt x="1919769" y="107073"/>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0" name="Google Shape;760;p51"/>
              <p:cNvSpPr/>
              <p:nvPr/>
            </p:nvSpPr>
            <p:spPr>
              <a:xfrm>
                <a:off x="1802422" y="2188406"/>
                <a:ext cx="1396425" cy="833072"/>
              </a:xfrm>
              <a:custGeom>
                <a:rect b="b" l="l" r="r" t="t"/>
                <a:pathLst>
                  <a:path extrusionOk="0" h="833072" w="1396425">
                    <a:moveTo>
                      <a:pt x="1342631" y="832985"/>
                    </a:moveTo>
                    <a:cubicBezTo>
                      <a:pt x="1324238" y="832985"/>
                      <a:pt x="1306174" y="823461"/>
                      <a:pt x="1296321" y="806053"/>
                    </a:cubicBezTo>
                    <a:lnTo>
                      <a:pt x="1113705" y="490088"/>
                    </a:lnTo>
                    <a:lnTo>
                      <a:pt x="958349" y="469724"/>
                    </a:lnTo>
                    <a:cubicBezTo>
                      <a:pt x="942912" y="467753"/>
                      <a:pt x="928789" y="458885"/>
                      <a:pt x="920250" y="445747"/>
                    </a:cubicBezTo>
                    <a:lnTo>
                      <a:pt x="722196" y="138650"/>
                    </a:lnTo>
                    <a:lnTo>
                      <a:pt x="558302" y="302545"/>
                    </a:lnTo>
                    <a:lnTo>
                      <a:pt x="476519" y="539026"/>
                    </a:lnTo>
                    <a:cubicBezTo>
                      <a:pt x="470935" y="554792"/>
                      <a:pt x="458454" y="567272"/>
                      <a:pt x="442360" y="572528"/>
                    </a:cubicBezTo>
                    <a:lnTo>
                      <a:pt x="206864" y="648070"/>
                    </a:lnTo>
                    <a:lnTo>
                      <a:pt x="97820" y="809337"/>
                    </a:lnTo>
                    <a:cubicBezTo>
                      <a:pt x="81398" y="833971"/>
                      <a:pt x="47896" y="840540"/>
                      <a:pt x="23591" y="823789"/>
                    </a:cubicBezTo>
                    <a:cubicBezTo>
                      <a:pt x="-1042" y="807367"/>
                      <a:pt x="-7283" y="773865"/>
                      <a:pt x="9139" y="749560"/>
                    </a:cubicBezTo>
                    <a:lnTo>
                      <a:pt x="128365" y="572856"/>
                    </a:lnTo>
                    <a:cubicBezTo>
                      <a:pt x="134934" y="563003"/>
                      <a:pt x="145116" y="555448"/>
                      <a:pt x="156283" y="551836"/>
                    </a:cubicBezTo>
                    <a:lnTo>
                      <a:pt x="383897" y="478920"/>
                    </a:lnTo>
                    <a:lnTo>
                      <a:pt x="461082" y="255905"/>
                    </a:lnTo>
                    <a:cubicBezTo>
                      <a:pt x="463709" y="248351"/>
                      <a:pt x="467979" y="241454"/>
                      <a:pt x="473891" y="235542"/>
                    </a:cubicBezTo>
                    <a:lnTo>
                      <a:pt x="693622" y="15811"/>
                    </a:lnTo>
                    <a:cubicBezTo>
                      <a:pt x="705117" y="4315"/>
                      <a:pt x="721211" y="-1597"/>
                      <a:pt x="737305" y="374"/>
                    </a:cubicBezTo>
                    <a:cubicBezTo>
                      <a:pt x="753399" y="2016"/>
                      <a:pt x="767850" y="10884"/>
                      <a:pt x="776719" y="24679"/>
                    </a:cubicBezTo>
                    <a:lnTo>
                      <a:pt x="997106" y="366592"/>
                    </a:lnTo>
                    <a:lnTo>
                      <a:pt x="1154103" y="387284"/>
                    </a:lnTo>
                    <a:cubicBezTo>
                      <a:pt x="1170526" y="389583"/>
                      <a:pt x="1185306" y="399108"/>
                      <a:pt x="1193517" y="413560"/>
                    </a:cubicBezTo>
                    <a:lnTo>
                      <a:pt x="1389271" y="752516"/>
                    </a:lnTo>
                    <a:cubicBezTo>
                      <a:pt x="1404051" y="778135"/>
                      <a:pt x="1395183" y="810980"/>
                      <a:pt x="1369564" y="825760"/>
                    </a:cubicBezTo>
                    <a:cubicBezTo>
                      <a:pt x="1361025" y="830686"/>
                      <a:pt x="1351828" y="832985"/>
                      <a:pt x="1342631" y="832985"/>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1" name="Google Shape;761;p51"/>
              <p:cNvSpPr/>
              <p:nvPr/>
            </p:nvSpPr>
            <p:spPr>
              <a:xfrm>
                <a:off x="1840945" y="3095959"/>
                <a:ext cx="1291611" cy="961352"/>
              </a:xfrm>
              <a:custGeom>
                <a:rect b="b" l="l" r="r" t="t"/>
                <a:pathLst>
                  <a:path extrusionOk="0" h="961352" w="1291611">
                    <a:moveTo>
                      <a:pt x="769398" y="961352"/>
                    </a:moveTo>
                    <a:cubicBezTo>
                      <a:pt x="758560" y="961352"/>
                      <a:pt x="748049" y="958068"/>
                      <a:pt x="739181" y="951827"/>
                    </a:cubicBezTo>
                    <a:lnTo>
                      <a:pt x="447849" y="751475"/>
                    </a:lnTo>
                    <a:cubicBezTo>
                      <a:pt x="438324" y="744906"/>
                      <a:pt x="431098" y="735710"/>
                      <a:pt x="427486" y="724542"/>
                    </a:cubicBezTo>
                    <a:lnTo>
                      <a:pt x="309902" y="380659"/>
                    </a:lnTo>
                    <a:lnTo>
                      <a:pt x="98054" y="257163"/>
                    </a:lnTo>
                    <a:cubicBezTo>
                      <a:pt x="88529" y="251580"/>
                      <a:pt x="80975" y="243040"/>
                      <a:pt x="76376" y="233187"/>
                    </a:cubicBezTo>
                    <a:lnTo>
                      <a:pt x="4775" y="75861"/>
                    </a:lnTo>
                    <a:cubicBezTo>
                      <a:pt x="-7377" y="48928"/>
                      <a:pt x="4447" y="17069"/>
                      <a:pt x="31379" y="4917"/>
                    </a:cubicBezTo>
                    <a:cubicBezTo>
                      <a:pt x="58312" y="-7564"/>
                      <a:pt x="90171" y="4588"/>
                      <a:pt x="102324" y="31521"/>
                    </a:cubicBezTo>
                    <a:lnTo>
                      <a:pt x="167028" y="173409"/>
                    </a:lnTo>
                    <a:lnTo>
                      <a:pt x="381503" y="298548"/>
                    </a:lnTo>
                    <a:cubicBezTo>
                      <a:pt x="392670" y="305116"/>
                      <a:pt x="400881" y="315298"/>
                      <a:pt x="405151" y="327451"/>
                    </a:cubicBezTo>
                    <a:lnTo>
                      <a:pt x="523392" y="673633"/>
                    </a:lnTo>
                    <a:lnTo>
                      <a:pt x="745422" y="826689"/>
                    </a:lnTo>
                    <a:lnTo>
                      <a:pt x="896835" y="460800"/>
                    </a:lnTo>
                    <a:cubicBezTo>
                      <a:pt x="905047" y="440765"/>
                      <a:pt x="924753" y="427627"/>
                      <a:pt x="946431" y="427627"/>
                    </a:cubicBezTo>
                    <a:lnTo>
                      <a:pt x="1003252" y="427627"/>
                    </a:lnTo>
                    <a:lnTo>
                      <a:pt x="1189481" y="31192"/>
                    </a:lnTo>
                    <a:cubicBezTo>
                      <a:pt x="1201962" y="4259"/>
                      <a:pt x="1233821" y="-7236"/>
                      <a:pt x="1260754" y="5573"/>
                    </a:cubicBezTo>
                    <a:cubicBezTo>
                      <a:pt x="1287686" y="18054"/>
                      <a:pt x="1299182" y="49914"/>
                      <a:pt x="1286373" y="76846"/>
                    </a:cubicBezTo>
                    <a:lnTo>
                      <a:pt x="1085692" y="504155"/>
                    </a:lnTo>
                    <a:cubicBezTo>
                      <a:pt x="1076824" y="522876"/>
                      <a:pt x="1058102" y="535029"/>
                      <a:pt x="1037082" y="535029"/>
                    </a:cubicBezTo>
                    <a:lnTo>
                      <a:pt x="982231" y="535029"/>
                    </a:lnTo>
                    <a:lnTo>
                      <a:pt x="819322" y="929164"/>
                    </a:lnTo>
                    <a:cubicBezTo>
                      <a:pt x="813082" y="944273"/>
                      <a:pt x="800601" y="955440"/>
                      <a:pt x="785164" y="960038"/>
                    </a:cubicBezTo>
                    <a:cubicBezTo>
                      <a:pt x="779580" y="960695"/>
                      <a:pt x="774653" y="961352"/>
                      <a:pt x="769398" y="961352"/>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2" name="Google Shape;762;p51"/>
              <p:cNvSpPr/>
              <p:nvPr/>
            </p:nvSpPr>
            <p:spPr>
              <a:xfrm>
                <a:off x="2453555" y="2246797"/>
                <a:ext cx="388683" cy="774595"/>
              </a:xfrm>
              <a:custGeom>
                <a:rect b="b" l="l" r="r" t="t"/>
                <a:pathLst>
                  <a:path extrusionOk="0" h="774595" w="388683">
                    <a:moveTo>
                      <a:pt x="334806" y="774595"/>
                    </a:moveTo>
                    <a:cubicBezTo>
                      <a:pt x="316413" y="774595"/>
                      <a:pt x="298349" y="765070"/>
                      <a:pt x="288495" y="747991"/>
                    </a:cubicBezTo>
                    <a:lnTo>
                      <a:pt x="216565" y="624495"/>
                    </a:lnTo>
                    <a:lnTo>
                      <a:pt x="56284" y="321011"/>
                    </a:lnTo>
                    <a:cubicBezTo>
                      <a:pt x="53985" y="316413"/>
                      <a:pt x="52342" y="311814"/>
                      <a:pt x="51357" y="306888"/>
                    </a:cubicBezTo>
                    <a:lnTo>
                      <a:pt x="1105" y="64494"/>
                    </a:lnTo>
                    <a:cubicBezTo>
                      <a:pt x="-4807" y="35591"/>
                      <a:pt x="13586" y="7345"/>
                      <a:pt x="42489" y="1104"/>
                    </a:cubicBezTo>
                    <a:cubicBezTo>
                      <a:pt x="71392" y="-4808"/>
                      <a:pt x="99639" y="13585"/>
                      <a:pt x="105879" y="42817"/>
                    </a:cubicBezTo>
                    <a:lnTo>
                      <a:pt x="154818" y="277984"/>
                    </a:lnTo>
                    <a:lnTo>
                      <a:pt x="310501" y="572601"/>
                    </a:lnTo>
                    <a:lnTo>
                      <a:pt x="381446" y="694126"/>
                    </a:lnTo>
                    <a:cubicBezTo>
                      <a:pt x="396226" y="719745"/>
                      <a:pt x="387686" y="752261"/>
                      <a:pt x="362067" y="767369"/>
                    </a:cubicBezTo>
                    <a:cubicBezTo>
                      <a:pt x="353199" y="771968"/>
                      <a:pt x="344003" y="774595"/>
                      <a:pt x="334806" y="774595"/>
                    </a:cubicBez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3" name="Google Shape;763;p51"/>
              <p:cNvSpPr/>
              <p:nvPr/>
            </p:nvSpPr>
            <p:spPr>
              <a:xfrm>
                <a:off x="1303127"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942" y="106745"/>
                    </a:moveTo>
                    <a:cubicBezTo>
                      <a:pt x="111015" y="106745"/>
                      <a:pt x="107074" y="110686"/>
                      <a:pt x="107074" y="115613"/>
                    </a:cubicBezTo>
                    <a:lnTo>
                      <a:pt x="107074" y="398734"/>
                    </a:lnTo>
                    <a:cubicBezTo>
                      <a:pt x="107074" y="403661"/>
                      <a:pt x="111015" y="407602"/>
                      <a:pt x="115942" y="407602"/>
                    </a:cubicBezTo>
                    <a:lnTo>
                      <a:pt x="399062" y="407602"/>
                    </a:lnTo>
                    <a:cubicBezTo>
                      <a:pt x="403989" y="407602"/>
                      <a:pt x="407930" y="403661"/>
                      <a:pt x="407930" y="398734"/>
                    </a:cubicBezTo>
                    <a:lnTo>
                      <a:pt x="407930" y="115613"/>
                    </a:lnTo>
                    <a:cubicBezTo>
                      <a:pt x="407930" y="110686"/>
                      <a:pt x="403989" y="106745"/>
                      <a:pt x="399062" y="106745"/>
                    </a:cubicBezTo>
                    <a:lnTo>
                      <a:pt x="115942"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4" name="Google Shape;764;p51"/>
              <p:cNvSpPr/>
              <p:nvPr/>
            </p:nvSpPr>
            <p:spPr>
              <a:xfrm>
                <a:off x="1303127"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942" y="107073"/>
                    </a:moveTo>
                    <a:cubicBezTo>
                      <a:pt x="111015" y="107073"/>
                      <a:pt x="107074" y="111015"/>
                      <a:pt x="107074" y="115942"/>
                    </a:cubicBezTo>
                    <a:lnTo>
                      <a:pt x="107074" y="399062"/>
                    </a:lnTo>
                    <a:cubicBezTo>
                      <a:pt x="107074" y="403989"/>
                      <a:pt x="111015" y="407930"/>
                      <a:pt x="115942" y="407930"/>
                    </a:cubicBezTo>
                    <a:lnTo>
                      <a:pt x="399062" y="407930"/>
                    </a:lnTo>
                    <a:cubicBezTo>
                      <a:pt x="403989" y="407930"/>
                      <a:pt x="407930" y="403989"/>
                      <a:pt x="407930" y="399062"/>
                    </a:cubicBezTo>
                    <a:lnTo>
                      <a:pt x="407930" y="115942"/>
                    </a:lnTo>
                    <a:cubicBezTo>
                      <a:pt x="407930" y="111015"/>
                      <a:pt x="403989" y="107073"/>
                      <a:pt x="399062" y="107073"/>
                    </a:cubicBezTo>
                    <a:lnTo>
                      <a:pt x="115942"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5" name="Google Shape;765;p51"/>
              <p:cNvSpPr/>
              <p:nvPr/>
            </p:nvSpPr>
            <p:spPr>
              <a:xfrm>
                <a:off x="1920934"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2781"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6" name="Google Shape;766;p51"/>
              <p:cNvSpPr/>
              <p:nvPr/>
            </p:nvSpPr>
            <p:spPr>
              <a:xfrm>
                <a:off x="685648"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7" name="Google Shape;767;p51"/>
              <p:cNvSpPr/>
              <p:nvPr/>
            </p:nvSpPr>
            <p:spPr>
              <a:xfrm>
                <a:off x="685648"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sp>
            <p:nvSpPr>
              <p:cNvPr id="768" name="Google Shape;768;p51"/>
              <p:cNvSpPr/>
              <p:nvPr/>
            </p:nvSpPr>
            <p:spPr>
              <a:xfrm>
                <a:off x="685648" y="2659773"/>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262626"/>
                  </a:solidFill>
                  <a:latin typeface="Arial"/>
                  <a:ea typeface="Arial"/>
                  <a:cs typeface="Arial"/>
                  <a:sym typeface="Arial"/>
                </a:endParaRPr>
              </a:p>
            </p:txBody>
          </p:sp>
        </p:grpSp>
      </p:grpSp>
      <p:sp>
        <p:nvSpPr>
          <p:cNvPr id="769" name="Google Shape;769;p51"/>
          <p:cNvSpPr/>
          <p:nvPr/>
        </p:nvSpPr>
        <p:spPr>
          <a:xfrm>
            <a:off x="5012847" y="1115475"/>
            <a:ext cx="1212000" cy="387000"/>
          </a:xfrm>
          <a:prstGeom prst="roundRect">
            <a:avLst>
              <a:gd fmla="val 1674" name="adj"/>
            </a:avLst>
          </a:prstGeom>
          <a:noFill/>
          <a:ln>
            <a:noFill/>
          </a:ln>
          <a:effectLst>
            <a:outerShdw blurRad="19050" rotWithShape="0" algn="ctr" dir="5400000" dist="6350">
              <a:srgbClr val="000000">
                <a:alpha val="44310"/>
              </a:srgbClr>
            </a:outerShdw>
          </a:effectLst>
        </p:spPr>
        <p:txBody>
          <a:bodyPr anchorCtr="0" anchor="ctr" bIns="146300" lIns="429750" spcFirstLastPara="1" rIns="45700" wrap="square" tIns="118850">
            <a:noAutofit/>
          </a:bodyPr>
          <a:lstStyle/>
          <a:p>
            <a:pPr indent="0" lvl="0" marL="0" marR="0" rtl="0" algn="l">
              <a:lnSpc>
                <a:spcPct val="100000"/>
              </a:lnSpc>
              <a:spcBef>
                <a:spcPts val="0"/>
              </a:spcBef>
              <a:spcAft>
                <a:spcPts val="0"/>
              </a:spcAft>
              <a:buClr>
                <a:srgbClr val="000000"/>
              </a:buClr>
              <a:buSzPts val="175"/>
              <a:buFont typeface="Roboto"/>
              <a:buNone/>
            </a:pPr>
            <a:r>
              <a:rPr lang="en" sz="700">
                <a:solidFill>
                  <a:srgbClr val="757575"/>
                </a:solidFill>
                <a:latin typeface="Roboto"/>
                <a:ea typeface="Roboto"/>
                <a:cs typeface="Roboto"/>
                <a:sym typeface="Roboto"/>
              </a:rPr>
              <a:t>Fabric OneLake</a:t>
            </a:r>
            <a:endParaRPr/>
          </a:p>
        </p:txBody>
      </p:sp>
      <p:grpSp>
        <p:nvGrpSpPr>
          <p:cNvPr id="770" name="Google Shape;770;p51"/>
          <p:cNvGrpSpPr/>
          <p:nvPr/>
        </p:nvGrpSpPr>
        <p:grpSpPr>
          <a:xfrm>
            <a:off x="5240841" y="3439420"/>
            <a:ext cx="1212000" cy="389700"/>
            <a:chOff x="5056141" y="3618246"/>
            <a:chExt cx="1212000" cy="389700"/>
          </a:xfrm>
        </p:grpSpPr>
        <p:sp>
          <p:nvSpPr>
            <p:cNvPr id="771" name="Google Shape;771;p51"/>
            <p:cNvSpPr/>
            <p:nvPr/>
          </p:nvSpPr>
          <p:spPr>
            <a:xfrm>
              <a:off x="5056141" y="3618246"/>
              <a:ext cx="1212000" cy="389700"/>
            </a:xfrm>
            <a:prstGeom prst="roundRect">
              <a:avLst>
                <a:gd fmla="val 1674" name="adj"/>
              </a:avLst>
            </a:prstGeom>
            <a:solidFill>
              <a:srgbClr val="FFFFFF"/>
            </a:solidFill>
            <a:ln>
              <a:noFill/>
            </a:ln>
            <a:effectLst>
              <a:outerShdw blurRad="19424" rotWithShape="0" algn="ctr" dir="5400000" dist="6475">
                <a:srgbClr val="000000">
                  <a:alpha val="44310"/>
                </a:srgbClr>
              </a:outerShdw>
            </a:effectLst>
          </p:spPr>
          <p:txBody>
            <a:bodyPr anchorCtr="0" anchor="ctr" bIns="74575" lIns="438175" spcFirstLastPara="1" rIns="46600" wrap="square" tIns="74575">
              <a:noAutofit/>
            </a:bodyPr>
            <a:lstStyle/>
            <a:p>
              <a:pPr indent="0" lvl="0" marL="0" marR="0" rtl="0" algn="l">
                <a:lnSpc>
                  <a:spcPct val="113333"/>
                </a:lnSpc>
                <a:spcBef>
                  <a:spcPts val="0"/>
                </a:spcBef>
                <a:spcAft>
                  <a:spcPts val="0"/>
                </a:spcAft>
                <a:buClr>
                  <a:srgbClr val="212121"/>
                </a:buClr>
                <a:buSzPts val="191"/>
                <a:buFont typeface="Roboto"/>
                <a:buNone/>
              </a:pPr>
              <a:r>
                <a:rPr lang="en" sz="765">
                  <a:solidFill>
                    <a:srgbClr val="212121"/>
                  </a:solidFill>
                  <a:latin typeface="Roboto"/>
                  <a:ea typeface="Roboto"/>
                  <a:cs typeface="Roboto"/>
                  <a:sym typeface="Roboto"/>
                </a:rPr>
                <a:t>Metadata Vis.</a:t>
              </a:r>
              <a:br>
                <a:rPr b="0" i="0" lang="en" sz="714" u="none" cap="none" strike="noStrike">
                  <a:solidFill>
                    <a:srgbClr val="212121"/>
                  </a:solidFill>
                  <a:latin typeface="Roboto"/>
                  <a:ea typeface="Roboto"/>
                  <a:cs typeface="Roboto"/>
                  <a:sym typeface="Roboto"/>
                </a:rPr>
              </a:br>
              <a:r>
                <a:rPr lang="en" sz="714">
                  <a:solidFill>
                    <a:srgbClr val="757575"/>
                  </a:solidFill>
                  <a:latin typeface="Roboto"/>
                  <a:ea typeface="Roboto"/>
                  <a:cs typeface="Roboto"/>
                  <a:sym typeface="Roboto"/>
                </a:rPr>
                <a:t>Fabric</a:t>
              </a:r>
              <a:endParaRPr sz="1427"/>
            </a:p>
          </p:txBody>
        </p:sp>
        <p:pic>
          <p:nvPicPr>
            <p:cNvPr id="772" name="Google Shape;772;p51"/>
            <p:cNvPicPr preferRelativeResize="0"/>
            <p:nvPr/>
          </p:nvPicPr>
          <p:blipFill>
            <a:blip r:embed="rId5">
              <a:alphaModFix/>
            </a:blip>
            <a:stretch>
              <a:fillRect/>
            </a:stretch>
          </p:blipFill>
          <p:spPr>
            <a:xfrm>
              <a:off x="5074952" y="3638925"/>
              <a:ext cx="348346" cy="348346"/>
            </a:xfrm>
            <a:prstGeom prst="rect">
              <a:avLst/>
            </a:prstGeom>
            <a:noFill/>
            <a:ln>
              <a:noFill/>
            </a:ln>
          </p:spPr>
        </p:pic>
      </p:grpSp>
      <p:pic>
        <p:nvPicPr>
          <p:cNvPr id="773" name="Google Shape;773;p51"/>
          <p:cNvPicPr preferRelativeResize="0"/>
          <p:nvPr/>
        </p:nvPicPr>
        <p:blipFill rotWithShape="1">
          <a:blip r:embed="rId6">
            <a:alphaModFix/>
          </a:blip>
          <a:srcRect b="0" l="0" r="0" t="0"/>
          <a:stretch/>
        </p:blipFill>
        <p:spPr>
          <a:xfrm>
            <a:off x="2212680" y="978407"/>
            <a:ext cx="1360716" cy="173708"/>
          </a:xfrm>
          <a:prstGeom prst="rect">
            <a:avLst/>
          </a:prstGeom>
          <a:noFill/>
          <a:ln>
            <a:noFill/>
          </a:ln>
        </p:spPr>
      </p:pic>
      <p:grpSp>
        <p:nvGrpSpPr>
          <p:cNvPr id="774" name="Google Shape;774;p51"/>
          <p:cNvGrpSpPr/>
          <p:nvPr/>
        </p:nvGrpSpPr>
        <p:grpSpPr>
          <a:xfrm>
            <a:off x="5251625" y="1775790"/>
            <a:ext cx="1190432" cy="382200"/>
            <a:chOff x="5267517" y="1775790"/>
            <a:chExt cx="1190432" cy="382200"/>
          </a:xfrm>
        </p:grpSpPr>
        <p:sp>
          <p:nvSpPr>
            <p:cNvPr id="775" name="Google Shape;775;p51"/>
            <p:cNvSpPr/>
            <p:nvPr/>
          </p:nvSpPr>
          <p:spPr>
            <a:xfrm>
              <a:off x="5269349" y="1775790"/>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Data Files</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Parquet</a:t>
              </a:r>
              <a:endParaRPr/>
            </a:p>
          </p:txBody>
        </p:sp>
        <p:grpSp>
          <p:nvGrpSpPr>
            <p:cNvPr id="776" name="Google Shape;776;p51"/>
            <p:cNvGrpSpPr/>
            <p:nvPr/>
          </p:nvGrpSpPr>
          <p:grpSpPr>
            <a:xfrm>
              <a:off x="5267517" y="1805598"/>
              <a:ext cx="306941" cy="317881"/>
              <a:chOff x="1714900" y="552700"/>
              <a:chExt cx="4353775" cy="4508950"/>
            </a:xfrm>
          </p:grpSpPr>
          <p:sp>
            <p:nvSpPr>
              <p:cNvPr id="777" name="Google Shape;777;p51"/>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915"/>
                  <a:buFont typeface="Arial"/>
                  <a:buNone/>
                </a:pPr>
                <a:r>
                  <a:t/>
                </a:r>
                <a:endParaRPr sz="915">
                  <a:solidFill>
                    <a:srgbClr val="252525"/>
                  </a:solidFill>
                  <a:latin typeface="Arial"/>
                  <a:ea typeface="Arial"/>
                  <a:cs typeface="Arial"/>
                  <a:sym typeface="Arial"/>
                </a:endParaRPr>
              </a:p>
            </p:txBody>
          </p:sp>
          <p:sp>
            <p:nvSpPr>
              <p:cNvPr id="778" name="Google Shape;778;p51"/>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33"/>
                  <a:buFont typeface="Arial"/>
                  <a:buNone/>
                </a:pPr>
                <a:r>
                  <a:rPr b="1" lang="en" sz="333">
                    <a:solidFill>
                      <a:srgbClr val="FFFFFF"/>
                    </a:solidFill>
                    <a:latin typeface="Arial"/>
                    <a:ea typeface="Arial"/>
                    <a:cs typeface="Arial"/>
                    <a:sym typeface="Arial"/>
                  </a:rPr>
                  <a:t>PARQUET</a:t>
                </a:r>
                <a:endParaRPr sz="832">
                  <a:solidFill>
                    <a:srgbClr val="252525"/>
                  </a:solidFill>
                  <a:latin typeface="Arial"/>
                  <a:ea typeface="Arial"/>
                  <a:cs typeface="Arial"/>
                  <a:sym typeface="Arial"/>
                </a:endParaRPr>
              </a:p>
            </p:txBody>
          </p:sp>
        </p:grpSp>
      </p:grpSp>
      <p:sp>
        <p:nvSpPr>
          <p:cNvPr id="779" name="Google Shape;779;p51"/>
          <p:cNvSpPr/>
          <p:nvPr/>
        </p:nvSpPr>
        <p:spPr>
          <a:xfrm>
            <a:off x="6974000" y="1115475"/>
            <a:ext cx="1656900" cy="2867700"/>
          </a:xfrm>
          <a:prstGeom prst="roundRect">
            <a:avLst>
              <a:gd fmla="val 827" name="adj"/>
            </a:avLst>
          </a:prstGeom>
          <a:solidFill>
            <a:srgbClr val="F1F8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80" name="Google Shape;780;p51"/>
          <p:cNvCxnSpPr>
            <a:stCxn id="748" idx="3"/>
            <a:endCxn id="775" idx="1"/>
          </p:cNvCxnSpPr>
          <p:nvPr/>
        </p:nvCxnSpPr>
        <p:spPr>
          <a:xfrm flipH="1" rot="10800000">
            <a:off x="3463882" y="1966798"/>
            <a:ext cx="1789500" cy="32700"/>
          </a:xfrm>
          <a:prstGeom prst="straightConnector1">
            <a:avLst/>
          </a:prstGeom>
          <a:noFill/>
          <a:ln cap="flat" cmpd="sng" w="28575">
            <a:solidFill>
              <a:schemeClr val="accent1"/>
            </a:solidFill>
            <a:prstDash val="solid"/>
            <a:round/>
            <a:headEnd len="med" w="med" type="none"/>
            <a:tailEnd len="med" w="med" type="triangle"/>
          </a:ln>
        </p:spPr>
      </p:cxnSp>
      <p:grpSp>
        <p:nvGrpSpPr>
          <p:cNvPr id="781" name="Google Shape;781;p51"/>
          <p:cNvGrpSpPr/>
          <p:nvPr/>
        </p:nvGrpSpPr>
        <p:grpSpPr>
          <a:xfrm>
            <a:off x="3859600" y="1808400"/>
            <a:ext cx="849000" cy="382200"/>
            <a:chOff x="2604150" y="1524700"/>
            <a:chExt cx="849000" cy="382200"/>
          </a:xfrm>
        </p:grpSpPr>
        <p:sp>
          <p:nvSpPr>
            <p:cNvPr id="782" name="Google Shape;782;p51"/>
            <p:cNvSpPr/>
            <p:nvPr/>
          </p:nvSpPr>
          <p:spPr>
            <a:xfrm>
              <a:off x="2604150" y="1524700"/>
              <a:ext cx="8490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Pipeline</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ADF</a:t>
              </a:r>
              <a:endParaRPr/>
            </a:p>
          </p:txBody>
        </p:sp>
        <p:pic>
          <p:nvPicPr>
            <p:cNvPr id="783" name="Google Shape;783;p51"/>
            <p:cNvPicPr preferRelativeResize="0"/>
            <p:nvPr/>
          </p:nvPicPr>
          <p:blipFill rotWithShape="1">
            <a:blip r:embed="rId7">
              <a:alphaModFix/>
            </a:blip>
            <a:srcRect b="0" l="0" r="0" t="0"/>
            <a:stretch/>
          </p:blipFill>
          <p:spPr>
            <a:xfrm>
              <a:off x="2604150" y="1524700"/>
              <a:ext cx="382200" cy="382200"/>
            </a:xfrm>
            <a:prstGeom prst="rect">
              <a:avLst/>
            </a:prstGeom>
            <a:noFill/>
            <a:ln>
              <a:noFill/>
            </a:ln>
          </p:spPr>
        </p:pic>
      </p:grpSp>
      <p:sp>
        <p:nvSpPr>
          <p:cNvPr id="784" name="Google Shape;784;p51"/>
          <p:cNvSpPr/>
          <p:nvPr/>
        </p:nvSpPr>
        <p:spPr>
          <a:xfrm>
            <a:off x="6974110" y="1115466"/>
            <a:ext cx="914400" cy="387000"/>
          </a:xfrm>
          <a:prstGeom prst="roundRect">
            <a:avLst>
              <a:gd fmla="val 1674" name="adj"/>
            </a:avLst>
          </a:prstGeom>
          <a:noFill/>
          <a:ln>
            <a:noFill/>
          </a:ln>
          <a:effectLst>
            <a:outerShdw blurRad="19050" rotWithShape="0" algn="ctr" dir="5400000" dist="6350">
              <a:srgbClr val="000000">
                <a:alpha val="44310"/>
              </a:srgbClr>
            </a:outerShdw>
          </a:effectLst>
        </p:spPr>
        <p:txBody>
          <a:bodyPr anchorCtr="0" anchor="ctr" bIns="146300" lIns="429750" spcFirstLastPara="1" rIns="45700" wrap="square" tIns="118850">
            <a:noAutofit/>
          </a:bodyPr>
          <a:lstStyle/>
          <a:p>
            <a:pPr indent="0" lvl="0" marL="0" marR="0" rtl="0" algn="l">
              <a:lnSpc>
                <a:spcPct val="100000"/>
              </a:lnSpc>
              <a:spcBef>
                <a:spcPts val="0"/>
              </a:spcBef>
              <a:spcAft>
                <a:spcPts val="0"/>
              </a:spcAft>
              <a:buClr>
                <a:srgbClr val="000000"/>
              </a:buClr>
              <a:buSzPts val="175"/>
              <a:buFont typeface="Roboto"/>
              <a:buNone/>
            </a:pPr>
            <a:r>
              <a:rPr lang="en" sz="700">
                <a:solidFill>
                  <a:srgbClr val="757575"/>
                </a:solidFill>
                <a:latin typeface="Roboto"/>
                <a:ea typeface="Roboto"/>
                <a:cs typeface="Roboto"/>
                <a:sym typeface="Roboto"/>
              </a:rPr>
              <a:t>Enterprise Services</a:t>
            </a:r>
            <a:endParaRPr/>
          </a:p>
        </p:txBody>
      </p:sp>
      <p:pic>
        <p:nvPicPr>
          <p:cNvPr id="785" name="Google Shape;785;p51"/>
          <p:cNvPicPr preferRelativeResize="0"/>
          <p:nvPr/>
        </p:nvPicPr>
        <p:blipFill rotWithShape="1">
          <a:blip r:embed="rId8">
            <a:alphaModFix/>
          </a:blip>
          <a:srcRect b="0" l="0" r="0" t="0"/>
          <a:stretch/>
        </p:blipFill>
        <p:spPr>
          <a:xfrm>
            <a:off x="6974100" y="1117875"/>
            <a:ext cx="382200" cy="382200"/>
          </a:xfrm>
          <a:prstGeom prst="rect">
            <a:avLst/>
          </a:prstGeom>
          <a:noFill/>
          <a:ln>
            <a:noFill/>
          </a:ln>
        </p:spPr>
      </p:pic>
      <p:grpSp>
        <p:nvGrpSpPr>
          <p:cNvPr id="786" name="Google Shape;786;p51"/>
          <p:cNvGrpSpPr/>
          <p:nvPr/>
        </p:nvGrpSpPr>
        <p:grpSpPr>
          <a:xfrm>
            <a:off x="7180599" y="1775801"/>
            <a:ext cx="1188600" cy="382200"/>
            <a:chOff x="7097474" y="3183415"/>
            <a:chExt cx="1188600" cy="382200"/>
          </a:xfrm>
        </p:grpSpPr>
        <p:sp>
          <p:nvSpPr>
            <p:cNvPr id="787" name="Google Shape;787;p51"/>
            <p:cNvSpPr/>
            <p:nvPr/>
          </p:nvSpPr>
          <p:spPr>
            <a:xfrm>
              <a:off x="7097474" y="3183415"/>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Other Databases</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DB</a:t>
              </a:r>
              <a:endParaRPr/>
            </a:p>
          </p:txBody>
        </p:sp>
        <p:sp>
          <p:nvSpPr>
            <p:cNvPr id="788" name="Google Shape;788;p51"/>
            <p:cNvSpPr/>
            <p:nvPr/>
          </p:nvSpPr>
          <p:spPr>
            <a:xfrm>
              <a:off x="7136075" y="3216024"/>
              <a:ext cx="302397" cy="277200"/>
            </a:xfrm>
            <a:custGeom>
              <a:rect b="b" l="l" r="r" t="t"/>
              <a:pathLst>
                <a:path extrusionOk="0" h="8448" w="7350">
                  <a:moveTo>
                    <a:pt x="3674" y="708"/>
                  </a:moveTo>
                  <a:cubicBezTo>
                    <a:pt x="5594" y="708"/>
                    <a:pt x="6641" y="1317"/>
                    <a:pt x="6641" y="1629"/>
                  </a:cubicBezTo>
                  <a:cubicBezTo>
                    <a:pt x="6641" y="1941"/>
                    <a:pt x="5594" y="2550"/>
                    <a:pt x="3674" y="2550"/>
                  </a:cubicBezTo>
                  <a:cubicBezTo>
                    <a:pt x="1756" y="2550"/>
                    <a:pt x="709" y="1941"/>
                    <a:pt x="709" y="1629"/>
                  </a:cubicBezTo>
                  <a:cubicBezTo>
                    <a:pt x="709" y="1317"/>
                    <a:pt x="1756" y="708"/>
                    <a:pt x="3674" y="708"/>
                  </a:cubicBezTo>
                  <a:close/>
                  <a:moveTo>
                    <a:pt x="6641" y="2628"/>
                  </a:moveTo>
                  <a:lnTo>
                    <a:pt x="6641" y="3360"/>
                  </a:lnTo>
                  <a:cubicBezTo>
                    <a:pt x="6641" y="3672"/>
                    <a:pt x="5594" y="4281"/>
                    <a:pt x="3674" y="4281"/>
                  </a:cubicBezTo>
                  <a:cubicBezTo>
                    <a:pt x="1756" y="4281"/>
                    <a:pt x="709" y="3672"/>
                    <a:pt x="709" y="3360"/>
                  </a:cubicBezTo>
                  <a:lnTo>
                    <a:pt x="709" y="2628"/>
                  </a:lnTo>
                  <a:cubicBezTo>
                    <a:pt x="1411" y="3044"/>
                    <a:pt x="2547" y="3258"/>
                    <a:pt x="3674" y="3258"/>
                  </a:cubicBezTo>
                  <a:cubicBezTo>
                    <a:pt x="4802" y="3258"/>
                    <a:pt x="5937" y="3044"/>
                    <a:pt x="6641" y="2628"/>
                  </a:cubicBezTo>
                  <a:close/>
                  <a:moveTo>
                    <a:pt x="6641" y="4361"/>
                  </a:moveTo>
                  <a:lnTo>
                    <a:pt x="6641" y="5086"/>
                  </a:lnTo>
                  <a:cubicBezTo>
                    <a:pt x="6641" y="5398"/>
                    <a:pt x="5594" y="6007"/>
                    <a:pt x="3674" y="6007"/>
                  </a:cubicBezTo>
                  <a:cubicBezTo>
                    <a:pt x="1756" y="6007"/>
                    <a:pt x="709" y="5398"/>
                    <a:pt x="709" y="5086"/>
                  </a:cubicBezTo>
                  <a:lnTo>
                    <a:pt x="709" y="4361"/>
                  </a:lnTo>
                  <a:cubicBezTo>
                    <a:pt x="1411" y="4777"/>
                    <a:pt x="2547" y="4989"/>
                    <a:pt x="3674" y="4989"/>
                  </a:cubicBezTo>
                  <a:cubicBezTo>
                    <a:pt x="4802" y="4989"/>
                    <a:pt x="5937" y="4777"/>
                    <a:pt x="6641" y="4361"/>
                  </a:cubicBezTo>
                  <a:close/>
                  <a:moveTo>
                    <a:pt x="6641" y="6087"/>
                  </a:moveTo>
                  <a:lnTo>
                    <a:pt x="6641" y="6819"/>
                  </a:lnTo>
                  <a:cubicBezTo>
                    <a:pt x="6641" y="7131"/>
                    <a:pt x="5594" y="7740"/>
                    <a:pt x="3674" y="7740"/>
                  </a:cubicBezTo>
                  <a:cubicBezTo>
                    <a:pt x="1756" y="7740"/>
                    <a:pt x="709" y="7131"/>
                    <a:pt x="709" y="6819"/>
                  </a:cubicBezTo>
                  <a:lnTo>
                    <a:pt x="709" y="6087"/>
                  </a:lnTo>
                  <a:cubicBezTo>
                    <a:pt x="1411" y="6503"/>
                    <a:pt x="2547" y="6716"/>
                    <a:pt x="3674" y="6716"/>
                  </a:cubicBezTo>
                  <a:cubicBezTo>
                    <a:pt x="4802" y="6716"/>
                    <a:pt x="5937" y="6503"/>
                    <a:pt x="6641" y="6087"/>
                  </a:cubicBezTo>
                  <a:close/>
                  <a:moveTo>
                    <a:pt x="3674" y="0"/>
                  </a:moveTo>
                  <a:cubicBezTo>
                    <a:pt x="1848" y="0"/>
                    <a:pt x="1" y="560"/>
                    <a:pt x="1" y="1630"/>
                  </a:cubicBezTo>
                  <a:lnTo>
                    <a:pt x="1" y="6819"/>
                  </a:lnTo>
                  <a:cubicBezTo>
                    <a:pt x="1" y="7888"/>
                    <a:pt x="1849" y="8448"/>
                    <a:pt x="3674" y="8448"/>
                  </a:cubicBezTo>
                  <a:cubicBezTo>
                    <a:pt x="5499" y="8448"/>
                    <a:pt x="7348" y="7890"/>
                    <a:pt x="7348" y="6819"/>
                  </a:cubicBezTo>
                  <a:lnTo>
                    <a:pt x="7348" y="1629"/>
                  </a:lnTo>
                  <a:cubicBezTo>
                    <a:pt x="7350" y="560"/>
                    <a:pt x="5501" y="0"/>
                    <a:pt x="367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grpSp>
        <p:nvGrpSpPr>
          <p:cNvPr id="789" name="Google Shape;789;p51"/>
          <p:cNvGrpSpPr/>
          <p:nvPr/>
        </p:nvGrpSpPr>
        <p:grpSpPr>
          <a:xfrm>
            <a:off x="7180599" y="3443163"/>
            <a:ext cx="1188600" cy="382200"/>
            <a:chOff x="7242624" y="1940553"/>
            <a:chExt cx="1188600" cy="382200"/>
          </a:xfrm>
        </p:grpSpPr>
        <p:sp>
          <p:nvSpPr>
            <p:cNvPr id="790" name="Google Shape;790;p51"/>
            <p:cNvSpPr/>
            <p:nvPr/>
          </p:nvSpPr>
          <p:spPr>
            <a:xfrm>
              <a:off x="7242624" y="1940553"/>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Other Services</a:t>
              </a:r>
              <a:endParaRPr sz="750">
                <a:solidFill>
                  <a:srgbClr val="212121"/>
                </a:solidFill>
                <a:latin typeface="Roboto"/>
                <a:ea typeface="Roboto"/>
                <a:cs typeface="Roboto"/>
                <a:sym typeface="Roboto"/>
              </a:endParaRPr>
            </a:p>
            <a:p>
              <a:pPr indent="0" lvl="0" marL="0" marR="0" rtl="0" algn="l">
                <a:lnSpc>
                  <a:spcPct val="113333"/>
                </a:lnSpc>
                <a:spcBef>
                  <a:spcPts val="0"/>
                </a:spcBef>
                <a:spcAft>
                  <a:spcPts val="0"/>
                </a:spcAft>
                <a:buClr>
                  <a:srgbClr val="212121"/>
                </a:buClr>
                <a:buSzPts val="188"/>
                <a:buFont typeface="Roboto"/>
                <a:buNone/>
              </a:pPr>
              <a:r>
                <a:rPr lang="en" sz="700">
                  <a:solidFill>
                    <a:srgbClr val="757575"/>
                  </a:solidFill>
                  <a:latin typeface="Roboto"/>
                  <a:ea typeface="Roboto"/>
                  <a:cs typeface="Roboto"/>
                  <a:sym typeface="Roboto"/>
                </a:rPr>
                <a:t>Databricks</a:t>
              </a:r>
              <a:endParaRPr/>
            </a:p>
          </p:txBody>
        </p:sp>
        <p:pic>
          <p:nvPicPr>
            <p:cNvPr id="791" name="Google Shape;791;p51"/>
            <p:cNvPicPr preferRelativeResize="0"/>
            <p:nvPr/>
          </p:nvPicPr>
          <p:blipFill>
            <a:blip r:embed="rId9">
              <a:alphaModFix/>
            </a:blip>
            <a:stretch>
              <a:fillRect/>
            </a:stretch>
          </p:blipFill>
          <p:spPr>
            <a:xfrm>
              <a:off x="7242625" y="1959813"/>
              <a:ext cx="418035" cy="348350"/>
            </a:xfrm>
            <a:prstGeom prst="rect">
              <a:avLst/>
            </a:prstGeom>
            <a:solidFill>
              <a:srgbClr val="F1F8E9"/>
            </a:solidFill>
            <a:ln>
              <a:noFill/>
            </a:ln>
          </p:spPr>
        </p:pic>
      </p:grpSp>
      <p:cxnSp>
        <p:nvCxnSpPr>
          <p:cNvPr id="792" name="Google Shape;792;p51"/>
          <p:cNvCxnSpPr>
            <a:stCxn id="782" idx="2"/>
            <a:endCxn id="793" idx="1"/>
          </p:cNvCxnSpPr>
          <p:nvPr/>
        </p:nvCxnSpPr>
        <p:spPr>
          <a:xfrm flipH="1" rot="-5400000">
            <a:off x="4332100" y="2142600"/>
            <a:ext cx="872400" cy="968400"/>
          </a:xfrm>
          <a:prstGeom prst="bentConnector2">
            <a:avLst/>
          </a:prstGeom>
          <a:noFill/>
          <a:ln cap="flat" cmpd="sng" w="28575">
            <a:solidFill>
              <a:schemeClr val="accent1"/>
            </a:solidFill>
            <a:prstDash val="solid"/>
            <a:round/>
            <a:headEnd len="med" w="med" type="none"/>
            <a:tailEnd len="med" w="med" type="triangle"/>
          </a:ln>
        </p:spPr>
      </p:cxnSp>
      <p:cxnSp>
        <p:nvCxnSpPr>
          <p:cNvPr id="794" name="Google Shape;794;p51"/>
          <p:cNvCxnSpPr>
            <a:stCxn id="793" idx="0"/>
            <a:endCxn id="756" idx="2"/>
          </p:cNvCxnSpPr>
          <p:nvPr/>
        </p:nvCxnSpPr>
        <p:spPr>
          <a:xfrm rot="-5400000">
            <a:off x="5744841" y="2769428"/>
            <a:ext cx="204600" cy="600"/>
          </a:xfrm>
          <a:prstGeom prst="curvedConnector3">
            <a:avLst>
              <a:gd fmla="val 49997" name="adj1"/>
            </a:avLst>
          </a:prstGeom>
          <a:noFill/>
          <a:ln cap="flat" cmpd="sng" w="28575">
            <a:solidFill>
              <a:schemeClr val="accent1"/>
            </a:solidFill>
            <a:prstDash val="solid"/>
            <a:round/>
            <a:headEnd len="med" w="med" type="none"/>
            <a:tailEnd len="med" w="med" type="stealth"/>
          </a:ln>
        </p:spPr>
      </p:cxnSp>
      <p:cxnSp>
        <p:nvCxnSpPr>
          <p:cNvPr id="795" name="Google Shape;795;p51"/>
          <p:cNvCxnSpPr>
            <a:stCxn id="775" idx="2"/>
            <a:endCxn id="756" idx="0"/>
          </p:cNvCxnSpPr>
          <p:nvPr/>
        </p:nvCxnSpPr>
        <p:spPr>
          <a:xfrm rot="5400000">
            <a:off x="5783707" y="2221140"/>
            <a:ext cx="127200" cy="900"/>
          </a:xfrm>
          <a:prstGeom prst="curvedConnector3">
            <a:avLst>
              <a:gd fmla="val 50020" name="adj1"/>
            </a:avLst>
          </a:prstGeom>
          <a:noFill/>
          <a:ln cap="flat" cmpd="sng" w="28575">
            <a:solidFill>
              <a:schemeClr val="accent1"/>
            </a:solidFill>
            <a:prstDash val="solid"/>
            <a:round/>
            <a:headEnd len="med" w="med" type="none"/>
            <a:tailEnd len="med" w="med" type="stealth"/>
          </a:ln>
        </p:spPr>
      </p:cxnSp>
      <p:sp>
        <p:nvSpPr>
          <p:cNvPr id="796" name="Google Shape;796;p51"/>
          <p:cNvSpPr txBox="1"/>
          <p:nvPr/>
        </p:nvSpPr>
        <p:spPr>
          <a:xfrm>
            <a:off x="105950" y="978400"/>
            <a:ext cx="2056500" cy="3805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2"/>
                </a:solidFill>
                <a:latin typeface="Roboto"/>
                <a:ea typeface="Roboto"/>
                <a:cs typeface="Roboto"/>
                <a:sym typeface="Roboto"/>
              </a:rPr>
              <a:t>0- Setup</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900">
                <a:solidFill>
                  <a:schemeClr val="accent2"/>
                </a:solidFill>
                <a:latin typeface="Roboto"/>
                <a:ea typeface="Roboto"/>
                <a:cs typeface="Roboto"/>
                <a:sym typeface="Roboto"/>
              </a:rPr>
              <a:t>Create BigQuery Connection to ADSL, Define ADF pipeline, setup Fabric</a:t>
            </a:r>
            <a:endParaRPr sz="900">
              <a:solidFill>
                <a:schemeClr val="accent2"/>
              </a:solidFill>
              <a:latin typeface="Roboto"/>
              <a:ea typeface="Roboto"/>
              <a:cs typeface="Roboto"/>
              <a:sym typeface="Roboto"/>
            </a:endParaRPr>
          </a:p>
          <a:p>
            <a:pPr indent="0" lvl="0" marL="0" rtl="0" algn="l">
              <a:spcBef>
                <a:spcPts val="0"/>
              </a:spcBef>
              <a:spcAft>
                <a:spcPts val="0"/>
              </a:spcAft>
              <a:buNone/>
            </a:pPr>
            <a:r>
              <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200">
                <a:solidFill>
                  <a:schemeClr val="accent2"/>
                </a:solidFill>
                <a:latin typeface="Roboto"/>
                <a:ea typeface="Roboto"/>
                <a:cs typeface="Roboto"/>
                <a:sym typeface="Roboto"/>
              </a:rPr>
              <a:t>1- Export Data </a:t>
            </a:r>
            <a:br>
              <a:rPr lang="en" sz="1200">
                <a:solidFill>
                  <a:schemeClr val="accent2"/>
                </a:solidFill>
                <a:latin typeface="Roboto"/>
                <a:ea typeface="Roboto"/>
                <a:cs typeface="Roboto"/>
                <a:sym typeface="Roboto"/>
              </a:rPr>
            </a:br>
            <a:r>
              <a:rPr lang="en" sz="1000">
                <a:solidFill>
                  <a:schemeClr val="accent2"/>
                </a:solidFill>
                <a:latin typeface="Roboto"/>
                <a:ea typeface="Roboto"/>
                <a:cs typeface="Roboto"/>
                <a:sym typeface="Roboto"/>
              </a:rPr>
              <a:t>ADF pipeline triggers BigQuery Export Data of Parquet Files </a:t>
            </a:r>
            <a:endParaRPr sz="1000">
              <a:solidFill>
                <a:schemeClr val="accent2"/>
              </a:solidFill>
              <a:latin typeface="Roboto"/>
              <a:ea typeface="Roboto"/>
              <a:cs typeface="Roboto"/>
              <a:sym typeface="Roboto"/>
            </a:endParaRPr>
          </a:p>
          <a:p>
            <a:pPr indent="0" lvl="0" marL="0" rtl="0" algn="l">
              <a:spcBef>
                <a:spcPts val="0"/>
              </a:spcBef>
              <a:spcAft>
                <a:spcPts val="0"/>
              </a:spcAft>
              <a:buNone/>
            </a:pPr>
            <a:r>
              <a:t/>
            </a:r>
            <a:endParaRPr sz="1000">
              <a:solidFill>
                <a:schemeClr val="accent2"/>
              </a:solidFill>
              <a:latin typeface="Roboto"/>
              <a:ea typeface="Roboto"/>
              <a:cs typeface="Roboto"/>
              <a:sym typeface="Roboto"/>
            </a:endParaRPr>
          </a:p>
          <a:p>
            <a:pPr indent="0" lvl="0" marL="0" rtl="0" algn="l">
              <a:spcBef>
                <a:spcPts val="0"/>
              </a:spcBef>
              <a:spcAft>
                <a:spcPts val="0"/>
              </a:spcAft>
              <a:buNone/>
            </a:pPr>
            <a:r>
              <a:rPr lang="en" sz="1200">
                <a:solidFill>
                  <a:schemeClr val="accent2"/>
                </a:solidFill>
                <a:latin typeface="Roboto"/>
                <a:ea typeface="Roboto"/>
                <a:cs typeface="Roboto"/>
                <a:sym typeface="Roboto"/>
              </a:rPr>
              <a:t>2- Trigger Polaris</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ADF triggers Fabric Spark </a:t>
            </a:r>
            <a:r>
              <a:rPr lang="en" sz="1000">
                <a:solidFill>
                  <a:srgbClr val="188038"/>
                </a:solidFill>
                <a:latin typeface="Roboto Mono"/>
                <a:ea typeface="Roboto Mono"/>
                <a:cs typeface="Roboto Mono"/>
                <a:sym typeface="Roboto Mono"/>
              </a:rPr>
              <a:t>Merge</a:t>
            </a:r>
            <a:r>
              <a:rPr lang="en" sz="1000">
                <a:solidFill>
                  <a:schemeClr val="accent2"/>
                </a:solidFill>
                <a:latin typeface="Roboto"/>
                <a:ea typeface="Roboto"/>
                <a:cs typeface="Roboto"/>
                <a:sym typeface="Roboto"/>
              </a:rPr>
              <a:t> that updates Iceberg tables and its built-in catalog</a:t>
            </a:r>
            <a:endParaRPr sz="1000">
              <a:solidFill>
                <a:schemeClr val="accent2"/>
              </a:solidFill>
              <a:latin typeface="Roboto"/>
              <a:ea typeface="Roboto"/>
              <a:cs typeface="Roboto"/>
              <a:sym typeface="Roboto"/>
            </a:endParaRPr>
          </a:p>
          <a:p>
            <a:pPr indent="0" lvl="0" marL="0" rtl="0" algn="l">
              <a:spcBef>
                <a:spcPts val="0"/>
              </a:spcBef>
              <a:spcAft>
                <a:spcPts val="0"/>
              </a:spcAft>
              <a:buNone/>
            </a:pPr>
            <a:r>
              <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200">
                <a:solidFill>
                  <a:schemeClr val="accent2"/>
                </a:solidFill>
                <a:latin typeface="Roboto"/>
                <a:ea typeface="Roboto"/>
                <a:cs typeface="Roboto"/>
                <a:sym typeface="Roboto"/>
              </a:rPr>
              <a:t>3- Connect Services</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Services and databases that support OneLake use Fabric </a:t>
            </a:r>
            <a:r>
              <a:rPr lang="en" sz="1000">
                <a:solidFill>
                  <a:srgbClr val="188038"/>
                </a:solidFill>
                <a:latin typeface="Roboto Mono"/>
                <a:ea typeface="Roboto Mono"/>
                <a:cs typeface="Roboto Mono"/>
                <a:sym typeface="Roboto Mono"/>
              </a:rPr>
              <a:t>metadata visualization</a:t>
            </a:r>
            <a:endParaRPr sz="1000">
              <a:solidFill>
                <a:schemeClr val="accent2"/>
              </a:solidFill>
              <a:latin typeface="Roboto"/>
              <a:ea typeface="Roboto"/>
              <a:cs typeface="Roboto"/>
              <a:sym typeface="Roboto"/>
            </a:endParaRPr>
          </a:p>
          <a:p>
            <a:pPr indent="0" lvl="0" marL="0" rtl="0" algn="l">
              <a:spcBef>
                <a:spcPts val="0"/>
              </a:spcBef>
              <a:spcAft>
                <a:spcPts val="0"/>
              </a:spcAft>
              <a:buNone/>
            </a:pPr>
            <a:r>
              <a:t/>
            </a:r>
            <a:endParaRPr sz="1200">
              <a:solidFill>
                <a:schemeClr val="accent2"/>
              </a:solidFill>
              <a:latin typeface="Roboto"/>
              <a:ea typeface="Roboto"/>
              <a:cs typeface="Roboto"/>
              <a:sym typeface="Roboto"/>
            </a:endParaRPr>
          </a:p>
          <a:p>
            <a:pPr indent="0" lvl="0" marL="0" rtl="0" algn="l">
              <a:spcBef>
                <a:spcPts val="0"/>
              </a:spcBef>
              <a:spcAft>
                <a:spcPts val="0"/>
              </a:spcAft>
              <a:buNone/>
            </a:pPr>
            <a:r>
              <a:rPr lang="en" sz="1200">
                <a:solidFill>
                  <a:schemeClr val="accent2"/>
                </a:solidFill>
                <a:latin typeface="Roboto"/>
                <a:ea typeface="Roboto"/>
                <a:cs typeface="Roboto"/>
                <a:sym typeface="Roboto"/>
              </a:rPr>
              <a:t>4- Consume</a:t>
            </a:r>
            <a:br>
              <a:rPr lang="en" sz="1200">
                <a:solidFill>
                  <a:schemeClr val="accent2"/>
                </a:solidFill>
                <a:latin typeface="Roboto"/>
                <a:ea typeface="Roboto"/>
                <a:cs typeface="Roboto"/>
                <a:sym typeface="Roboto"/>
              </a:rPr>
            </a:br>
            <a:r>
              <a:rPr lang="en" sz="1000">
                <a:solidFill>
                  <a:schemeClr val="accent2"/>
                </a:solidFill>
                <a:latin typeface="Roboto"/>
                <a:ea typeface="Roboto"/>
                <a:cs typeface="Roboto"/>
                <a:sym typeface="Roboto"/>
              </a:rPr>
              <a:t>The service engines read/write Iceberg tables in OneLake</a:t>
            </a:r>
            <a:endParaRPr sz="1000">
              <a:solidFill>
                <a:schemeClr val="accent2"/>
              </a:solidFill>
              <a:latin typeface="Roboto"/>
              <a:ea typeface="Roboto"/>
              <a:cs typeface="Roboto"/>
              <a:sym typeface="Roboto"/>
            </a:endParaRPr>
          </a:p>
        </p:txBody>
      </p:sp>
      <p:grpSp>
        <p:nvGrpSpPr>
          <p:cNvPr id="797" name="Google Shape;797;p51"/>
          <p:cNvGrpSpPr/>
          <p:nvPr/>
        </p:nvGrpSpPr>
        <p:grpSpPr>
          <a:xfrm>
            <a:off x="4684517" y="1625116"/>
            <a:ext cx="419100" cy="304375"/>
            <a:chOff x="2795550" y="2147950"/>
            <a:chExt cx="419100" cy="304375"/>
          </a:xfrm>
        </p:grpSpPr>
        <p:sp>
          <p:nvSpPr>
            <p:cNvPr id="798" name="Google Shape;798;p51"/>
            <p:cNvSpPr/>
            <p:nvPr/>
          </p:nvSpPr>
          <p:spPr>
            <a:xfrm>
              <a:off x="2895900" y="2233925"/>
              <a:ext cx="218400" cy="218400"/>
            </a:xfrm>
            <a:prstGeom prst="ellipse">
              <a:avLst/>
            </a:prstGeom>
            <a:solidFill>
              <a:srgbClr val="F4B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1"/>
            <p:cNvSpPr txBox="1"/>
            <p:nvPr/>
          </p:nvSpPr>
          <p:spPr>
            <a:xfrm>
              <a:off x="2795550" y="2147950"/>
              <a:ext cx="419100" cy="29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50"/>
                <a:buFont typeface="Roboto"/>
                <a:buNone/>
              </a:pPr>
              <a:r>
                <a:rPr b="1" i="0" lang="en" sz="1400" u="none" cap="none" strike="noStrike">
                  <a:solidFill>
                    <a:srgbClr val="FFFFFF"/>
                  </a:solidFill>
                  <a:latin typeface="Roboto"/>
                  <a:ea typeface="Roboto"/>
                  <a:cs typeface="Roboto"/>
                  <a:sym typeface="Roboto"/>
                </a:rPr>
                <a:t>1</a:t>
              </a:r>
              <a:endParaRPr/>
            </a:p>
          </p:txBody>
        </p:sp>
      </p:grpSp>
      <p:grpSp>
        <p:nvGrpSpPr>
          <p:cNvPr id="800" name="Google Shape;800;p51"/>
          <p:cNvGrpSpPr/>
          <p:nvPr/>
        </p:nvGrpSpPr>
        <p:grpSpPr>
          <a:xfrm>
            <a:off x="4516330" y="2811416"/>
            <a:ext cx="419100" cy="304375"/>
            <a:chOff x="2795550" y="2147950"/>
            <a:chExt cx="419100" cy="304375"/>
          </a:xfrm>
        </p:grpSpPr>
        <p:sp>
          <p:nvSpPr>
            <p:cNvPr id="801" name="Google Shape;801;p51"/>
            <p:cNvSpPr/>
            <p:nvPr/>
          </p:nvSpPr>
          <p:spPr>
            <a:xfrm>
              <a:off x="2895900" y="2233925"/>
              <a:ext cx="218400" cy="218400"/>
            </a:xfrm>
            <a:prstGeom prst="ellipse">
              <a:avLst/>
            </a:prstGeom>
            <a:solidFill>
              <a:srgbClr val="F4B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1"/>
            <p:cNvSpPr txBox="1"/>
            <p:nvPr/>
          </p:nvSpPr>
          <p:spPr>
            <a:xfrm>
              <a:off x="2795550" y="2147950"/>
              <a:ext cx="419100" cy="29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50"/>
                <a:buFont typeface="Roboto"/>
                <a:buNone/>
              </a:pPr>
              <a:r>
                <a:rPr b="1" lang="en">
                  <a:solidFill>
                    <a:srgbClr val="FFFFFF"/>
                  </a:solidFill>
                  <a:latin typeface="Roboto"/>
                  <a:ea typeface="Roboto"/>
                  <a:cs typeface="Roboto"/>
                  <a:sym typeface="Roboto"/>
                </a:rPr>
                <a:t>2</a:t>
              </a:r>
              <a:endParaRPr/>
            </a:p>
          </p:txBody>
        </p:sp>
      </p:grpSp>
      <p:grpSp>
        <p:nvGrpSpPr>
          <p:cNvPr id="803" name="Google Shape;803;p51"/>
          <p:cNvGrpSpPr/>
          <p:nvPr/>
        </p:nvGrpSpPr>
        <p:grpSpPr>
          <a:xfrm>
            <a:off x="6405292" y="3186704"/>
            <a:ext cx="419100" cy="304375"/>
            <a:chOff x="2795550" y="2147950"/>
            <a:chExt cx="419100" cy="304375"/>
          </a:xfrm>
        </p:grpSpPr>
        <p:sp>
          <p:nvSpPr>
            <p:cNvPr id="804" name="Google Shape;804;p51"/>
            <p:cNvSpPr/>
            <p:nvPr/>
          </p:nvSpPr>
          <p:spPr>
            <a:xfrm>
              <a:off x="2895900" y="2233925"/>
              <a:ext cx="218400" cy="218400"/>
            </a:xfrm>
            <a:prstGeom prst="ellipse">
              <a:avLst/>
            </a:prstGeom>
            <a:solidFill>
              <a:srgbClr val="F4B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1"/>
            <p:cNvSpPr txBox="1"/>
            <p:nvPr/>
          </p:nvSpPr>
          <p:spPr>
            <a:xfrm>
              <a:off x="2795550" y="2147950"/>
              <a:ext cx="419100" cy="29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50"/>
                <a:buFont typeface="Roboto"/>
                <a:buNone/>
              </a:pPr>
              <a:r>
                <a:rPr b="1" lang="en">
                  <a:solidFill>
                    <a:srgbClr val="FFFFFF"/>
                  </a:solidFill>
                  <a:latin typeface="Roboto"/>
                  <a:ea typeface="Roboto"/>
                  <a:cs typeface="Roboto"/>
                  <a:sym typeface="Roboto"/>
                </a:rPr>
                <a:t>3</a:t>
              </a:r>
              <a:endParaRPr/>
            </a:p>
          </p:txBody>
        </p:sp>
      </p:grpSp>
      <p:grpSp>
        <p:nvGrpSpPr>
          <p:cNvPr id="806" name="Google Shape;806;p51"/>
          <p:cNvGrpSpPr/>
          <p:nvPr/>
        </p:nvGrpSpPr>
        <p:grpSpPr>
          <a:xfrm>
            <a:off x="6501292" y="1662416"/>
            <a:ext cx="419100" cy="304375"/>
            <a:chOff x="2795550" y="2147950"/>
            <a:chExt cx="419100" cy="304375"/>
          </a:xfrm>
        </p:grpSpPr>
        <p:sp>
          <p:nvSpPr>
            <p:cNvPr id="807" name="Google Shape;807;p51"/>
            <p:cNvSpPr/>
            <p:nvPr/>
          </p:nvSpPr>
          <p:spPr>
            <a:xfrm>
              <a:off x="2895900" y="2233925"/>
              <a:ext cx="218400" cy="218400"/>
            </a:xfrm>
            <a:prstGeom prst="ellipse">
              <a:avLst/>
            </a:prstGeom>
            <a:solidFill>
              <a:srgbClr val="F4B4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51"/>
            <p:cNvSpPr txBox="1"/>
            <p:nvPr/>
          </p:nvSpPr>
          <p:spPr>
            <a:xfrm>
              <a:off x="2795550" y="2147950"/>
              <a:ext cx="419100" cy="29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50"/>
                <a:buFont typeface="Roboto"/>
                <a:buNone/>
              </a:pPr>
              <a:r>
                <a:rPr b="1" lang="en">
                  <a:solidFill>
                    <a:srgbClr val="FFFFFF"/>
                  </a:solidFill>
                  <a:latin typeface="Roboto"/>
                  <a:ea typeface="Roboto"/>
                  <a:cs typeface="Roboto"/>
                  <a:sym typeface="Roboto"/>
                </a:rPr>
                <a:t>4</a:t>
              </a:r>
              <a:endParaRPr/>
            </a:p>
          </p:txBody>
        </p:sp>
      </p:grpSp>
      <p:sp>
        <p:nvSpPr>
          <p:cNvPr id="809" name="Google Shape;809;p51"/>
          <p:cNvSpPr txBox="1"/>
          <p:nvPr>
            <p:ph type="title"/>
          </p:nvPr>
        </p:nvSpPr>
        <p:spPr>
          <a:xfrm>
            <a:off x="274325" y="91450"/>
            <a:ext cx="8682600" cy="3813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2600"/>
              <a:buNone/>
            </a:pPr>
            <a:r>
              <a:rPr lang="en"/>
              <a:t>BigQuery to ADSL: Iceberg + Fabric</a:t>
            </a:r>
            <a:endParaRPr/>
          </a:p>
        </p:txBody>
      </p:sp>
      <p:grpSp>
        <p:nvGrpSpPr>
          <p:cNvPr id="810" name="Google Shape;810;p51"/>
          <p:cNvGrpSpPr/>
          <p:nvPr/>
        </p:nvGrpSpPr>
        <p:grpSpPr>
          <a:xfrm>
            <a:off x="7180599" y="2609482"/>
            <a:ext cx="1188600" cy="382200"/>
            <a:chOff x="7208149" y="3089663"/>
            <a:chExt cx="1188600" cy="382200"/>
          </a:xfrm>
        </p:grpSpPr>
        <p:sp>
          <p:nvSpPr>
            <p:cNvPr id="811" name="Google Shape;811;p51"/>
            <p:cNvSpPr/>
            <p:nvPr/>
          </p:nvSpPr>
          <p:spPr>
            <a:xfrm>
              <a:off x="7208149" y="3089663"/>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Data Warehouse</a:t>
              </a:r>
              <a:endParaRPr sz="750">
                <a:solidFill>
                  <a:srgbClr val="212121"/>
                </a:solidFill>
                <a:latin typeface="Roboto"/>
                <a:ea typeface="Roboto"/>
                <a:cs typeface="Roboto"/>
                <a:sym typeface="Roboto"/>
              </a:endParaRPr>
            </a:p>
            <a:p>
              <a:pPr indent="0" lvl="0" marL="0" marR="0" rtl="0" algn="l">
                <a:lnSpc>
                  <a:spcPct val="113333"/>
                </a:lnSpc>
                <a:spcBef>
                  <a:spcPts val="0"/>
                </a:spcBef>
                <a:spcAft>
                  <a:spcPts val="0"/>
                </a:spcAft>
                <a:buClr>
                  <a:srgbClr val="212121"/>
                </a:buClr>
                <a:buSzPts val="188"/>
                <a:buFont typeface="Roboto"/>
                <a:buNone/>
              </a:pPr>
              <a:r>
                <a:rPr lang="en" sz="700">
                  <a:solidFill>
                    <a:srgbClr val="757575"/>
                  </a:solidFill>
                  <a:latin typeface="Roboto"/>
                  <a:ea typeface="Roboto"/>
                  <a:cs typeface="Roboto"/>
                  <a:sym typeface="Roboto"/>
                </a:rPr>
                <a:t>Snowflake</a:t>
              </a:r>
              <a:endParaRPr/>
            </a:p>
          </p:txBody>
        </p:sp>
        <p:pic>
          <p:nvPicPr>
            <p:cNvPr id="812" name="Google Shape;812;p51"/>
            <p:cNvPicPr preferRelativeResize="0"/>
            <p:nvPr/>
          </p:nvPicPr>
          <p:blipFill rotWithShape="1">
            <a:blip r:embed="rId10">
              <a:alphaModFix/>
            </a:blip>
            <a:srcRect b="0" l="0" r="0" t="0"/>
            <a:stretch/>
          </p:blipFill>
          <p:spPr>
            <a:xfrm>
              <a:off x="7222511" y="3104038"/>
              <a:ext cx="382200" cy="353258"/>
            </a:xfrm>
            <a:prstGeom prst="rect">
              <a:avLst/>
            </a:prstGeom>
            <a:noFill/>
            <a:ln>
              <a:noFill/>
            </a:ln>
          </p:spPr>
        </p:pic>
      </p:grpSp>
      <p:cxnSp>
        <p:nvCxnSpPr>
          <p:cNvPr id="813" name="Google Shape;813;p51"/>
          <p:cNvCxnSpPr>
            <a:stCxn id="771" idx="3"/>
            <a:endCxn id="779" idx="1"/>
          </p:cNvCxnSpPr>
          <p:nvPr/>
        </p:nvCxnSpPr>
        <p:spPr>
          <a:xfrm flipH="1" rot="10800000">
            <a:off x="6452841" y="2549470"/>
            <a:ext cx="521100" cy="1084800"/>
          </a:xfrm>
          <a:prstGeom prst="bentConnector3">
            <a:avLst>
              <a:gd fmla="val 50006" name="adj1"/>
            </a:avLst>
          </a:prstGeom>
          <a:noFill/>
          <a:ln cap="flat" cmpd="sng" w="28575">
            <a:solidFill>
              <a:schemeClr val="accent1"/>
            </a:solidFill>
            <a:prstDash val="solid"/>
            <a:round/>
            <a:headEnd len="med" w="med" type="none"/>
            <a:tailEnd len="med" w="med" type="stealth"/>
          </a:ln>
        </p:spPr>
      </p:cxnSp>
      <p:cxnSp>
        <p:nvCxnSpPr>
          <p:cNvPr id="814" name="Google Shape;814;p51"/>
          <p:cNvCxnSpPr>
            <a:stCxn id="775" idx="3"/>
            <a:endCxn id="779" idx="1"/>
          </p:cNvCxnSpPr>
          <p:nvPr/>
        </p:nvCxnSpPr>
        <p:spPr>
          <a:xfrm>
            <a:off x="6442057" y="1966890"/>
            <a:ext cx="531900" cy="582300"/>
          </a:xfrm>
          <a:prstGeom prst="bentConnector3">
            <a:avLst>
              <a:gd fmla="val 50004" name="adj1"/>
            </a:avLst>
          </a:prstGeom>
          <a:noFill/>
          <a:ln cap="flat" cmpd="sng" w="28575">
            <a:solidFill>
              <a:schemeClr val="accent1"/>
            </a:solidFill>
            <a:prstDash val="solid"/>
            <a:round/>
            <a:headEnd len="med" w="med" type="none"/>
            <a:tailEnd len="med" w="med" type="stealth"/>
          </a:ln>
        </p:spPr>
      </p:cxnSp>
      <p:pic>
        <p:nvPicPr>
          <p:cNvPr id="815" name="Google Shape;815;p51"/>
          <p:cNvPicPr preferRelativeResize="0"/>
          <p:nvPr/>
        </p:nvPicPr>
        <p:blipFill rotWithShape="1">
          <a:blip r:embed="rId11">
            <a:alphaModFix/>
          </a:blip>
          <a:srcRect b="0" l="0" r="0" t="0"/>
          <a:stretch/>
        </p:blipFill>
        <p:spPr>
          <a:xfrm>
            <a:off x="5032000" y="1130725"/>
            <a:ext cx="347238" cy="347238"/>
          </a:xfrm>
          <a:prstGeom prst="rect">
            <a:avLst/>
          </a:prstGeom>
          <a:noFill/>
          <a:ln>
            <a:noFill/>
          </a:ln>
        </p:spPr>
      </p:pic>
      <p:sp>
        <p:nvSpPr>
          <p:cNvPr id="793" name="Google Shape;793;p51"/>
          <p:cNvSpPr/>
          <p:nvPr/>
        </p:nvSpPr>
        <p:spPr>
          <a:xfrm>
            <a:off x="5252541" y="2872028"/>
            <a:ext cx="1188600" cy="382200"/>
          </a:xfrm>
          <a:prstGeom prst="roundRect">
            <a:avLst>
              <a:gd fmla="val 1674" name="adj"/>
            </a:avLst>
          </a:prstGeom>
          <a:solidFill>
            <a:srgbClr val="FFFFFF"/>
          </a:solidFill>
          <a:ln>
            <a:noFill/>
          </a:ln>
          <a:effectLst>
            <a:outerShdw blurRad="19050" rotWithShape="0" algn="ctr" dir="5400000" dist="6350">
              <a:srgbClr val="000000">
                <a:alpha val="44310"/>
              </a:srgbClr>
            </a:outerShdw>
          </a:effectLst>
        </p:spPr>
        <p:txBody>
          <a:bodyPr anchorCtr="0" anchor="ctr" bIns="73150" lIns="429750" spcFirstLastPara="1" rIns="45700" wrap="square" tIns="73150">
            <a:noAutofit/>
          </a:bodyPr>
          <a:lstStyle/>
          <a:p>
            <a:pPr indent="0" lvl="0" marL="0" marR="0" rtl="0" algn="l">
              <a:lnSpc>
                <a:spcPct val="113333"/>
              </a:lnSpc>
              <a:spcBef>
                <a:spcPts val="0"/>
              </a:spcBef>
              <a:spcAft>
                <a:spcPts val="0"/>
              </a:spcAft>
              <a:buClr>
                <a:srgbClr val="212121"/>
              </a:buClr>
              <a:buSzPts val="188"/>
              <a:buFont typeface="Roboto"/>
              <a:buNone/>
            </a:pPr>
            <a:r>
              <a:rPr lang="en" sz="750">
                <a:solidFill>
                  <a:srgbClr val="212121"/>
                </a:solidFill>
                <a:latin typeface="Roboto"/>
                <a:ea typeface="Roboto"/>
                <a:cs typeface="Roboto"/>
                <a:sym typeface="Roboto"/>
              </a:rPr>
              <a:t>Fabric Catalog</a:t>
            </a:r>
            <a:br>
              <a:rPr b="0" i="0" lang="en" sz="700" u="none" cap="none" strike="noStrike">
                <a:solidFill>
                  <a:srgbClr val="212121"/>
                </a:solidFill>
                <a:latin typeface="Roboto"/>
                <a:ea typeface="Roboto"/>
                <a:cs typeface="Roboto"/>
                <a:sym typeface="Roboto"/>
              </a:rPr>
            </a:br>
            <a:r>
              <a:rPr lang="en" sz="700">
                <a:solidFill>
                  <a:srgbClr val="757575"/>
                </a:solidFill>
                <a:latin typeface="Roboto"/>
                <a:ea typeface="Roboto"/>
                <a:cs typeface="Roboto"/>
                <a:sym typeface="Roboto"/>
              </a:rPr>
              <a:t>Fabric</a:t>
            </a:r>
            <a:endParaRPr/>
          </a:p>
        </p:txBody>
      </p:sp>
      <p:pic>
        <p:nvPicPr>
          <p:cNvPr id="816" name="Google Shape;816;p51"/>
          <p:cNvPicPr preferRelativeResize="0"/>
          <p:nvPr/>
        </p:nvPicPr>
        <p:blipFill rotWithShape="1">
          <a:blip r:embed="rId12">
            <a:alphaModFix/>
          </a:blip>
          <a:srcRect b="0" l="0" r="0" t="0"/>
          <a:stretch/>
        </p:blipFill>
        <p:spPr>
          <a:xfrm>
            <a:off x="5287025" y="2901250"/>
            <a:ext cx="304375" cy="304375"/>
          </a:xfrm>
          <a:prstGeom prst="rect">
            <a:avLst/>
          </a:prstGeom>
          <a:noFill/>
          <a:ln>
            <a:noFill/>
          </a:ln>
        </p:spPr>
      </p:pic>
      <p:cxnSp>
        <p:nvCxnSpPr>
          <p:cNvPr id="817" name="Google Shape;817;p51"/>
          <p:cNvCxnSpPr>
            <a:stCxn id="793" idx="2"/>
            <a:endCxn id="771" idx="0"/>
          </p:cNvCxnSpPr>
          <p:nvPr/>
        </p:nvCxnSpPr>
        <p:spPr>
          <a:xfrm>
            <a:off x="5846841" y="3254228"/>
            <a:ext cx="0" cy="185100"/>
          </a:xfrm>
          <a:prstGeom prst="straightConnector1">
            <a:avLst/>
          </a:prstGeom>
          <a:noFill/>
          <a:ln cap="flat" cmpd="sng" w="28575">
            <a:solidFill>
              <a:schemeClr val="accent1"/>
            </a:solidFill>
            <a:prstDash val="solid"/>
            <a:round/>
            <a:headEnd len="med" w="med" type="none"/>
            <a:tailEnd len="med" w="med" type="stealth"/>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52"/>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Architecture Diagrams</a:t>
            </a:r>
            <a:endParaRPr/>
          </a:p>
        </p:txBody>
      </p:sp>
      <p:sp>
        <p:nvSpPr>
          <p:cNvPr id="823" name="Google Shape;823;p52"/>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Architecture Diagrams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53"/>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Data Sharing From GCP to AWS</a:t>
            </a:r>
            <a:endParaRPr/>
          </a:p>
        </p:txBody>
      </p:sp>
      <p:pic>
        <p:nvPicPr>
          <p:cNvPr id="829" name="Google Shape;829;p53" title="gcp-iceberg-gcp.png"/>
          <p:cNvPicPr preferRelativeResize="0"/>
          <p:nvPr/>
        </p:nvPicPr>
        <p:blipFill>
          <a:blip r:embed="rId3">
            <a:alphaModFix/>
          </a:blip>
          <a:stretch>
            <a:fillRect/>
          </a:stretch>
        </p:blipFill>
        <p:spPr>
          <a:xfrm>
            <a:off x="117725" y="598256"/>
            <a:ext cx="8839204" cy="20544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54"/>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Borrowed Slides</a:t>
            </a:r>
            <a:endParaRPr/>
          </a:p>
        </p:txBody>
      </p:sp>
      <p:sp>
        <p:nvSpPr>
          <p:cNvPr id="835" name="Google Shape;835;p54"/>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Borrowed Slides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55"/>
          <p:cNvSpPr txBox="1"/>
          <p:nvPr>
            <p:ph type="title"/>
          </p:nvPr>
        </p:nvSpPr>
        <p:spPr>
          <a:xfrm>
            <a:off x="274325" y="91450"/>
            <a:ext cx="8682600" cy="3813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1000"/>
              </a:spcAft>
              <a:buSzPts val="2000"/>
              <a:buNone/>
            </a:pPr>
            <a:r>
              <a:rPr lang="en"/>
              <a:t>CSP PRODUCT MAPPING TO SNOW WORKLOADS</a:t>
            </a:r>
            <a:endParaRPr/>
          </a:p>
        </p:txBody>
      </p:sp>
      <p:sp>
        <p:nvSpPr>
          <p:cNvPr id="841" name="Google Shape;841;p55"/>
          <p:cNvSpPr/>
          <p:nvPr/>
        </p:nvSpPr>
        <p:spPr>
          <a:xfrm>
            <a:off x="5216649" y="830151"/>
            <a:ext cx="1629300" cy="1527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None/>
            </a:pPr>
            <a:r>
              <a:rPr b="1" lang="en" sz="1000">
                <a:solidFill>
                  <a:srgbClr val="262626"/>
                </a:solidFill>
              </a:rPr>
              <a:t>GCP</a:t>
            </a:r>
            <a:r>
              <a:rPr b="1" i="0" lang="en" sz="1000" u="none" cap="none" strike="noStrike">
                <a:solidFill>
                  <a:srgbClr val="262626"/>
                </a:solidFill>
                <a:latin typeface="Arial"/>
                <a:ea typeface="Arial"/>
                <a:cs typeface="Arial"/>
                <a:sym typeface="Arial"/>
              </a:rPr>
              <a:t> Products		</a:t>
            </a:r>
            <a:endParaRPr b="1" i="0" sz="1000" u="none" cap="none" strike="noStrike">
              <a:solidFill>
                <a:srgbClr val="262626"/>
              </a:solidFill>
              <a:latin typeface="Arial"/>
              <a:ea typeface="Arial"/>
              <a:cs typeface="Arial"/>
              <a:sym typeface="Arial"/>
            </a:endParaRPr>
          </a:p>
        </p:txBody>
      </p:sp>
      <p:sp>
        <p:nvSpPr>
          <p:cNvPr id="842" name="Google Shape;842;p55"/>
          <p:cNvSpPr/>
          <p:nvPr/>
        </p:nvSpPr>
        <p:spPr>
          <a:xfrm>
            <a:off x="1028724" y="1047654"/>
            <a:ext cx="1097400" cy="37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 sz="900" u="none" cap="none" strike="noStrike">
                <a:solidFill>
                  <a:srgbClr val="262626"/>
                </a:solidFill>
                <a:latin typeface="Arial"/>
                <a:ea typeface="Arial"/>
                <a:cs typeface="Arial"/>
                <a:sym typeface="Arial"/>
              </a:rPr>
              <a:t>Data Engineering</a:t>
            </a:r>
            <a:endParaRPr b="1" i="0" sz="900" u="none" cap="none" strike="noStrike">
              <a:solidFill>
                <a:srgbClr val="262626"/>
              </a:solidFill>
              <a:latin typeface="Arial"/>
              <a:ea typeface="Arial"/>
              <a:cs typeface="Arial"/>
              <a:sym typeface="Arial"/>
            </a:endParaRPr>
          </a:p>
        </p:txBody>
      </p:sp>
      <p:sp>
        <p:nvSpPr>
          <p:cNvPr id="843" name="Google Shape;843;p55"/>
          <p:cNvSpPr/>
          <p:nvPr/>
        </p:nvSpPr>
        <p:spPr>
          <a:xfrm>
            <a:off x="1028724" y="1673328"/>
            <a:ext cx="1097400" cy="37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 sz="900" u="none" cap="none" strike="noStrike">
                <a:solidFill>
                  <a:srgbClr val="262626"/>
                </a:solidFill>
                <a:latin typeface="Arial"/>
                <a:ea typeface="Arial"/>
                <a:cs typeface="Arial"/>
                <a:sym typeface="Arial"/>
              </a:rPr>
              <a:t>Analytics</a:t>
            </a:r>
            <a:endParaRPr b="1" i="0" sz="900" u="none" cap="none" strike="noStrike">
              <a:solidFill>
                <a:srgbClr val="262626"/>
              </a:solidFill>
              <a:latin typeface="Arial"/>
              <a:ea typeface="Arial"/>
              <a:cs typeface="Arial"/>
              <a:sym typeface="Arial"/>
            </a:endParaRPr>
          </a:p>
        </p:txBody>
      </p:sp>
      <p:sp>
        <p:nvSpPr>
          <p:cNvPr id="844" name="Google Shape;844;p55"/>
          <p:cNvSpPr/>
          <p:nvPr/>
        </p:nvSpPr>
        <p:spPr>
          <a:xfrm>
            <a:off x="1028712" y="2295282"/>
            <a:ext cx="1097400" cy="36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 sz="900" u="none" cap="none" strike="noStrike">
                <a:solidFill>
                  <a:srgbClr val="262626"/>
                </a:solidFill>
                <a:latin typeface="Arial"/>
                <a:ea typeface="Arial"/>
                <a:cs typeface="Arial"/>
                <a:sym typeface="Arial"/>
              </a:rPr>
              <a:t>AI &amp; ML</a:t>
            </a:r>
            <a:endParaRPr b="1" i="0" sz="900" u="none" cap="none" strike="noStrike">
              <a:solidFill>
                <a:srgbClr val="262626"/>
              </a:solidFill>
              <a:latin typeface="Arial"/>
              <a:ea typeface="Arial"/>
              <a:cs typeface="Arial"/>
              <a:sym typeface="Arial"/>
            </a:endParaRPr>
          </a:p>
        </p:txBody>
      </p:sp>
      <p:sp>
        <p:nvSpPr>
          <p:cNvPr id="845" name="Google Shape;845;p55"/>
          <p:cNvSpPr/>
          <p:nvPr/>
        </p:nvSpPr>
        <p:spPr>
          <a:xfrm>
            <a:off x="1028712" y="2832778"/>
            <a:ext cx="1097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 sz="900" u="none" cap="none" strike="noStrike">
                <a:solidFill>
                  <a:srgbClr val="262626"/>
                </a:solidFill>
                <a:latin typeface="Arial"/>
                <a:ea typeface="Arial"/>
                <a:cs typeface="Arial"/>
                <a:sym typeface="Arial"/>
              </a:rPr>
              <a:t>Applications  Collaboration</a:t>
            </a:r>
            <a:endParaRPr b="1" i="0" sz="900" u="none" cap="none" strike="noStrike">
              <a:solidFill>
                <a:srgbClr val="262626"/>
              </a:solidFill>
              <a:latin typeface="Arial"/>
              <a:ea typeface="Arial"/>
              <a:cs typeface="Arial"/>
              <a:sym typeface="Arial"/>
            </a:endParaRPr>
          </a:p>
        </p:txBody>
      </p:sp>
      <p:sp>
        <p:nvSpPr>
          <p:cNvPr id="846" name="Google Shape;846;p55"/>
          <p:cNvSpPr/>
          <p:nvPr/>
        </p:nvSpPr>
        <p:spPr>
          <a:xfrm>
            <a:off x="1028712" y="3452203"/>
            <a:ext cx="1097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 sz="900" u="none" cap="none" strike="noStrike">
                <a:solidFill>
                  <a:srgbClr val="262626"/>
                </a:solidFill>
                <a:latin typeface="Arial"/>
                <a:ea typeface="Arial"/>
                <a:cs typeface="Arial"/>
                <a:sym typeface="Arial"/>
              </a:rPr>
              <a:t>Platform</a:t>
            </a:r>
            <a:endParaRPr b="1" i="0" sz="900" u="none" cap="none" strike="noStrike">
              <a:solidFill>
                <a:srgbClr val="262626"/>
              </a:solidFill>
              <a:latin typeface="Arial"/>
              <a:ea typeface="Arial"/>
              <a:cs typeface="Arial"/>
              <a:sym typeface="Arial"/>
            </a:endParaRPr>
          </a:p>
        </p:txBody>
      </p:sp>
      <p:sp>
        <p:nvSpPr>
          <p:cNvPr id="847" name="Google Shape;847;p55"/>
          <p:cNvSpPr/>
          <p:nvPr/>
        </p:nvSpPr>
        <p:spPr>
          <a:xfrm>
            <a:off x="2148874" y="1039824"/>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Ingestion</a:t>
            </a:r>
            <a:endParaRPr b="0" i="0" sz="800" u="none" cap="none" strike="noStrike">
              <a:solidFill>
                <a:srgbClr val="000000"/>
              </a:solidFill>
              <a:latin typeface="Arial"/>
              <a:ea typeface="Arial"/>
              <a:cs typeface="Arial"/>
              <a:sym typeface="Arial"/>
            </a:endParaRPr>
          </a:p>
        </p:txBody>
      </p:sp>
      <p:sp>
        <p:nvSpPr>
          <p:cNvPr id="848" name="Google Shape;848;p55"/>
          <p:cNvSpPr/>
          <p:nvPr/>
        </p:nvSpPr>
        <p:spPr>
          <a:xfrm>
            <a:off x="2148874" y="1185707"/>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Transformation</a:t>
            </a:r>
            <a:endParaRPr b="0" i="0" sz="800" u="none" cap="none" strike="noStrike">
              <a:solidFill>
                <a:srgbClr val="000000"/>
              </a:solidFill>
              <a:latin typeface="Arial"/>
              <a:ea typeface="Arial"/>
              <a:cs typeface="Arial"/>
              <a:sym typeface="Arial"/>
            </a:endParaRPr>
          </a:p>
        </p:txBody>
      </p:sp>
      <p:sp>
        <p:nvSpPr>
          <p:cNvPr id="849" name="Google Shape;849;p55"/>
          <p:cNvSpPr/>
          <p:nvPr/>
        </p:nvSpPr>
        <p:spPr>
          <a:xfrm>
            <a:off x="2148874" y="1331589"/>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Interoperable Storage</a:t>
            </a:r>
            <a:endParaRPr b="0" i="0" sz="800" u="none" cap="none" strike="noStrike">
              <a:solidFill>
                <a:srgbClr val="000000"/>
              </a:solidFill>
              <a:latin typeface="Arial"/>
              <a:ea typeface="Arial"/>
              <a:cs typeface="Arial"/>
              <a:sym typeface="Arial"/>
            </a:endParaRPr>
          </a:p>
        </p:txBody>
      </p:sp>
      <p:sp>
        <p:nvSpPr>
          <p:cNvPr id="850" name="Google Shape;850;p55"/>
          <p:cNvSpPr/>
          <p:nvPr/>
        </p:nvSpPr>
        <p:spPr>
          <a:xfrm>
            <a:off x="2148874" y="1510750"/>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Business Intelligence</a:t>
            </a:r>
            <a:endParaRPr b="0" i="0" sz="800" u="none" cap="none" strike="noStrike">
              <a:solidFill>
                <a:srgbClr val="000000"/>
              </a:solidFill>
              <a:latin typeface="Arial"/>
              <a:ea typeface="Arial"/>
              <a:cs typeface="Arial"/>
              <a:sym typeface="Arial"/>
            </a:endParaRPr>
          </a:p>
        </p:txBody>
      </p:sp>
      <p:sp>
        <p:nvSpPr>
          <p:cNvPr id="851" name="Google Shape;851;p55"/>
          <p:cNvSpPr/>
          <p:nvPr/>
        </p:nvSpPr>
        <p:spPr>
          <a:xfrm>
            <a:off x="2148874" y="1656632"/>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Lakehouse Analytics</a:t>
            </a:r>
            <a:endParaRPr b="0" i="0" sz="800" u="none" cap="none" strike="noStrike">
              <a:solidFill>
                <a:srgbClr val="000000"/>
              </a:solidFill>
              <a:latin typeface="Arial"/>
              <a:ea typeface="Arial"/>
              <a:cs typeface="Arial"/>
              <a:sym typeface="Arial"/>
            </a:endParaRPr>
          </a:p>
        </p:txBody>
      </p:sp>
      <p:sp>
        <p:nvSpPr>
          <p:cNvPr id="852" name="Google Shape;852;p55"/>
          <p:cNvSpPr/>
          <p:nvPr/>
        </p:nvSpPr>
        <p:spPr>
          <a:xfrm>
            <a:off x="2148874" y="2273440"/>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Unstructured data insights</a:t>
            </a:r>
            <a:endParaRPr b="0" i="0" sz="800" u="none" cap="none" strike="noStrike">
              <a:solidFill>
                <a:srgbClr val="000000"/>
              </a:solidFill>
              <a:latin typeface="Arial"/>
              <a:ea typeface="Arial"/>
              <a:cs typeface="Arial"/>
              <a:sym typeface="Arial"/>
            </a:endParaRPr>
          </a:p>
        </p:txBody>
      </p:sp>
      <p:sp>
        <p:nvSpPr>
          <p:cNvPr id="853" name="Google Shape;853;p55"/>
          <p:cNvSpPr/>
          <p:nvPr/>
        </p:nvSpPr>
        <p:spPr>
          <a:xfrm>
            <a:off x="2148874" y="2419322"/>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Conversational assistants</a:t>
            </a:r>
            <a:endParaRPr b="0" i="0" sz="800" u="none" cap="none" strike="noStrike">
              <a:solidFill>
                <a:srgbClr val="000000"/>
              </a:solidFill>
              <a:latin typeface="Arial"/>
              <a:ea typeface="Arial"/>
              <a:cs typeface="Arial"/>
              <a:sym typeface="Arial"/>
            </a:endParaRPr>
          </a:p>
        </p:txBody>
      </p:sp>
      <p:sp>
        <p:nvSpPr>
          <p:cNvPr id="854" name="Google Shape;854;p55"/>
          <p:cNvSpPr/>
          <p:nvPr/>
        </p:nvSpPr>
        <p:spPr>
          <a:xfrm>
            <a:off x="2148874" y="2565205"/>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Model development</a:t>
            </a:r>
            <a:endParaRPr b="0" i="0" sz="800" u="none" cap="none" strike="noStrike">
              <a:solidFill>
                <a:srgbClr val="000000"/>
              </a:solidFill>
              <a:latin typeface="Arial"/>
              <a:ea typeface="Arial"/>
              <a:cs typeface="Arial"/>
              <a:sym typeface="Arial"/>
            </a:endParaRPr>
          </a:p>
        </p:txBody>
      </p:sp>
      <p:sp>
        <p:nvSpPr>
          <p:cNvPr id="855" name="Google Shape;855;p55"/>
          <p:cNvSpPr/>
          <p:nvPr/>
        </p:nvSpPr>
        <p:spPr>
          <a:xfrm>
            <a:off x="2148874" y="2890248"/>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Business Efficiency</a:t>
            </a:r>
            <a:endParaRPr b="0" i="0" sz="800" u="none" cap="none" strike="noStrike">
              <a:solidFill>
                <a:srgbClr val="000000"/>
              </a:solidFill>
              <a:latin typeface="Arial"/>
              <a:ea typeface="Arial"/>
              <a:cs typeface="Arial"/>
              <a:sym typeface="Arial"/>
            </a:endParaRPr>
          </a:p>
        </p:txBody>
      </p:sp>
      <p:sp>
        <p:nvSpPr>
          <p:cNvPr id="856" name="Google Shape;856;p55"/>
          <p:cNvSpPr/>
          <p:nvPr/>
        </p:nvSpPr>
        <p:spPr>
          <a:xfrm>
            <a:off x="2148874" y="3036130"/>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Build</a:t>
            </a:r>
            <a:endParaRPr b="0" i="0" sz="800" u="none" cap="none" strike="noStrike">
              <a:solidFill>
                <a:srgbClr val="000000"/>
              </a:solidFill>
              <a:latin typeface="Arial"/>
              <a:ea typeface="Arial"/>
              <a:cs typeface="Arial"/>
              <a:sym typeface="Arial"/>
            </a:endParaRPr>
          </a:p>
        </p:txBody>
      </p:sp>
      <p:sp>
        <p:nvSpPr>
          <p:cNvPr id="857" name="Google Shape;857;p55"/>
          <p:cNvSpPr/>
          <p:nvPr/>
        </p:nvSpPr>
        <p:spPr>
          <a:xfrm>
            <a:off x="2148874" y="3182013"/>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Commercialize</a:t>
            </a:r>
            <a:endParaRPr b="0" i="0" sz="800" u="none" cap="none" strike="noStrike">
              <a:solidFill>
                <a:srgbClr val="000000"/>
              </a:solidFill>
              <a:latin typeface="Arial"/>
              <a:ea typeface="Arial"/>
              <a:cs typeface="Arial"/>
              <a:sym typeface="Arial"/>
            </a:endParaRPr>
          </a:p>
        </p:txBody>
      </p:sp>
      <p:sp>
        <p:nvSpPr>
          <p:cNvPr id="858" name="Google Shape;858;p55"/>
          <p:cNvSpPr/>
          <p:nvPr/>
        </p:nvSpPr>
        <p:spPr>
          <a:xfrm>
            <a:off x="2148874" y="3361173"/>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Compliance, Security, Discovery &amp; Governance</a:t>
            </a:r>
            <a:endParaRPr b="0" i="0" sz="800" u="none" cap="none" strike="noStrike">
              <a:solidFill>
                <a:srgbClr val="000000"/>
              </a:solidFill>
              <a:latin typeface="Arial"/>
              <a:ea typeface="Arial"/>
              <a:cs typeface="Arial"/>
              <a:sym typeface="Arial"/>
            </a:endParaRPr>
          </a:p>
        </p:txBody>
      </p:sp>
      <p:sp>
        <p:nvSpPr>
          <p:cNvPr id="859" name="Google Shape;859;p55"/>
          <p:cNvSpPr/>
          <p:nvPr/>
        </p:nvSpPr>
        <p:spPr>
          <a:xfrm>
            <a:off x="2148874" y="3507056"/>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Cost Governance</a:t>
            </a:r>
            <a:endParaRPr b="0" i="0" sz="800" u="none" cap="none" strike="noStrike">
              <a:solidFill>
                <a:srgbClr val="000000"/>
              </a:solidFill>
              <a:latin typeface="Arial"/>
              <a:ea typeface="Arial"/>
              <a:cs typeface="Arial"/>
              <a:sym typeface="Arial"/>
            </a:endParaRPr>
          </a:p>
        </p:txBody>
      </p:sp>
      <p:sp>
        <p:nvSpPr>
          <p:cNvPr id="860" name="Google Shape;860;p55"/>
          <p:cNvSpPr/>
          <p:nvPr/>
        </p:nvSpPr>
        <p:spPr>
          <a:xfrm>
            <a:off x="2148874" y="3652938"/>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Observability</a:t>
            </a:r>
            <a:endParaRPr b="0" i="0" sz="800" u="none" cap="none" strike="noStrike">
              <a:solidFill>
                <a:srgbClr val="000000"/>
              </a:solidFill>
              <a:latin typeface="Arial"/>
              <a:ea typeface="Arial"/>
              <a:cs typeface="Arial"/>
              <a:sym typeface="Arial"/>
            </a:endParaRPr>
          </a:p>
        </p:txBody>
      </p:sp>
      <p:cxnSp>
        <p:nvCxnSpPr>
          <p:cNvPr id="861" name="Google Shape;861;p55"/>
          <p:cNvCxnSpPr/>
          <p:nvPr/>
        </p:nvCxnSpPr>
        <p:spPr>
          <a:xfrm>
            <a:off x="404525" y="1478196"/>
            <a:ext cx="8193000" cy="0"/>
          </a:xfrm>
          <a:prstGeom prst="straightConnector1">
            <a:avLst/>
          </a:prstGeom>
          <a:noFill/>
          <a:ln cap="flat" cmpd="sng" w="9525">
            <a:solidFill>
              <a:srgbClr val="252525"/>
            </a:solidFill>
            <a:prstDash val="solid"/>
            <a:round/>
            <a:headEnd len="sm" w="sm" type="none"/>
            <a:tailEnd len="sm" w="sm" type="none"/>
          </a:ln>
        </p:spPr>
      </p:cxnSp>
      <p:cxnSp>
        <p:nvCxnSpPr>
          <p:cNvPr id="862" name="Google Shape;862;p55"/>
          <p:cNvCxnSpPr/>
          <p:nvPr/>
        </p:nvCxnSpPr>
        <p:spPr>
          <a:xfrm>
            <a:off x="404525" y="2240568"/>
            <a:ext cx="8193000" cy="0"/>
          </a:xfrm>
          <a:prstGeom prst="straightConnector1">
            <a:avLst/>
          </a:prstGeom>
          <a:noFill/>
          <a:ln cap="flat" cmpd="sng" w="9525">
            <a:solidFill>
              <a:srgbClr val="252525"/>
            </a:solidFill>
            <a:prstDash val="solid"/>
            <a:round/>
            <a:headEnd len="sm" w="sm" type="none"/>
            <a:tailEnd len="sm" w="sm" type="none"/>
          </a:ln>
        </p:spPr>
      </p:cxnSp>
      <p:cxnSp>
        <p:nvCxnSpPr>
          <p:cNvPr id="863" name="Google Shape;863;p55"/>
          <p:cNvCxnSpPr/>
          <p:nvPr/>
        </p:nvCxnSpPr>
        <p:spPr>
          <a:xfrm>
            <a:off x="404525" y="2710698"/>
            <a:ext cx="8193000" cy="0"/>
          </a:xfrm>
          <a:prstGeom prst="straightConnector1">
            <a:avLst/>
          </a:prstGeom>
          <a:noFill/>
          <a:ln cap="flat" cmpd="sng" w="9525">
            <a:solidFill>
              <a:srgbClr val="252525"/>
            </a:solidFill>
            <a:prstDash val="solid"/>
            <a:round/>
            <a:headEnd len="sm" w="sm" type="none"/>
            <a:tailEnd len="sm" w="sm" type="none"/>
          </a:ln>
        </p:spPr>
      </p:cxnSp>
      <p:cxnSp>
        <p:nvCxnSpPr>
          <p:cNvPr id="864" name="Google Shape;864;p55"/>
          <p:cNvCxnSpPr/>
          <p:nvPr/>
        </p:nvCxnSpPr>
        <p:spPr>
          <a:xfrm>
            <a:off x="404525" y="3326949"/>
            <a:ext cx="8193000" cy="0"/>
          </a:xfrm>
          <a:prstGeom prst="straightConnector1">
            <a:avLst/>
          </a:prstGeom>
          <a:noFill/>
          <a:ln cap="flat" cmpd="sng" w="9525">
            <a:solidFill>
              <a:srgbClr val="252525"/>
            </a:solidFill>
            <a:prstDash val="solid"/>
            <a:round/>
            <a:headEnd len="sm" w="sm" type="none"/>
            <a:tailEnd len="sm" w="sm" type="none"/>
          </a:ln>
        </p:spPr>
      </p:cxnSp>
      <p:sp>
        <p:nvSpPr>
          <p:cNvPr id="865" name="Google Shape;865;p55"/>
          <p:cNvSpPr/>
          <p:nvPr/>
        </p:nvSpPr>
        <p:spPr>
          <a:xfrm>
            <a:off x="2148874" y="3798820"/>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Storage</a:t>
            </a:r>
            <a:endParaRPr b="0" i="0" sz="800" u="none" cap="none" strike="noStrike">
              <a:solidFill>
                <a:srgbClr val="000000"/>
              </a:solidFill>
              <a:latin typeface="Arial"/>
              <a:ea typeface="Arial"/>
              <a:cs typeface="Arial"/>
              <a:sym typeface="Arial"/>
            </a:endParaRPr>
          </a:p>
        </p:txBody>
      </p:sp>
      <p:sp>
        <p:nvSpPr>
          <p:cNvPr id="866" name="Google Shape;866;p55"/>
          <p:cNvSpPr/>
          <p:nvPr/>
        </p:nvSpPr>
        <p:spPr>
          <a:xfrm>
            <a:off x="457199" y="830151"/>
            <a:ext cx="1668900" cy="1365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None/>
            </a:pPr>
            <a:r>
              <a:rPr b="1" i="0" lang="en" sz="900" u="none" cap="none" strike="noStrike">
                <a:solidFill>
                  <a:srgbClr val="262626"/>
                </a:solidFill>
                <a:latin typeface="Arial"/>
                <a:ea typeface="Arial"/>
                <a:cs typeface="Arial"/>
                <a:sym typeface="Arial"/>
              </a:rPr>
              <a:t>Product category</a:t>
            </a:r>
            <a:endParaRPr b="1" i="0" sz="900" u="none" cap="none" strike="noStrike">
              <a:solidFill>
                <a:srgbClr val="262626"/>
              </a:solidFill>
              <a:latin typeface="Arial"/>
              <a:ea typeface="Arial"/>
              <a:cs typeface="Arial"/>
              <a:sym typeface="Arial"/>
            </a:endParaRPr>
          </a:p>
        </p:txBody>
      </p:sp>
      <p:sp>
        <p:nvSpPr>
          <p:cNvPr id="867" name="Google Shape;867;p55"/>
          <p:cNvSpPr/>
          <p:nvPr/>
        </p:nvSpPr>
        <p:spPr>
          <a:xfrm>
            <a:off x="2148873" y="830150"/>
            <a:ext cx="2377500" cy="136500"/>
          </a:xfrm>
          <a:prstGeom prst="rect">
            <a:avLst/>
          </a:prstGeom>
          <a:noFill/>
          <a:ln>
            <a:noFill/>
          </a:ln>
        </p:spPr>
        <p:txBody>
          <a:bodyPr anchorCtr="0" anchor="ctr" bIns="45700" lIns="45700" spcFirstLastPara="1" rIns="45700" wrap="square" tIns="45700">
            <a:noAutofit/>
          </a:bodyPr>
          <a:lstStyle/>
          <a:p>
            <a:pPr indent="0" lvl="0" marL="0" marR="0" rtl="0" algn="l">
              <a:spcBef>
                <a:spcPts val="0"/>
              </a:spcBef>
              <a:spcAft>
                <a:spcPts val="0"/>
              </a:spcAft>
              <a:buNone/>
            </a:pPr>
            <a:r>
              <a:rPr b="1" i="0" lang="en" sz="900" u="none" cap="none" strike="noStrike">
                <a:solidFill>
                  <a:srgbClr val="262626"/>
                </a:solidFill>
                <a:latin typeface="Arial"/>
                <a:ea typeface="Arial"/>
                <a:cs typeface="Arial"/>
                <a:sym typeface="Arial"/>
              </a:rPr>
              <a:t>Use cases</a:t>
            </a:r>
            <a:endParaRPr b="1" baseline="30000" i="0" sz="900" u="none" cap="none" strike="noStrike">
              <a:solidFill>
                <a:srgbClr val="262626"/>
              </a:solidFill>
              <a:latin typeface="Arial"/>
              <a:ea typeface="Arial"/>
              <a:cs typeface="Arial"/>
              <a:sym typeface="Arial"/>
            </a:endParaRPr>
          </a:p>
        </p:txBody>
      </p:sp>
      <p:cxnSp>
        <p:nvCxnSpPr>
          <p:cNvPr id="868" name="Google Shape;868;p55"/>
          <p:cNvCxnSpPr/>
          <p:nvPr/>
        </p:nvCxnSpPr>
        <p:spPr>
          <a:xfrm>
            <a:off x="404525" y="989217"/>
            <a:ext cx="8193000" cy="0"/>
          </a:xfrm>
          <a:prstGeom prst="straightConnector1">
            <a:avLst/>
          </a:prstGeom>
          <a:noFill/>
          <a:ln cap="flat" cmpd="sng" w="9525">
            <a:solidFill>
              <a:srgbClr val="252525"/>
            </a:solidFill>
            <a:prstDash val="solid"/>
            <a:round/>
            <a:headEnd len="sm" w="sm" type="none"/>
            <a:tailEnd len="sm" w="sm" type="none"/>
          </a:ln>
        </p:spPr>
      </p:cxnSp>
      <p:sp>
        <p:nvSpPr>
          <p:cNvPr id="869" name="Google Shape;869;p55"/>
          <p:cNvSpPr/>
          <p:nvPr/>
        </p:nvSpPr>
        <p:spPr>
          <a:xfrm>
            <a:off x="2148874" y="1802515"/>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Powered By Analytics</a:t>
            </a:r>
            <a:endParaRPr b="0" i="0" sz="800" u="none" cap="none" strike="noStrike">
              <a:solidFill>
                <a:srgbClr val="000000"/>
              </a:solidFill>
              <a:latin typeface="Arial"/>
              <a:ea typeface="Arial"/>
              <a:cs typeface="Arial"/>
              <a:sym typeface="Arial"/>
            </a:endParaRPr>
          </a:p>
        </p:txBody>
      </p:sp>
      <p:sp>
        <p:nvSpPr>
          <p:cNvPr id="870" name="Google Shape;870;p55"/>
          <p:cNvSpPr/>
          <p:nvPr/>
        </p:nvSpPr>
        <p:spPr>
          <a:xfrm>
            <a:off x="2148874" y="1948397"/>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Advanced Analytics</a:t>
            </a:r>
            <a:endParaRPr b="0" i="0" sz="800" u="none" cap="none" strike="noStrike">
              <a:solidFill>
                <a:srgbClr val="000000"/>
              </a:solidFill>
              <a:latin typeface="Arial"/>
              <a:ea typeface="Arial"/>
              <a:cs typeface="Arial"/>
              <a:sym typeface="Arial"/>
            </a:endParaRPr>
          </a:p>
        </p:txBody>
      </p:sp>
      <p:sp>
        <p:nvSpPr>
          <p:cNvPr id="871" name="Google Shape;871;p55"/>
          <p:cNvSpPr/>
          <p:nvPr/>
        </p:nvSpPr>
        <p:spPr>
          <a:xfrm>
            <a:off x="2148874" y="2094279"/>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 Migrations </a:t>
            </a:r>
            <a:endParaRPr b="0" i="0" sz="800" u="none" cap="none" strike="noStrike">
              <a:solidFill>
                <a:srgbClr val="000000"/>
              </a:solidFill>
              <a:latin typeface="Arial"/>
              <a:ea typeface="Arial"/>
              <a:cs typeface="Arial"/>
              <a:sym typeface="Arial"/>
            </a:endParaRPr>
          </a:p>
        </p:txBody>
      </p:sp>
      <p:sp>
        <p:nvSpPr>
          <p:cNvPr id="872" name="Google Shape;872;p55"/>
          <p:cNvSpPr/>
          <p:nvPr/>
        </p:nvSpPr>
        <p:spPr>
          <a:xfrm>
            <a:off x="2148874" y="2744365"/>
            <a:ext cx="2876100" cy="112500"/>
          </a:xfrm>
          <a:prstGeom prst="roundRect">
            <a:avLst>
              <a:gd fmla="val 16667" name="adj"/>
            </a:avLst>
          </a:prstGeom>
          <a:solidFill>
            <a:srgbClr val="D3EFFA"/>
          </a:solidFill>
          <a:ln cap="flat" cmpd="sng" w="9525">
            <a:solidFill>
              <a:srgbClr val="D3EFFA"/>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rPr b="0" i="0" lang="en" sz="800" u="none" cap="none" strike="noStrike">
                <a:solidFill>
                  <a:srgbClr val="262626"/>
                </a:solidFill>
                <a:latin typeface="Arial"/>
                <a:ea typeface="Arial"/>
                <a:cs typeface="Arial"/>
                <a:sym typeface="Arial"/>
              </a:rPr>
              <a:t>Internal Collaboration</a:t>
            </a:r>
            <a:endParaRPr b="0" i="0" sz="800" u="none" cap="none" strike="noStrike">
              <a:solidFill>
                <a:srgbClr val="000000"/>
              </a:solidFill>
              <a:latin typeface="Arial"/>
              <a:ea typeface="Arial"/>
              <a:cs typeface="Arial"/>
              <a:sym typeface="Arial"/>
            </a:endParaRPr>
          </a:p>
        </p:txBody>
      </p:sp>
      <p:sp>
        <p:nvSpPr>
          <p:cNvPr id="873" name="Google Shape;873;p55"/>
          <p:cNvSpPr/>
          <p:nvPr/>
        </p:nvSpPr>
        <p:spPr>
          <a:xfrm>
            <a:off x="5216649" y="1039824"/>
            <a:ext cx="3329700" cy="406500"/>
          </a:xfrm>
          <a:prstGeom prst="roundRect">
            <a:avLst>
              <a:gd fmla="val 16667" name="adj"/>
            </a:avLst>
          </a:prstGeom>
          <a:solidFill>
            <a:srgbClr val="F2F2F2"/>
          </a:solidFill>
          <a:ln cap="flat" cmpd="sng" w="9525">
            <a:solidFill>
              <a:srgbClr val="F2F2F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15000"/>
              </a:lnSpc>
              <a:spcBef>
                <a:spcPts val="0"/>
              </a:spcBef>
              <a:spcAft>
                <a:spcPts val="0"/>
              </a:spcAft>
              <a:buNone/>
            </a:pPr>
            <a:r>
              <a:rPr lang="en" sz="800">
                <a:solidFill>
                  <a:srgbClr val="262626"/>
                </a:solidFill>
              </a:rPr>
              <a:t>Data Fusion, Datastream, Storage Transfer Service</a:t>
            </a:r>
            <a:endParaRPr sz="800">
              <a:solidFill>
                <a:srgbClr val="262626"/>
              </a:solidFill>
            </a:endParaRPr>
          </a:p>
          <a:p>
            <a:pPr indent="0" lvl="0" marL="0" marR="0" rtl="0" algn="l">
              <a:lnSpc>
                <a:spcPct val="115000"/>
              </a:lnSpc>
              <a:spcBef>
                <a:spcPts val="0"/>
              </a:spcBef>
              <a:spcAft>
                <a:spcPts val="0"/>
              </a:spcAft>
              <a:buNone/>
            </a:pPr>
            <a:r>
              <a:rPr lang="en" sz="800">
                <a:solidFill>
                  <a:srgbClr val="262626"/>
                </a:solidFill>
                <a:highlight>
                  <a:srgbClr val="6AA84F"/>
                </a:highlight>
              </a:rPr>
              <a:t>Dataflow, Dataproc</a:t>
            </a:r>
            <a:endParaRPr b="0" i="0" sz="800" u="none" cap="none" strike="noStrike">
              <a:solidFill>
                <a:srgbClr val="000000"/>
              </a:solidFill>
              <a:highlight>
                <a:srgbClr val="6AA84F"/>
              </a:highlight>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rPr>
              <a:t>BigLake</a:t>
            </a:r>
            <a:endParaRPr b="0" i="0" sz="800" u="none" cap="none" strike="noStrike">
              <a:solidFill>
                <a:srgbClr val="000000"/>
              </a:solidFill>
              <a:latin typeface="Arial"/>
              <a:ea typeface="Arial"/>
              <a:cs typeface="Arial"/>
              <a:sym typeface="Arial"/>
            </a:endParaRPr>
          </a:p>
        </p:txBody>
      </p:sp>
      <p:sp>
        <p:nvSpPr>
          <p:cNvPr id="874" name="Google Shape;874;p55"/>
          <p:cNvSpPr/>
          <p:nvPr/>
        </p:nvSpPr>
        <p:spPr>
          <a:xfrm>
            <a:off x="5216525" y="1489487"/>
            <a:ext cx="3329700" cy="739800"/>
          </a:xfrm>
          <a:prstGeom prst="roundRect">
            <a:avLst>
              <a:gd fmla="val 10959" name="adj"/>
            </a:avLst>
          </a:prstGeom>
          <a:solidFill>
            <a:srgbClr val="F2F2F2"/>
          </a:solidFill>
          <a:ln cap="flat" cmpd="sng" w="9525">
            <a:solidFill>
              <a:srgbClr val="F2F2F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15000"/>
              </a:lnSpc>
              <a:spcBef>
                <a:spcPts val="0"/>
              </a:spcBef>
              <a:spcAft>
                <a:spcPts val="0"/>
              </a:spcAft>
              <a:buNone/>
            </a:pPr>
            <a:r>
              <a:rPr b="0" i="0" lang="en" sz="800" u="none" cap="none" strike="noStrike">
                <a:solidFill>
                  <a:srgbClr val="262626"/>
                </a:solidFill>
                <a:highlight>
                  <a:srgbClr val="6AA84F"/>
                </a:highlight>
                <a:latin typeface="Arial"/>
                <a:ea typeface="Arial"/>
                <a:cs typeface="Arial"/>
                <a:sym typeface="Arial"/>
              </a:rPr>
              <a:t>Looker,</a:t>
            </a:r>
            <a:r>
              <a:rPr b="0" i="0" lang="en" sz="800" u="none" cap="none" strike="noStrike">
                <a:solidFill>
                  <a:srgbClr val="262626"/>
                </a:solidFill>
                <a:latin typeface="Arial"/>
                <a:ea typeface="Arial"/>
                <a:cs typeface="Arial"/>
                <a:sym typeface="Arial"/>
              </a:rPr>
              <a:t> </a:t>
            </a:r>
            <a:endParaRPr b="0" i="0" sz="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highlight>
                  <a:srgbClr val="6AA84F"/>
                </a:highlight>
              </a:rPr>
              <a:t>BigLake</a:t>
            </a:r>
            <a:br>
              <a:rPr b="0" i="0" lang="en" sz="800" u="none" cap="none" strike="noStrike">
                <a:solidFill>
                  <a:srgbClr val="262626"/>
                </a:solidFill>
                <a:latin typeface="Arial"/>
                <a:ea typeface="Arial"/>
                <a:cs typeface="Arial"/>
                <a:sym typeface="Arial"/>
              </a:rPr>
            </a:br>
            <a:r>
              <a:rPr b="0" i="0" lang="en" sz="800" u="none" cap="none" strike="noStrike">
                <a:solidFill>
                  <a:srgbClr val="262626"/>
                </a:solidFill>
                <a:highlight>
                  <a:srgbClr val="6AA84F"/>
                </a:highlight>
                <a:latin typeface="Arial"/>
                <a:ea typeface="Arial"/>
                <a:cs typeface="Arial"/>
                <a:sym typeface="Arial"/>
              </a:rPr>
              <a:t>BigQuery</a:t>
            </a:r>
            <a:endParaRPr b="0" i="0" sz="800" u="none" cap="none" strike="noStrike">
              <a:solidFill>
                <a:srgbClr val="262626"/>
              </a:solidFill>
              <a:highlight>
                <a:srgbClr val="6AA84F"/>
              </a:highlight>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rPr>
              <a:t>Vertex AI Notebooks, BigQuery ML, Colab</a:t>
            </a:r>
            <a:endParaRPr b="0" i="0" sz="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rPr>
              <a:t>BQ Data Transfer Service, Dataform, Database Migration Service</a:t>
            </a:r>
            <a:endParaRPr b="0" i="0" sz="800" u="none" cap="none" strike="noStrike">
              <a:solidFill>
                <a:srgbClr val="262626"/>
              </a:solidFill>
              <a:latin typeface="Arial"/>
              <a:ea typeface="Arial"/>
              <a:cs typeface="Arial"/>
              <a:sym typeface="Arial"/>
            </a:endParaRPr>
          </a:p>
        </p:txBody>
      </p:sp>
      <p:sp>
        <p:nvSpPr>
          <p:cNvPr id="875" name="Google Shape;875;p55"/>
          <p:cNvSpPr/>
          <p:nvPr/>
        </p:nvSpPr>
        <p:spPr>
          <a:xfrm>
            <a:off x="5216524" y="2272321"/>
            <a:ext cx="3329700" cy="406500"/>
          </a:xfrm>
          <a:prstGeom prst="roundRect">
            <a:avLst>
              <a:gd fmla="val 16667" name="adj"/>
            </a:avLst>
          </a:prstGeom>
          <a:solidFill>
            <a:srgbClr val="F2F2F2"/>
          </a:solidFill>
          <a:ln cap="flat" cmpd="sng" w="9525">
            <a:solidFill>
              <a:srgbClr val="F2F2F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15000"/>
              </a:lnSpc>
              <a:spcBef>
                <a:spcPts val="0"/>
              </a:spcBef>
              <a:spcAft>
                <a:spcPts val="0"/>
              </a:spcAft>
              <a:buNone/>
            </a:pPr>
            <a:r>
              <a:rPr lang="en" sz="800">
                <a:solidFill>
                  <a:schemeClr val="dk1"/>
                </a:solidFill>
                <a:highlight>
                  <a:srgbClr val="6AA84F"/>
                </a:highlight>
              </a:rPr>
              <a:t>Vertex AI Studio</a:t>
            </a:r>
            <a:r>
              <a:rPr lang="en" sz="800">
                <a:solidFill>
                  <a:srgbClr val="262626"/>
                </a:solidFill>
              </a:rPr>
              <a:t>, A</a:t>
            </a:r>
            <a:r>
              <a:rPr lang="en" sz="800">
                <a:solidFill>
                  <a:srgbClr val="262626"/>
                </a:solidFill>
              </a:rPr>
              <a:t>utoML,Document AI, Vertex AI Vector Search</a:t>
            </a:r>
            <a:endParaRPr b="0" i="0" sz="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highlight>
                  <a:srgbClr val="6AA84F"/>
                </a:highlight>
              </a:rPr>
              <a:t>Gemini</a:t>
            </a:r>
            <a:r>
              <a:rPr lang="en" sz="800">
                <a:solidFill>
                  <a:srgbClr val="262626"/>
                </a:solidFill>
              </a:rPr>
              <a:t>, Conversational Insight, Conversational Agents</a:t>
            </a:r>
            <a:endParaRPr b="0" i="0" sz="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highlight>
                  <a:srgbClr val="6AA84F"/>
                </a:highlight>
              </a:rPr>
              <a:t>Vertex AI,</a:t>
            </a:r>
            <a:r>
              <a:rPr lang="en" sz="800">
                <a:solidFill>
                  <a:srgbClr val="262626"/>
                </a:solidFill>
              </a:rPr>
              <a:t> Model Garden, Colab</a:t>
            </a:r>
            <a:endParaRPr b="0" i="0" sz="800" u="none" cap="none" strike="noStrike">
              <a:solidFill>
                <a:srgbClr val="262626"/>
              </a:solidFill>
              <a:latin typeface="Arial"/>
              <a:ea typeface="Arial"/>
              <a:cs typeface="Arial"/>
              <a:sym typeface="Arial"/>
            </a:endParaRPr>
          </a:p>
        </p:txBody>
      </p:sp>
      <p:sp>
        <p:nvSpPr>
          <p:cNvPr id="876" name="Google Shape;876;p55"/>
          <p:cNvSpPr/>
          <p:nvPr/>
        </p:nvSpPr>
        <p:spPr>
          <a:xfrm>
            <a:off x="5216649" y="2743300"/>
            <a:ext cx="3329700" cy="546900"/>
          </a:xfrm>
          <a:prstGeom prst="roundRect">
            <a:avLst>
              <a:gd fmla="val 16667" name="adj"/>
            </a:avLst>
          </a:prstGeom>
          <a:solidFill>
            <a:srgbClr val="F2F2F2"/>
          </a:solidFill>
          <a:ln cap="flat" cmpd="sng" w="9525">
            <a:solidFill>
              <a:srgbClr val="F2F2F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15000"/>
              </a:lnSpc>
              <a:spcBef>
                <a:spcPts val="0"/>
              </a:spcBef>
              <a:spcAft>
                <a:spcPts val="0"/>
              </a:spcAft>
              <a:buNone/>
            </a:pPr>
            <a:r>
              <a:rPr lang="en" sz="800">
                <a:solidFill>
                  <a:srgbClr val="262626"/>
                </a:solidFill>
                <a:highlight>
                  <a:srgbClr val="6AA84F"/>
                </a:highlight>
              </a:rPr>
              <a:t>Analytics Hub</a:t>
            </a:r>
            <a:r>
              <a:rPr lang="en" sz="800">
                <a:solidFill>
                  <a:srgbClr val="262626"/>
                </a:solidFill>
              </a:rPr>
              <a:t>, Cloud Composer, Data Transfer Service, Pub/Sub</a:t>
            </a:r>
            <a:endParaRPr b="0" i="0" sz="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highlight>
                  <a:srgbClr val="6AA84F"/>
                </a:highlight>
              </a:rPr>
              <a:t>Google Workspace</a:t>
            </a:r>
            <a:r>
              <a:rPr lang="en" sz="800">
                <a:solidFill>
                  <a:srgbClr val="262626"/>
                </a:solidFill>
              </a:rPr>
              <a:t>, Cloud Run, APIgee, App Engine</a:t>
            </a:r>
            <a:endParaRPr b="0" i="0" sz="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highlight>
                  <a:srgbClr val="6AA84F"/>
                </a:highlight>
              </a:rPr>
              <a:t>Firebase</a:t>
            </a:r>
            <a:r>
              <a:rPr lang="en" sz="800">
                <a:solidFill>
                  <a:srgbClr val="262626"/>
                </a:solidFill>
              </a:rPr>
              <a:t>, Cloud Workstations, Application Integration, Cloud Code</a:t>
            </a:r>
            <a:endParaRPr b="0" i="0" sz="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highlight>
                  <a:srgbClr val="6AA84F"/>
                </a:highlight>
              </a:rPr>
              <a:t>GCP Marketplace</a:t>
            </a:r>
            <a:r>
              <a:rPr lang="en" sz="800">
                <a:solidFill>
                  <a:srgbClr val="262626"/>
                </a:solidFill>
              </a:rPr>
              <a:t>, BQ Data Marketplace</a:t>
            </a:r>
            <a:endParaRPr b="0" i="0" sz="800" u="none" cap="none" strike="noStrike">
              <a:solidFill>
                <a:srgbClr val="000000"/>
              </a:solidFill>
              <a:latin typeface="Arial"/>
              <a:ea typeface="Arial"/>
              <a:cs typeface="Arial"/>
              <a:sym typeface="Arial"/>
            </a:endParaRPr>
          </a:p>
        </p:txBody>
      </p:sp>
      <p:sp>
        <p:nvSpPr>
          <p:cNvPr id="877" name="Google Shape;877;p55"/>
          <p:cNvSpPr/>
          <p:nvPr/>
        </p:nvSpPr>
        <p:spPr>
          <a:xfrm>
            <a:off x="5216649" y="3363583"/>
            <a:ext cx="3329700" cy="542700"/>
          </a:xfrm>
          <a:prstGeom prst="roundRect">
            <a:avLst>
              <a:gd fmla="val 16667" name="adj"/>
            </a:avLst>
          </a:prstGeom>
          <a:solidFill>
            <a:srgbClr val="F2F2F2"/>
          </a:solidFill>
          <a:ln cap="flat" cmpd="sng" w="9525">
            <a:solidFill>
              <a:srgbClr val="F2F2F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15000"/>
              </a:lnSpc>
              <a:spcBef>
                <a:spcPts val="0"/>
              </a:spcBef>
              <a:spcAft>
                <a:spcPts val="0"/>
              </a:spcAft>
              <a:buNone/>
            </a:pPr>
            <a:r>
              <a:rPr b="0" i="0" lang="en" sz="800" u="none" cap="none" strike="noStrike">
                <a:solidFill>
                  <a:srgbClr val="262626"/>
                </a:solidFill>
                <a:highlight>
                  <a:srgbClr val="6AA84F"/>
                </a:highlight>
                <a:latin typeface="Arial"/>
                <a:ea typeface="Arial"/>
                <a:cs typeface="Arial"/>
                <a:sym typeface="Arial"/>
              </a:rPr>
              <a:t>Security Command Center, IAM</a:t>
            </a:r>
            <a:r>
              <a:rPr b="0" i="0" lang="en" sz="800" u="none" cap="none" strike="noStrike">
                <a:solidFill>
                  <a:srgbClr val="262626"/>
                </a:solidFill>
                <a:latin typeface="Arial"/>
                <a:ea typeface="Arial"/>
                <a:cs typeface="Arial"/>
                <a:sym typeface="Arial"/>
              </a:rPr>
              <a:t>, Cloud Armor, SecOps, DataPlex</a:t>
            </a:r>
            <a:endParaRPr b="0" i="0" sz="800" u="none" cap="none" strike="noStrike">
              <a:solidFill>
                <a:srgbClr val="262626"/>
              </a:solidFill>
              <a:highlight>
                <a:srgbClr val="6AA84F"/>
              </a:highlight>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rPr>
              <a:t>CCP Cost Management</a:t>
            </a:r>
            <a:endParaRPr b="0" i="0" sz="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highlight>
                  <a:srgbClr val="6AA84F"/>
                </a:highlight>
              </a:rPr>
              <a:t>Operation Suite</a:t>
            </a:r>
            <a:r>
              <a:rPr lang="en" sz="800">
                <a:solidFill>
                  <a:srgbClr val="262626"/>
                </a:solidFill>
              </a:rPr>
              <a:t> (Logging, Monitoring, Tracing)</a:t>
            </a:r>
            <a:endParaRPr b="0" i="0" sz="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None/>
            </a:pPr>
            <a:r>
              <a:rPr lang="en" sz="800">
                <a:solidFill>
                  <a:srgbClr val="262626"/>
                </a:solidFill>
                <a:highlight>
                  <a:srgbClr val="6AA84F"/>
                </a:highlight>
              </a:rPr>
              <a:t>Cloud Storage</a:t>
            </a:r>
            <a:r>
              <a:rPr lang="en" sz="800">
                <a:solidFill>
                  <a:srgbClr val="262626"/>
                </a:solidFill>
              </a:rPr>
              <a:t>, Firestore, Spanner</a:t>
            </a:r>
            <a:endParaRPr b="0" i="0" sz="800" u="none" cap="none" strike="noStrike">
              <a:solidFill>
                <a:srgbClr val="262626"/>
              </a:solidFill>
              <a:highlight>
                <a:srgbClr val="6AA84F"/>
              </a:highlight>
              <a:latin typeface="Arial"/>
              <a:ea typeface="Arial"/>
              <a:cs typeface="Arial"/>
              <a:sym typeface="Arial"/>
            </a:endParaRPr>
          </a:p>
        </p:txBody>
      </p:sp>
      <p:grpSp>
        <p:nvGrpSpPr>
          <p:cNvPr id="878" name="Google Shape;878;p55"/>
          <p:cNvGrpSpPr/>
          <p:nvPr/>
        </p:nvGrpSpPr>
        <p:grpSpPr>
          <a:xfrm>
            <a:off x="457199" y="1047620"/>
            <a:ext cx="538800" cy="372092"/>
            <a:chOff x="3428911" y="4531091"/>
            <a:chExt cx="538800" cy="446100"/>
          </a:xfrm>
        </p:grpSpPr>
        <p:sp>
          <p:nvSpPr>
            <p:cNvPr id="879" name="Google Shape;879;p55"/>
            <p:cNvSpPr/>
            <p:nvPr/>
          </p:nvSpPr>
          <p:spPr>
            <a:xfrm>
              <a:off x="3428911" y="4531091"/>
              <a:ext cx="538800" cy="446100"/>
            </a:xfrm>
            <a:prstGeom prst="rect">
              <a:avLst/>
            </a:prstGeom>
            <a:solidFill>
              <a:srgbClr val="4E9CD7"/>
            </a:solidFill>
            <a:ln cap="flat" cmpd="sng" w="25400">
              <a:solidFill>
                <a:srgbClr val="4E9C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grpSp>
          <p:nvGrpSpPr>
            <p:cNvPr id="880" name="Google Shape;880;p55"/>
            <p:cNvGrpSpPr/>
            <p:nvPr/>
          </p:nvGrpSpPr>
          <p:grpSpPr>
            <a:xfrm>
              <a:off x="3455923" y="4605059"/>
              <a:ext cx="484863" cy="298170"/>
              <a:chOff x="1009676" y="3375630"/>
              <a:chExt cx="571301" cy="350788"/>
            </a:xfrm>
          </p:grpSpPr>
          <p:sp>
            <p:nvSpPr>
              <p:cNvPr id="881" name="Google Shape;881;p55"/>
              <p:cNvSpPr/>
              <p:nvPr/>
            </p:nvSpPr>
            <p:spPr>
              <a:xfrm>
                <a:off x="1009676" y="3597785"/>
                <a:ext cx="571301" cy="45761"/>
              </a:xfrm>
              <a:custGeom>
                <a:rect b="b" l="l" r="r" t="t"/>
                <a:pathLst>
                  <a:path extrusionOk="0" h="45761" w="571301">
                    <a:moveTo>
                      <a:pt x="561480" y="45676"/>
                    </a:moveTo>
                    <a:cubicBezTo>
                      <a:pt x="536784" y="45713"/>
                      <a:pt x="512725" y="38216"/>
                      <a:pt x="492831" y="24279"/>
                    </a:cubicBezTo>
                    <a:cubicBezTo>
                      <a:pt x="451970" y="52818"/>
                      <a:pt x="396395" y="52818"/>
                      <a:pt x="355534" y="24279"/>
                    </a:cubicBezTo>
                    <a:cubicBezTo>
                      <a:pt x="314730" y="52789"/>
                      <a:pt x="259219" y="52789"/>
                      <a:pt x="218415" y="24279"/>
                    </a:cubicBezTo>
                    <a:cubicBezTo>
                      <a:pt x="177554" y="52818"/>
                      <a:pt x="121978" y="52818"/>
                      <a:pt x="81117" y="24279"/>
                    </a:cubicBezTo>
                    <a:cubicBezTo>
                      <a:pt x="61290" y="38212"/>
                      <a:pt x="37288" y="45713"/>
                      <a:pt x="12647" y="45676"/>
                    </a:cubicBezTo>
                    <a:cubicBezTo>
                      <a:pt x="6492" y="46418"/>
                      <a:pt x="870" y="42269"/>
                      <a:pt x="90" y="36407"/>
                    </a:cubicBezTo>
                    <a:cubicBezTo>
                      <a:pt x="-690" y="30545"/>
                      <a:pt x="3667" y="25191"/>
                      <a:pt x="9822" y="24449"/>
                    </a:cubicBezTo>
                    <a:cubicBezTo>
                      <a:pt x="10760" y="24335"/>
                      <a:pt x="11709" y="24335"/>
                      <a:pt x="12647" y="24449"/>
                    </a:cubicBezTo>
                    <a:cubicBezTo>
                      <a:pt x="35144" y="24425"/>
                      <a:pt x="56870" y="16644"/>
                      <a:pt x="73807" y="2542"/>
                    </a:cubicBezTo>
                    <a:cubicBezTo>
                      <a:pt x="78098" y="-847"/>
                      <a:pt x="84315" y="-847"/>
                      <a:pt x="88606" y="2542"/>
                    </a:cubicBezTo>
                    <a:cubicBezTo>
                      <a:pt x="123685" y="31739"/>
                      <a:pt x="176025" y="31739"/>
                      <a:pt x="211104" y="2542"/>
                    </a:cubicBezTo>
                    <a:cubicBezTo>
                      <a:pt x="215337" y="-822"/>
                      <a:pt x="221492" y="-822"/>
                      <a:pt x="225725" y="2542"/>
                    </a:cubicBezTo>
                    <a:cubicBezTo>
                      <a:pt x="260804" y="31739"/>
                      <a:pt x="313144" y="31739"/>
                      <a:pt x="348223" y="2542"/>
                    </a:cubicBezTo>
                    <a:cubicBezTo>
                      <a:pt x="352515" y="-847"/>
                      <a:pt x="358731" y="-847"/>
                      <a:pt x="363023" y="2542"/>
                    </a:cubicBezTo>
                    <a:cubicBezTo>
                      <a:pt x="398101" y="31739"/>
                      <a:pt x="450442" y="31739"/>
                      <a:pt x="485520" y="2542"/>
                    </a:cubicBezTo>
                    <a:cubicBezTo>
                      <a:pt x="489753" y="-822"/>
                      <a:pt x="495908" y="-822"/>
                      <a:pt x="500142" y="2542"/>
                    </a:cubicBezTo>
                    <a:cubicBezTo>
                      <a:pt x="517125" y="16681"/>
                      <a:pt x="538922" y="24467"/>
                      <a:pt x="561480" y="24449"/>
                    </a:cubicBezTo>
                    <a:cubicBezTo>
                      <a:pt x="567635" y="25191"/>
                      <a:pt x="571991" y="30545"/>
                      <a:pt x="571212" y="36407"/>
                    </a:cubicBezTo>
                    <a:cubicBezTo>
                      <a:pt x="570566" y="41249"/>
                      <a:pt x="566563" y="45063"/>
                      <a:pt x="561480" y="4567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882" name="Google Shape;882;p55"/>
              <p:cNvSpPr/>
              <p:nvPr/>
            </p:nvSpPr>
            <p:spPr>
              <a:xfrm>
                <a:off x="1009676" y="3680510"/>
                <a:ext cx="571301" cy="45908"/>
              </a:xfrm>
              <a:custGeom>
                <a:rect b="b" l="l" r="r" t="t"/>
                <a:pathLst>
                  <a:path extrusionOk="0" h="45908" w="571301">
                    <a:moveTo>
                      <a:pt x="561480" y="45822"/>
                    </a:moveTo>
                    <a:cubicBezTo>
                      <a:pt x="536766" y="45798"/>
                      <a:pt x="512709" y="38242"/>
                      <a:pt x="492831" y="24255"/>
                    </a:cubicBezTo>
                    <a:cubicBezTo>
                      <a:pt x="452046" y="53014"/>
                      <a:pt x="396318" y="53014"/>
                      <a:pt x="355534" y="24255"/>
                    </a:cubicBezTo>
                    <a:cubicBezTo>
                      <a:pt x="314804" y="52987"/>
                      <a:pt x="259144" y="52987"/>
                      <a:pt x="218415" y="24255"/>
                    </a:cubicBezTo>
                    <a:cubicBezTo>
                      <a:pt x="177630" y="53014"/>
                      <a:pt x="121902" y="53014"/>
                      <a:pt x="81117" y="24255"/>
                    </a:cubicBezTo>
                    <a:cubicBezTo>
                      <a:pt x="61306" y="38238"/>
                      <a:pt x="37306" y="45798"/>
                      <a:pt x="12647" y="45822"/>
                    </a:cubicBezTo>
                    <a:cubicBezTo>
                      <a:pt x="6492" y="46564"/>
                      <a:pt x="870" y="42416"/>
                      <a:pt x="90" y="36554"/>
                    </a:cubicBezTo>
                    <a:cubicBezTo>
                      <a:pt x="-690" y="30692"/>
                      <a:pt x="3667" y="25337"/>
                      <a:pt x="9822" y="24595"/>
                    </a:cubicBezTo>
                    <a:cubicBezTo>
                      <a:pt x="10760" y="24481"/>
                      <a:pt x="11709" y="24481"/>
                      <a:pt x="12647" y="24595"/>
                    </a:cubicBezTo>
                    <a:cubicBezTo>
                      <a:pt x="35144" y="24571"/>
                      <a:pt x="56870" y="16790"/>
                      <a:pt x="73807" y="2689"/>
                    </a:cubicBezTo>
                    <a:cubicBezTo>
                      <a:pt x="78043" y="-844"/>
                      <a:pt x="84370" y="-844"/>
                      <a:pt x="88606" y="2689"/>
                    </a:cubicBezTo>
                    <a:cubicBezTo>
                      <a:pt x="123685" y="31885"/>
                      <a:pt x="176025" y="31885"/>
                      <a:pt x="211104" y="2689"/>
                    </a:cubicBezTo>
                    <a:cubicBezTo>
                      <a:pt x="215252" y="-896"/>
                      <a:pt x="221578" y="-896"/>
                      <a:pt x="225725" y="2689"/>
                    </a:cubicBezTo>
                    <a:cubicBezTo>
                      <a:pt x="260804" y="31885"/>
                      <a:pt x="313144" y="31885"/>
                      <a:pt x="348223" y="2689"/>
                    </a:cubicBezTo>
                    <a:cubicBezTo>
                      <a:pt x="352460" y="-844"/>
                      <a:pt x="358786" y="-844"/>
                      <a:pt x="363023" y="2689"/>
                    </a:cubicBezTo>
                    <a:cubicBezTo>
                      <a:pt x="398101" y="31885"/>
                      <a:pt x="450442" y="31885"/>
                      <a:pt x="485520" y="2689"/>
                    </a:cubicBezTo>
                    <a:cubicBezTo>
                      <a:pt x="489668" y="-896"/>
                      <a:pt x="495994" y="-896"/>
                      <a:pt x="500142" y="2689"/>
                    </a:cubicBezTo>
                    <a:cubicBezTo>
                      <a:pt x="517125" y="16828"/>
                      <a:pt x="538922" y="24614"/>
                      <a:pt x="561480" y="24595"/>
                    </a:cubicBezTo>
                    <a:cubicBezTo>
                      <a:pt x="567635" y="25337"/>
                      <a:pt x="571991" y="30692"/>
                      <a:pt x="571212" y="36554"/>
                    </a:cubicBezTo>
                    <a:cubicBezTo>
                      <a:pt x="570566" y="41395"/>
                      <a:pt x="566563" y="45209"/>
                      <a:pt x="561480" y="4582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883" name="Google Shape;883;p55"/>
              <p:cNvSpPr/>
              <p:nvPr/>
            </p:nvSpPr>
            <p:spPr>
              <a:xfrm>
                <a:off x="1193814" y="3375630"/>
                <a:ext cx="211328" cy="200418"/>
              </a:xfrm>
              <a:custGeom>
                <a:rect b="b" l="l" r="r" t="t"/>
                <a:pathLst>
                  <a:path extrusionOk="0" h="200418" w="211328">
                    <a:moveTo>
                      <a:pt x="185660" y="169846"/>
                    </a:moveTo>
                    <a:cubicBezTo>
                      <a:pt x="182235" y="175758"/>
                      <a:pt x="174425" y="177906"/>
                      <a:pt x="168216" y="174644"/>
                    </a:cubicBezTo>
                    <a:cubicBezTo>
                      <a:pt x="168086" y="174576"/>
                      <a:pt x="167958" y="174504"/>
                      <a:pt x="167829" y="174431"/>
                    </a:cubicBezTo>
                    <a:lnTo>
                      <a:pt x="142866" y="160676"/>
                    </a:lnTo>
                    <a:lnTo>
                      <a:pt x="142866" y="188187"/>
                    </a:lnTo>
                    <a:cubicBezTo>
                      <a:pt x="142490" y="194983"/>
                      <a:pt x="136638" y="200334"/>
                      <a:pt x="129493" y="200413"/>
                    </a:cubicBezTo>
                    <a:cubicBezTo>
                      <a:pt x="122307" y="200602"/>
                      <a:pt x="116321" y="195207"/>
                      <a:pt x="116123" y="188361"/>
                    </a:cubicBezTo>
                    <a:cubicBezTo>
                      <a:pt x="116122" y="188304"/>
                      <a:pt x="116120" y="188244"/>
                      <a:pt x="116120" y="188187"/>
                    </a:cubicBezTo>
                    <a:lnTo>
                      <a:pt x="116120" y="139959"/>
                    </a:lnTo>
                    <a:cubicBezTo>
                      <a:pt x="116004" y="133145"/>
                      <a:pt x="121469" y="127420"/>
                      <a:pt x="128601" y="126883"/>
                    </a:cubicBezTo>
                    <a:cubicBezTo>
                      <a:pt x="131158" y="127065"/>
                      <a:pt x="133680" y="127579"/>
                      <a:pt x="136090" y="128411"/>
                    </a:cubicBezTo>
                    <a:lnTo>
                      <a:pt x="180667" y="152865"/>
                    </a:lnTo>
                    <a:cubicBezTo>
                      <a:pt x="186842" y="156335"/>
                      <a:pt x="189044" y="163826"/>
                      <a:pt x="185660" y="169846"/>
                    </a:cubicBezTo>
                    <a:close/>
                    <a:moveTo>
                      <a:pt x="114337" y="99542"/>
                    </a:moveTo>
                    <a:cubicBezTo>
                      <a:pt x="114337" y="99542"/>
                      <a:pt x="113980" y="101919"/>
                      <a:pt x="113267" y="101919"/>
                    </a:cubicBezTo>
                    <a:lnTo>
                      <a:pt x="108274" y="107354"/>
                    </a:lnTo>
                    <a:cubicBezTo>
                      <a:pt x="107383" y="107354"/>
                      <a:pt x="106491" y="107354"/>
                      <a:pt x="105778" y="107354"/>
                    </a:cubicBezTo>
                    <a:cubicBezTo>
                      <a:pt x="105065" y="107354"/>
                      <a:pt x="103995" y="107354"/>
                      <a:pt x="103282" y="107354"/>
                    </a:cubicBezTo>
                    <a:lnTo>
                      <a:pt x="98289" y="101919"/>
                    </a:lnTo>
                    <a:cubicBezTo>
                      <a:pt x="98289" y="101919"/>
                      <a:pt x="98289" y="100391"/>
                      <a:pt x="98289" y="99712"/>
                    </a:cubicBezTo>
                    <a:cubicBezTo>
                      <a:pt x="97906" y="98961"/>
                      <a:pt x="97906" y="98085"/>
                      <a:pt x="98289" y="97334"/>
                    </a:cubicBezTo>
                    <a:lnTo>
                      <a:pt x="102568" y="93259"/>
                    </a:lnTo>
                    <a:cubicBezTo>
                      <a:pt x="103367" y="92938"/>
                      <a:pt x="104266" y="92938"/>
                      <a:pt x="105065" y="93259"/>
                    </a:cubicBezTo>
                    <a:cubicBezTo>
                      <a:pt x="105869" y="92972"/>
                      <a:pt x="106757" y="92972"/>
                      <a:pt x="107561" y="93259"/>
                    </a:cubicBezTo>
                    <a:lnTo>
                      <a:pt x="112554" y="97844"/>
                    </a:lnTo>
                    <a:cubicBezTo>
                      <a:pt x="112554" y="97844"/>
                      <a:pt x="114872" y="99372"/>
                      <a:pt x="114872" y="100221"/>
                    </a:cubicBezTo>
                    <a:close/>
                    <a:moveTo>
                      <a:pt x="130206" y="102599"/>
                    </a:moveTo>
                    <a:lnTo>
                      <a:pt x="130206" y="97844"/>
                    </a:lnTo>
                    <a:cubicBezTo>
                      <a:pt x="130206" y="97844"/>
                      <a:pt x="130206" y="96316"/>
                      <a:pt x="130206" y="95636"/>
                    </a:cubicBezTo>
                    <a:lnTo>
                      <a:pt x="111127" y="78655"/>
                    </a:lnTo>
                    <a:lnTo>
                      <a:pt x="109344" y="78655"/>
                    </a:lnTo>
                    <a:lnTo>
                      <a:pt x="102568" y="78655"/>
                    </a:lnTo>
                    <a:cubicBezTo>
                      <a:pt x="101770" y="78334"/>
                      <a:pt x="100871" y="78334"/>
                      <a:pt x="100072" y="78655"/>
                    </a:cubicBezTo>
                    <a:lnTo>
                      <a:pt x="82241" y="95636"/>
                    </a:lnTo>
                    <a:cubicBezTo>
                      <a:pt x="81888" y="96334"/>
                      <a:pt x="81888" y="97146"/>
                      <a:pt x="82241" y="97844"/>
                    </a:cubicBezTo>
                    <a:lnTo>
                      <a:pt x="82241" y="103278"/>
                    </a:lnTo>
                    <a:cubicBezTo>
                      <a:pt x="81888" y="103976"/>
                      <a:pt x="81888" y="104788"/>
                      <a:pt x="82241" y="105486"/>
                    </a:cubicBezTo>
                    <a:lnTo>
                      <a:pt x="100072" y="122467"/>
                    </a:lnTo>
                    <a:cubicBezTo>
                      <a:pt x="100072" y="122467"/>
                      <a:pt x="101677" y="122467"/>
                      <a:pt x="102568" y="122467"/>
                    </a:cubicBezTo>
                    <a:lnTo>
                      <a:pt x="108274" y="122467"/>
                    </a:lnTo>
                    <a:lnTo>
                      <a:pt x="110057" y="122467"/>
                    </a:lnTo>
                    <a:lnTo>
                      <a:pt x="129136" y="105486"/>
                    </a:lnTo>
                    <a:cubicBezTo>
                      <a:pt x="129136" y="105486"/>
                      <a:pt x="130741" y="103957"/>
                      <a:pt x="130741" y="103278"/>
                    </a:cubicBezTo>
                    <a:close/>
                    <a:moveTo>
                      <a:pt x="64410" y="110920"/>
                    </a:moveTo>
                    <a:lnTo>
                      <a:pt x="20012" y="135883"/>
                    </a:lnTo>
                    <a:cubicBezTo>
                      <a:pt x="13928" y="139350"/>
                      <a:pt x="6043" y="137462"/>
                      <a:pt x="2404" y="131667"/>
                    </a:cubicBezTo>
                    <a:cubicBezTo>
                      <a:pt x="2327" y="131545"/>
                      <a:pt x="2252" y="131422"/>
                      <a:pt x="2181" y="131298"/>
                    </a:cubicBezTo>
                    <a:cubicBezTo>
                      <a:pt x="-1619" y="126161"/>
                      <a:pt x="-326" y="119063"/>
                      <a:pt x="5068" y="115444"/>
                    </a:cubicBezTo>
                    <a:cubicBezTo>
                      <a:pt x="5727" y="115001"/>
                      <a:pt x="6434" y="114623"/>
                      <a:pt x="7174" y="114316"/>
                    </a:cubicBezTo>
                    <a:lnTo>
                      <a:pt x="32137" y="100561"/>
                    </a:lnTo>
                    <a:lnTo>
                      <a:pt x="7174" y="86806"/>
                    </a:lnTo>
                    <a:cubicBezTo>
                      <a:pt x="1011" y="83102"/>
                      <a:pt x="-833" y="75342"/>
                      <a:pt x="3056" y="69472"/>
                    </a:cubicBezTo>
                    <a:cubicBezTo>
                      <a:pt x="6571" y="64167"/>
                      <a:pt x="13655" y="62143"/>
                      <a:pt x="19655" y="64730"/>
                    </a:cubicBezTo>
                    <a:lnTo>
                      <a:pt x="64589" y="89183"/>
                    </a:lnTo>
                    <a:cubicBezTo>
                      <a:pt x="67606" y="90778"/>
                      <a:pt x="69704" y="93587"/>
                      <a:pt x="70295" y="96825"/>
                    </a:cubicBezTo>
                    <a:cubicBezTo>
                      <a:pt x="70295" y="96825"/>
                      <a:pt x="70295" y="99033"/>
                      <a:pt x="70295" y="99882"/>
                    </a:cubicBezTo>
                    <a:cubicBezTo>
                      <a:pt x="70705" y="101097"/>
                      <a:pt x="70705" y="102403"/>
                      <a:pt x="70295" y="103618"/>
                    </a:cubicBezTo>
                    <a:cubicBezTo>
                      <a:pt x="69672" y="106841"/>
                      <a:pt x="67754" y="109705"/>
                      <a:pt x="64945" y="111599"/>
                    </a:cubicBezTo>
                    <a:close/>
                    <a:moveTo>
                      <a:pt x="95258" y="138430"/>
                    </a:moveTo>
                    <a:lnTo>
                      <a:pt x="95258" y="187337"/>
                    </a:lnTo>
                    <a:cubicBezTo>
                      <a:pt x="94882" y="194134"/>
                      <a:pt x="89029" y="199485"/>
                      <a:pt x="81885" y="199564"/>
                    </a:cubicBezTo>
                    <a:cubicBezTo>
                      <a:pt x="74800" y="199846"/>
                      <a:pt x="68818" y="194604"/>
                      <a:pt x="68522" y="187857"/>
                    </a:cubicBezTo>
                    <a:cubicBezTo>
                      <a:pt x="68515" y="187684"/>
                      <a:pt x="68512" y="187511"/>
                      <a:pt x="68512" y="187337"/>
                    </a:cubicBezTo>
                    <a:lnTo>
                      <a:pt x="68512" y="160506"/>
                    </a:lnTo>
                    <a:lnTo>
                      <a:pt x="43548" y="174262"/>
                    </a:lnTo>
                    <a:cubicBezTo>
                      <a:pt x="37327" y="177694"/>
                      <a:pt x="29364" y="175673"/>
                      <a:pt x="25760" y="169748"/>
                    </a:cubicBezTo>
                    <a:cubicBezTo>
                      <a:pt x="25746" y="169724"/>
                      <a:pt x="25732" y="169700"/>
                      <a:pt x="25718" y="169677"/>
                    </a:cubicBezTo>
                    <a:cubicBezTo>
                      <a:pt x="22437" y="163575"/>
                      <a:pt x="24896" y="156095"/>
                      <a:pt x="31245" y="152865"/>
                    </a:cubicBezTo>
                    <a:lnTo>
                      <a:pt x="76179" y="128411"/>
                    </a:lnTo>
                    <a:cubicBezTo>
                      <a:pt x="78568" y="127510"/>
                      <a:pt x="81100" y="126993"/>
                      <a:pt x="83668" y="126883"/>
                    </a:cubicBezTo>
                    <a:cubicBezTo>
                      <a:pt x="90071" y="128014"/>
                      <a:pt x="94972" y="132957"/>
                      <a:pt x="95793" y="139109"/>
                    </a:cubicBezTo>
                    <a:close/>
                    <a:moveTo>
                      <a:pt x="116476" y="61163"/>
                    </a:moveTo>
                    <a:lnTo>
                      <a:pt x="116476" y="12256"/>
                    </a:lnTo>
                    <a:cubicBezTo>
                      <a:pt x="116573" y="5410"/>
                      <a:pt x="122476" y="-66"/>
                      <a:pt x="129666" y="26"/>
                    </a:cubicBezTo>
                    <a:cubicBezTo>
                      <a:pt x="129726" y="26"/>
                      <a:pt x="129789" y="28"/>
                      <a:pt x="129850" y="29"/>
                    </a:cubicBezTo>
                    <a:cubicBezTo>
                      <a:pt x="136994" y="109"/>
                      <a:pt x="142846" y="5460"/>
                      <a:pt x="143223" y="12256"/>
                    </a:cubicBezTo>
                    <a:lnTo>
                      <a:pt x="143223" y="39766"/>
                    </a:lnTo>
                    <a:lnTo>
                      <a:pt x="168186" y="26011"/>
                    </a:lnTo>
                    <a:cubicBezTo>
                      <a:pt x="174482" y="22935"/>
                      <a:pt x="182203" y="24920"/>
                      <a:pt x="186017" y="30596"/>
                    </a:cubicBezTo>
                    <a:cubicBezTo>
                      <a:pt x="189401" y="36616"/>
                      <a:pt x="187199" y="44107"/>
                      <a:pt x="181024" y="47578"/>
                    </a:cubicBezTo>
                    <a:lnTo>
                      <a:pt x="136447" y="72711"/>
                    </a:lnTo>
                    <a:cubicBezTo>
                      <a:pt x="134034" y="73543"/>
                      <a:pt x="131515" y="74057"/>
                      <a:pt x="128958" y="74239"/>
                    </a:cubicBezTo>
                    <a:cubicBezTo>
                      <a:pt x="121826" y="73702"/>
                      <a:pt x="116361" y="67977"/>
                      <a:pt x="116476" y="61163"/>
                    </a:cubicBezTo>
                    <a:close/>
                    <a:moveTo>
                      <a:pt x="25718" y="30596"/>
                    </a:moveTo>
                    <a:cubicBezTo>
                      <a:pt x="29532" y="24920"/>
                      <a:pt x="37252" y="22935"/>
                      <a:pt x="43548" y="26011"/>
                    </a:cubicBezTo>
                    <a:lnTo>
                      <a:pt x="68512" y="39766"/>
                    </a:lnTo>
                    <a:lnTo>
                      <a:pt x="68512" y="12256"/>
                    </a:lnTo>
                    <a:cubicBezTo>
                      <a:pt x="68594" y="5410"/>
                      <a:pt x="74487" y="-77"/>
                      <a:pt x="81674" y="1"/>
                    </a:cubicBezTo>
                    <a:cubicBezTo>
                      <a:pt x="81924" y="3"/>
                      <a:pt x="82172" y="13"/>
                      <a:pt x="82420" y="29"/>
                    </a:cubicBezTo>
                    <a:cubicBezTo>
                      <a:pt x="89370" y="213"/>
                      <a:pt x="94905" y="5634"/>
                      <a:pt x="94901" y="12256"/>
                    </a:cubicBezTo>
                    <a:lnTo>
                      <a:pt x="94901" y="61163"/>
                    </a:lnTo>
                    <a:cubicBezTo>
                      <a:pt x="95393" y="67430"/>
                      <a:pt x="90459" y="72890"/>
                      <a:pt x="83880" y="73359"/>
                    </a:cubicBezTo>
                    <a:cubicBezTo>
                      <a:pt x="83632" y="73377"/>
                      <a:pt x="83382" y="73387"/>
                      <a:pt x="83133" y="73390"/>
                    </a:cubicBezTo>
                    <a:cubicBezTo>
                      <a:pt x="80524" y="74060"/>
                      <a:pt x="77735" y="73491"/>
                      <a:pt x="75644" y="71862"/>
                    </a:cubicBezTo>
                    <a:lnTo>
                      <a:pt x="31245" y="47408"/>
                    </a:lnTo>
                    <a:cubicBezTo>
                      <a:pt x="24901" y="44393"/>
                      <a:pt x="22324" y="37050"/>
                      <a:pt x="25491" y="31008"/>
                    </a:cubicBezTo>
                    <a:cubicBezTo>
                      <a:pt x="25564" y="30870"/>
                      <a:pt x="25639" y="30732"/>
                      <a:pt x="25718" y="30596"/>
                    </a:cubicBezTo>
                    <a:close/>
                    <a:moveTo>
                      <a:pt x="204026" y="86466"/>
                    </a:moveTo>
                    <a:lnTo>
                      <a:pt x="179063" y="100221"/>
                    </a:lnTo>
                    <a:lnTo>
                      <a:pt x="204026" y="113976"/>
                    </a:lnTo>
                    <a:cubicBezTo>
                      <a:pt x="210124" y="117503"/>
                      <a:pt x="212308" y="124929"/>
                      <a:pt x="209018" y="130958"/>
                    </a:cubicBezTo>
                    <a:cubicBezTo>
                      <a:pt x="205172" y="136252"/>
                      <a:pt x="197988" y="138298"/>
                      <a:pt x="191722" y="135883"/>
                    </a:cubicBezTo>
                    <a:lnTo>
                      <a:pt x="146432" y="111599"/>
                    </a:lnTo>
                    <a:cubicBezTo>
                      <a:pt x="143770" y="109653"/>
                      <a:pt x="141782" y="106991"/>
                      <a:pt x="140726" y="103957"/>
                    </a:cubicBezTo>
                    <a:cubicBezTo>
                      <a:pt x="140330" y="102735"/>
                      <a:pt x="140033" y="101486"/>
                      <a:pt x="139835" y="100221"/>
                    </a:cubicBezTo>
                    <a:cubicBezTo>
                      <a:pt x="139835" y="99372"/>
                      <a:pt x="140726" y="97844"/>
                      <a:pt x="140726" y="97165"/>
                    </a:cubicBezTo>
                    <a:cubicBezTo>
                      <a:pt x="141782" y="94131"/>
                      <a:pt x="143770" y="91469"/>
                      <a:pt x="146432" y="89523"/>
                    </a:cubicBezTo>
                    <a:lnTo>
                      <a:pt x="191722" y="65069"/>
                    </a:lnTo>
                    <a:cubicBezTo>
                      <a:pt x="198204" y="62200"/>
                      <a:pt x="205912" y="64476"/>
                      <a:pt x="209553" y="70333"/>
                    </a:cubicBezTo>
                    <a:cubicBezTo>
                      <a:pt x="213012" y="75685"/>
                      <a:pt x="211261" y="82693"/>
                      <a:pt x="205641" y="85987"/>
                    </a:cubicBezTo>
                    <a:cubicBezTo>
                      <a:pt x="205349" y="86159"/>
                      <a:pt x="205047" y="86319"/>
                      <a:pt x="204739" y="8646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884" name="Google Shape;884;p55"/>
              <p:cNvSpPr/>
              <p:nvPr/>
            </p:nvSpPr>
            <p:spPr>
              <a:xfrm>
                <a:off x="1009676" y="3507675"/>
                <a:ext cx="177403" cy="45868"/>
              </a:xfrm>
              <a:custGeom>
                <a:rect b="b" l="l" r="r" t="t"/>
                <a:pathLst>
                  <a:path extrusionOk="0" h="45868" w="177403">
                    <a:moveTo>
                      <a:pt x="166170" y="23197"/>
                    </a:moveTo>
                    <a:cubicBezTo>
                      <a:pt x="160751" y="24078"/>
                      <a:pt x="155264" y="24532"/>
                      <a:pt x="149766" y="24556"/>
                    </a:cubicBezTo>
                    <a:cubicBezTo>
                      <a:pt x="127270" y="24532"/>
                      <a:pt x="105543" y="16750"/>
                      <a:pt x="88606" y="2649"/>
                    </a:cubicBezTo>
                    <a:cubicBezTo>
                      <a:pt x="84370" y="-883"/>
                      <a:pt x="78043" y="-883"/>
                      <a:pt x="73807" y="2649"/>
                    </a:cubicBezTo>
                    <a:cubicBezTo>
                      <a:pt x="56870" y="16750"/>
                      <a:pt x="35144" y="24532"/>
                      <a:pt x="12647" y="24556"/>
                    </a:cubicBezTo>
                    <a:cubicBezTo>
                      <a:pt x="6492" y="23813"/>
                      <a:pt x="870" y="27962"/>
                      <a:pt x="90" y="33824"/>
                    </a:cubicBezTo>
                    <a:cubicBezTo>
                      <a:pt x="-690" y="39686"/>
                      <a:pt x="3667" y="45041"/>
                      <a:pt x="9822" y="45783"/>
                    </a:cubicBezTo>
                    <a:cubicBezTo>
                      <a:pt x="10760" y="45896"/>
                      <a:pt x="11709" y="45896"/>
                      <a:pt x="12647" y="45783"/>
                    </a:cubicBezTo>
                    <a:cubicBezTo>
                      <a:pt x="37306" y="45759"/>
                      <a:pt x="61306" y="38199"/>
                      <a:pt x="81117" y="24216"/>
                    </a:cubicBezTo>
                    <a:cubicBezTo>
                      <a:pt x="100995" y="38202"/>
                      <a:pt x="125052" y="45759"/>
                      <a:pt x="149766" y="45783"/>
                    </a:cubicBezTo>
                    <a:cubicBezTo>
                      <a:pt x="159100" y="45716"/>
                      <a:pt x="168388" y="44519"/>
                      <a:pt x="177404" y="42217"/>
                    </a:cubicBezTo>
                    <a:cubicBezTo>
                      <a:pt x="173107" y="36187"/>
                      <a:pt x="169350" y="29825"/>
                      <a:pt x="166170" y="2319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885" name="Google Shape;885;p55"/>
              <p:cNvSpPr/>
              <p:nvPr/>
            </p:nvSpPr>
            <p:spPr>
              <a:xfrm>
                <a:off x="1412283" y="3507636"/>
                <a:ext cx="168694" cy="45822"/>
              </a:xfrm>
              <a:custGeom>
                <a:rect b="b" l="l" r="r" t="t"/>
                <a:pathLst>
                  <a:path extrusionOk="0" h="45822" w="168694">
                    <a:moveTo>
                      <a:pt x="158873" y="24595"/>
                    </a:moveTo>
                    <a:cubicBezTo>
                      <a:pt x="136498" y="24490"/>
                      <a:pt x="114914" y="16714"/>
                      <a:pt x="98069" y="2689"/>
                    </a:cubicBezTo>
                    <a:cubicBezTo>
                      <a:pt x="93922" y="-896"/>
                      <a:pt x="87596" y="-896"/>
                      <a:pt x="83448" y="2689"/>
                    </a:cubicBezTo>
                    <a:cubicBezTo>
                      <a:pt x="66464" y="16829"/>
                      <a:pt x="44668" y="24613"/>
                      <a:pt x="22110" y="24595"/>
                    </a:cubicBezTo>
                    <a:cubicBezTo>
                      <a:pt x="18710" y="24481"/>
                      <a:pt x="15317" y="24198"/>
                      <a:pt x="11947" y="23746"/>
                    </a:cubicBezTo>
                    <a:cubicBezTo>
                      <a:pt x="8596" y="30696"/>
                      <a:pt x="4599" y="37346"/>
                      <a:pt x="0" y="43615"/>
                    </a:cubicBezTo>
                    <a:cubicBezTo>
                      <a:pt x="7279" y="45029"/>
                      <a:pt x="14682" y="45770"/>
                      <a:pt x="22110" y="45822"/>
                    </a:cubicBezTo>
                    <a:cubicBezTo>
                      <a:pt x="46642" y="45692"/>
                      <a:pt x="70494" y="38138"/>
                      <a:pt x="90224" y="24256"/>
                    </a:cubicBezTo>
                    <a:cubicBezTo>
                      <a:pt x="110102" y="38242"/>
                      <a:pt x="134159" y="45799"/>
                      <a:pt x="158873" y="45822"/>
                    </a:cubicBezTo>
                    <a:cubicBezTo>
                      <a:pt x="165028" y="45080"/>
                      <a:pt x="169384" y="39726"/>
                      <a:pt x="168605" y="33864"/>
                    </a:cubicBezTo>
                    <a:cubicBezTo>
                      <a:pt x="167959" y="29022"/>
                      <a:pt x="163956" y="25209"/>
                      <a:pt x="158873" y="2459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grpSp>
      </p:grpSp>
      <p:grpSp>
        <p:nvGrpSpPr>
          <p:cNvPr id="886" name="Google Shape;886;p55"/>
          <p:cNvGrpSpPr/>
          <p:nvPr/>
        </p:nvGrpSpPr>
        <p:grpSpPr>
          <a:xfrm>
            <a:off x="457199" y="1673296"/>
            <a:ext cx="538800" cy="372092"/>
            <a:chOff x="4302607" y="4531091"/>
            <a:chExt cx="538800" cy="446100"/>
          </a:xfrm>
        </p:grpSpPr>
        <p:sp>
          <p:nvSpPr>
            <p:cNvPr id="887" name="Google Shape;887;p55"/>
            <p:cNvSpPr/>
            <p:nvPr/>
          </p:nvSpPr>
          <p:spPr>
            <a:xfrm>
              <a:off x="4302607" y="4531091"/>
              <a:ext cx="538800" cy="446100"/>
            </a:xfrm>
            <a:prstGeom prst="rect">
              <a:avLst/>
            </a:prstGeom>
            <a:solidFill>
              <a:srgbClr val="4E9CD7"/>
            </a:solidFill>
            <a:ln cap="flat" cmpd="sng" w="25400">
              <a:solidFill>
                <a:srgbClr val="4E9C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grpSp>
          <p:nvGrpSpPr>
            <p:cNvPr id="888" name="Google Shape;888;p55"/>
            <p:cNvGrpSpPr/>
            <p:nvPr/>
          </p:nvGrpSpPr>
          <p:grpSpPr>
            <a:xfrm>
              <a:off x="4432071" y="4608431"/>
              <a:ext cx="279460" cy="291308"/>
              <a:chOff x="4464050" y="2451067"/>
              <a:chExt cx="220499" cy="241389"/>
            </a:xfrm>
          </p:grpSpPr>
          <p:sp>
            <p:nvSpPr>
              <p:cNvPr id="889" name="Google Shape;889;p55"/>
              <p:cNvSpPr/>
              <p:nvPr/>
            </p:nvSpPr>
            <p:spPr>
              <a:xfrm>
                <a:off x="4464050" y="2451067"/>
                <a:ext cx="220499" cy="241389"/>
              </a:xfrm>
              <a:custGeom>
                <a:rect b="b" l="l" r="r" t="t"/>
                <a:pathLst>
                  <a:path extrusionOk="0" h="241389" w="220499">
                    <a:moveTo>
                      <a:pt x="220500" y="49499"/>
                    </a:moveTo>
                    <a:cubicBezTo>
                      <a:pt x="220500" y="35299"/>
                      <a:pt x="208109" y="22492"/>
                      <a:pt x="186143" y="13211"/>
                    </a:cubicBezTo>
                    <a:cubicBezTo>
                      <a:pt x="161918" y="4047"/>
                      <a:pt x="136136" y="-427"/>
                      <a:pt x="110203" y="32"/>
                    </a:cubicBezTo>
                    <a:cubicBezTo>
                      <a:pt x="84300" y="-420"/>
                      <a:pt x="58551" y="4054"/>
                      <a:pt x="34356" y="13211"/>
                    </a:cubicBezTo>
                    <a:cubicBezTo>
                      <a:pt x="12297" y="22492"/>
                      <a:pt x="0" y="35299"/>
                      <a:pt x="0" y="49499"/>
                    </a:cubicBezTo>
                    <a:lnTo>
                      <a:pt x="0" y="190752"/>
                    </a:lnTo>
                    <a:lnTo>
                      <a:pt x="0" y="190752"/>
                    </a:lnTo>
                    <a:cubicBezTo>
                      <a:pt x="0" y="205601"/>
                      <a:pt x="12203" y="218594"/>
                      <a:pt x="34262" y="228339"/>
                    </a:cubicBezTo>
                    <a:cubicBezTo>
                      <a:pt x="58472" y="237540"/>
                      <a:pt x="84273" y="241954"/>
                      <a:pt x="110203" y="241332"/>
                    </a:cubicBezTo>
                    <a:cubicBezTo>
                      <a:pt x="136189" y="241845"/>
                      <a:pt x="162023" y="237305"/>
                      <a:pt x="186237" y="227968"/>
                    </a:cubicBezTo>
                    <a:cubicBezTo>
                      <a:pt x="208297" y="218687"/>
                      <a:pt x="220500" y="205137"/>
                      <a:pt x="220500" y="190381"/>
                    </a:cubicBezTo>
                    <a:lnTo>
                      <a:pt x="220500" y="49499"/>
                    </a:lnTo>
                    <a:close/>
                    <a:moveTo>
                      <a:pt x="207639" y="147689"/>
                    </a:moveTo>
                    <a:cubicBezTo>
                      <a:pt x="207639" y="155392"/>
                      <a:pt x="197783" y="163838"/>
                      <a:pt x="181356" y="170149"/>
                    </a:cubicBezTo>
                    <a:cubicBezTo>
                      <a:pt x="158519" y="178121"/>
                      <a:pt x="134417" y="181956"/>
                      <a:pt x="110203" y="181471"/>
                    </a:cubicBezTo>
                    <a:cubicBezTo>
                      <a:pt x="86021" y="181949"/>
                      <a:pt x="61949" y="178113"/>
                      <a:pt x="39144" y="170149"/>
                    </a:cubicBezTo>
                    <a:cubicBezTo>
                      <a:pt x="22716" y="163838"/>
                      <a:pt x="12860" y="155392"/>
                      <a:pt x="12860" y="147689"/>
                    </a:cubicBezTo>
                    <a:lnTo>
                      <a:pt x="12860" y="122631"/>
                    </a:lnTo>
                    <a:cubicBezTo>
                      <a:pt x="19456" y="127555"/>
                      <a:pt x="26766" y="131467"/>
                      <a:pt x="34544" y="134232"/>
                    </a:cubicBezTo>
                    <a:cubicBezTo>
                      <a:pt x="58866" y="142541"/>
                      <a:pt x="84474" y="146561"/>
                      <a:pt x="110203" y="146111"/>
                    </a:cubicBezTo>
                    <a:cubicBezTo>
                      <a:pt x="135962" y="146561"/>
                      <a:pt x="161601" y="142540"/>
                      <a:pt x="185956" y="134232"/>
                    </a:cubicBezTo>
                    <a:cubicBezTo>
                      <a:pt x="193734" y="131467"/>
                      <a:pt x="201044" y="127555"/>
                      <a:pt x="207639" y="122631"/>
                    </a:cubicBezTo>
                    <a:close/>
                    <a:moveTo>
                      <a:pt x="207639" y="100264"/>
                    </a:moveTo>
                    <a:cubicBezTo>
                      <a:pt x="207639" y="107875"/>
                      <a:pt x="197783" y="116134"/>
                      <a:pt x="181356" y="122353"/>
                    </a:cubicBezTo>
                    <a:cubicBezTo>
                      <a:pt x="158463" y="130069"/>
                      <a:pt x="134385" y="133774"/>
                      <a:pt x="110203" y="133304"/>
                    </a:cubicBezTo>
                    <a:cubicBezTo>
                      <a:pt x="52849" y="133304"/>
                      <a:pt x="12860" y="115856"/>
                      <a:pt x="12860" y="100264"/>
                    </a:cubicBezTo>
                    <a:lnTo>
                      <a:pt x="12860" y="74278"/>
                    </a:lnTo>
                    <a:cubicBezTo>
                      <a:pt x="19361" y="79361"/>
                      <a:pt x="26610" y="83430"/>
                      <a:pt x="34356" y="86343"/>
                    </a:cubicBezTo>
                    <a:cubicBezTo>
                      <a:pt x="58532" y="95577"/>
                      <a:pt x="84290" y="100083"/>
                      <a:pt x="110203" y="99615"/>
                    </a:cubicBezTo>
                    <a:cubicBezTo>
                      <a:pt x="136147" y="100094"/>
                      <a:pt x="161937" y="95586"/>
                      <a:pt x="186143" y="86343"/>
                    </a:cubicBezTo>
                    <a:cubicBezTo>
                      <a:pt x="193889" y="83430"/>
                      <a:pt x="201139" y="79361"/>
                      <a:pt x="207639" y="74278"/>
                    </a:cubicBezTo>
                    <a:close/>
                    <a:moveTo>
                      <a:pt x="39331" y="24997"/>
                    </a:moveTo>
                    <a:cubicBezTo>
                      <a:pt x="61935" y="16435"/>
                      <a:pt x="86001" y="12275"/>
                      <a:pt x="110203" y="12747"/>
                    </a:cubicBezTo>
                    <a:cubicBezTo>
                      <a:pt x="167651" y="12747"/>
                      <a:pt x="207639" y="32329"/>
                      <a:pt x="207639" y="49870"/>
                    </a:cubicBezTo>
                    <a:cubicBezTo>
                      <a:pt x="207639" y="58687"/>
                      <a:pt x="198253" y="67689"/>
                      <a:pt x="181168" y="74742"/>
                    </a:cubicBezTo>
                    <a:cubicBezTo>
                      <a:pt x="158534" y="83317"/>
                      <a:pt x="134436" y="87477"/>
                      <a:pt x="110203" y="86993"/>
                    </a:cubicBezTo>
                    <a:cubicBezTo>
                      <a:pt x="52849" y="86993"/>
                      <a:pt x="12860" y="67410"/>
                      <a:pt x="12860" y="49870"/>
                    </a:cubicBezTo>
                    <a:cubicBezTo>
                      <a:pt x="12860" y="41053"/>
                      <a:pt x="22529" y="32051"/>
                      <a:pt x="39331" y="24997"/>
                    </a:cubicBezTo>
                    <a:close/>
                    <a:moveTo>
                      <a:pt x="110203" y="229174"/>
                    </a:moveTo>
                    <a:cubicBezTo>
                      <a:pt x="52004" y="229174"/>
                      <a:pt x="12860" y="209406"/>
                      <a:pt x="12860" y="190937"/>
                    </a:cubicBezTo>
                    <a:lnTo>
                      <a:pt x="12860" y="170241"/>
                    </a:lnTo>
                    <a:cubicBezTo>
                      <a:pt x="19435" y="175194"/>
                      <a:pt x="26709" y="179165"/>
                      <a:pt x="34450" y="182028"/>
                    </a:cubicBezTo>
                    <a:cubicBezTo>
                      <a:pt x="58757" y="190549"/>
                      <a:pt x="84418" y="194666"/>
                      <a:pt x="110203" y="194186"/>
                    </a:cubicBezTo>
                    <a:cubicBezTo>
                      <a:pt x="136019" y="194674"/>
                      <a:pt x="161712" y="190555"/>
                      <a:pt x="186049" y="182028"/>
                    </a:cubicBezTo>
                    <a:cubicBezTo>
                      <a:pt x="193791" y="179165"/>
                      <a:pt x="201065" y="175194"/>
                      <a:pt x="207639" y="170241"/>
                    </a:cubicBezTo>
                    <a:lnTo>
                      <a:pt x="207639" y="190752"/>
                    </a:lnTo>
                    <a:cubicBezTo>
                      <a:pt x="207639" y="209221"/>
                      <a:pt x="168965" y="228989"/>
                      <a:pt x="110203" y="2289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890" name="Google Shape;890;p55"/>
              <p:cNvSpPr/>
              <p:nvPr/>
            </p:nvSpPr>
            <p:spPr>
              <a:xfrm>
                <a:off x="4510699" y="2475972"/>
                <a:ext cx="127158" cy="47981"/>
              </a:xfrm>
              <a:custGeom>
                <a:rect b="b" l="l" r="r" t="t"/>
                <a:pathLst>
                  <a:path extrusionOk="0" h="47981" w="127158">
                    <a:moveTo>
                      <a:pt x="111614" y="40650"/>
                    </a:moveTo>
                    <a:cubicBezTo>
                      <a:pt x="108342" y="42199"/>
                      <a:pt x="104632" y="42592"/>
                      <a:pt x="101101" y="41763"/>
                    </a:cubicBezTo>
                    <a:lnTo>
                      <a:pt x="86082" y="38515"/>
                    </a:lnTo>
                    <a:lnTo>
                      <a:pt x="86082" y="45012"/>
                    </a:lnTo>
                    <a:cubicBezTo>
                      <a:pt x="86082" y="46497"/>
                      <a:pt x="82515" y="47982"/>
                      <a:pt x="78009" y="47982"/>
                    </a:cubicBezTo>
                    <a:cubicBezTo>
                      <a:pt x="73503" y="47982"/>
                      <a:pt x="69936" y="46682"/>
                      <a:pt x="69936" y="45012"/>
                    </a:cubicBezTo>
                    <a:lnTo>
                      <a:pt x="69936" y="33318"/>
                    </a:lnTo>
                    <a:cubicBezTo>
                      <a:pt x="69936" y="31740"/>
                      <a:pt x="73034" y="30441"/>
                      <a:pt x="77540" y="30255"/>
                    </a:cubicBezTo>
                    <a:cubicBezTo>
                      <a:pt x="79040" y="30163"/>
                      <a:pt x="80546" y="30163"/>
                      <a:pt x="82046" y="30255"/>
                    </a:cubicBezTo>
                    <a:lnTo>
                      <a:pt x="108611" y="36102"/>
                    </a:lnTo>
                    <a:cubicBezTo>
                      <a:pt x="112929" y="37402"/>
                      <a:pt x="114149" y="39165"/>
                      <a:pt x="111614" y="40650"/>
                    </a:cubicBezTo>
                    <a:close/>
                    <a:moveTo>
                      <a:pt x="68998" y="23852"/>
                    </a:moveTo>
                    <a:cubicBezTo>
                      <a:pt x="68998" y="23852"/>
                      <a:pt x="68434" y="23852"/>
                      <a:pt x="67965" y="24408"/>
                    </a:cubicBezTo>
                    <a:lnTo>
                      <a:pt x="64961" y="25708"/>
                    </a:lnTo>
                    <a:lnTo>
                      <a:pt x="63459" y="25708"/>
                    </a:lnTo>
                    <a:lnTo>
                      <a:pt x="61957" y="25708"/>
                    </a:lnTo>
                    <a:lnTo>
                      <a:pt x="58954" y="24408"/>
                    </a:lnTo>
                    <a:cubicBezTo>
                      <a:pt x="58484" y="24408"/>
                      <a:pt x="58484" y="24408"/>
                      <a:pt x="58484" y="23852"/>
                    </a:cubicBezTo>
                    <a:cubicBezTo>
                      <a:pt x="58484" y="23295"/>
                      <a:pt x="58484" y="23852"/>
                      <a:pt x="58954" y="23295"/>
                    </a:cubicBezTo>
                    <a:lnTo>
                      <a:pt x="61957" y="22181"/>
                    </a:lnTo>
                    <a:cubicBezTo>
                      <a:pt x="62943" y="21934"/>
                      <a:pt x="63976" y="21934"/>
                      <a:pt x="64961" y="22181"/>
                    </a:cubicBezTo>
                    <a:lnTo>
                      <a:pt x="67965" y="23295"/>
                    </a:lnTo>
                    <a:cubicBezTo>
                      <a:pt x="67965" y="23295"/>
                      <a:pt x="68998" y="23666"/>
                      <a:pt x="68998" y="23852"/>
                    </a:cubicBezTo>
                    <a:close/>
                    <a:moveTo>
                      <a:pt x="78385" y="24594"/>
                    </a:moveTo>
                    <a:lnTo>
                      <a:pt x="78385" y="23295"/>
                    </a:lnTo>
                    <a:cubicBezTo>
                      <a:pt x="78385" y="23295"/>
                      <a:pt x="77915" y="23295"/>
                      <a:pt x="77915" y="22738"/>
                    </a:cubicBezTo>
                    <a:lnTo>
                      <a:pt x="66369" y="18562"/>
                    </a:lnTo>
                    <a:lnTo>
                      <a:pt x="65337" y="18562"/>
                    </a:lnTo>
                    <a:lnTo>
                      <a:pt x="61864" y="18562"/>
                    </a:lnTo>
                    <a:cubicBezTo>
                      <a:pt x="61367" y="18471"/>
                      <a:pt x="60858" y="18471"/>
                      <a:pt x="60362" y="18562"/>
                    </a:cubicBezTo>
                    <a:lnTo>
                      <a:pt x="49285" y="22738"/>
                    </a:lnTo>
                    <a:cubicBezTo>
                      <a:pt x="48816" y="22738"/>
                      <a:pt x="48816" y="22738"/>
                      <a:pt x="48816" y="23295"/>
                    </a:cubicBezTo>
                    <a:lnTo>
                      <a:pt x="48816" y="24594"/>
                    </a:lnTo>
                    <a:cubicBezTo>
                      <a:pt x="48816" y="24594"/>
                      <a:pt x="48816" y="24594"/>
                      <a:pt x="49285" y="25151"/>
                    </a:cubicBezTo>
                    <a:lnTo>
                      <a:pt x="60362" y="29327"/>
                    </a:lnTo>
                    <a:lnTo>
                      <a:pt x="61864" y="29327"/>
                    </a:lnTo>
                    <a:lnTo>
                      <a:pt x="65337" y="29327"/>
                    </a:lnTo>
                    <a:lnTo>
                      <a:pt x="66369" y="29327"/>
                    </a:lnTo>
                    <a:lnTo>
                      <a:pt x="77915" y="25151"/>
                    </a:lnTo>
                    <a:cubicBezTo>
                      <a:pt x="77915" y="25151"/>
                      <a:pt x="78479" y="24780"/>
                      <a:pt x="78479" y="24594"/>
                    </a:cubicBezTo>
                    <a:close/>
                    <a:moveTo>
                      <a:pt x="38772" y="26636"/>
                    </a:moveTo>
                    <a:lnTo>
                      <a:pt x="11643" y="32483"/>
                    </a:lnTo>
                    <a:cubicBezTo>
                      <a:pt x="8138" y="33194"/>
                      <a:pt x="4495" y="32804"/>
                      <a:pt x="1224" y="31369"/>
                    </a:cubicBezTo>
                    <a:cubicBezTo>
                      <a:pt x="-1311" y="29884"/>
                      <a:pt x="285" y="28028"/>
                      <a:pt x="4228" y="27285"/>
                    </a:cubicBezTo>
                    <a:lnTo>
                      <a:pt x="19059" y="24037"/>
                    </a:lnTo>
                    <a:lnTo>
                      <a:pt x="4228" y="20789"/>
                    </a:lnTo>
                    <a:cubicBezTo>
                      <a:pt x="285" y="19861"/>
                      <a:pt x="-1311" y="18005"/>
                      <a:pt x="1224" y="16520"/>
                    </a:cubicBezTo>
                    <a:cubicBezTo>
                      <a:pt x="4523" y="15065"/>
                      <a:pt x="8202" y="14675"/>
                      <a:pt x="11737" y="15406"/>
                    </a:cubicBezTo>
                    <a:lnTo>
                      <a:pt x="38866" y="21531"/>
                    </a:lnTo>
                    <a:cubicBezTo>
                      <a:pt x="40233" y="21650"/>
                      <a:pt x="41490" y="22322"/>
                      <a:pt x="42339" y="23388"/>
                    </a:cubicBezTo>
                    <a:cubicBezTo>
                      <a:pt x="42698" y="23435"/>
                      <a:pt x="42952" y="23761"/>
                      <a:pt x="42904" y="24117"/>
                    </a:cubicBezTo>
                    <a:cubicBezTo>
                      <a:pt x="42903" y="24121"/>
                      <a:pt x="42903" y="24126"/>
                      <a:pt x="42902" y="24130"/>
                    </a:cubicBezTo>
                    <a:cubicBezTo>
                      <a:pt x="42902" y="24130"/>
                      <a:pt x="42902" y="24687"/>
                      <a:pt x="42339" y="25058"/>
                    </a:cubicBezTo>
                    <a:cubicBezTo>
                      <a:pt x="41776" y="25429"/>
                      <a:pt x="40837" y="26079"/>
                      <a:pt x="38866" y="26636"/>
                    </a:cubicBezTo>
                    <a:close/>
                    <a:moveTo>
                      <a:pt x="57546" y="33132"/>
                    </a:moveTo>
                    <a:lnTo>
                      <a:pt x="57546" y="44826"/>
                    </a:lnTo>
                    <a:cubicBezTo>
                      <a:pt x="57546" y="46497"/>
                      <a:pt x="53509" y="47796"/>
                      <a:pt x="49473" y="47796"/>
                    </a:cubicBezTo>
                    <a:cubicBezTo>
                      <a:pt x="45436" y="47796"/>
                      <a:pt x="41494" y="46497"/>
                      <a:pt x="41494" y="44826"/>
                    </a:cubicBezTo>
                    <a:lnTo>
                      <a:pt x="41494" y="38330"/>
                    </a:lnTo>
                    <a:lnTo>
                      <a:pt x="26381" y="41578"/>
                    </a:lnTo>
                    <a:cubicBezTo>
                      <a:pt x="22629" y="42437"/>
                      <a:pt x="18689" y="41908"/>
                      <a:pt x="15304" y="40093"/>
                    </a:cubicBezTo>
                    <a:cubicBezTo>
                      <a:pt x="13239" y="38794"/>
                      <a:pt x="14272" y="37030"/>
                      <a:pt x="18308" y="36102"/>
                    </a:cubicBezTo>
                    <a:lnTo>
                      <a:pt x="45436" y="30812"/>
                    </a:lnTo>
                    <a:cubicBezTo>
                      <a:pt x="46936" y="30696"/>
                      <a:pt x="48442" y="30696"/>
                      <a:pt x="49942" y="30812"/>
                    </a:cubicBezTo>
                    <a:cubicBezTo>
                      <a:pt x="53885" y="30812"/>
                      <a:pt x="56607" y="31740"/>
                      <a:pt x="57452" y="33132"/>
                    </a:cubicBezTo>
                    <a:close/>
                    <a:moveTo>
                      <a:pt x="70030" y="14571"/>
                    </a:moveTo>
                    <a:lnTo>
                      <a:pt x="70030" y="2970"/>
                    </a:lnTo>
                    <a:cubicBezTo>
                      <a:pt x="70030" y="1299"/>
                      <a:pt x="73597" y="0"/>
                      <a:pt x="78103" y="0"/>
                    </a:cubicBezTo>
                    <a:cubicBezTo>
                      <a:pt x="82609" y="0"/>
                      <a:pt x="86176" y="1299"/>
                      <a:pt x="86176" y="2970"/>
                    </a:cubicBezTo>
                    <a:lnTo>
                      <a:pt x="86176" y="9466"/>
                    </a:lnTo>
                    <a:lnTo>
                      <a:pt x="101195" y="6125"/>
                    </a:lnTo>
                    <a:cubicBezTo>
                      <a:pt x="104730" y="5388"/>
                      <a:pt x="108411" y="5778"/>
                      <a:pt x="111708" y="7239"/>
                    </a:cubicBezTo>
                    <a:cubicBezTo>
                      <a:pt x="114243" y="8724"/>
                      <a:pt x="112741" y="10487"/>
                      <a:pt x="108705" y="11415"/>
                    </a:cubicBezTo>
                    <a:lnTo>
                      <a:pt x="82139" y="17262"/>
                    </a:lnTo>
                    <a:cubicBezTo>
                      <a:pt x="80639" y="17354"/>
                      <a:pt x="79134" y="17354"/>
                      <a:pt x="77634" y="17262"/>
                    </a:cubicBezTo>
                    <a:cubicBezTo>
                      <a:pt x="73034" y="17448"/>
                      <a:pt x="69936" y="16149"/>
                      <a:pt x="69936" y="14571"/>
                    </a:cubicBezTo>
                    <a:close/>
                    <a:moveTo>
                      <a:pt x="15304" y="7239"/>
                    </a:moveTo>
                    <a:cubicBezTo>
                      <a:pt x="18736" y="5662"/>
                      <a:pt x="22603" y="5270"/>
                      <a:pt x="26287" y="6125"/>
                    </a:cubicBezTo>
                    <a:lnTo>
                      <a:pt x="41400" y="9466"/>
                    </a:lnTo>
                    <a:lnTo>
                      <a:pt x="41400" y="2970"/>
                    </a:lnTo>
                    <a:cubicBezTo>
                      <a:pt x="41400" y="1299"/>
                      <a:pt x="44873" y="0"/>
                      <a:pt x="49379" y="0"/>
                    </a:cubicBezTo>
                    <a:cubicBezTo>
                      <a:pt x="53885" y="0"/>
                      <a:pt x="56889" y="1299"/>
                      <a:pt x="56889" y="2970"/>
                    </a:cubicBezTo>
                    <a:lnTo>
                      <a:pt x="56889" y="14571"/>
                    </a:lnTo>
                    <a:cubicBezTo>
                      <a:pt x="56889" y="16149"/>
                      <a:pt x="53885" y="17448"/>
                      <a:pt x="49942" y="17448"/>
                    </a:cubicBezTo>
                    <a:cubicBezTo>
                      <a:pt x="48453" y="17724"/>
                      <a:pt x="46925" y="17724"/>
                      <a:pt x="45436" y="17448"/>
                    </a:cubicBezTo>
                    <a:lnTo>
                      <a:pt x="18308" y="11230"/>
                    </a:lnTo>
                    <a:cubicBezTo>
                      <a:pt x="14272" y="10487"/>
                      <a:pt x="13239" y="8724"/>
                      <a:pt x="15304" y="7239"/>
                    </a:cubicBezTo>
                    <a:close/>
                    <a:moveTo>
                      <a:pt x="123160" y="20603"/>
                    </a:moveTo>
                    <a:lnTo>
                      <a:pt x="108141" y="23852"/>
                    </a:lnTo>
                    <a:lnTo>
                      <a:pt x="123160" y="27100"/>
                    </a:lnTo>
                    <a:cubicBezTo>
                      <a:pt x="127197" y="28028"/>
                      <a:pt x="128136" y="29884"/>
                      <a:pt x="126164" y="31369"/>
                    </a:cubicBezTo>
                    <a:cubicBezTo>
                      <a:pt x="122686" y="32772"/>
                      <a:pt x="118874" y="33159"/>
                      <a:pt x="115182" y="32483"/>
                    </a:cubicBezTo>
                    <a:lnTo>
                      <a:pt x="88053" y="26636"/>
                    </a:lnTo>
                    <a:cubicBezTo>
                      <a:pt x="86742" y="26280"/>
                      <a:pt x="85525" y="25646"/>
                      <a:pt x="84486" y="24780"/>
                    </a:cubicBezTo>
                    <a:cubicBezTo>
                      <a:pt x="84486" y="24780"/>
                      <a:pt x="84017" y="24223"/>
                      <a:pt x="84017" y="23852"/>
                    </a:cubicBezTo>
                    <a:cubicBezTo>
                      <a:pt x="84017" y="23480"/>
                      <a:pt x="84486" y="23295"/>
                      <a:pt x="84486" y="23109"/>
                    </a:cubicBezTo>
                    <a:cubicBezTo>
                      <a:pt x="85525" y="22242"/>
                      <a:pt x="86742" y="21609"/>
                      <a:pt x="88053" y="21253"/>
                    </a:cubicBezTo>
                    <a:lnTo>
                      <a:pt x="115182" y="15406"/>
                    </a:lnTo>
                    <a:cubicBezTo>
                      <a:pt x="118891" y="14739"/>
                      <a:pt x="122718" y="15192"/>
                      <a:pt x="126164" y="16705"/>
                    </a:cubicBezTo>
                    <a:cubicBezTo>
                      <a:pt x="128136" y="18005"/>
                      <a:pt x="127197" y="19861"/>
                      <a:pt x="123160" y="206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grpSp>
      </p:grpSp>
      <p:grpSp>
        <p:nvGrpSpPr>
          <p:cNvPr id="891" name="Google Shape;891;p55"/>
          <p:cNvGrpSpPr/>
          <p:nvPr/>
        </p:nvGrpSpPr>
        <p:grpSpPr>
          <a:xfrm>
            <a:off x="457187" y="2289556"/>
            <a:ext cx="538800" cy="372092"/>
            <a:chOff x="5249391" y="4531091"/>
            <a:chExt cx="538800" cy="446100"/>
          </a:xfrm>
        </p:grpSpPr>
        <p:sp>
          <p:nvSpPr>
            <p:cNvPr id="892" name="Google Shape;892;p55"/>
            <p:cNvSpPr/>
            <p:nvPr/>
          </p:nvSpPr>
          <p:spPr>
            <a:xfrm>
              <a:off x="5249391" y="4531091"/>
              <a:ext cx="538800" cy="446100"/>
            </a:xfrm>
            <a:prstGeom prst="rect">
              <a:avLst/>
            </a:prstGeom>
            <a:solidFill>
              <a:srgbClr val="4E9CD7"/>
            </a:solidFill>
            <a:ln cap="flat" cmpd="sng" w="25400">
              <a:solidFill>
                <a:srgbClr val="4E9C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grpSp>
          <p:nvGrpSpPr>
            <p:cNvPr id="893" name="Google Shape;893;p55"/>
            <p:cNvGrpSpPr/>
            <p:nvPr/>
          </p:nvGrpSpPr>
          <p:grpSpPr>
            <a:xfrm>
              <a:off x="5371262" y="4605036"/>
              <a:ext cx="294752" cy="314718"/>
              <a:chOff x="1836875" y="238125"/>
              <a:chExt cx="3883425" cy="5219200"/>
            </a:xfrm>
          </p:grpSpPr>
          <p:sp>
            <p:nvSpPr>
              <p:cNvPr id="894" name="Google Shape;894;p55"/>
              <p:cNvSpPr/>
              <p:nvPr/>
            </p:nvSpPr>
            <p:spPr>
              <a:xfrm>
                <a:off x="1836875" y="1627725"/>
                <a:ext cx="3844275" cy="2688700"/>
              </a:xfrm>
              <a:custGeom>
                <a:rect b="b" l="l" r="r" t="t"/>
                <a:pathLst>
                  <a:path extrusionOk="0" h="107548" w="153771">
                    <a:moveTo>
                      <a:pt x="74276" y="8155"/>
                    </a:moveTo>
                    <a:cubicBezTo>
                      <a:pt x="106668" y="8155"/>
                      <a:pt x="133090" y="25215"/>
                      <a:pt x="143234" y="52616"/>
                    </a:cubicBezTo>
                    <a:cubicBezTo>
                      <a:pt x="145224" y="57933"/>
                      <a:pt x="144604" y="63315"/>
                      <a:pt x="141506" y="67719"/>
                    </a:cubicBezTo>
                    <a:cubicBezTo>
                      <a:pt x="138570" y="71992"/>
                      <a:pt x="134068" y="74145"/>
                      <a:pt x="128131" y="74145"/>
                    </a:cubicBezTo>
                    <a:cubicBezTo>
                      <a:pt x="121575" y="74145"/>
                      <a:pt x="110582" y="77081"/>
                      <a:pt x="110549" y="96686"/>
                    </a:cubicBezTo>
                    <a:lnTo>
                      <a:pt x="110452" y="99360"/>
                    </a:lnTo>
                    <a:lnTo>
                      <a:pt x="100568" y="99360"/>
                    </a:lnTo>
                    <a:lnTo>
                      <a:pt x="100568" y="99393"/>
                    </a:lnTo>
                    <a:cubicBezTo>
                      <a:pt x="100405" y="89313"/>
                      <a:pt x="95544" y="82692"/>
                      <a:pt x="85726" y="79169"/>
                    </a:cubicBezTo>
                    <a:cubicBezTo>
                      <a:pt x="77016" y="76005"/>
                      <a:pt x="64751" y="75385"/>
                      <a:pt x="49028" y="75385"/>
                    </a:cubicBezTo>
                    <a:lnTo>
                      <a:pt x="36242" y="75385"/>
                    </a:lnTo>
                    <a:cubicBezTo>
                      <a:pt x="26227" y="75385"/>
                      <a:pt x="17322" y="69905"/>
                      <a:pt x="13016" y="61130"/>
                    </a:cubicBezTo>
                    <a:cubicBezTo>
                      <a:pt x="8710" y="52290"/>
                      <a:pt x="9787" y="41949"/>
                      <a:pt x="15887" y="34121"/>
                    </a:cubicBezTo>
                    <a:cubicBezTo>
                      <a:pt x="28902" y="17387"/>
                      <a:pt x="49616" y="8155"/>
                      <a:pt x="74276" y="8155"/>
                    </a:cubicBezTo>
                    <a:close/>
                    <a:moveTo>
                      <a:pt x="74276" y="0"/>
                    </a:moveTo>
                    <a:cubicBezTo>
                      <a:pt x="47039" y="0"/>
                      <a:pt x="24009" y="10341"/>
                      <a:pt x="9428" y="29097"/>
                    </a:cubicBezTo>
                    <a:cubicBezTo>
                      <a:pt x="1404" y="39405"/>
                      <a:pt x="1" y="53040"/>
                      <a:pt x="5677" y="64718"/>
                    </a:cubicBezTo>
                    <a:cubicBezTo>
                      <a:pt x="11385" y="76331"/>
                      <a:pt x="23096" y="83540"/>
                      <a:pt x="36242" y="83540"/>
                    </a:cubicBezTo>
                    <a:lnTo>
                      <a:pt x="49028" y="83540"/>
                    </a:lnTo>
                    <a:cubicBezTo>
                      <a:pt x="82659" y="83540"/>
                      <a:pt x="92380" y="87193"/>
                      <a:pt x="92380" y="99882"/>
                    </a:cubicBezTo>
                    <a:lnTo>
                      <a:pt x="92380" y="103470"/>
                    </a:lnTo>
                    <a:cubicBezTo>
                      <a:pt x="92380" y="105721"/>
                      <a:pt x="94239" y="107548"/>
                      <a:pt x="96490" y="107548"/>
                    </a:cubicBezTo>
                    <a:lnTo>
                      <a:pt x="114366" y="107548"/>
                    </a:lnTo>
                    <a:cubicBezTo>
                      <a:pt x="116551" y="107548"/>
                      <a:pt x="118378" y="105786"/>
                      <a:pt x="118443" y="103601"/>
                    </a:cubicBezTo>
                    <a:lnTo>
                      <a:pt x="118704" y="96914"/>
                    </a:lnTo>
                    <a:lnTo>
                      <a:pt x="118704" y="96783"/>
                    </a:lnTo>
                    <a:cubicBezTo>
                      <a:pt x="118704" y="82300"/>
                      <a:pt x="125554" y="82300"/>
                      <a:pt x="128131" y="82300"/>
                    </a:cubicBezTo>
                    <a:cubicBezTo>
                      <a:pt x="136776" y="82300"/>
                      <a:pt x="143691" y="78875"/>
                      <a:pt x="148225" y="72384"/>
                    </a:cubicBezTo>
                    <a:cubicBezTo>
                      <a:pt x="152792" y="65795"/>
                      <a:pt x="153771" y="57574"/>
                      <a:pt x="150900" y="49778"/>
                    </a:cubicBezTo>
                    <a:cubicBezTo>
                      <a:pt x="139548" y="19083"/>
                      <a:pt x="110158" y="0"/>
                      <a:pt x="7427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895" name="Google Shape;895;p55"/>
              <p:cNvSpPr/>
              <p:nvPr/>
            </p:nvSpPr>
            <p:spPr>
              <a:xfrm>
                <a:off x="4515775" y="2471325"/>
                <a:ext cx="697275" cy="415550"/>
              </a:xfrm>
              <a:custGeom>
                <a:rect b="b" l="l" r="r" t="t"/>
                <a:pathLst>
                  <a:path extrusionOk="0" h="16622" w="27891">
                    <a:moveTo>
                      <a:pt x="25573" y="1"/>
                    </a:moveTo>
                    <a:cubicBezTo>
                      <a:pt x="24877" y="1"/>
                      <a:pt x="24202" y="348"/>
                      <a:pt x="23813" y="996"/>
                    </a:cubicBezTo>
                    <a:cubicBezTo>
                      <a:pt x="18725" y="9543"/>
                      <a:pt x="9134" y="11989"/>
                      <a:pt x="1958" y="12544"/>
                    </a:cubicBezTo>
                    <a:cubicBezTo>
                      <a:pt x="849" y="12609"/>
                      <a:pt x="1" y="13620"/>
                      <a:pt x="99" y="14729"/>
                    </a:cubicBezTo>
                    <a:cubicBezTo>
                      <a:pt x="164" y="15806"/>
                      <a:pt x="1077" y="16621"/>
                      <a:pt x="2121" y="16621"/>
                    </a:cubicBezTo>
                    <a:lnTo>
                      <a:pt x="2284" y="16621"/>
                    </a:lnTo>
                    <a:cubicBezTo>
                      <a:pt x="16996" y="15480"/>
                      <a:pt x="24009" y="8629"/>
                      <a:pt x="27304" y="3084"/>
                    </a:cubicBezTo>
                    <a:cubicBezTo>
                      <a:pt x="27891" y="2105"/>
                      <a:pt x="27565" y="866"/>
                      <a:pt x="26619" y="279"/>
                    </a:cubicBezTo>
                    <a:cubicBezTo>
                      <a:pt x="26288" y="91"/>
                      <a:pt x="25928" y="1"/>
                      <a:pt x="2557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896" name="Google Shape;896;p55"/>
              <p:cNvSpPr/>
              <p:nvPr/>
            </p:nvSpPr>
            <p:spPr>
              <a:xfrm>
                <a:off x="4526375" y="1946050"/>
                <a:ext cx="239800" cy="565700"/>
              </a:xfrm>
              <a:custGeom>
                <a:rect b="b" l="l" r="r" t="t"/>
                <a:pathLst>
                  <a:path extrusionOk="0" h="22628" w="9592">
                    <a:moveTo>
                      <a:pt x="5604" y="1"/>
                    </a:moveTo>
                    <a:cubicBezTo>
                      <a:pt x="5455" y="1"/>
                      <a:pt x="5305" y="18"/>
                      <a:pt x="5155" y="54"/>
                    </a:cubicBezTo>
                    <a:cubicBezTo>
                      <a:pt x="4046" y="283"/>
                      <a:pt x="3328" y="1359"/>
                      <a:pt x="3589" y="2468"/>
                    </a:cubicBezTo>
                    <a:cubicBezTo>
                      <a:pt x="4470" y="6643"/>
                      <a:pt x="4242" y="13624"/>
                      <a:pt x="621" y="19528"/>
                    </a:cubicBezTo>
                    <a:cubicBezTo>
                      <a:pt x="1" y="20507"/>
                      <a:pt x="327" y="21746"/>
                      <a:pt x="1273" y="22334"/>
                    </a:cubicBezTo>
                    <a:cubicBezTo>
                      <a:pt x="1599" y="22529"/>
                      <a:pt x="1991" y="22627"/>
                      <a:pt x="2350" y="22627"/>
                    </a:cubicBezTo>
                    <a:cubicBezTo>
                      <a:pt x="3035" y="22627"/>
                      <a:pt x="3687" y="22301"/>
                      <a:pt x="4078" y="21681"/>
                    </a:cubicBezTo>
                    <a:cubicBezTo>
                      <a:pt x="9591" y="12743"/>
                      <a:pt x="7960" y="3381"/>
                      <a:pt x="7569" y="1620"/>
                    </a:cubicBezTo>
                    <a:cubicBezTo>
                      <a:pt x="7372" y="665"/>
                      <a:pt x="6523" y="1"/>
                      <a:pt x="560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897" name="Google Shape;897;p55"/>
              <p:cNvSpPr/>
              <p:nvPr/>
            </p:nvSpPr>
            <p:spPr>
              <a:xfrm>
                <a:off x="4633225" y="2767450"/>
                <a:ext cx="131300" cy="409725"/>
              </a:xfrm>
              <a:custGeom>
                <a:rect b="b" l="l" r="r" t="t"/>
                <a:pathLst>
                  <a:path extrusionOk="0" h="16389" w="5252">
                    <a:moveTo>
                      <a:pt x="2482" y="1"/>
                    </a:moveTo>
                    <a:cubicBezTo>
                      <a:pt x="1465" y="1"/>
                      <a:pt x="581" y="807"/>
                      <a:pt x="489" y="1841"/>
                    </a:cubicBezTo>
                    <a:cubicBezTo>
                      <a:pt x="0" y="6831"/>
                      <a:pt x="1011" y="14334"/>
                      <a:pt x="1044" y="14628"/>
                    </a:cubicBezTo>
                    <a:cubicBezTo>
                      <a:pt x="1174" y="15671"/>
                      <a:pt x="2055" y="16389"/>
                      <a:pt x="3066" y="16389"/>
                    </a:cubicBezTo>
                    <a:lnTo>
                      <a:pt x="3327" y="16389"/>
                    </a:lnTo>
                    <a:cubicBezTo>
                      <a:pt x="4469" y="16226"/>
                      <a:pt x="5252" y="15215"/>
                      <a:pt x="5089" y="14073"/>
                    </a:cubicBezTo>
                    <a:cubicBezTo>
                      <a:pt x="5089" y="14008"/>
                      <a:pt x="4110" y="6766"/>
                      <a:pt x="4534" y="2232"/>
                    </a:cubicBezTo>
                    <a:cubicBezTo>
                      <a:pt x="4665" y="1123"/>
                      <a:pt x="3849" y="112"/>
                      <a:pt x="2708" y="14"/>
                    </a:cubicBezTo>
                    <a:cubicBezTo>
                      <a:pt x="2632" y="5"/>
                      <a:pt x="2556" y="1"/>
                      <a:pt x="24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898" name="Google Shape;898;p55"/>
              <p:cNvSpPr/>
              <p:nvPr/>
            </p:nvSpPr>
            <p:spPr>
              <a:xfrm>
                <a:off x="2798350" y="1885400"/>
                <a:ext cx="224300" cy="451825"/>
              </a:xfrm>
              <a:custGeom>
                <a:rect b="b" l="l" r="r" t="t"/>
                <a:pathLst>
                  <a:path extrusionOk="0" h="18073" w="8972">
                    <a:moveTo>
                      <a:pt x="2331" y="1"/>
                    </a:moveTo>
                    <a:cubicBezTo>
                      <a:pt x="1653" y="1"/>
                      <a:pt x="986" y="339"/>
                      <a:pt x="588" y="947"/>
                    </a:cubicBezTo>
                    <a:cubicBezTo>
                      <a:pt x="1" y="1893"/>
                      <a:pt x="294" y="3165"/>
                      <a:pt x="1240" y="3752"/>
                    </a:cubicBezTo>
                    <a:cubicBezTo>
                      <a:pt x="2480" y="4568"/>
                      <a:pt x="4828" y="7699"/>
                      <a:pt x="4763" y="10668"/>
                    </a:cubicBezTo>
                    <a:cubicBezTo>
                      <a:pt x="4698" y="12201"/>
                      <a:pt x="3948" y="13375"/>
                      <a:pt x="2415" y="14256"/>
                    </a:cubicBezTo>
                    <a:cubicBezTo>
                      <a:pt x="1436" y="14811"/>
                      <a:pt x="1077" y="16050"/>
                      <a:pt x="1632" y="17029"/>
                    </a:cubicBezTo>
                    <a:cubicBezTo>
                      <a:pt x="1990" y="17714"/>
                      <a:pt x="2675" y="18073"/>
                      <a:pt x="3393" y="18073"/>
                    </a:cubicBezTo>
                    <a:cubicBezTo>
                      <a:pt x="3752" y="18073"/>
                      <a:pt x="4078" y="17975"/>
                      <a:pt x="4404" y="17812"/>
                    </a:cubicBezTo>
                    <a:cubicBezTo>
                      <a:pt x="7960" y="15822"/>
                      <a:pt x="8775" y="12886"/>
                      <a:pt x="8841" y="10766"/>
                    </a:cubicBezTo>
                    <a:cubicBezTo>
                      <a:pt x="8971" y="6297"/>
                      <a:pt x="5774" y="1828"/>
                      <a:pt x="3426" y="327"/>
                    </a:cubicBezTo>
                    <a:cubicBezTo>
                      <a:pt x="3088" y="106"/>
                      <a:pt x="2708" y="1"/>
                      <a:pt x="233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899" name="Google Shape;899;p55"/>
              <p:cNvSpPr/>
              <p:nvPr/>
            </p:nvSpPr>
            <p:spPr>
              <a:xfrm>
                <a:off x="2405275" y="2226325"/>
                <a:ext cx="500750" cy="598575"/>
              </a:xfrm>
              <a:custGeom>
                <a:rect b="b" l="l" r="r" t="t"/>
                <a:pathLst>
                  <a:path extrusionOk="0" h="23943" w="20030">
                    <a:moveTo>
                      <a:pt x="2275" y="0"/>
                    </a:moveTo>
                    <a:cubicBezTo>
                      <a:pt x="1793" y="0"/>
                      <a:pt x="1308" y="173"/>
                      <a:pt x="914" y="521"/>
                    </a:cubicBezTo>
                    <a:cubicBezTo>
                      <a:pt x="66" y="1271"/>
                      <a:pt x="1" y="2576"/>
                      <a:pt x="751" y="3424"/>
                    </a:cubicBezTo>
                    <a:cubicBezTo>
                      <a:pt x="2708" y="5610"/>
                      <a:pt x="4829" y="7534"/>
                      <a:pt x="6884" y="9426"/>
                    </a:cubicBezTo>
                    <a:cubicBezTo>
                      <a:pt x="11516" y="13667"/>
                      <a:pt x="15528" y="17320"/>
                      <a:pt x="15887" y="22050"/>
                    </a:cubicBezTo>
                    <a:cubicBezTo>
                      <a:pt x="15985" y="23127"/>
                      <a:pt x="16865" y="23942"/>
                      <a:pt x="17909" y="23942"/>
                    </a:cubicBezTo>
                    <a:lnTo>
                      <a:pt x="18072" y="23942"/>
                    </a:lnTo>
                    <a:cubicBezTo>
                      <a:pt x="19214" y="23844"/>
                      <a:pt x="20029" y="22866"/>
                      <a:pt x="19964" y="21724"/>
                    </a:cubicBezTo>
                    <a:cubicBezTo>
                      <a:pt x="19475" y="15428"/>
                      <a:pt x="14680" y="11025"/>
                      <a:pt x="9656" y="6393"/>
                    </a:cubicBezTo>
                    <a:cubicBezTo>
                      <a:pt x="7667" y="4599"/>
                      <a:pt x="5612" y="2707"/>
                      <a:pt x="3785" y="684"/>
                    </a:cubicBezTo>
                    <a:cubicBezTo>
                      <a:pt x="3383" y="230"/>
                      <a:pt x="2831" y="0"/>
                      <a:pt x="227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0" name="Google Shape;900;p55"/>
              <p:cNvSpPr/>
              <p:nvPr/>
            </p:nvSpPr>
            <p:spPr>
              <a:xfrm>
                <a:off x="2210375" y="3075225"/>
                <a:ext cx="503200" cy="330300"/>
              </a:xfrm>
              <a:custGeom>
                <a:rect b="b" l="l" r="r" t="t"/>
                <a:pathLst>
                  <a:path extrusionOk="0" h="13212" w="20128">
                    <a:moveTo>
                      <a:pt x="18105" y="1"/>
                    </a:moveTo>
                    <a:cubicBezTo>
                      <a:pt x="10961" y="1"/>
                      <a:pt x="5089" y="5220"/>
                      <a:pt x="784" y="9754"/>
                    </a:cubicBezTo>
                    <a:cubicBezTo>
                      <a:pt x="1" y="10569"/>
                      <a:pt x="33" y="11842"/>
                      <a:pt x="849" y="12624"/>
                    </a:cubicBezTo>
                    <a:cubicBezTo>
                      <a:pt x="1240" y="13016"/>
                      <a:pt x="1762" y="13212"/>
                      <a:pt x="2252" y="13212"/>
                    </a:cubicBezTo>
                    <a:cubicBezTo>
                      <a:pt x="2806" y="13212"/>
                      <a:pt x="3361" y="12983"/>
                      <a:pt x="3752" y="12559"/>
                    </a:cubicBezTo>
                    <a:cubicBezTo>
                      <a:pt x="7503" y="8612"/>
                      <a:pt x="12527" y="4111"/>
                      <a:pt x="18105" y="4111"/>
                    </a:cubicBezTo>
                    <a:cubicBezTo>
                      <a:pt x="19214" y="4111"/>
                      <a:pt x="20127" y="3197"/>
                      <a:pt x="20127" y="2056"/>
                    </a:cubicBezTo>
                    <a:cubicBezTo>
                      <a:pt x="20127" y="914"/>
                      <a:pt x="19214" y="1"/>
                      <a:pt x="1810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1" name="Google Shape;901;p55"/>
              <p:cNvSpPr/>
              <p:nvPr/>
            </p:nvSpPr>
            <p:spPr>
              <a:xfrm>
                <a:off x="4314350" y="3370000"/>
                <a:ext cx="411850" cy="364175"/>
              </a:xfrm>
              <a:custGeom>
                <a:rect b="b" l="l" r="r" t="t"/>
                <a:pathLst>
                  <a:path extrusionOk="0" h="14567" w="16474">
                    <a:moveTo>
                      <a:pt x="2276" y="1"/>
                    </a:moveTo>
                    <a:cubicBezTo>
                      <a:pt x="1805" y="1"/>
                      <a:pt x="1332" y="166"/>
                      <a:pt x="947" y="507"/>
                    </a:cubicBezTo>
                    <a:cubicBezTo>
                      <a:pt x="99" y="1257"/>
                      <a:pt x="1" y="2530"/>
                      <a:pt x="751" y="3378"/>
                    </a:cubicBezTo>
                    <a:cubicBezTo>
                      <a:pt x="3850" y="6966"/>
                      <a:pt x="8515" y="11109"/>
                      <a:pt x="12984" y="14208"/>
                    </a:cubicBezTo>
                    <a:cubicBezTo>
                      <a:pt x="13337" y="14465"/>
                      <a:pt x="13723" y="14564"/>
                      <a:pt x="14141" y="14566"/>
                    </a:cubicBezTo>
                    <a:lnTo>
                      <a:pt x="14141" y="14566"/>
                    </a:lnTo>
                    <a:cubicBezTo>
                      <a:pt x="14788" y="14562"/>
                      <a:pt x="15433" y="14268"/>
                      <a:pt x="15821" y="13686"/>
                    </a:cubicBezTo>
                    <a:cubicBezTo>
                      <a:pt x="16474" y="12772"/>
                      <a:pt x="16245" y="11500"/>
                      <a:pt x="15300" y="10848"/>
                    </a:cubicBezTo>
                    <a:cubicBezTo>
                      <a:pt x="11189" y="7977"/>
                      <a:pt x="6655" y="3998"/>
                      <a:pt x="3817" y="703"/>
                    </a:cubicBezTo>
                    <a:cubicBezTo>
                      <a:pt x="3408" y="240"/>
                      <a:pt x="2843" y="1"/>
                      <a:pt x="2276" y="1"/>
                    </a:cubicBezTo>
                    <a:close/>
                    <a:moveTo>
                      <a:pt x="14141" y="14566"/>
                    </a:moveTo>
                    <a:cubicBezTo>
                      <a:pt x="14135" y="14566"/>
                      <a:pt x="14130" y="14566"/>
                      <a:pt x="14125" y="14566"/>
                    </a:cubicBezTo>
                    <a:lnTo>
                      <a:pt x="14158" y="14566"/>
                    </a:lnTo>
                    <a:cubicBezTo>
                      <a:pt x="14152" y="14566"/>
                      <a:pt x="14146" y="14566"/>
                      <a:pt x="14141" y="14566"/>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2" name="Google Shape;902;p55"/>
              <p:cNvSpPr/>
              <p:nvPr/>
            </p:nvSpPr>
            <p:spPr>
              <a:xfrm>
                <a:off x="3926175" y="2452175"/>
                <a:ext cx="456700" cy="512175"/>
              </a:xfrm>
              <a:custGeom>
                <a:rect b="b" l="l" r="r" t="t"/>
                <a:pathLst>
                  <a:path extrusionOk="0" h="20487" w="18268">
                    <a:moveTo>
                      <a:pt x="16148" y="6623"/>
                    </a:moveTo>
                    <a:lnTo>
                      <a:pt x="9917" y="10244"/>
                    </a:lnTo>
                    <a:lnTo>
                      <a:pt x="16148" y="13864"/>
                    </a:lnTo>
                    <a:cubicBezTo>
                      <a:pt x="17746" y="14778"/>
                      <a:pt x="18268" y="16768"/>
                      <a:pt x="17355" y="18366"/>
                    </a:cubicBezTo>
                    <a:cubicBezTo>
                      <a:pt x="16441" y="19932"/>
                      <a:pt x="14451" y="20486"/>
                      <a:pt x="12853" y="19573"/>
                    </a:cubicBezTo>
                    <a:lnTo>
                      <a:pt x="1664" y="13081"/>
                    </a:lnTo>
                    <a:cubicBezTo>
                      <a:pt x="914" y="12657"/>
                      <a:pt x="392" y="11972"/>
                      <a:pt x="164" y="11222"/>
                    </a:cubicBezTo>
                    <a:cubicBezTo>
                      <a:pt x="33" y="10863"/>
                      <a:pt x="1" y="10505"/>
                      <a:pt x="1" y="10146"/>
                    </a:cubicBezTo>
                    <a:cubicBezTo>
                      <a:pt x="33" y="9885"/>
                      <a:pt x="66" y="9624"/>
                      <a:pt x="131" y="9363"/>
                    </a:cubicBezTo>
                    <a:cubicBezTo>
                      <a:pt x="360" y="8547"/>
                      <a:pt x="882" y="7830"/>
                      <a:pt x="1664" y="7373"/>
                    </a:cubicBezTo>
                    <a:lnTo>
                      <a:pt x="12853" y="914"/>
                    </a:lnTo>
                    <a:cubicBezTo>
                      <a:pt x="14451" y="1"/>
                      <a:pt x="16441" y="555"/>
                      <a:pt x="17355" y="2121"/>
                    </a:cubicBezTo>
                    <a:cubicBezTo>
                      <a:pt x="18268" y="3687"/>
                      <a:pt x="17746" y="5709"/>
                      <a:pt x="16148" y="6623"/>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3" name="Google Shape;903;p55"/>
              <p:cNvSpPr/>
              <p:nvPr/>
            </p:nvSpPr>
            <p:spPr>
              <a:xfrm>
                <a:off x="3777775" y="2882775"/>
                <a:ext cx="457500" cy="489325"/>
              </a:xfrm>
              <a:custGeom>
                <a:rect b="b" l="l" r="r" t="t"/>
                <a:pathLst>
                  <a:path extrusionOk="0" h="19573" w="18300">
                    <a:moveTo>
                      <a:pt x="16179" y="6948"/>
                    </a:moveTo>
                    <a:lnTo>
                      <a:pt x="4958" y="490"/>
                    </a:lnTo>
                    <a:cubicBezTo>
                      <a:pt x="4371" y="131"/>
                      <a:pt x="3686" y="0"/>
                      <a:pt x="3066" y="65"/>
                    </a:cubicBezTo>
                    <a:cubicBezTo>
                      <a:pt x="1337" y="163"/>
                      <a:pt x="0" y="1599"/>
                      <a:pt x="0" y="3327"/>
                    </a:cubicBezTo>
                    <a:lnTo>
                      <a:pt x="0" y="16278"/>
                    </a:lnTo>
                    <a:cubicBezTo>
                      <a:pt x="0" y="18104"/>
                      <a:pt x="1468" y="19572"/>
                      <a:pt x="3295" y="19572"/>
                    </a:cubicBezTo>
                    <a:cubicBezTo>
                      <a:pt x="5121" y="19572"/>
                      <a:pt x="6622" y="18104"/>
                      <a:pt x="6622" y="16278"/>
                    </a:cubicBezTo>
                    <a:lnTo>
                      <a:pt x="6622" y="9036"/>
                    </a:lnTo>
                    <a:lnTo>
                      <a:pt x="12885" y="12657"/>
                    </a:lnTo>
                    <a:cubicBezTo>
                      <a:pt x="14451" y="13570"/>
                      <a:pt x="16473" y="13048"/>
                      <a:pt x="17386" y="11450"/>
                    </a:cubicBezTo>
                    <a:cubicBezTo>
                      <a:pt x="18300" y="9884"/>
                      <a:pt x="17745" y="7862"/>
                      <a:pt x="16179" y="6948"/>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4" name="Google Shape;904;p55"/>
              <p:cNvSpPr/>
              <p:nvPr/>
            </p:nvSpPr>
            <p:spPr>
              <a:xfrm>
                <a:off x="3556775" y="2554125"/>
                <a:ext cx="308275" cy="308275"/>
              </a:xfrm>
              <a:custGeom>
                <a:rect b="b" l="l" r="r" t="t"/>
                <a:pathLst>
                  <a:path extrusionOk="0" h="12331" w="12331">
                    <a:moveTo>
                      <a:pt x="12069" y="4893"/>
                    </a:moveTo>
                    <a:lnTo>
                      <a:pt x="7437" y="229"/>
                    </a:lnTo>
                    <a:cubicBezTo>
                      <a:pt x="7307" y="98"/>
                      <a:pt x="7046" y="0"/>
                      <a:pt x="6850" y="0"/>
                    </a:cubicBezTo>
                    <a:lnTo>
                      <a:pt x="5480" y="0"/>
                    </a:lnTo>
                    <a:cubicBezTo>
                      <a:pt x="5284" y="0"/>
                      <a:pt x="5024" y="98"/>
                      <a:pt x="4893" y="229"/>
                    </a:cubicBezTo>
                    <a:lnTo>
                      <a:pt x="228" y="4893"/>
                    </a:lnTo>
                    <a:cubicBezTo>
                      <a:pt x="98" y="5024"/>
                      <a:pt x="0" y="5285"/>
                      <a:pt x="0" y="5481"/>
                    </a:cubicBezTo>
                    <a:lnTo>
                      <a:pt x="0" y="6851"/>
                    </a:lnTo>
                    <a:cubicBezTo>
                      <a:pt x="0" y="7046"/>
                      <a:pt x="98" y="7307"/>
                      <a:pt x="228" y="7438"/>
                    </a:cubicBezTo>
                    <a:lnTo>
                      <a:pt x="4893" y="12070"/>
                    </a:lnTo>
                    <a:cubicBezTo>
                      <a:pt x="5024" y="12233"/>
                      <a:pt x="5284" y="12331"/>
                      <a:pt x="5480" y="12331"/>
                    </a:cubicBezTo>
                    <a:lnTo>
                      <a:pt x="6850" y="12331"/>
                    </a:lnTo>
                    <a:cubicBezTo>
                      <a:pt x="7046" y="12331"/>
                      <a:pt x="7307" y="12233"/>
                      <a:pt x="7437" y="12070"/>
                    </a:cubicBezTo>
                    <a:lnTo>
                      <a:pt x="12069" y="7438"/>
                    </a:lnTo>
                    <a:cubicBezTo>
                      <a:pt x="12232" y="7307"/>
                      <a:pt x="12330" y="7046"/>
                      <a:pt x="12330" y="6851"/>
                    </a:cubicBezTo>
                    <a:lnTo>
                      <a:pt x="12330" y="5481"/>
                    </a:lnTo>
                    <a:cubicBezTo>
                      <a:pt x="12330" y="5285"/>
                      <a:pt x="12232" y="5024"/>
                      <a:pt x="12069" y="4893"/>
                    </a:cubicBezTo>
                    <a:close/>
                    <a:moveTo>
                      <a:pt x="8351" y="6198"/>
                    </a:moveTo>
                    <a:cubicBezTo>
                      <a:pt x="8351" y="6394"/>
                      <a:pt x="8253" y="6655"/>
                      <a:pt x="8122" y="6785"/>
                    </a:cubicBezTo>
                    <a:lnTo>
                      <a:pt x="6752" y="8123"/>
                    </a:lnTo>
                    <a:cubicBezTo>
                      <a:pt x="6622" y="8253"/>
                      <a:pt x="6361" y="8351"/>
                      <a:pt x="6198" y="8351"/>
                    </a:cubicBezTo>
                    <a:lnTo>
                      <a:pt x="6133" y="8351"/>
                    </a:lnTo>
                    <a:cubicBezTo>
                      <a:pt x="5937" y="8351"/>
                      <a:pt x="5676" y="8253"/>
                      <a:pt x="5545" y="8123"/>
                    </a:cubicBezTo>
                    <a:lnTo>
                      <a:pt x="4208" y="6785"/>
                    </a:lnTo>
                    <a:cubicBezTo>
                      <a:pt x="4078" y="6622"/>
                      <a:pt x="3947" y="6361"/>
                      <a:pt x="3947" y="6198"/>
                    </a:cubicBezTo>
                    <a:lnTo>
                      <a:pt x="3947" y="6133"/>
                    </a:lnTo>
                    <a:cubicBezTo>
                      <a:pt x="3947" y="5970"/>
                      <a:pt x="4078" y="5709"/>
                      <a:pt x="4208" y="5546"/>
                    </a:cubicBezTo>
                    <a:lnTo>
                      <a:pt x="5545" y="4208"/>
                    </a:lnTo>
                    <a:cubicBezTo>
                      <a:pt x="5676" y="4078"/>
                      <a:pt x="5937" y="3980"/>
                      <a:pt x="6133" y="3980"/>
                    </a:cubicBezTo>
                    <a:lnTo>
                      <a:pt x="6198" y="3980"/>
                    </a:lnTo>
                    <a:cubicBezTo>
                      <a:pt x="6361" y="3980"/>
                      <a:pt x="6622" y="4078"/>
                      <a:pt x="6752" y="4208"/>
                    </a:cubicBezTo>
                    <a:lnTo>
                      <a:pt x="8122" y="5546"/>
                    </a:lnTo>
                    <a:cubicBezTo>
                      <a:pt x="8253" y="5709"/>
                      <a:pt x="8351" y="5970"/>
                      <a:pt x="8351" y="6133"/>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5" name="Google Shape;905;p55"/>
              <p:cNvSpPr/>
              <p:nvPr/>
            </p:nvSpPr>
            <p:spPr>
              <a:xfrm>
                <a:off x="3186525" y="2044450"/>
                <a:ext cx="456700" cy="489300"/>
              </a:xfrm>
              <a:custGeom>
                <a:rect b="b" l="l" r="r" t="t"/>
                <a:pathLst>
                  <a:path extrusionOk="0" h="19572" w="18268">
                    <a:moveTo>
                      <a:pt x="2121" y="12624"/>
                    </a:moveTo>
                    <a:lnTo>
                      <a:pt x="13310" y="19083"/>
                    </a:lnTo>
                    <a:cubicBezTo>
                      <a:pt x="13929" y="19441"/>
                      <a:pt x="14582" y="19572"/>
                      <a:pt x="15234" y="19539"/>
                    </a:cubicBezTo>
                    <a:cubicBezTo>
                      <a:pt x="16930" y="19409"/>
                      <a:pt x="18268" y="17974"/>
                      <a:pt x="18268" y="16245"/>
                    </a:cubicBezTo>
                    <a:lnTo>
                      <a:pt x="18268" y="3295"/>
                    </a:lnTo>
                    <a:cubicBezTo>
                      <a:pt x="18268" y="1468"/>
                      <a:pt x="16800" y="0"/>
                      <a:pt x="14973" y="0"/>
                    </a:cubicBezTo>
                    <a:cubicBezTo>
                      <a:pt x="13179" y="0"/>
                      <a:pt x="11679" y="1468"/>
                      <a:pt x="11679" y="3295"/>
                    </a:cubicBezTo>
                    <a:lnTo>
                      <a:pt x="11679" y="10536"/>
                    </a:lnTo>
                    <a:lnTo>
                      <a:pt x="5416" y="6915"/>
                    </a:lnTo>
                    <a:cubicBezTo>
                      <a:pt x="3817" y="6002"/>
                      <a:pt x="1827" y="6524"/>
                      <a:pt x="914" y="8122"/>
                    </a:cubicBezTo>
                    <a:cubicBezTo>
                      <a:pt x="1" y="9688"/>
                      <a:pt x="523" y="11711"/>
                      <a:pt x="2121" y="12624"/>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6" name="Google Shape;906;p55"/>
              <p:cNvSpPr/>
              <p:nvPr/>
            </p:nvSpPr>
            <p:spPr>
              <a:xfrm>
                <a:off x="3777775" y="2044450"/>
                <a:ext cx="457500" cy="489300"/>
              </a:xfrm>
              <a:custGeom>
                <a:rect b="b" l="l" r="r" t="t"/>
                <a:pathLst>
                  <a:path extrusionOk="0" h="19572" w="18300">
                    <a:moveTo>
                      <a:pt x="3066" y="19539"/>
                    </a:moveTo>
                    <a:cubicBezTo>
                      <a:pt x="3686" y="19572"/>
                      <a:pt x="4371" y="19441"/>
                      <a:pt x="4958" y="19083"/>
                    </a:cubicBezTo>
                    <a:lnTo>
                      <a:pt x="16179" y="12624"/>
                    </a:lnTo>
                    <a:cubicBezTo>
                      <a:pt x="17745" y="11711"/>
                      <a:pt x="18300" y="9688"/>
                      <a:pt x="17386" y="8122"/>
                    </a:cubicBezTo>
                    <a:cubicBezTo>
                      <a:pt x="16473" y="6524"/>
                      <a:pt x="14451" y="6002"/>
                      <a:pt x="12885" y="6915"/>
                    </a:cubicBezTo>
                    <a:lnTo>
                      <a:pt x="6589" y="10536"/>
                    </a:lnTo>
                    <a:lnTo>
                      <a:pt x="6589" y="3295"/>
                    </a:lnTo>
                    <a:cubicBezTo>
                      <a:pt x="6589" y="1468"/>
                      <a:pt x="5121" y="0"/>
                      <a:pt x="3295" y="0"/>
                    </a:cubicBezTo>
                    <a:cubicBezTo>
                      <a:pt x="1468" y="0"/>
                      <a:pt x="0" y="1468"/>
                      <a:pt x="0" y="3295"/>
                    </a:cubicBezTo>
                    <a:lnTo>
                      <a:pt x="0" y="16245"/>
                    </a:lnTo>
                    <a:cubicBezTo>
                      <a:pt x="0" y="17974"/>
                      <a:pt x="1337" y="19409"/>
                      <a:pt x="3066" y="19507"/>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7" name="Google Shape;907;p55"/>
              <p:cNvSpPr/>
              <p:nvPr/>
            </p:nvSpPr>
            <p:spPr>
              <a:xfrm>
                <a:off x="3186525" y="2882775"/>
                <a:ext cx="456700" cy="489325"/>
              </a:xfrm>
              <a:custGeom>
                <a:rect b="b" l="l" r="r" t="t"/>
                <a:pathLst>
                  <a:path extrusionOk="0" h="19573" w="18268">
                    <a:moveTo>
                      <a:pt x="15234" y="65"/>
                    </a:moveTo>
                    <a:cubicBezTo>
                      <a:pt x="14582" y="0"/>
                      <a:pt x="13929" y="131"/>
                      <a:pt x="13310" y="490"/>
                    </a:cubicBezTo>
                    <a:lnTo>
                      <a:pt x="2121" y="6948"/>
                    </a:lnTo>
                    <a:cubicBezTo>
                      <a:pt x="523" y="7862"/>
                      <a:pt x="1" y="9884"/>
                      <a:pt x="914" y="11450"/>
                    </a:cubicBezTo>
                    <a:cubicBezTo>
                      <a:pt x="1827" y="13048"/>
                      <a:pt x="3817" y="13570"/>
                      <a:pt x="5383" y="12657"/>
                    </a:cubicBezTo>
                    <a:lnTo>
                      <a:pt x="11679" y="9036"/>
                    </a:lnTo>
                    <a:lnTo>
                      <a:pt x="11679" y="16278"/>
                    </a:lnTo>
                    <a:cubicBezTo>
                      <a:pt x="11679" y="18104"/>
                      <a:pt x="13146" y="19572"/>
                      <a:pt x="14973" y="19572"/>
                    </a:cubicBezTo>
                    <a:cubicBezTo>
                      <a:pt x="16800" y="19572"/>
                      <a:pt x="18268" y="18104"/>
                      <a:pt x="18268" y="16278"/>
                    </a:cubicBezTo>
                    <a:lnTo>
                      <a:pt x="18268" y="3327"/>
                    </a:lnTo>
                    <a:cubicBezTo>
                      <a:pt x="18268" y="1599"/>
                      <a:pt x="16930" y="163"/>
                      <a:pt x="15234" y="65"/>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8" name="Google Shape;908;p55"/>
              <p:cNvSpPr/>
              <p:nvPr/>
            </p:nvSpPr>
            <p:spPr>
              <a:xfrm>
                <a:off x="3038100" y="2452175"/>
                <a:ext cx="456700" cy="512175"/>
              </a:xfrm>
              <a:custGeom>
                <a:rect b="b" l="l" r="r" t="t"/>
                <a:pathLst>
                  <a:path extrusionOk="0" h="20487" w="18268">
                    <a:moveTo>
                      <a:pt x="18137" y="11222"/>
                    </a:moveTo>
                    <a:cubicBezTo>
                      <a:pt x="18235" y="10863"/>
                      <a:pt x="18268" y="10505"/>
                      <a:pt x="18268" y="10146"/>
                    </a:cubicBezTo>
                    <a:cubicBezTo>
                      <a:pt x="18268" y="9885"/>
                      <a:pt x="18235" y="9624"/>
                      <a:pt x="18170" y="9363"/>
                    </a:cubicBezTo>
                    <a:cubicBezTo>
                      <a:pt x="17942" y="8547"/>
                      <a:pt x="17420" y="7830"/>
                      <a:pt x="16637" y="7373"/>
                    </a:cubicBezTo>
                    <a:lnTo>
                      <a:pt x="5416" y="914"/>
                    </a:lnTo>
                    <a:cubicBezTo>
                      <a:pt x="3850" y="1"/>
                      <a:pt x="1828" y="555"/>
                      <a:pt x="914" y="2121"/>
                    </a:cubicBezTo>
                    <a:cubicBezTo>
                      <a:pt x="1" y="3720"/>
                      <a:pt x="555" y="5709"/>
                      <a:pt x="2121" y="6623"/>
                    </a:cubicBezTo>
                    <a:lnTo>
                      <a:pt x="8384" y="10244"/>
                    </a:lnTo>
                    <a:lnTo>
                      <a:pt x="2121" y="13864"/>
                    </a:lnTo>
                    <a:cubicBezTo>
                      <a:pt x="555" y="14778"/>
                      <a:pt x="1" y="16768"/>
                      <a:pt x="914" y="18366"/>
                    </a:cubicBezTo>
                    <a:cubicBezTo>
                      <a:pt x="1828" y="19932"/>
                      <a:pt x="3850" y="20486"/>
                      <a:pt x="5416" y="19573"/>
                    </a:cubicBezTo>
                    <a:lnTo>
                      <a:pt x="16637" y="13081"/>
                    </a:lnTo>
                    <a:cubicBezTo>
                      <a:pt x="17387" y="12657"/>
                      <a:pt x="17909" y="11972"/>
                      <a:pt x="18137" y="11222"/>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09" name="Google Shape;909;p55"/>
              <p:cNvSpPr/>
              <p:nvPr/>
            </p:nvSpPr>
            <p:spPr>
              <a:xfrm>
                <a:off x="2266650" y="2711975"/>
                <a:ext cx="253650" cy="465200"/>
              </a:xfrm>
              <a:custGeom>
                <a:rect b="b" l="l" r="r" t="t"/>
                <a:pathLst>
                  <a:path extrusionOk="0" h="18608" w="10146">
                    <a:moveTo>
                      <a:pt x="5272" y="1"/>
                    </a:moveTo>
                    <a:cubicBezTo>
                      <a:pt x="4528" y="1"/>
                      <a:pt x="3796" y="406"/>
                      <a:pt x="3426" y="1124"/>
                    </a:cubicBezTo>
                    <a:cubicBezTo>
                      <a:pt x="3295" y="1417"/>
                      <a:pt x="1" y="8202"/>
                      <a:pt x="6100" y="17695"/>
                    </a:cubicBezTo>
                    <a:cubicBezTo>
                      <a:pt x="6492" y="18282"/>
                      <a:pt x="7144" y="18608"/>
                      <a:pt x="7829" y="18608"/>
                    </a:cubicBezTo>
                    <a:cubicBezTo>
                      <a:pt x="8221" y="18608"/>
                      <a:pt x="8580" y="18510"/>
                      <a:pt x="8938" y="18282"/>
                    </a:cubicBezTo>
                    <a:cubicBezTo>
                      <a:pt x="9884" y="17695"/>
                      <a:pt x="10145" y="16422"/>
                      <a:pt x="9558" y="15476"/>
                    </a:cubicBezTo>
                    <a:cubicBezTo>
                      <a:pt x="4796" y="8104"/>
                      <a:pt x="6981" y="3211"/>
                      <a:pt x="7079" y="2950"/>
                    </a:cubicBezTo>
                    <a:cubicBezTo>
                      <a:pt x="7601" y="1939"/>
                      <a:pt x="7177" y="732"/>
                      <a:pt x="6166" y="210"/>
                    </a:cubicBezTo>
                    <a:cubicBezTo>
                      <a:pt x="5882" y="68"/>
                      <a:pt x="5576" y="1"/>
                      <a:pt x="527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0" name="Google Shape;910;p55"/>
              <p:cNvSpPr/>
              <p:nvPr/>
            </p:nvSpPr>
            <p:spPr>
              <a:xfrm>
                <a:off x="3060950" y="883175"/>
                <a:ext cx="404500" cy="849775"/>
              </a:xfrm>
              <a:custGeom>
                <a:rect b="b" l="l" r="r" t="t"/>
                <a:pathLst>
                  <a:path extrusionOk="0" h="33991" w="16180">
                    <a:moveTo>
                      <a:pt x="2055" y="0"/>
                    </a:moveTo>
                    <a:cubicBezTo>
                      <a:pt x="914" y="0"/>
                      <a:pt x="0" y="914"/>
                      <a:pt x="0" y="2055"/>
                    </a:cubicBezTo>
                    <a:lnTo>
                      <a:pt x="0" y="13472"/>
                    </a:lnTo>
                    <a:cubicBezTo>
                      <a:pt x="0" y="14614"/>
                      <a:pt x="914" y="15527"/>
                      <a:pt x="2055" y="15527"/>
                    </a:cubicBezTo>
                    <a:lnTo>
                      <a:pt x="12070" y="15527"/>
                    </a:lnTo>
                    <a:lnTo>
                      <a:pt x="12070" y="31968"/>
                    </a:lnTo>
                    <a:cubicBezTo>
                      <a:pt x="12070" y="33077"/>
                      <a:pt x="12983" y="33990"/>
                      <a:pt x="14125" y="33990"/>
                    </a:cubicBezTo>
                    <a:cubicBezTo>
                      <a:pt x="15266" y="33990"/>
                      <a:pt x="16180" y="33077"/>
                      <a:pt x="16180" y="31935"/>
                    </a:cubicBezTo>
                    <a:lnTo>
                      <a:pt x="16180" y="13472"/>
                    </a:lnTo>
                    <a:cubicBezTo>
                      <a:pt x="16180" y="12331"/>
                      <a:pt x="15266" y="11417"/>
                      <a:pt x="14125" y="11417"/>
                    </a:cubicBezTo>
                    <a:lnTo>
                      <a:pt x="4078" y="11417"/>
                    </a:lnTo>
                    <a:lnTo>
                      <a:pt x="4078" y="2055"/>
                    </a:lnTo>
                    <a:cubicBezTo>
                      <a:pt x="4078" y="914"/>
                      <a:pt x="3164" y="0"/>
                      <a:pt x="205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1" name="Google Shape;911;p55"/>
              <p:cNvSpPr/>
              <p:nvPr/>
            </p:nvSpPr>
            <p:spPr>
              <a:xfrm>
                <a:off x="3362675" y="3658300"/>
                <a:ext cx="102775" cy="1175150"/>
              </a:xfrm>
              <a:custGeom>
                <a:rect b="b" l="l" r="r" t="t"/>
                <a:pathLst>
                  <a:path extrusionOk="0" h="47006" w="4111">
                    <a:moveTo>
                      <a:pt x="2056" y="1"/>
                    </a:moveTo>
                    <a:cubicBezTo>
                      <a:pt x="914" y="1"/>
                      <a:pt x="1" y="914"/>
                      <a:pt x="1" y="2056"/>
                    </a:cubicBezTo>
                    <a:lnTo>
                      <a:pt x="1" y="44984"/>
                    </a:lnTo>
                    <a:cubicBezTo>
                      <a:pt x="1" y="46093"/>
                      <a:pt x="914" y="47006"/>
                      <a:pt x="2056" y="47006"/>
                    </a:cubicBezTo>
                    <a:cubicBezTo>
                      <a:pt x="3197" y="47006"/>
                      <a:pt x="4111" y="46093"/>
                      <a:pt x="4111" y="44984"/>
                    </a:cubicBezTo>
                    <a:lnTo>
                      <a:pt x="4111" y="2056"/>
                    </a:lnTo>
                    <a:cubicBezTo>
                      <a:pt x="4111" y="914"/>
                      <a:pt x="3197" y="1"/>
                      <a:pt x="20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2" name="Google Shape;912;p55"/>
              <p:cNvSpPr/>
              <p:nvPr/>
            </p:nvSpPr>
            <p:spPr>
              <a:xfrm>
                <a:off x="2478675" y="3573500"/>
                <a:ext cx="684225" cy="723375"/>
              </a:xfrm>
              <a:custGeom>
                <a:rect b="b" l="l" r="r" t="t"/>
                <a:pathLst>
                  <a:path extrusionOk="0" h="28935" w="27369">
                    <a:moveTo>
                      <a:pt x="25346" y="0"/>
                    </a:moveTo>
                    <a:cubicBezTo>
                      <a:pt x="24205" y="0"/>
                      <a:pt x="23291" y="914"/>
                      <a:pt x="23291" y="2055"/>
                    </a:cubicBezTo>
                    <a:lnTo>
                      <a:pt x="23291" y="15332"/>
                    </a:lnTo>
                    <a:lnTo>
                      <a:pt x="2186" y="15332"/>
                    </a:lnTo>
                    <a:cubicBezTo>
                      <a:pt x="1045" y="15332"/>
                      <a:pt x="131" y="16245"/>
                      <a:pt x="131" y="17354"/>
                    </a:cubicBezTo>
                    <a:lnTo>
                      <a:pt x="1" y="26879"/>
                    </a:lnTo>
                    <a:cubicBezTo>
                      <a:pt x="1" y="27988"/>
                      <a:pt x="881" y="28934"/>
                      <a:pt x="2023" y="28934"/>
                    </a:cubicBezTo>
                    <a:lnTo>
                      <a:pt x="2056" y="28934"/>
                    </a:lnTo>
                    <a:cubicBezTo>
                      <a:pt x="3165" y="28934"/>
                      <a:pt x="4078" y="28053"/>
                      <a:pt x="4111" y="26944"/>
                    </a:cubicBezTo>
                    <a:lnTo>
                      <a:pt x="4209" y="19409"/>
                    </a:lnTo>
                    <a:lnTo>
                      <a:pt x="25346" y="19409"/>
                    </a:lnTo>
                    <a:cubicBezTo>
                      <a:pt x="26455" y="19409"/>
                      <a:pt x="27369" y="18496"/>
                      <a:pt x="27369" y="17387"/>
                    </a:cubicBezTo>
                    <a:lnTo>
                      <a:pt x="27369" y="2055"/>
                    </a:lnTo>
                    <a:cubicBezTo>
                      <a:pt x="27369" y="914"/>
                      <a:pt x="26455" y="0"/>
                      <a:pt x="2534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3" name="Google Shape;913;p55"/>
              <p:cNvSpPr/>
              <p:nvPr/>
            </p:nvSpPr>
            <p:spPr>
              <a:xfrm>
                <a:off x="2755125" y="238125"/>
                <a:ext cx="711950" cy="711950"/>
              </a:xfrm>
              <a:custGeom>
                <a:rect b="b" l="l" r="r" t="t"/>
                <a:pathLst>
                  <a:path extrusionOk="0" h="28478" w="28478">
                    <a:moveTo>
                      <a:pt x="14256" y="6198"/>
                    </a:moveTo>
                    <a:cubicBezTo>
                      <a:pt x="18692" y="6198"/>
                      <a:pt x="22313" y="9786"/>
                      <a:pt x="22313" y="14255"/>
                    </a:cubicBezTo>
                    <a:cubicBezTo>
                      <a:pt x="22313" y="18691"/>
                      <a:pt x="18692" y="22279"/>
                      <a:pt x="14256" y="22279"/>
                    </a:cubicBezTo>
                    <a:cubicBezTo>
                      <a:pt x="9819" y="22279"/>
                      <a:pt x="6199" y="18691"/>
                      <a:pt x="6199" y="14255"/>
                    </a:cubicBezTo>
                    <a:cubicBezTo>
                      <a:pt x="6199" y="9819"/>
                      <a:pt x="9819" y="6198"/>
                      <a:pt x="14256" y="6198"/>
                    </a:cubicBezTo>
                    <a:close/>
                    <a:moveTo>
                      <a:pt x="14256" y="0"/>
                    </a:moveTo>
                    <a:cubicBezTo>
                      <a:pt x="6394" y="0"/>
                      <a:pt x="1" y="6393"/>
                      <a:pt x="1" y="14255"/>
                    </a:cubicBezTo>
                    <a:cubicBezTo>
                      <a:pt x="1" y="22084"/>
                      <a:pt x="6394" y="28477"/>
                      <a:pt x="14256" y="28477"/>
                    </a:cubicBezTo>
                    <a:cubicBezTo>
                      <a:pt x="22117" y="28477"/>
                      <a:pt x="28478" y="22084"/>
                      <a:pt x="28478" y="14255"/>
                    </a:cubicBezTo>
                    <a:cubicBezTo>
                      <a:pt x="28478" y="6393"/>
                      <a:pt x="22117" y="0"/>
                      <a:pt x="1425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4" name="Google Shape;914;p55"/>
              <p:cNvSpPr/>
              <p:nvPr/>
            </p:nvSpPr>
            <p:spPr>
              <a:xfrm>
                <a:off x="2166350" y="1097650"/>
                <a:ext cx="996550" cy="769025"/>
              </a:xfrm>
              <a:custGeom>
                <a:rect b="b" l="l" r="r" t="t"/>
                <a:pathLst>
                  <a:path extrusionOk="0" h="30761" w="39862">
                    <a:moveTo>
                      <a:pt x="2055" y="0"/>
                    </a:moveTo>
                    <a:cubicBezTo>
                      <a:pt x="914" y="0"/>
                      <a:pt x="0" y="914"/>
                      <a:pt x="0" y="2023"/>
                    </a:cubicBezTo>
                    <a:lnTo>
                      <a:pt x="0" y="14908"/>
                    </a:lnTo>
                    <a:cubicBezTo>
                      <a:pt x="0" y="16049"/>
                      <a:pt x="914" y="16963"/>
                      <a:pt x="2055" y="16963"/>
                    </a:cubicBezTo>
                    <a:lnTo>
                      <a:pt x="35784" y="16963"/>
                    </a:lnTo>
                    <a:lnTo>
                      <a:pt x="35784" y="28706"/>
                    </a:lnTo>
                    <a:cubicBezTo>
                      <a:pt x="35784" y="29848"/>
                      <a:pt x="36698" y="30761"/>
                      <a:pt x="37839" y="30761"/>
                    </a:cubicBezTo>
                    <a:cubicBezTo>
                      <a:pt x="38948" y="30761"/>
                      <a:pt x="39862" y="29848"/>
                      <a:pt x="39862" y="28706"/>
                    </a:cubicBezTo>
                    <a:lnTo>
                      <a:pt x="39862" y="14908"/>
                    </a:lnTo>
                    <a:cubicBezTo>
                      <a:pt x="39862" y="13799"/>
                      <a:pt x="38948" y="12885"/>
                      <a:pt x="37839" y="12885"/>
                    </a:cubicBezTo>
                    <a:lnTo>
                      <a:pt x="4078" y="12885"/>
                    </a:lnTo>
                    <a:lnTo>
                      <a:pt x="4078" y="2023"/>
                    </a:lnTo>
                    <a:cubicBezTo>
                      <a:pt x="4078" y="914"/>
                      <a:pt x="3164" y="0"/>
                      <a:pt x="205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5" name="Google Shape;915;p55"/>
              <p:cNvSpPr/>
              <p:nvPr/>
            </p:nvSpPr>
            <p:spPr>
              <a:xfrm>
                <a:off x="1864625" y="513750"/>
                <a:ext cx="711950" cy="711950"/>
              </a:xfrm>
              <a:custGeom>
                <a:rect b="b" l="l" r="r" t="t"/>
                <a:pathLst>
                  <a:path extrusionOk="0" h="28478" w="28478">
                    <a:moveTo>
                      <a:pt x="14255" y="6198"/>
                    </a:moveTo>
                    <a:cubicBezTo>
                      <a:pt x="18691" y="6198"/>
                      <a:pt x="22279" y="9819"/>
                      <a:pt x="22279" y="14255"/>
                    </a:cubicBezTo>
                    <a:cubicBezTo>
                      <a:pt x="22279" y="18692"/>
                      <a:pt x="18691" y="22313"/>
                      <a:pt x="14255" y="22313"/>
                    </a:cubicBezTo>
                    <a:cubicBezTo>
                      <a:pt x="9786" y="22313"/>
                      <a:pt x="6198" y="18692"/>
                      <a:pt x="6198" y="14255"/>
                    </a:cubicBezTo>
                    <a:cubicBezTo>
                      <a:pt x="6198" y="9819"/>
                      <a:pt x="9786" y="6198"/>
                      <a:pt x="14255" y="6198"/>
                    </a:cubicBezTo>
                    <a:close/>
                    <a:moveTo>
                      <a:pt x="14255" y="1"/>
                    </a:moveTo>
                    <a:cubicBezTo>
                      <a:pt x="6393" y="1"/>
                      <a:pt x="0" y="6394"/>
                      <a:pt x="0" y="14255"/>
                    </a:cubicBezTo>
                    <a:cubicBezTo>
                      <a:pt x="0" y="22084"/>
                      <a:pt x="6393" y="28478"/>
                      <a:pt x="14255" y="28478"/>
                    </a:cubicBezTo>
                    <a:cubicBezTo>
                      <a:pt x="22084" y="28478"/>
                      <a:pt x="28477" y="22084"/>
                      <a:pt x="28477" y="14255"/>
                    </a:cubicBezTo>
                    <a:cubicBezTo>
                      <a:pt x="28477" y="6394"/>
                      <a:pt x="22084" y="1"/>
                      <a:pt x="1425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6" name="Google Shape;916;p55"/>
              <p:cNvSpPr/>
              <p:nvPr/>
            </p:nvSpPr>
            <p:spPr>
              <a:xfrm>
                <a:off x="3658700" y="842400"/>
                <a:ext cx="1138450" cy="889725"/>
              </a:xfrm>
              <a:custGeom>
                <a:rect b="b" l="l" r="r" t="t"/>
                <a:pathLst>
                  <a:path extrusionOk="0" h="35589" w="45538">
                    <a:moveTo>
                      <a:pt x="43515" y="0"/>
                    </a:moveTo>
                    <a:cubicBezTo>
                      <a:pt x="42374" y="0"/>
                      <a:pt x="41460" y="914"/>
                      <a:pt x="41460" y="2055"/>
                    </a:cubicBezTo>
                    <a:lnTo>
                      <a:pt x="41460" y="13048"/>
                    </a:lnTo>
                    <a:lnTo>
                      <a:pt x="2056" y="13048"/>
                    </a:lnTo>
                    <a:cubicBezTo>
                      <a:pt x="914" y="13048"/>
                      <a:pt x="1" y="13962"/>
                      <a:pt x="1" y="15103"/>
                    </a:cubicBezTo>
                    <a:lnTo>
                      <a:pt x="1" y="33534"/>
                    </a:lnTo>
                    <a:cubicBezTo>
                      <a:pt x="1" y="34675"/>
                      <a:pt x="914" y="35589"/>
                      <a:pt x="2056" y="35589"/>
                    </a:cubicBezTo>
                    <a:cubicBezTo>
                      <a:pt x="3197" y="35589"/>
                      <a:pt x="4111" y="34675"/>
                      <a:pt x="4111" y="33534"/>
                    </a:cubicBezTo>
                    <a:lnTo>
                      <a:pt x="4111" y="17158"/>
                    </a:lnTo>
                    <a:lnTo>
                      <a:pt x="43515" y="17158"/>
                    </a:lnTo>
                    <a:cubicBezTo>
                      <a:pt x="44624" y="17158"/>
                      <a:pt x="45538" y="16245"/>
                      <a:pt x="45538" y="15103"/>
                    </a:cubicBezTo>
                    <a:lnTo>
                      <a:pt x="45538" y="2055"/>
                    </a:lnTo>
                    <a:cubicBezTo>
                      <a:pt x="45538" y="914"/>
                      <a:pt x="44624" y="0"/>
                      <a:pt x="435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7" name="Google Shape;917;p55"/>
              <p:cNvSpPr/>
              <p:nvPr/>
            </p:nvSpPr>
            <p:spPr>
              <a:xfrm>
                <a:off x="3941675" y="1419775"/>
                <a:ext cx="1158025" cy="312350"/>
              </a:xfrm>
              <a:custGeom>
                <a:rect b="b" l="l" r="r" t="t"/>
                <a:pathLst>
                  <a:path extrusionOk="0" h="12494" w="46321">
                    <a:moveTo>
                      <a:pt x="2023" y="0"/>
                    </a:moveTo>
                    <a:cubicBezTo>
                      <a:pt x="914" y="0"/>
                      <a:pt x="1" y="914"/>
                      <a:pt x="1" y="2023"/>
                    </a:cubicBezTo>
                    <a:lnTo>
                      <a:pt x="1" y="10439"/>
                    </a:lnTo>
                    <a:cubicBezTo>
                      <a:pt x="1" y="11580"/>
                      <a:pt x="914" y="12494"/>
                      <a:pt x="2023" y="12494"/>
                    </a:cubicBezTo>
                    <a:cubicBezTo>
                      <a:pt x="3165" y="12494"/>
                      <a:pt x="4078" y="11580"/>
                      <a:pt x="4078" y="10439"/>
                    </a:cubicBezTo>
                    <a:lnTo>
                      <a:pt x="4078" y="4078"/>
                    </a:lnTo>
                    <a:lnTo>
                      <a:pt x="44298" y="4078"/>
                    </a:lnTo>
                    <a:cubicBezTo>
                      <a:pt x="45407" y="4078"/>
                      <a:pt x="46321" y="3164"/>
                      <a:pt x="46321" y="2023"/>
                    </a:cubicBezTo>
                    <a:cubicBezTo>
                      <a:pt x="46321" y="914"/>
                      <a:pt x="45407" y="0"/>
                      <a:pt x="4429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8" name="Google Shape;918;p55"/>
              <p:cNvSpPr/>
              <p:nvPr/>
            </p:nvSpPr>
            <p:spPr>
              <a:xfrm>
                <a:off x="5008350" y="1126200"/>
                <a:ext cx="711950" cy="711950"/>
              </a:xfrm>
              <a:custGeom>
                <a:rect b="b" l="l" r="r" t="t"/>
                <a:pathLst>
                  <a:path extrusionOk="0" h="28478" w="28478">
                    <a:moveTo>
                      <a:pt x="14255" y="6165"/>
                    </a:moveTo>
                    <a:cubicBezTo>
                      <a:pt x="18691" y="6165"/>
                      <a:pt x="22312" y="9786"/>
                      <a:pt x="22312" y="14222"/>
                    </a:cubicBezTo>
                    <a:cubicBezTo>
                      <a:pt x="22312" y="18659"/>
                      <a:pt x="18691" y="22279"/>
                      <a:pt x="14255" y="22279"/>
                    </a:cubicBezTo>
                    <a:cubicBezTo>
                      <a:pt x="9819" y="22279"/>
                      <a:pt x="6198" y="18659"/>
                      <a:pt x="6198" y="14222"/>
                    </a:cubicBezTo>
                    <a:cubicBezTo>
                      <a:pt x="6198" y="9786"/>
                      <a:pt x="9819" y="6165"/>
                      <a:pt x="14255" y="6165"/>
                    </a:cubicBezTo>
                    <a:close/>
                    <a:moveTo>
                      <a:pt x="14255" y="0"/>
                    </a:moveTo>
                    <a:cubicBezTo>
                      <a:pt x="6394" y="0"/>
                      <a:pt x="0" y="6361"/>
                      <a:pt x="0" y="14222"/>
                    </a:cubicBezTo>
                    <a:cubicBezTo>
                      <a:pt x="0" y="22084"/>
                      <a:pt x="6394" y="28477"/>
                      <a:pt x="14255" y="28477"/>
                    </a:cubicBezTo>
                    <a:cubicBezTo>
                      <a:pt x="22116" y="28477"/>
                      <a:pt x="28477" y="22084"/>
                      <a:pt x="28477" y="14222"/>
                    </a:cubicBezTo>
                    <a:cubicBezTo>
                      <a:pt x="28477" y="6361"/>
                      <a:pt x="22116" y="0"/>
                      <a:pt x="1425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19" name="Google Shape;919;p55"/>
              <p:cNvSpPr/>
              <p:nvPr/>
            </p:nvSpPr>
            <p:spPr>
              <a:xfrm>
                <a:off x="4389375" y="251975"/>
                <a:ext cx="712775" cy="711950"/>
              </a:xfrm>
              <a:custGeom>
                <a:rect b="b" l="l" r="r" t="t"/>
                <a:pathLst>
                  <a:path extrusionOk="0" h="28478" w="28511">
                    <a:moveTo>
                      <a:pt x="14256" y="6166"/>
                    </a:moveTo>
                    <a:cubicBezTo>
                      <a:pt x="18692" y="6166"/>
                      <a:pt x="22313" y="9786"/>
                      <a:pt x="22313" y="14223"/>
                    </a:cubicBezTo>
                    <a:cubicBezTo>
                      <a:pt x="22313" y="18659"/>
                      <a:pt x="18692" y="22280"/>
                      <a:pt x="14256" y="22280"/>
                    </a:cubicBezTo>
                    <a:cubicBezTo>
                      <a:pt x="9819" y="22280"/>
                      <a:pt x="6199" y="18659"/>
                      <a:pt x="6199" y="14223"/>
                    </a:cubicBezTo>
                    <a:cubicBezTo>
                      <a:pt x="6199" y="9786"/>
                      <a:pt x="9819" y="6166"/>
                      <a:pt x="14256" y="6166"/>
                    </a:cubicBezTo>
                    <a:close/>
                    <a:moveTo>
                      <a:pt x="14256" y="1"/>
                    </a:moveTo>
                    <a:cubicBezTo>
                      <a:pt x="6394" y="1"/>
                      <a:pt x="1" y="6361"/>
                      <a:pt x="1" y="14223"/>
                    </a:cubicBezTo>
                    <a:cubicBezTo>
                      <a:pt x="1" y="22084"/>
                      <a:pt x="6394" y="28478"/>
                      <a:pt x="14256" y="28478"/>
                    </a:cubicBezTo>
                    <a:cubicBezTo>
                      <a:pt x="22117" y="28478"/>
                      <a:pt x="28511" y="22084"/>
                      <a:pt x="28511" y="14223"/>
                    </a:cubicBezTo>
                    <a:cubicBezTo>
                      <a:pt x="28511" y="6361"/>
                      <a:pt x="22117" y="1"/>
                      <a:pt x="142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20" name="Google Shape;920;p55"/>
              <p:cNvSpPr/>
              <p:nvPr/>
            </p:nvSpPr>
            <p:spPr>
              <a:xfrm>
                <a:off x="3058500" y="4732325"/>
                <a:ext cx="711950" cy="711950"/>
              </a:xfrm>
              <a:custGeom>
                <a:rect b="b" l="l" r="r" t="t"/>
                <a:pathLst>
                  <a:path extrusionOk="0" h="28478" w="28478">
                    <a:moveTo>
                      <a:pt x="14223" y="6165"/>
                    </a:moveTo>
                    <a:cubicBezTo>
                      <a:pt x="18659" y="6165"/>
                      <a:pt x="22280" y="9786"/>
                      <a:pt x="22280" y="14222"/>
                    </a:cubicBezTo>
                    <a:cubicBezTo>
                      <a:pt x="22280" y="18659"/>
                      <a:pt x="18659" y="22279"/>
                      <a:pt x="14223" y="22279"/>
                    </a:cubicBezTo>
                    <a:cubicBezTo>
                      <a:pt x="9786" y="22279"/>
                      <a:pt x="6166" y="18659"/>
                      <a:pt x="6166" y="14222"/>
                    </a:cubicBezTo>
                    <a:cubicBezTo>
                      <a:pt x="6166" y="9786"/>
                      <a:pt x="9786" y="6165"/>
                      <a:pt x="14223" y="6165"/>
                    </a:cubicBezTo>
                    <a:close/>
                    <a:moveTo>
                      <a:pt x="14223" y="0"/>
                    </a:moveTo>
                    <a:cubicBezTo>
                      <a:pt x="6361" y="0"/>
                      <a:pt x="0" y="6361"/>
                      <a:pt x="0" y="14222"/>
                    </a:cubicBezTo>
                    <a:cubicBezTo>
                      <a:pt x="0" y="22084"/>
                      <a:pt x="6361" y="28477"/>
                      <a:pt x="14223" y="28477"/>
                    </a:cubicBezTo>
                    <a:cubicBezTo>
                      <a:pt x="22084" y="28477"/>
                      <a:pt x="28477" y="22084"/>
                      <a:pt x="28477" y="14222"/>
                    </a:cubicBezTo>
                    <a:cubicBezTo>
                      <a:pt x="28477" y="6361"/>
                      <a:pt x="22084" y="0"/>
                      <a:pt x="1422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21" name="Google Shape;921;p55"/>
              <p:cNvSpPr/>
              <p:nvPr/>
            </p:nvSpPr>
            <p:spPr>
              <a:xfrm>
                <a:off x="3658700" y="3658300"/>
                <a:ext cx="896250" cy="1175150"/>
              </a:xfrm>
              <a:custGeom>
                <a:rect b="b" l="l" r="r" t="t"/>
                <a:pathLst>
                  <a:path extrusionOk="0" h="47006" w="35850">
                    <a:moveTo>
                      <a:pt x="2056" y="1"/>
                    </a:moveTo>
                    <a:cubicBezTo>
                      <a:pt x="914" y="1"/>
                      <a:pt x="1" y="914"/>
                      <a:pt x="1" y="2023"/>
                    </a:cubicBezTo>
                    <a:lnTo>
                      <a:pt x="1" y="35589"/>
                    </a:lnTo>
                    <a:cubicBezTo>
                      <a:pt x="1" y="36111"/>
                      <a:pt x="229" y="36633"/>
                      <a:pt x="620" y="37024"/>
                    </a:cubicBezTo>
                    <a:cubicBezTo>
                      <a:pt x="979" y="37416"/>
                      <a:pt x="1501" y="37611"/>
                      <a:pt x="2056" y="37611"/>
                    </a:cubicBezTo>
                    <a:lnTo>
                      <a:pt x="31772" y="37546"/>
                    </a:lnTo>
                    <a:lnTo>
                      <a:pt x="31772" y="44984"/>
                    </a:lnTo>
                    <a:cubicBezTo>
                      <a:pt x="31772" y="46093"/>
                      <a:pt x="32686" y="47006"/>
                      <a:pt x="33827" y="47006"/>
                    </a:cubicBezTo>
                    <a:cubicBezTo>
                      <a:pt x="34936" y="47006"/>
                      <a:pt x="35850" y="46093"/>
                      <a:pt x="35850" y="44984"/>
                    </a:cubicBezTo>
                    <a:lnTo>
                      <a:pt x="35850" y="35491"/>
                    </a:lnTo>
                    <a:cubicBezTo>
                      <a:pt x="35850" y="34969"/>
                      <a:pt x="35654" y="34447"/>
                      <a:pt x="35263" y="34056"/>
                    </a:cubicBezTo>
                    <a:cubicBezTo>
                      <a:pt x="34871" y="33664"/>
                      <a:pt x="34349" y="33469"/>
                      <a:pt x="33827" y="33469"/>
                    </a:cubicBezTo>
                    <a:lnTo>
                      <a:pt x="4111" y="33534"/>
                    </a:lnTo>
                    <a:lnTo>
                      <a:pt x="4111" y="2023"/>
                    </a:lnTo>
                    <a:cubicBezTo>
                      <a:pt x="4111" y="914"/>
                      <a:pt x="3197" y="1"/>
                      <a:pt x="20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22" name="Google Shape;922;p55"/>
              <p:cNvSpPr/>
              <p:nvPr/>
            </p:nvSpPr>
            <p:spPr>
              <a:xfrm>
                <a:off x="4134125" y="4745350"/>
                <a:ext cx="711950" cy="711975"/>
              </a:xfrm>
              <a:custGeom>
                <a:rect b="b" l="l" r="r" t="t"/>
                <a:pathLst>
                  <a:path extrusionOk="0" h="28479" w="28478">
                    <a:moveTo>
                      <a:pt x="14256" y="6199"/>
                    </a:moveTo>
                    <a:cubicBezTo>
                      <a:pt x="18692" y="6199"/>
                      <a:pt x="22313" y="9787"/>
                      <a:pt x="22313" y="14256"/>
                    </a:cubicBezTo>
                    <a:cubicBezTo>
                      <a:pt x="22313" y="18692"/>
                      <a:pt x="18692" y="22280"/>
                      <a:pt x="14256" y="22280"/>
                    </a:cubicBezTo>
                    <a:cubicBezTo>
                      <a:pt x="9819" y="22280"/>
                      <a:pt x="6199" y="18692"/>
                      <a:pt x="6199" y="14256"/>
                    </a:cubicBezTo>
                    <a:cubicBezTo>
                      <a:pt x="6199" y="9820"/>
                      <a:pt x="9819" y="6199"/>
                      <a:pt x="14256" y="6199"/>
                    </a:cubicBezTo>
                    <a:close/>
                    <a:moveTo>
                      <a:pt x="14256" y="1"/>
                    </a:moveTo>
                    <a:cubicBezTo>
                      <a:pt x="6394" y="1"/>
                      <a:pt x="1" y="6394"/>
                      <a:pt x="1" y="14256"/>
                    </a:cubicBezTo>
                    <a:cubicBezTo>
                      <a:pt x="1" y="22085"/>
                      <a:pt x="6394" y="28478"/>
                      <a:pt x="14256" y="28478"/>
                    </a:cubicBezTo>
                    <a:cubicBezTo>
                      <a:pt x="22084" y="28478"/>
                      <a:pt x="28478" y="22085"/>
                      <a:pt x="28478" y="14256"/>
                    </a:cubicBezTo>
                    <a:cubicBezTo>
                      <a:pt x="28478" y="6394"/>
                      <a:pt x="22084" y="1"/>
                      <a:pt x="142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sp>
            <p:nvSpPr>
              <p:cNvPr id="923" name="Google Shape;923;p55"/>
              <p:cNvSpPr/>
              <p:nvPr/>
            </p:nvSpPr>
            <p:spPr>
              <a:xfrm>
                <a:off x="2163075" y="4191750"/>
                <a:ext cx="733975" cy="712650"/>
              </a:xfrm>
              <a:custGeom>
                <a:rect b="b" l="l" r="r" t="t"/>
                <a:pathLst>
                  <a:path extrusionOk="0" h="28506" w="29359">
                    <a:moveTo>
                      <a:pt x="14680" y="6194"/>
                    </a:moveTo>
                    <a:cubicBezTo>
                      <a:pt x="18529" y="6194"/>
                      <a:pt x="21954" y="8999"/>
                      <a:pt x="22606" y="12914"/>
                    </a:cubicBezTo>
                    <a:cubicBezTo>
                      <a:pt x="22965" y="15034"/>
                      <a:pt x="22476" y="17187"/>
                      <a:pt x="21236" y="18916"/>
                    </a:cubicBezTo>
                    <a:cubicBezTo>
                      <a:pt x="19997" y="20677"/>
                      <a:pt x="18137" y="21851"/>
                      <a:pt x="16017" y="22210"/>
                    </a:cubicBezTo>
                    <a:cubicBezTo>
                      <a:pt x="15577" y="22285"/>
                      <a:pt x="15135" y="22321"/>
                      <a:pt x="14696" y="22321"/>
                    </a:cubicBezTo>
                    <a:cubicBezTo>
                      <a:pt x="13021" y="22321"/>
                      <a:pt x="11385" y="21790"/>
                      <a:pt x="10015" y="20808"/>
                    </a:cubicBezTo>
                    <a:cubicBezTo>
                      <a:pt x="8254" y="19568"/>
                      <a:pt x="7112" y="17709"/>
                      <a:pt x="6753" y="15588"/>
                    </a:cubicBezTo>
                    <a:cubicBezTo>
                      <a:pt x="6394" y="13468"/>
                      <a:pt x="6884" y="11348"/>
                      <a:pt x="8123" y="9586"/>
                    </a:cubicBezTo>
                    <a:cubicBezTo>
                      <a:pt x="9363" y="7825"/>
                      <a:pt x="11222" y="6683"/>
                      <a:pt x="13342" y="6324"/>
                    </a:cubicBezTo>
                    <a:cubicBezTo>
                      <a:pt x="13799" y="6226"/>
                      <a:pt x="14256" y="6194"/>
                      <a:pt x="14680" y="6194"/>
                    </a:cubicBezTo>
                    <a:close/>
                    <a:moveTo>
                      <a:pt x="14659" y="1"/>
                    </a:moveTo>
                    <a:cubicBezTo>
                      <a:pt x="13891" y="1"/>
                      <a:pt x="13113" y="63"/>
                      <a:pt x="12331" y="192"/>
                    </a:cubicBezTo>
                    <a:cubicBezTo>
                      <a:pt x="8580" y="844"/>
                      <a:pt x="5285" y="2899"/>
                      <a:pt x="3067" y="5998"/>
                    </a:cubicBezTo>
                    <a:cubicBezTo>
                      <a:pt x="882" y="9097"/>
                      <a:pt x="1" y="12848"/>
                      <a:pt x="653" y="16600"/>
                    </a:cubicBezTo>
                    <a:cubicBezTo>
                      <a:pt x="1273" y="20351"/>
                      <a:pt x="3328" y="23646"/>
                      <a:pt x="6427" y="25864"/>
                    </a:cubicBezTo>
                    <a:cubicBezTo>
                      <a:pt x="8873" y="27593"/>
                      <a:pt x="11711" y="28506"/>
                      <a:pt x="14647" y="28506"/>
                    </a:cubicBezTo>
                    <a:cubicBezTo>
                      <a:pt x="15430" y="28506"/>
                      <a:pt x="16245" y="28441"/>
                      <a:pt x="17028" y="28278"/>
                    </a:cubicBezTo>
                    <a:cubicBezTo>
                      <a:pt x="20780" y="27658"/>
                      <a:pt x="24074" y="25603"/>
                      <a:pt x="26292" y="22504"/>
                    </a:cubicBezTo>
                    <a:cubicBezTo>
                      <a:pt x="28478" y="19405"/>
                      <a:pt x="29359" y="15654"/>
                      <a:pt x="28706" y="11902"/>
                    </a:cubicBezTo>
                    <a:cubicBezTo>
                      <a:pt x="27563" y="4924"/>
                      <a:pt x="21490" y="1"/>
                      <a:pt x="1465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800" u="none" cap="none" strike="noStrike">
                  <a:solidFill>
                    <a:srgbClr val="252525"/>
                  </a:solidFill>
                  <a:latin typeface="Arial"/>
                  <a:ea typeface="Arial"/>
                  <a:cs typeface="Arial"/>
                  <a:sym typeface="Arial"/>
                </a:endParaRPr>
              </a:p>
            </p:txBody>
          </p:sp>
        </p:grpSp>
      </p:grpSp>
      <p:grpSp>
        <p:nvGrpSpPr>
          <p:cNvPr id="924" name="Google Shape;924;p55"/>
          <p:cNvGrpSpPr/>
          <p:nvPr/>
        </p:nvGrpSpPr>
        <p:grpSpPr>
          <a:xfrm>
            <a:off x="457186" y="2832747"/>
            <a:ext cx="538800" cy="372092"/>
            <a:chOff x="5231620" y="4531091"/>
            <a:chExt cx="538800" cy="446100"/>
          </a:xfrm>
        </p:grpSpPr>
        <p:sp>
          <p:nvSpPr>
            <p:cNvPr id="925" name="Google Shape;925;p55"/>
            <p:cNvSpPr/>
            <p:nvPr/>
          </p:nvSpPr>
          <p:spPr>
            <a:xfrm>
              <a:off x="5231620" y="4531091"/>
              <a:ext cx="538800" cy="446100"/>
            </a:xfrm>
            <a:prstGeom prst="rect">
              <a:avLst/>
            </a:prstGeom>
            <a:solidFill>
              <a:srgbClr val="4E9CD7"/>
            </a:solidFill>
            <a:ln cap="flat" cmpd="sng" w="25400">
              <a:solidFill>
                <a:srgbClr val="4E9C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grpSp>
          <p:nvGrpSpPr>
            <p:cNvPr id="926" name="Google Shape;926;p55"/>
            <p:cNvGrpSpPr/>
            <p:nvPr/>
          </p:nvGrpSpPr>
          <p:grpSpPr>
            <a:xfrm>
              <a:off x="5347672" y="4605703"/>
              <a:ext cx="307000" cy="296873"/>
              <a:chOff x="4445000" y="2432050"/>
              <a:chExt cx="250612" cy="280890"/>
            </a:xfrm>
          </p:grpSpPr>
          <p:sp>
            <p:nvSpPr>
              <p:cNvPr id="927" name="Google Shape;927;p55"/>
              <p:cNvSpPr/>
              <p:nvPr/>
            </p:nvSpPr>
            <p:spPr>
              <a:xfrm>
                <a:off x="4487736" y="2477219"/>
                <a:ext cx="166403" cy="188688"/>
              </a:xfrm>
              <a:custGeom>
                <a:rect b="b" l="l" r="r" t="t"/>
                <a:pathLst>
                  <a:path extrusionOk="0" h="188688" w="166403">
                    <a:moveTo>
                      <a:pt x="163097" y="132715"/>
                    </a:moveTo>
                    <a:lnTo>
                      <a:pt x="151620" y="126103"/>
                    </a:lnTo>
                    <a:cubicBezTo>
                      <a:pt x="156282" y="116221"/>
                      <a:pt x="158660" y="105435"/>
                      <a:pt x="158582" y="94530"/>
                    </a:cubicBezTo>
                    <a:cubicBezTo>
                      <a:pt x="158584" y="83062"/>
                      <a:pt x="155912" y="71747"/>
                      <a:pt x="150774" y="61468"/>
                    </a:cubicBezTo>
                    <a:lnTo>
                      <a:pt x="162533" y="54762"/>
                    </a:lnTo>
                    <a:cubicBezTo>
                      <a:pt x="165503" y="52966"/>
                      <a:pt x="166440" y="49125"/>
                      <a:pt x="164624" y="46184"/>
                    </a:cubicBezTo>
                    <a:cubicBezTo>
                      <a:pt x="162873" y="43346"/>
                      <a:pt x="159180" y="42367"/>
                      <a:pt x="156230" y="43959"/>
                    </a:cubicBezTo>
                    <a:lnTo>
                      <a:pt x="144283" y="50758"/>
                    </a:lnTo>
                    <a:cubicBezTo>
                      <a:pt x="131250" y="33022"/>
                      <a:pt x="111048" y="21798"/>
                      <a:pt x="88967" y="20024"/>
                    </a:cubicBezTo>
                    <a:lnTo>
                      <a:pt x="88967" y="6240"/>
                    </a:lnTo>
                    <a:cubicBezTo>
                      <a:pt x="88967" y="2794"/>
                      <a:pt x="86145" y="0"/>
                      <a:pt x="82664" y="0"/>
                    </a:cubicBezTo>
                    <a:cubicBezTo>
                      <a:pt x="79183" y="0"/>
                      <a:pt x="76361" y="2794"/>
                      <a:pt x="76361" y="6240"/>
                    </a:cubicBezTo>
                    <a:lnTo>
                      <a:pt x="76361" y="20024"/>
                    </a:lnTo>
                    <a:cubicBezTo>
                      <a:pt x="53987" y="21911"/>
                      <a:pt x="33632" y="33592"/>
                      <a:pt x="20857" y="51875"/>
                    </a:cubicBezTo>
                    <a:lnTo>
                      <a:pt x="9475" y="45449"/>
                    </a:lnTo>
                    <a:cubicBezTo>
                      <a:pt x="6478" y="43696"/>
                      <a:pt x="2612" y="44680"/>
                      <a:pt x="842" y="47647"/>
                    </a:cubicBezTo>
                    <a:cubicBezTo>
                      <a:pt x="834" y="47660"/>
                      <a:pt x="827" y="47672"/>
                      <a:pt x="820" y="47684"/>
                    </a:cubicBezTo>
                    <a:cubicBezTo>
                      <a:pt x="-889" y="50697"/>
                      <a:pt x="158" y="54510"/>
                      <a:pt x="3172" y="56253"/>
                    </a:cubicBezTo>
                    <a:lnTo>
                      <a:pt x="14837" y="62865"/>
                    </a:lnTo>
                    <a:cubicBezTo>
                      <a:pt x="4931" y="83543"/>
                      <a:pt x="5174" y="107580"/>
                      <a:pt x="15495" y="128058"/>
                    </a:cubicBezTo>
                    <a:lnTo>
                      <a:pt x="4300" y="134671"/>
                    </a:lnTo>
                    <a:cubicBezTo>
                      <a:pt x="1287" y="136396"/>
                      <a:pt x="257" y="140213"/>
                      <a:pt x="1999" y="143196"/>
                    </a:cubicBezTo>
                    <a:cubicBezTo>
                      <a:pt x="3133" y="145138"/>
                      <a:pt x="5233" y="146328"/>
                      <a:pt x="7499" y="146312"/>
                    </a:cubicBezTo>
                    <a:cubicBezTo>
                      <a:pt x="8590" y="146308"/>
                      <a:pt x="9661" y="146019"/>
                      <a:pt x="10603" y="145474"/>
                    </a:cubicBezTo>
                    <a:lnTo>
                      <a:pt x="22551" y="138676"/>
                    </a:lnTo>
                    <a:cubicBezTo>
                      <a:pt x="35318" y="156042"/>
                      <a:pt x="55035" y="167109"/>
                      <a:pt x="76643" y="169037"/>
                    </a:cubicBezTo>
                    <a:lnTo>
                      <a:pt x="76643" y="182448"/>
                    </a:lnTo>
                    <a:cubicBezTo>
                      <a:pt x="76643" y="185894"/>
                      <a:pt x="79466" y="188688"/>
                      <a:pt x="82946" y="188688"/>
                    </a:cubicBezTo>
                    <a:cubicBezTo>
                      <a:pt x="86427" y="188688"/>
                      <a:pt x="89249" y="185894"/>
                      <a:pt x="89249" y="182448"/>
                    </a:cubicBezTo>
                    <a:lnTo>
                      <a:pt x="89249" y="169037"/>
                    </a:lnTo>
                    <a:cubicBezTo>
                      <a:pt x="112046" y="167311"/>
                      <a:pt x="132814" y="155421"/>
                      <a:pt x="145694" y="136720"/>
                    </a:cubicBezTo>
                    <a:lnTo>
                      <a:pt x="157077" y="143239"/>
                    </a:lnTo>
                    <a:cubicBezTo>
                      <a:pt x="158034" y="143829"/>
                      <a:pt x="159148" y="144120"/>
                      <a:pt x="160275" y="144077"/>
                    </a:cubicBezTo>
                    <a:cubicBezTo>
                      <a:pt x="162511" y="144067"/>
                      <a:pt x="164580" y="142902"/>
                      <a:pt x="165732" y="141004"/>
                    </a:cubicBezTo>
                    <a:cubicBezTo>
                      <a:pt x="167260" y="137990"/>
                      <a:pt x="166094" y="134320"/>
                      <a:pt x="163097" y="132715"/>
                    </a:cubicBezTo>
                    <a:close/>
                    <a:moveTo>
                      <a:pt x="83135" y="157023"/>
                    </a:moveTo>
                    <a:cubicBezTo>
                      <a:pt x="48376" y="157054"/>
                      <a:pt x="20173" y="129185"/>
                      <a:pt x="20140" y="94774"/>
                    </a:cubicBezTo>
                    <a:cubicBezTo>
                      <a:pt x="20130" y="83946"/>
                      <a:pt x="22971" y="73301"/>
                      <a:pt x="28383" y="63889"/>
                    </a:cubicBezTo>
                    <a:lnTo>
                      <a:pt x="28383" y="63889"/>
                    </a:lnTo>
                    <a:lnTo>
                      <a:pt x="28383" y="63889"/>
                    </a:lnTo>
                    <a:cubicBezTo>
                      <a:pt x="46485" y="34513"/>
                      <a:pt x="85214" y="25226"/>
                      <a:pt x="114886" y="43146"/>
                    </a:cubicBezTo>
                    <a:cubicBezTo>
                      <a:pt x="143381" y="60355"/>
                      <a:pt x="153350" y="96593"/>
                      <a:pt x="137603" y="125730"/>
                    </a:cubicBezTo>
                    <a:cubicBezTo>
                      <a:pt x="137564" y="125883"/>
                      <a:pt x="137564" y="126043"/>
                      <a:pt x="137603" y="126196"/>
                    </a:cubicBezTo>
                    <a:lnTo>
                      <a:pt x="137603" y="126754"/>
                    </a:lnTo>
                    <a:cubicBezTo>
                      <a:pt x="126142" y="145681"/>
                      <a:pt x="105424" y="157194"/>
                      <a:pt x="83135" y="157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28" name="Google Shape;928;p55"/>
              <p:cNvSpPr/>
              <p:nvPr/>
            </p:nvSpPr>
            <p:spPr>
              <a:xfrm>
                <a:off x="4550268" y="2432050"/>
                <a:ext cx="41204" cy="40792"/>
              </a:xfrm>
              <a:custGeom>
                <a:rect b="b" l="l" r="r" t="t"/>
                <a:pathLst>
                  <a:path extrusionOk="0" h="40792" w="41204">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852"/>
                    </a:moveTo>
                    <a:cubicBezTo>
                      <a:pt x="25018" y="12852"/>
                      <a:pt x="28599" y="16397"/>
                      <a:pt x="28599" y="20769"/>
                    </a:cubicBezTo>
                    <a:cubicBezTo>
                      <a:pt x="28650" y="25192"/>
                      <a:pt x="25070" y="28819"/>
                      <a:pt x="20602" y="28870"/>
                    </a:cubicBezTo>
                    <a:cubicBezTo>
                      <a:pt x="16135" y="28921"/>
                      <a:pt x="12470" y="25377"/>
                      <a:pt x="12419" y="20954"/>
                    </a:cubicBezTo>
                    <a:cubicBezTo>
                      <a:pt x="12367" y="16531"/>
                      <a:pt x="15947" y="12904"/>
                      <a:pt x="20415" y="12852"/>
                    </a:cubicBezTo>
                    <a:cubicBezTo>
                      <a:pt x="20477" y="12852"/>
                      <a:pt x="20540" y="12852"/>
                      <a:pt x="20602" y="128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29" name="Google Shape;929;p55"/>
              <p:cNvSpPr/>
              <p:nvPr/>
            </p:nvSpPr>
            <p:spPr>
              <a:xfrm>
                <a:off x="4445000" y="2492120"/>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5"/>
                      <a:pt x="12606" y="24784"/>
                      <a:pt x="12606" y="20396"/>
                    </a:cubicBezTo>
                    <a:cubicBezTo>
                      <a:pt x="12606" y="16024"/>
                      <a:pt x="16186" y="12480"/>
                      <a:pt x="20602" y="12480"/>
                    </a:cubicBezTo>
                    <a:cubicBezTo>
                      <a:pt x="25044" y="12004"/>
                      <a:pt x="29036" y="15183"/>
                      <a:pt x="29517" y="19580"/>
                    </a:cubicBezTo>
                    <a:cubicBezTo>
                      <a:pt x="29998" y="23978"/>
                      <a:pt x="26787" y="27929"/>
                      <a:pt x="22344" y="28406"/>
                    </a:cubicBezTo>
                    <a:cubicBezTo>
                      <a:pt x="21765" y="28468"/>
                      <a:pt x="21181" y="28468"/>
                      <a:pt x="20602" y="2840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0" name="Google Shape;930;p55"/>
              <p:cNvSpPr/>
              <p:nvPr/>
            </p:nvSpPr>
            <p:spPr>
              <a:xfrm>
                <a:off x="4445000" y="2611983"/>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4"/>
                      <a:pt x="12606" y="24784"/>
                      <a:pt x="12606" y="20396"/>
                    </a:cubicBezTo>
                    <a:cubicBezTo>
                      <a:pt x="12606" y="16025"/>
                      <a:pt x="16186" y="12480"/>
                      <a:pt x="20602" y="12480"/>
                    </a:cubicBezTo>
                    <a:cubicBezTo>
                      <a:pt x="25044" y="12004"/>
                      <a:pt x="29036" y="15183"/>
                      <a:pt x="29517" y="19580"/>
                    </a:cubicBezTo>
                    <a:cubicBezTo>
                      <a:pt x="29998" y="23978"/>
                      <a:pt x="26787" y="27930"/>
                      <a:pt x="22344" y="28406"/>
                    </a:cubicBezTo>
                    <a:cubicBezTo>
                      <a:pt x="21765" y="28468"/>
                      <a:pt x="21181" y="28468"/>
                      <a:pt x="20602" y="2840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1" name="Google Shape;931;p55"/>
              <p:cNvSpPr/>
              <p:nvPr/>
            </p:nvSpPr>
            <p:spPr>
              <a:xfrm>
                <a:off x="4654408" y="2492586"/>
                <a:ext cx="41204" cy="40792"/>
              </a:xfrm>
              <a:custGeom>
                <a:rect b="b" l="l" r="r" t="t"/>
                <a:pathLst>
                  <a:path extrusionOk="0" h="40792" w="41204">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387"/>
                    </a:moveTo>
                    <a:cubicBezTo>
                      <a:pt x="25044" y="11910"/>
                      <a:pt x="29036" y="15089"/>
                      <a:pt x="29517" y="19487"/>
                    </a:cubicBezTo>
                    <a:cubicBezTo>
                      <a:pt x="29997" y="23885"/>
                      <a:pt x="26787" y="27836"/>
                      <a:pt x="22344" y="28313"/>
                    </a:cubicBezTo>
                    <a:cubicBezTo>
                      <a:pt x="21766" y="28375"/>
                      <a:pt x="21182" y="28375"/>
                      <a:pt x="20602" y="28313"/>
                    </a:cubicBezTo>
                    <a:cubicBezTo>
                      <a:pt x="16186" y="28313"/>
                      <a:pt x="12606" y="24768"/>
                      <a:pt x="12606" y="20396"/>
                    </a:cubicBezTo>
                    <a:cubicBezTo>
                      <a:pt x="12606" y="16009"/>
                      <a:pt x="16170" y="12438"/>
                      <a:pt x="20602" y="1238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2" name="Google Shape;932;p55"/>
              <p:cNvSpPr/>
              <p:nvPr/>
            </p:nvSpPr>
            <p:spPr>
              <a:xfrm>
                <a:off x="4654408" y="2611983"/>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0" y="28354"/>
                      <a:pt x="12606" y="24784"/>
                      <a:pt x="12606" y="20396"/>
                    </a:cubicBezTo>
                    <a:cubicBezTo>
                      <a:pt x="12606" y="16025"/>
                      <a:pt x="16186" y="12480"/>
                      <a:pt x="20602" y="12480"/>
                    </a:cubicBezTo>
                    <a:cubicBezTo>
                      <a:pt x="25044" y="12004"/>
                      <a:pt x="29036" y="15183"/>
                      <a:pt x="29517" y="19580"/>
                    </a:cubicBezTo>
                    <a:cubicBezTo>
                      <a:pt x="29997" y="23978"/>
                      <a:pt x="26787" y="27930"/>
                      <a:pt x="22344" y="28406"/>
                    </a:cubicBezTo>
                    <a:cubicBezTo>
                      <a:pt x="21766" y="28468"/>
                      <a:pt x="21182" y="28468"/>
                      <a:pt x="20602" y="2840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3" name="Google Shape;933;p55"/>
              <p:cNvSpPr/>
              <p:nvPr/>
            </p:nvSpPr>
            <p:spPr>
              <a:xfrm>
                <a:off x="4549896" y="2671961"/>
                <a:ext cx="41394" cy="40979"/>
              </a:xfrm>
              <a:custGeom>
                <a:rect b="b" l="l" r="r" t="t"/>
                <a:pathLst>
                  <a:path extrusionOk="0" h="40979" w="41394">
                    <a:moveTo>
                      <a:pt x="20787" y="0"/>
                    </a:moveTo>
                    <a:cubicBezTo>
                      <a:pt x="9357" y="-49"/>
                      <a:pt x="50" y="9083"/>
                      <a:pt x="0" y="20399"/>
                    </a:cubicBezTo>
                    <a:cubicBezTo>
                      <a:pt x="-50" y="31716"/>
                      <a:pt x="9175" y="40929"/>
                      <a:pt x="20605" y="40979"/>
                    </a:cubicBezTo>
                    <a:cubicBezTo>
                      <a:pt x="31924" y="41027"/>
                      <a:pt x="41183" y="32066"/>
                      <a:pt x="41389" y="20862"/>
                    </a:cubicBezTo>
                    <a:cubicBezTo>
                      <a:pt x="41649" y="9600"/>
                      <a:pt x="32638" y="263"/>
                      <a:pt x="21263" y="6"/>
                    </a:cubicBezTo>
                    <a:cubicBezTo>
                      <a:pt x="21104" y="2"/>
                      <a:pt x="20946" y="0"/>
                      <a:pt x="20787" y="0"/>
                    </a:cubicBezTo>
                    <a:close/>
                    <a:moveTo>
                      <a:pt x="20787" y="27940"/>
                    </a:moveTo>
                    <a:cubicBezTo>
                      <a:pt x="16355" y="27889"/>
                      <a:pt x="12791" y="24318"/>
                      <a:pt x="12791" y="19931"/>
                    </a:cubicBezTo>
                    <a:cubicBezTo>
                      <a:pt x="12791" y="15559"/>
                      <a:pt x="16371" y="12014"/>
                      <a:pt x="20787" y="12014"/>
                    </a:cubicBezTo>
                    <a:cubicBezTo>
                      <a:pt x="25229" y="11538"/>
                      <a:pt x="29221" y="14717"/>
                      <a:pt x="29701" y="19115"/>
                    </a:cubicBezTo>
                    <a:cubicBezTo>
                      <a:pt x="30182" y="23513"/>
                      <a:pt x="26971" y="27464"/>
                      <a:pt x="22529" y="27940"/>
                    </a:cubicBezTo>
                    <a:cubicBezTo>
                      <a:pt x="21950" y="28003"/>
                      <a:pt x="21366" y="28003"/>
                      <a:pt x="20787" y="2794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4" name="Google Shape;934;p55"/>
              <p:cNvSpPr/>
              <p:nvPr/>
            </p:nvSpPr>
            <p:spPr>
              <a:xfrm>
                <a:off x="4599107" y="2460409"/>
                <a:ext cx="51210" cy="36927"/>
              </a:xfrm>
              <a:custGeom>
                <a:rect b="b" l="l" r="r" t="t"/>
                <a:pathLst>
                  <a:path extrusionOk="0" h="36927" w="51210">
                    <a:moveTo>
                      <a:pt x="2902" y="11502"/>
                    </a:moveTo>
                    <a:lnTo>
                      <a:pt x="41473" y="35903"/>
                    </a:lnTo>
                    <a:cubicBezTo>
                      <a:pt x="42490" y="36535"/>
                      <a:pt x="43659" y="36889"/>
                      <a:pt x="44859" y="36927"/>
                    </a:cubicBezTo>
                    <a:cubicBezTo>
                      <a:pt x="47025" y="36925"/>
                      <a:pt x="49043" y="35839"/>
                      <a:pt x="50222" y="34040"/>
                    </a:cubicBezTo>
                    <a:cubicBezTo>
                      <a:pt x="52078" y="31186"/>
                      <a:pt x="51246" y="27382"/>
                      <a:pt x="48363" y="25544"/>
                    </a:cubicBezTo>
                    <a:cubicBezTo>
                      <a:pt x="48324" y="25519"/>
                      <a:pt x="48285" y="25495"/>
                      <a:pt x="48246" y="25472"/>
                    </a:cubicBezTo>
                    <a:lnTo>
                      <a:pt x="9676" y="978"/>
                    </a:lnTo>
                    <a:cubicBezTo>
                      <a:pt x="6733" y="-860"/>
                      <a:pt x="2846" y="-33"/>
                      <a:pt x="927" y="2840"/>
                    </a:cubicBezTo>
                    <a:cubicBezTo>
                      <a:pt x="-860" y="5786"/>
                      <a:pt x="10" y="9602"/>
                      <a:pt x="2902" y="1150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5" name="Google Shape;935;p55"/>
              <p:cNvSpPr/>
              <p:nvPr/>
            </p:nvSpPr>
            <p:spPr>
              <a:xfrm>
                <a:off x="4491585" y="2460380"/>
                <a:ext cx="51428" cy="36865"/>
              </a:xfrm>
              <a:custGeom>
                <a:rect b="b" l="l" r="r" t="t"/>
                <a:pathLst>
                  <a:path extrusionOk="0" h="36865" w="51428">
                    <a:moveTo>
                      <a:pt x="6285" y="36863"/>
                    </a:moveTo>
                    <a:cubicBezTo>
                      <a:pt x="7542" y="36902"/>
                      <a:pt x="8784" y="36578"/>
                      <a:pt x="9859" y="35931"/>
                    </a:cubicBezTo>
                    <a:lnTo>
                      <a:pt x="48524" y="11530"/>
                    </a:lnTo>
                    <a:cubicBezTo>
                      <a:pt x="51455" y="9672"/>
                      <a:pt x="52309" y="5812"/>
                      <a:pt x="50433" y="2910"/>
                    </a:cubicBezTo>
                    <a:cubicBezTo>
                      <a:pt x="50423" y="2896"/>
                      <a:pt x="50415" y="2883"/>
                      <a:pt x="50405" y="2869"/>
                    </a:cubicBezTo>
                    <a:cubicBezTo>
                      <a:pt x="48577" y="-3"/>
                      <a:pt x="44742" y="-863"/>
                      <a:pt x="41842" y="948"/>
                    </a:cubicBezTo>
                    <a:cubicBezTo>
                      <a:pt x="41811" y="967"/>
                      <a:pt x="41781" y="987"/>
                      <a:pt x="41750" y="1006"/>
                    </a:cubicBezTo>
                    <a:lnTo>
                      <a:pt x="2898" y="25500"/>
                    </a:lnTo>
                    <a:cubicBezTo>
                      <a:pt x="-3" y="27311"/>
                      <a:pt x="-871" y="31107"/>
                      <a:pt x="958" y="33978"/>
                    </a:cubicBezTo>
                    <a:cubicBezTo>
                      <a:pt x="977" y="34009"/>
                      <a:pt x="997" y="34039"/>
                      <a:pt x="1016" y="34069"/>
                    </a:cubicBezTo>
                    <a:cubicBezTo>
                      <a:pt x="2162" y="35844"/>
                      <a:pt x="4157" y="36902"/>
                      <a:pt x="6285" y="3686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6" name="Google Shape;936;p55"/>
              <p:cNvSpPr/>
              <p:nvPr/>
            </p:nvSpPr>
            <p:spPr>
              <a:xfrm>
                <a:off x="4456382" y="2542413"/>
                <a:ext cx="12605" cy="57835"/>
              </a:xfrm>
              <a:custGeom>
                <a:rect b="b" l="l" r="r" t="t"/>
                <a:pathLst>
                  <a:path extrusionOk="0" h="57835" w="12605">
                    <a:moveTo>
                      <a:pt x="12606" y="51596"/>
                    </a:moveTo>
                    <a:lnTo>
                      <a:pt x="12606" y="6240"/>
                    </a:lnTo>
                    <a:cubicBezTo>
                      <a:pt x="12606" y="2794"/>
                      <a:pt x="9784" y="0"/>
                      <a:pt x="6303" y="0"/>
                    </a:cubicBezTo>
                    <a:cubicBezTo>
                      <a:pt x="2822" y="0"/>
                      <a:pt x="0" y="2794"/>
                      <a:pt x="0" y="6240"/>
                    </a:cubicBezTo>
                    <a:lnTo>
                      <a:pt x="0" y="51596"/>
                    </a:lnTo>
                    <a:cubicBezTo>
                      <a:pt x="0" y="55042"/>
                      <a:pt x="2822" y="57836"/>
                      <a:pt x="6303" y="57836"/>
                    </a:cubicBezTo>
                    <a:cubicBezTo>
                      <a:pt x="9784" y="57836"/>
                      <a:pt x="12606" y="55042"/>
                      <a:pt x="12606" y="515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7" name="Google Shape;937;p55"/>
              <p:cNvSpPr/>
              <p:nvPr/>
            </p:nvSpPr>
            <p:spPr>
              <a:xfrm>
                <a:off x="4669837" y="2542413"/>
                <a:ext cx="12605" cy="57835"/>
              </a:xfrm>
              <a:custGeom>
                <a:rect b="b" l="l" r="r" t="t"/>
                <a:pathLst>
                  <a:path extrusionOk="0" h="57835" w="12605">
                    <a:moveTo>
                      <a:pt x="0" y="6240"/>
                    </a:moveTo>
                    <a:lnTo>
                      <a:pt x="0" y="51596"/>
                    </a:lnTo>
                    <a:cubicBezTo>
                      <a:pt x="0" y="55042"/>
                      <a:pt x="2822" y="57836"/>
                      <a:pt x="6303" y="57836"/>
                    </a:cubicBezTo>
                    <a:cubicBezTo>
                      <a:pt x="9784" y="57836"/>
                      <a:pt x="12606" y="55042"/>
                      <a:pt x="12606" y="51596"/>
                    </a:cubicBezTo>
                    <a:lnTo>
                      <a:pt x="12606" y="6240"/>
                    </a:lnTo>
                    <a:cubicBezTo>
                      <a:pt x="12606" y="2794"/>
                      <a:pt x="9784" y="0"/>
                      <a:pt x="6303" y="0"/>
                    </a:cubicBezTo>
                    <a:cubicBezTo>
                      <a:pt x="2822" y="0"/>
                      <a:pt x="0" y="2794"/>
                      <a:pt x="0" y="624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8" name="Google Shape;938;p55"/>
              <p:cNvSpPr/>
              <p:nvPr/>
            </p:nvSpPr>
            <p:spPr>
              <a:xfrm>
                <a:off x="4599017" y="2646625"/>
                <a:ext cx="50807" cy="36884"/>
              </a:xfrm>
              <a:custGeom>
                <a:rect b="b" l="l" r="r" t="t"/>
                <a:pathLst>
                  <a:path extrusionOk="0" h="36884" w="50807">
                    <a:moveTo>
                      <a:pt x="41562" y="935"/>
                    </a:moveTo>
                    <a:lnTo>
                      <a:pt x="2898" y="25429"/>
                    </a:lnTo>
                    <a:cubicBezTo>
                      <a:pt x="-2" y="27240"/>
                      <a:pt x="-872" y="31036"/>
                      <a:pt x="958" y="33907"/>
                    </a:cubicBezTo>
                    <a:cubicBezTo>
                      <a:pt x="977" y="33938"/>
                      <a:pt x="997" y="33968"/>
                      <a:pt x="1016" y="33998"/>
                    </a:cubicBezTo>
                    <a:cubicBezTo>
                      <a:pt x="2067" y="35699"/>
                      <a:pt x="3897" y="36778"/>
                      <a:pt x="5908" y="36885"/>
                    </a:cubicBezTo>
                    <a:cubicBezTo>
                      <a:pt x="7112" y="36860"/>
                      <a:pt x="8284" y="36506"/>
                      <a:pt x="9295" y="35860"/>
                    </a:cubicBezTo>
                    <a:lnTo>
                      <a:pt x="47959" y="11459"/>
                    </a:lnTo>
                    <a:cubicBezTo>
                      <a:pt x="50871" y="9570"/>
                      <a:pt x="51684" y="5702"/>
                      <a:pt x="49775" y="2820"/>
                    </a:cubicBezTo>
                    <a:cubicBezTo>
                      <a:pt x="47902" y="-10"/>
                      <a:pt x="44092" y="-846"/>
                      <a:pt x="41186" y="93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39" name="Google Shape;939;p55"/>
              <p:cNvSpPr/>
              <p:nvPr/>
            </p:nvSpPr>
            <p:spPr>
              <a:xfrm>
                <a:off x="4491822" y="2646624"/>
                <a:ext cx="51800" cy="37265"/>
              </a:xfrm>
              <a:custGeom>
                <a:rect b="b" l="l" r="r" t="t"/>
                <a:pathLst>
                  <a:path extrusionOk="0" h="37265" w="51800">
                    <a:moveTo>
                      <a:pt x="48004" y="25430"/>
                    </a:moveTo>
                    <a:lnTo>
                      <a:pt x="9622" y="936"/>
                    </a:lnTo>
                    <a:cubicBezTo>
                      <a:pt x="6662" y="-879"/>
                      <a:pt x="2777" y="26"/>
                      <a:pt x="945" y="2957"/>
                    </a:cubicBezTo>
                    <a:cubicBezTo>
                      <a:pt x="-854" y="5833"/>
                      <a:pt x="-10" y="9604"/>
                      <a:pt x="2848" y="11460"/>
                    </a:cubicBezTo>
                    <a:lnTo>
                      <a:pt x="41513" y="35861"/>
                    </a:lnTo>
                    <a:cubicBezTo>
                      <a:pt x="44210" y="38039"/>
                      <a:pt x="48181" y="37640"/>
                      <a:pt x="50381" y="34969"/>
                    </a:cubicBezTo>
                    <a:cubicBezTo>
                      <a:pt x="52582" y="32299"/>
                      <a:pt x="52178" y="28368"/>
                      <a:pt x="49481" y="26191"/>
                    </a:cubicBezTo>
                    <a:cubicBezTo>
                      <a:pt x="49113" y="25892"/>
                      <a:pt x="48712" y="25637"/>
                      <a:pt x="48286" y="2543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sp>
            <p:nvSpPr>
              <p:cNvPr id="940" name="Google Shape;940;p55"/>
              <p:cNvSpPr/>
              <p:nvPr/>
            </p:nvSpPr>
            <p:spPr>
              <a:xfrm>
                <a:off x="4531413" y="2532074"/>
                <a:ext cx="79965" cy="79630"/>
              </a:xfrm>
              <a:custGeom>
                <a:rect b="b" l="l" r="r" t="t"/>
                <a:pathLst>
                  <a:path extrusionOk="0" h="79630" w="79965">
                    <a:moveTo>
                      <a:pt x="70220" y="67616"/>
                    </a:moveTo>
                    <a:cubicBezTo>
                      <a:pt x="68868" y="69929"/>
                      <a:pt x="65880" y="70721"/>
                      <a:pt x="63541" y="69385"/>
                    </a:cubicBezTo>
                    <a:lnTo>
                      <a:pt x="54134" y="63983"/>
                    </a:lnTo>
                    <a:lnTo>
                      <a:pt x="54134" y="74787"/>
                    </a:lnTo>
                    <a:cubicBezTo>
                      <a:pt x="53986" y="77471"/>
                      <a:pt x="51768" y="79585"/>
                      <a:pt x="49054" y="79630"/>
                    </a:cubicBezTo>
                    <a:cubicBezTo>
                      <a:pt x="46300" y="79682"/>
                      <a:pt x="44026" y="77514"/>
                      <a:pt x="43974" y="74789"/>
                    </a:cubicBezTo>
                    <a:cubicBezTo>
                      <a:pt x="43974" y="74788"/>
                      <a:pt x="43974" y="74788"/>
                      <a:pt x="43974" y="74787"/>
                    </a:cubicBezTo>
                    <a:lnTo>
                      <a:pt x="43974" y="55136"/>
                    </a:lnTo>
                    <a:cubicBezTo>
                      <a:pt x="43868" y="52412"/>
                      <a:pt x="46013" y="50119"/>
                      <a:pt x="48764" y="50013"/>
                    </a:cubicBezTo>
                    <a:cubicBezTo>
                      <a:pt x="48767" y="50013"/>
                      <a:pt x="48768" y="50013"/>
                      <a:pt x="48771" y="50013"/>
                    </a:cubicBezTo>
                    <a:cubicBezTo>
                      <a:pt x="49735" y="50065"/>
                      <a:pt x="50685" y="50253"/>
                      <a:pt x="51594" y="50572"/>
                    </a:cubicBezTo>
                    <a:lnTo>
                      <a:pt x="68245" y="59886"/>
                    </a:lnTo>
                    <a:cubicBezTo>
                      <a:pt x="70820" y="60986"/>
                      <a:pt x="72007" y="63947"/>
                      <a:pt x="70894" y="66496"/>
                    </a:cubicBezTo>
                    <a:cubicBezTo>
                      <a:pt x="70720" y="66897"/>
                      <a:pt x="70493" y="67273"/>
                      <a:pt x="70220" y="67616"/>
                    </a:cubicBezTo>
                    <a:close/>
                    <a:moveTo>
                      <a:pt x="43409" y="39676"/>
                    </a:moveTo>
                    <a:cubicBezTo>
                      <a:pt x="43409" y="39676"/>
                      <a:pt x="43409" y="40328"/>
                      <a:pt x="42751" y="40607"/>
                    </a:cubicBezTo>
                    <a:lnTo>
                      <a:pt x="40869" y="42749"/>
                    </a:lnTo>
                    <a:cubicBezTo>
                      <a:pt x="40869" y="42749"/>
                      <a:pt x="40211" y="42749"/>
                      <a:pt x="39928" y="42749"/>
                    </a:cubicBezTo>
                    <a:cubicBezTo>
                      <a:pt x="39646" y="42749"/>
                      <a:pt x="39270" y="42749"/>
                      <a:pt x="38988" y="42749"/>
                    </a:cubicBezTo>
                    <a:lnTo>
                      <a:pt x="37012" y="40607"/>
                    </a:lnTo>
                    <a:cubicBezTo>
                      <a:pt x="37012" y="40607"/>
                      <a:pt x="37012" y="40048"/>
                      <a:pt x="37012" y="39676"/>
                    </a:cubicBezTo>
                    <a:cubicBezTo>
                      <a:pt x="36892" y="39409"/>
                      <a:pt x="36892" y="39104"/>
                      <a:pt x="37012" y="38837"/>
                    </a:cubicBezTo>
                    <a:lnTo>
                      <a:pt x="38988" y="36975"/>
                    </a:lnTo>
                    <a:cubicBezTo>
                      <a:pt x="39286" y="36839"/>
                      <a:pt x="39630" y="36839"/>
                      <a:pt x="39928" y="36975"/>
                    </a:cubicBezTo>
                    <a:cubicBezTo>
                      <a:pt x="40231" y="36860"/>
                      <a:pt x="40566" y="36860"/>
                      <a:pt x="40869" y="36975"/>
                    </a:cubicBezTo>
                    <a:lnTo>
                      <a:pt x="42751" y="38837"/>
                    </a:lnTo>
                    <a:cubicBezTo>
                      <a:pt x="42751" y="38837"/>
                      <a:pt x="43409" y="39117"/>
                      <a:pt x="43409" y="39676"/>
                    </a:cubicBezTo>
                    <a:close/>
                    <a:moveTo>
                      <a:pt x="49336" y="40886"/>
                    </a:moveTo>
                    <a:lnTo>
                      <a:pt x="49336" y="38837"/>
                    </a:lnTo>
                    <a:cubicBezTo>
                      <a:pt x="49336" y="38837"/>
                      <a:pt x="49336" y="38186"/>
                      <a:pt x="49336" y="37906"/>
                    </a:cubicBezTo>
                    <a:lnTo>
                      <a:pt x="41810" y="30362"/>
                    </a:lnTo>
                    <a:lnTo>
                      <a:pt x="41151" y="30362"/>
                    </a:lnTo>
                    <a:lnTo>
                      <a:pt x="38988" y="30362"/>
                    </a:lnTo>
                    <a:cubicBezTo>
                      <a:pt x="38689" y="30226"/>
                      <a:pt x="38345" y="30226"/>
                      <a:pt x="38047" y="30362"/>
                    </a:cubicBezTo>
                    <a:lnTo>
                      <a:pt x="31085" y="37254"/>
                    </a:lnTo>
                    <a:cubicBezTo>
                      <a:pt x="30935" y="37547"/>
                      <a:pt x="30935" y="37893"/>
                      <a:pt x="31085" y="38186"/>
                    </a:cubicBezTo>
                    <a:lnTo>
                      <a:pt x="31085" y="40234"/>
                    </a:lnTo>
                    <a:cubicBezTo>
                      <a:pt x="30917" y="40522"/>
                      <a:pt x="30917" y="40878"/>
                      <a:pt x="31085" y="41166"/>
                    </a:cubicBezTo>
                    <a:lnTo>
                      <a:pt x="38047" y="48058"/>
                    </a:lnTo>
                    <a:cubicBezTo>
                      <a:pt x="38047" y="48058"/>
                      <a:pt x="38611" y="48058"/>
                      <a:pt x="38988" y="48058"/>
                    </a:cubicBezTo>
                    <a:lnTo>
                      <a:pt x="41151" y="48058"/>
                    </a:lnTo>
                    <a:lnTo>
                      <a:pt x="41810" y="48058"/>
                    </a:lnTo>
                    <a:lnTo>
                      <a:pt x="49054" y="41166"/>
                    </a:lnTo>
                    <a:cubicBezTo>
                      <a:pt x="49054" y="41166"/>
                      <a:pt x="49336" y="40980"/>
                      <a:pt x="49336" y="40607"/>
                    </a:cubicBezTo>
                    <a:close/>
                    <a:moveTo>
                      <a:pt x="24406" y="44239"/>
                    </a:moveTo>
                    <a:lnTo>
                      <a:pt x="7379" y="53553"/>
                    </a:lnTo>
                    <a:cubicBezTo>
                      <a:pt x="5087" y="54869"/>
                      <a:pt x="2151" y="54098"/>
                      <a:pt x="821" y="51830"/>
                    </a:cubicBezTo>
                    <a:cubicBezTo>
                      <a:pt x="811" y="51815"/>
                      <a:pt x="802" y="51799"/>
                      <a:pt x="794" y="51783"/>
                    </a:cubicBezTo>
                    <a:cubicBezTo>
                      <a:pt x="-618" y="49748"/>
                      <a:pt x="-96" y="46965"/>
                      <a:pt x="1960" y="45567"/>
                    </a:cubicBezTo>
                    <a:cubicBezTo>
                      <a:pt x="2186" y="45414"/>
                      <a:pt x="2425" y="45281"/>
                      <a:pt x="2675" y="45171"/>
                    </a:cubicBezTo>
                    <a:lnTo>
                      <a:pt x="12082" y="39769"/>
                    </a:lnTo>
                    <a:lnTo>
                      <a:pt x="2675" y="34367"/>
                    </a:lnTo>
                    <a:cubicBezTo>
                      <a:pt x="243" y="33087"/>
                      <a:pt x="-680" y="30099"/>
                      <a:pt x="612" y="27692"/>
                    </a:cubicBezTo>
                    <a:cubicBezTo>
                      <a:pt x="669" y="27586"/>
                      <a:pt x="729" y="27483"/>
                      <a:pt x="794" y="27382"/>
                    </a:cubicBezTo>
                    <a:cubicBezTo>
                      <a:pt x="2098" y="25098"/>
                      <a:pt x="5025" y="24295"/>
                      <a:pt x="7331" y="25586"/>
                    </a:cubicBezTo>
                    <a:cubicBezTo>
                      <a:pt x="7347" y="25595"/>
                      <a:pt x="7363" y="25603"/>
                      <a:pt x="7379" y="25613"/>
                    </a:cubicBezTo>
                    <a:lnTo>
                      <a:pt x="24406" y="34926"/>
                    </a:lnTo>
                    <a:cubicBezTo>
                      <a:pt x="25566" y="35586"/>
                      <a:pt x="26387" y="36704"/>
                      <a:pt x="26664" y="37999"/>
                    </a:cubicBezTo>
                    <a:cubicBezTo>
                      <a:pt x="26793" y="38361"/>
                      <a:pt x="26793" y="38756"/>
                      <a:pt x="26664" y="39117"/>
                    </a:cubicBezTo>
                    <a:cubicBezTo>
                      <a:pt x="26799" y="39637"/>
                      <a:pt x="26799" y="40180"/>
                      <a:pt x="26664" y="40700"/>
                    </a:cubicBezTo>
                    <a:cubicBezTo>
                      <a:pt x="26372" y="42038"/>
                      <a:pt x="25561" y="43208"/>
                      <a:pt x="24406" y="43960"/>
                    </a:cubicBezTo>
                    <a:close/>
                    <a:moveTo>
                      <a:pt x="35883" y="54763"/>
                    </a:moveTo>
                    <a:lnTo>
                      <a:pt x="35883" y="74042"/>
                    </a:lnTo>
                    <a:cubicBezTo>
                      <a:pt x="35783" y="76711"/>
                      <a:pt x="33594" y="78837"/>
                      <a:pt x="30897" y="78885"/>
                    </a:cubicBezTo>
                    <a:cubicBezTo>
                      <a:pt x="28144" y="78937"/>
                      <a:pt x="25870" y="76769"/>
                      <a:pt x="25817" y="74044"/>
                    </a:cubicBezTo>
                    <a:cubicBezTo>
                      <a:pt x="25817" y="74043"/>
                      <a:pt x="25817" y="74043"/>
                      <a:pt x="25817" y="74042"/>
                    </a:cubicBezTo>
                    <a:lnTo>
                      <a:pt x="25817" y="63238"/>
                    </a:lnTo>
                    <a:lnTo>
                      <a:pt x="16410" y="68640"/>
                    </a:lnTo>
                    <a:cubicBezTo>
                      <a:pt x="14129" y="70167"/>
                      <a:pt x="11029" y="69574"/>
                      <a:pt x="9487" y="67316"/>
                    </a:cubicBezTo>
                    <a:cubicBezTo>
                      <a:pt x="7944" y="65057"/>
                      <a:pt x="8543" y="61989"/>
                      <a:pt x="10825" y="60462"/>
                    </a:cubicBezTo>
                    <a:cubicBezTo>
                      <a:pt x="10987" y="60353"/>
                      <a:pt x="11156" y="60254"/>
                      <a:pt x="11330" y="60165"/>
                    </a:cubicBezTo>
                    <a:lnTo>
                      <a:pt x="28357" y="50852"/>
                    </a:lnTo>
                    <a:cubicBezTo>
                      <a:pt x="29258" y="50505"/>
                      <a:pt x="30213" y="50316"/>
                      <a:pt x="31179" y="50293"/>
                    </a:cubicBezTo>
                    <a:cubicBezTo>
                      <a:pt x="33588" y="50560"/>
                      <a:pt x="35515" y="52392"/>
                      <a:pt x="35883" y="54763"/>
                    </a:cubicBezTo>
                    <a:close/>
                    <a:moveTo>
                      <a:pt x="43785" y="24122"/>
                    </a:moveTo>
                    <a:lnTo>
                      <a:pt x="43785" y="4844"/>
                    </a:lnTo>
                    <a:cubicBezTo>
                      <a:pt x="43837" y="2118"/>
                      <a:pt x="46111" y="-50"/>
                      <a:pt x="48863" y="1"/>
                    </a:cubicBezTo>
                    <a:cubicBezTo>
                      <a:pt x="48864" y="1"/>
                      <a:pt x="48864" y="1"/>
                      <a:pt x="48865" y="1"/>
                    </a:cubicBezTo>
                    <a:cubicBezTo>
                      <a:pt x="51579" y="46"/>
                      <a:pt x="53798" y="2160"/>
                      <a:pt x="53945" y="4844"/>
                    </a:cubicBezTo>
                    <a:lnTo>
                      <a:pt x="53945" y="15647"/>
                    </a:lnTo>
                    <a:lnTo>
                      <a:pt x="63353" y="10246"/>
                    </a:lnTo>
                    <a:cubicBezTo>
                      <a:pt x="65713" y="9104"/>
                      <a:pt x="68563" y="9859"/>
                      <a:pt x="70032" y="12015"/>
                    </a:cubicBezTo>
                    <a:cubicBezTo>
                      <a:pt x="71456" y="14408"/>
                      <a:pt x="70651" y="17491"/>
                      <a:pt x="68234" y="18901"/>
                    </a:cubicBezTo>
                    <a:cubicBezTo>
                      <a:pt x="68176" y="18935"/>
                      <a:pt x="68117" y="18968"/>
                      <a:pt x="68056" y="19000"/>
                    </a:cubicBezTo>
                    <a:lnTo>
                      <a:pt x="51405" y="28313"/>
                    </a:lnTo>
                    <a:cubicBezTo>
                      <a:pt x="50500" y="28662"/>
                      <a:pt x="49550" y="28882"/>
                      <a:pt x="48583" y="28965"/>
                    </a:cubicBezTo>
                    <a:cubicBezTo>
                      <a:pt x="46053" y="28693"/>
                      <a:pt x="44098" y="26640"/>
                      <a:pt x="43974" y="24122"/>
                    </a:cubicBezTo>
                    <a:close/>
                    <a:moveTo>
                      <a:pt x="9636" y="11736"/>
                    </a:moveTo>
                    <a:cubicBezTo>
                      <a:pt x="11128" y="9427"/>
                      <a:pt x="14168" y="8654"/>
                      <a:pt x="16598" y="9966"/>
                    </a:cubicBezTo>
                    <a:lnTo>
                      <a:pt x="26005" y="15368"/>
                    </a:lnTo>
                    <a:lnTo>
                      <a:pt x="26005" y="4844"/>
                    </a:lnTo>
                    <a:cubicBezTo>
                      <a:pt x="26057" y="2118"/>
                      <a:pt x="28331" y="-50"/>
                      <a:pt x="31083" y="1"/>
                    </a:cubicBezTo>
                    <a:cubicBezTo>
                      <a:pt x="31084" y="1"/>
                      <a:pt x="31084" y="1"/>
                      <a:pt x="31085" y="1"/>
                    </a:cubicBezTo>
                    <a:cubicBezTo>
                      <a:pt x="33734" y="52"/>
                      <a:pt x="35841" y="2219"/>
                      <a:pt x="35789" y="4842"/>
                    </a:cubicBezTo>
                    <a:cubicBezTo>
                      <a:pt x="35789" y="4843"/>
                      <a:pt x="35789" y="4843"/>
                      <a:pt x="35789" y="4844"/>
                    </a:cubicBezTo>
                    <a:lnTo>
                      <a:pt x="35789" y="24122"/>
                    </a:lnTo>
                    <a:cubicBezTo>
                      <a:pt x="35945" y="26587"/>
                      <a:pt x="34054" y="28709"/>
                      <a:pt x="31565" y="28864"/>
                    </a:cubicBezTo>
                    <a:cubicBezTo>
                      <a:pt x="31499" y="28868"/>
                      <a:pt x="31433" y="28871"/>
                      <a:pt x="31368" y="28872"/>
                    </a:cubicBezTo>
                    <a:cubicBezTo>
                      <a:pt x="30390" y="29140"/>
                      <a:pt x="29343" y="28932"/>
                      <a:pt x="28545" y="28313"/>
                    </a:cubicBezTo>
                    <a:lnTo>
                      <a:pt x="11518" y="19000"/>
                    </a:lnTo>
                    <a:cubicBezTo>
                      <a:pt x="9088" y="17955"/>
                      <a:pt x="7973" y="15156"/>
                      <a:pt x="9030" y="12751"/>
                    </a:cubicBezTo>
                    <a:cubicBezTo>
                      <a:pt x="9189" y="12389"/>
                      <a:pt x="9392" y="12048"/>
                      <a:pt x="9636" y="11736"/>
                    </a:cubicBezTo>
                    <a:close/>
                    <a:moveTo>
                      <a:pt x="77464" y="33715"/>
                    </a:moveTo>
                    <a:lnTo>
                      <a:pt x="68056" y="39117"/>
                    </a:lnTo>
                    <a:lnTo>
                      <a:pt x="77464" y="44612"/>
                    </a:lnTo>
                    <a:cubicBezTo>
                      <a:pt x="79830" y="46057"/>
                      <a:pt x="80654" y="49075"/>
                      <a:pt x="79345" y="51504"/>
                    </a:cubicBezTo>
                    <a:cubicBezTo>
                      <a:pt x="77776" y="53703"/>
                      <a:pt x="74829" y="54451"/>
                      <a:pt x="72384" y="53273"/>
                    </a:cubicBezTo>
                    <a:lnTo>
                      <a:pt x="55356" y="43960"/>
                    </a:lnTo>
                    <a:cubicBezTo>
                      <a:pt x="54367" y="43166"/>
                      <a:pt x="53592" y="42142"/>
                      <a:pt x="53099" y="40980"/>
                    </a:cubicBezTo>
                    <a:cubicBezTo>
                      <a:pt x="53099" y="40980"/>
                      <a:pt x="53099" y="40048"/>
                      <a:pt x="53099" y="39396"/>
                    </a:cubicBezTo>
                    <a:cubicBezTo>
                      <a:pt x="53099" y="38744"/>
                      <a:pt x="53099" y="38558"/>
                      <a:pt x="53099" y="38279"/>
                    </a:cubicBezTo>
                    <a:cubicBezTo>
                      <a:pt x="53588" y="37088"/>
                      <a:pt x="54363" y="36033"/>
                      <a:pt x="55356" y="35205"/>
                    </a:cubicBezTo>
                    <a:lnTo>
                      <a:pt x="72384" y="25892"/>
                    </a:lnTo>
                    <a:cubicBezTo>
                      <a:pt x="74893" y="24725"/>
                      <a:pt x="77887" y="25606"/>
                      <a:pt x="79345" y="27941"/>
                    </a:cubicBezTo>
                    <a:cubicBezTo>
                      <a:pt x="80465" y="30131"/>
                      <a:pt x="79633" y="32806"/>
                      <a:pt x="77464" y="3399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grpSp>
      </p:grpSp>
      <p:grpSp>
        <p:nvGrpSpPr>
          <p:cNvPr id="941" name="Google Shape;941;p55"/>
          <p:cNvGrpSpPr/>
          <p:nvPr/>
        </p:nvGrpSpPr>
        <p:grpSpPr>
          <a:xfrm>
            <a:off x="457186" y="3448988"/>
            <a:ext cx="538800" cy="372092"/>
            <a:chOff x="5914856" y="4531091"/>
            <a:chExt cx="538800" cy="446100"/>
          </a:xfrm>
        </p:grpSpPr>
        <p:sp>
          <p:nvSpPr>
            <p:cNvPr id="942" name="Google Shape;942;p55"/>
            <p:cNvSpPr/>
            <p:nvPr/>
          </p:nvSpPr>
          <p:spPr>
            <a:xfrm>
              <a:off x="5914856" y="4531091"/>
              <a:ext cx="538800" cy="446100"/>
            </a:xfrm>
            <a:prstGeom prst="rect">
              <a:avLst/>
            </a:prstGeom>
            <a:solidFill>
              <a:srgbClr val="4E9CD7"/>
            </a:solidFill>
            <a:ln cap="flat" cmpd="sng" w="25400">
              <a:solidFill>
                <a:srgbClr val="4E9C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943" name="Google Shape;943;p55"/>
            <p:cNvPicPr preferRelativeResize="0"/>
            <p:nvPr/>
          </p:nvPicPr>
          <p:blipFill rotWithShape="1">
            <a:blip r:embed="rId3">
              <a:alphaModFix/>
            </a:blip>
            <a:srcRect b="0" l="0" r="0" t="0"/>
            <a:stretch/>
          </p:blipFill>
          <p:spPr>
            <a:xfrm>
              <a:off x="6024347" y="4594213"/>
              <a:ext cx="319805" cy="319805"/>
            </a:xfrm>
            <a:prstGeom prst="rect">
              <a:avLst/>
            </a:prstGeom>
            <a:noFill/>
            <a:ln>
              <a:noFill/>
            </a:ln>
          </p:spPr>
        </p:pic>
      </p:grpSp>
      <p:sp>
        <p:nvSpPr>
          <p:cNvPr id="944" name="Google Shape;944;p55"/>
          <p:cNvSpPr txBox="1"/>
          <p:nvPr/>
        </p:nvSpPr>
        <p:spPr>
          <a:xfrm>
            <a:off x="7846875" y="4626403"/>
            <a:ext cx="1297200" cy="291900"/>
          </a:xfrm>
          <a:prstGeom prst="rect">
            <a:avLst/>
          </a:prstGeom>
          <a:noFill/>
          <a:ln>
            <a:noFill/>
          </a:ln>
        </p:spPr>
        <p:txBody>
          <a:bodyPr anchorCtr="0" anchor="t" bIns="91425" lIns="91425" spcFirstLastPara="1" rIns="91425" wrap="square" tIns="91425">
            <a:noAutofit/>
          </a:bodyPr>
          <a:lstStyle/>
          <a:p>
            <a:pPr indent="0" lvl="0" marL="0" marR="0" rtl="0" algn="r">
              <a:spcBef>
                <a:spcPts val="0"/>
              </a:spcBef>
              <a:spcAft>
                <a:spcPts val="0"/>
              </a:spcAft>
              <a:buNone/>
            </a:pPr>
            <a:r>
              <a:rPr b="1" lang="en" sz="1000">
                <a:solidFill>
                  <a:srgbClr val="262626"/>
                </a:solidFill>
                <a:highlight>
                  <a:srgbClr val="6AA84F"/>
                </a:highlight>
              </a:rPr>
              <a:t>Main Services</a:t>
            </a:r>
            <a:endParaRPr b="1" i="0" sz="1000" u="none" cap="none" strike="noStrike">
              <a:solidFill>
                <a:srgbClr val="262626"/>
              </a:solidFill>
              <a:highlight>
                <a:srgbClr val="6AA84F"/>
              </a:highlight>
              <a:latin typeface="Arial"/>
              <a:ea typeface="Arial"/>
              <a:cs typeface="Arial"/>
              <a:sym typeface="Arial"/>
            </a:endParaRPr>
          </a:p>
        </p:txBody>
      </p:sp>
      <p:grpSp>
        <p:nvGrpSpPr>
          <p:cNvPr id="945" name="Google Shape;945;p55"/>
          <p:cNvGrpSpPr/>
          <p:nvPr/>
        </p:nvGrpSpPr>
        <p:grpSpPr>
          <a:xfrm>
            <a:off x="812522" y="3989015"/>
            <a:ext cx="6813839" cy="461819"/>
            <a:chOff x="1533157" y="2232167"/>
            <a:chExt cx="6813839" cy="530400"/>
          </a:xfrm>
        </p:grpSpPr>
        <p:sp>
          <p:nvSpPr>
            <p:cNvPr id="946" name="Google Shape;946;p55"/>
            <p:cNvSpPr/>
            <p:nvPr/>
          </p:nvSpPr>
          <p:spPr>
            <a:xfrm rot="-5400000">
              <a:off x="2051882" y="1842617"/>
              <a:ext cx="530400" cy="1309500"/>
            </a:xfrm>
            <a:prstGeom prst="round2SameRect">
              <a:avLst>
                <a:gd fmla="val 5563" name="adj1"/>
                <a:gd fmla="val 0" name="adj2"/>
              </a:avLst>
            </a:pr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7" name="Google Shape;947;p55"/>
            <p:cNvSpPr/>
            <p:nvPr/>
          </p:nvSpPr>
          <p:spPr>
            <a:xfrm>
              <a:off x="1533157" y="2367017"/>
              <a:ext cx="260700" cy="260700"/>
            </a:xfrm>
            <a:prstGeom prst="ellipse">
              <a:avLst/>
            </a:prstGeom>
            <a:solidFill>
              <a:srgbClr val="FFFFFF"/>
            </a:solidFill>
            <a:ln>
              <a:noFill/>
            </a:ln>
          </p:spPr>
          <p:txBody>
            <a:bodyPr anchorCtr="0" anchor="ctr" bIns="68575" lIns="68575" spcFirstLastPara="1" rIns="68575" wrap="square" tIns="68575">
              <a:noAutofit/>
            </a:bodyPr>
            <a:lstStyle/>
            <a:p>
              <a:pPr indent="0" lvl="0" marL="0" marR="0" rtl="0" algn="ctr">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grpSp>
          <p:nvGrpSpPr>
            <p:cNvPr id="948" name="Google Shape;948;p55"/>
            <p:cNvGrpSpPr/>
            <p:nvPr/>
          </p:nvGrpSpPr>
          <p:grpSpPr>
            <a:xfrm>
              <a:off x="1572989" y="2234117"/>
              <a:ext cx="6774007" cy="526500"/>
              <a:chOff x="1572989" y="2232222"/>
              <a:chExt cx="6774007" cy="526500"/>
            </a:xfrm>
          </p:grpSpPr>
          <p:sp>
            <p:nvSpPr>
              <p:cNvPr id="949" name="Google Shape;949;p55"/>
              <p:cNvSpPr txBox="1"/>
              <p:nvPr/>
            </p:nvSpPr>
            <p:spPr>
              <a:xfrm>
                <a:off x="1670958" y="2238972"/>
                <a:ext cx="1300800" cy="513000"/>
              </a:xfrm>
              <a:prstGeom prst="rect">
                <a:avLst/>
              </a:prstGeom>
              <a:noFill/>
              <a:ln>
                <a:noFill/>
              </a:ln>
              <a:effectLst>
                <a:outerShdw blurRad="57150" rotWithShape="0" algn="bl" dir="5400000" dist="19050">
                  <a:srgbClr val="000000">
                    <a:alpha val="4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 sz="1200">
                    <a:solidFill>
                      <a:srgbClr val="FFFFFF"/>
                    </a:solidFill>
                    <a:latin typeface="Lato"/>
                    <a:ea typeface="Lato"/>
                    <a:cs typeface="Lato"/>
                    <a:sym typeface="Lato"/>
                  </a:rPr>
                  <a:t>GCP</a:t>
                </a:r>
                <a:r>
                  <a:rPr b="1" i="0" lang="en" sz="1200" u="none" cap="none" strike="noStrike">
                    <a:solidFill>
                      <a:srgbClr val="FFFFFF"/>
                    </a:solidFill>
                    <a:latin typeface="Lato"/>
                    <a:ea typeface="Lato"/>
                    <a:cs typeface="Lato"/>
                    <a:sym typeface="Lato"/>
                  </a:rPr>
                  <a:t> MP Features</a:t>
                </a:r>
                <a:endParaRPr b="0" i="0" sz="1600" u="none" cap="none" strike="noStrike">
                  <a:solidFill>
                    <a:srgbClr val="FFFFFF"/>
                  </a:solidFill>
                  <a:latin typeface="Lato"/>
                  <a:ea typeface="Lato"/>
                  <a:cs typeface="Lato"/>
                  <a:sym typeface="Lato"/>
                </a:endParaRPr>
              </a:p>
            </p:txBody>
          </p:sp>
          <p:sp>
            <p:nvSpPr>
              <p:cNvPr id="950" name="Google Shape;950;p55"/>
              <p:cNvSpPr/>
              <p:nvPr/>
            </p:nvSpPr>
            <p:spPr>
              <a:xfrm>
                <a:off x="2879796" y="2232222"/>
                <a:ext cx="5467200" cy="526500"/>
              </a:xfrm>
              <a:prstGeom prst="roundRect">
                <a:avLst>
                  <a:gd fmla="val 4000" name="adj"/>
                </a:avLst>
              </a:prstGeom>
              <a:solidFill>
                <a:srgbClr val="E9E9E9"/>
              </a:solidFill>
              <a:ln>
                <a:noFill/>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ctr">
                  <a:spcBef>
                    <a:spcPts val="200"/>
                  </a:spcBef>
                  <a:spcAft>
                    <a:spcPts val="0"/>
                  </a:spcAft>
                  <a:buNone/>
                </a:pPr>
                <a:r>
                  <a:rPr b="1" i="0" lang="en" sz="1100" u="none" cap="none" strike="noStrike">
                    <a:solidFill>
                      <a:srgbClr val="262626"/>
                    </a:solidFill>
                    <a:latin typeface="Lato"/>
                    <a:ea typeface="Lato"/>
                    <a:cs typeface="Lato"/>
                    <a:sym typeface="Lato"/>
                  </a:rPr>
                  <a:t>MP Features drive </a:t>
                </a:r>
                <a:r>
                  <a:rPr b="1" lang="en" sz="1100">
                    <a:solidFill>
                      <a:srgbClr val="262626"/>
                    </a:solidFill>
                    <a:latin typeface="Lato"/>
                    <a:ea typeface="Lato"/>
                    <a:cs typeface="Lato"/>
                    <a:sym typeface="Lato"/>
                  </a:rPr>
                  <a:t>GCP</a:t>
                </a:r>
                <a:r>
                  <a:rPr b="1" i="0" lang="en" sz="1100" u="none" cap="none" strike="noStrike">
                    <a:solidFill>
                      <a:srgbClr val="262626"/>
                    </a:solidFill>
                    <a:latin typeface="Lato"/>
                    <a:ea typeface="Lato"/>
                    <a:cs typeface="Lato"/>
                    <a:sym typeface="Lato"/>
                  </a:rPr>
                  <a:t> partner investment and thought leadership</a:t>
                </a:r>
                <a:endParaRPr b="0" i="0" sz="1100" u="none" cap="none" strike="noStrike">
                  <a:solidFill>
                    <a:srgbClr val="262626"/>
                  </a:solidFill>
                  <a:latin typeface="Lato"/>
                  <a:ea typeface="Lato"/>
                  <a:cs typeface="Lato"/>
                  <a:sym typeface="Lato"/>
                </a:endParaRPr>
              </a:p>
              <a:p>
                <a:pPr indent="0" lvl="0" marL="0" marR="0" rtl="0" algn="ctr">
                  <a:spcBef>
                    <a:spcPts val="0"/>
                  </a:spcBef>
                  <a:spcAft>
                    <a:spcPts val="0"/>
                  </a:spcAft>
                  <a:buNone/>
                </a:pPr>
                <a:r>
                  <a:rPr b="0" i="0" lang="en" sz="1000" u="none" cap="none" strike="noStrike">
                    <a:solidFill>
                      <a:srgbClr val="262626"/>
                    </a:solidFill>
                    <a:latin typeface="Lato"/>
                    <a:ea typeface="Lato"/>
                    <a:cs typeface="Lato"/>
                    <a:sym typeface="Lato"/>
                  </a:rPr>
                  <a:t>Lack of adoption “Buy with”, Seller Prime, Telemetry, CRM Connectors</a:t>
                </a:r>
                <a:endParaRPr b="0" i="0" sz="1000" u="none" cap="none" strike="noStrike">
                  <a:solidFill>
                    <a:srgbClr val="262626"/>
                  </a:solidFill>
                  <a:latin typeface="Lato"/>
                  <a:ea typeface="Lato"/>
                  <a:cs typeface="Lato"/>
                  <a:sym typeface="Lato"/>
                </a:endParaRPr>
              </a:p>
            </p:txBody>
          </p:sp>
          <p:sp>
            <p:nvSpPr>
              <p:cNvPr id="951" name="Google Shape;951;p55"/>
              <p:cNvSpPr/>
              <p:nvPr/>
            </p:nvSpPr>
            <p:spPr>
              <a:xfrm>
                <a:off x="1572989" y="2413822"/>
                <a:ext cx="181032" cy="163299"/>
              </a:xfrm>
              <a:custGeom>
                <a:rect b="b" l="l" r="r" t="t"/>
                <a:pathLst>
                  <a:path extrusionOk="0" h="295563" w="295563">
                    <a:moveTo>
                      <a:pt x="147782" y="0"/>
                    </a:moveTo>
                    <a:cubicBezTo>
                      <a:pt x="66164" y="0"/>
                      <a:pt x="0" y="66164"/>
                      <a:pt x="0" y="147782"/>
                    </a:cubicBezTo>
                    <a:cubicBezTo>
                      <a:pt x="0" y="229400"/>
                      <a:pt x="66164" y="295564"/>
                      <a:pt x="147782" y="295564"/>
                    </a:cubicBezTo>
                    <a:cubicBezTo>
                      <a:pt x="229400" y="295564"/>
                      <a:pt x="295564" y="229400"/>
                      <a:pt x="295564" y="147782"/>
                    </a:cubicBezTo>
                    <a:cubicBezTo>
                      <a:pt x="295564" y="66164"/>
                      <a:pt x="229400" y="0"/>
                      <a:pt x="147782" y="0"/>
                    </a:cubicBezTo>
                    <a:close/>
                    <a:moveTo>
                      <a:pt x="101600" y="31773"/>
                    </a:moveTo>
                    <a:cubicBezTo>
                      <a:pt x="84605" y="56434"/>
                      <a:pt x="73337" y="94580"/>
                      <a:pt x="72044" y="138730"/>
                    </a:cubicBezTo>
                    <a:lnTo>
                      <a:pt x="23091" y="138730"/>
                    </a:lnTo>
                    <a:cubicBezTo>
                      <a:pt x="26627" y="91072"/>
                      <a:pt x="56976" y="49581"/>
                      <a:pt x="101323" y="31773"/>
                    </a:cubicBezTo>
                    <a:close/>
                    <a:moveTo>
                      <a:pt x="23091" y="156833"/>
                    </a:moveTo>
                    <a:lnTo>
                      <a:pt x="71767" y="156833"/>
                    </a:lnTo>
                    <a:cubicBezTo>
                      <a:pt x="73060" y="200983"/>
                      <a:pt x="84328" y="239129"/>
                      <a:pt x="101323" y="263791"/>
                    </a:cubicBezTo>
                    <a:cubicBezTo>
                      <a:pt x="56976" y="245983"/>
                      <a:pt x="26627" y="204491"/>
                      <a:pt x="23091" y="156833"/>
                    </a:cubicBezTo>
                    <a:close/>
                    <a:moveTo>
                      <a:pt x="138730" y="272473"/>
                    </a:moveTo>
                    <a:lnTo>
                      <a:pt x="136329" y="272473"/>
                    </a:lnTo>
                    <a:cubicBezTo>
                      <a:pt x="113238" y="261389"/>
                      <a:pt x="91902" y="218071"/>
                      <a:pt x="90147" y="157018"/>
                    </a:cubicBezTo>
                    <a:lnTo>
                      <a:pt x="139007" y="157018"/>
                    </a:lnTo>
                    <a:close/>
                    <a:moveTo>
                      <a:pt x="138730" y="138823"/>
                    </a:moveTo>
                    <a:lnTo>
                      <a:pt x="89870" y="138823"/>
                    </a:lnTo>
                    <a:cubicBezTo>
                      <a:pt x="91902" y="77770"/>
                      <a:pt x="113238" y="34452"/>
                      <a:pt x="136052" y="23368"/>
                    </a:cubicBezTo>
                    <a:lnTo>
                      <a:pt x="138453" y="23368"/>
                    </a:lnTo>
                    <a:close/>
                    <a:moveTo>
                      <a:pt x="156833" y="23091"/>
                    </a:moveTo>
                    <a:lnTo>
                      <a:pt x="159235" y="23091"/>
                    </a:lnTo>
                    <a:cubicBezTo>
                      <a:pt x="182326" y="34175"/>
                      <a:pt x="203662" y="77493"/>
                      <a:pt x="205417" y="138545"/>
                    </a:cubicBezTo>
                    <a:lnTo>
                      <a:pt x="156833" y="138545"/>
                    </a:lnTo>
                    <a:close/>
                    <a:moveTo>
                      <a:pt x="159235" y="272473"/>
                    </a:moveTo>
                    <a:lnTo>
                      <a:pt x="156833" y="272473"/>
                    </a:lnTo>
                    <a:lnTo>
                      <a:pt x="156833" y="156833"/>
                    </a:lnTo>
                    <a:lnTo>
                      <a:pt x="205694" y="156833"/>
                    </a:lnTo>
                    <a:cubicBezTo>
                      <a:pt x="203662" y="217886"/>
                      <a:pt x="182326" y="261204"/>
                      <a:pt x="159235" y="272473"/>
                    </a:cubicBezTo>
                    <a:close/>
                    <a:moveTo>
                      <a:pt x="194241" y="263975"/>
                    </a:moveTo>
                    <a:cubicBezTo>
                      <a:pt x="211236" y="239314"/>
                      <a:pt x="222504" y="201168"/>
                      <a:pt x="223797" y="157018"/>
                    </a:cubicBezTo>
                    <a:lnTo>
                      <a:pt x="272473" y="157018"/>
                    </a:lnTo>
                    <a:cubicBezTo>
                      <a:pt x="268869" y="204608"/>
                      <a:pt x="238531" y="246012"/>
                      <a:pt x="194241" y="263791"/>
                    </a:cubicBezTo>
                    <a:close/>
                    <a:moveTo>
                      <a:pt x="223797" y="138915"/>
                    </a:moveTo>
                    <a:cubicBezTo>
                      <a:pt x="222504" y="94765"/>
                      <a:pt x="211236" y="56619"/>
                      <a:pt x="194241" y="31958"/>
                    </a:cubicBezTo>
                    <a:cubicBezTo>
                      <a:pt x="238531" y="49736"/>
                      <a:pt x="268869" y="91141"/>
                      <a:pt x="272473" y="13873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grpSp>
      </p:grpSp>
      <p:sp>
        <p:nvSpPr>
          <p:cNvPr id="952" name="Google Shape;952;p55"/>
          <p:cNvSpPr/>
          <p:nvPr/>
        </p:nvSpPr>
        <p:spPr>
          <a:xfrm>
            <a:off x="20425" y="3989026"/>
            <a:ext cx="8405949" cy="1632154"/>
          </a:xfrm>
          <a:custGeom>
            <a:rect b="b" l="l" r="r" t="t"/>
            <a:pathLst>
              <a:path extrusionOk="0" h="4411226" w="8621486">
                <a:moveTo>
                  <a:pt x="0" y="4411226"/>
                </a:moveTo>
                <a:lnTo>
                  <a:pt x="2341266" y="4411226"/>
                </a:lnTo>
                <a:lnTo>
                  <a:pt x="2341266" y="0"/>
                </a:lnTo>
                <a:lnTo>
                  <a:pt x="8621486" y="0"/>
                </a:lnTo>
              </a:path>
            </a:pathLst>
          </a:cu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grpSp>
        <p:nvGrpSpPr>
          <p:cNvPr id="953" name="Google Shape;953;p55"/>
          <p:cNvGrpSpPr/>
          <p:nvPr/>
        </p:nvGrpSpPr>
        <p:grpSpPr>
          <a:xfrm>
            <a:off x="820820" y="4537727"/>
            <a:ext cx="6813839" cy="461819"/>
            <a:chOff x="1533157" y="2232167"/>
            <a:chExt cx="6813839" cy="530400"/>
          </a:xfrm>
        </p:grpSpPr>
        <p:sp>
          <p:nvSpPr>
            <p:cNvPr id="954" name="Google Shape;954;p55"/>
            <p:cNvSpPr/>
            <p:nvPr/>
          </p:nvSpPr>
          <p:spPr>
            <a:xfrm rot="-5400000">
              <a:off x="2051882" y="1842617"/>
              <a:ext cx="530400" cy="1309500"/>
            </a:xfrm>
            <a:prstGeom prst="round2SameRect">
              <a:avLst>
                <a:gd fmla="val 5563" name="adj1"/>
                <a:gd fmla="val 0" name="adj2"/>
              </a:avLst>
            </a:prstGeom>
            <a:solidFill>
              <a:srgbClr val="29B5E8"/>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5" name="Google Shape;955;p55"/>
            <p:cNvSpPr/>
            <p:nvPr/>
          </p:nvSpPr>
          <p:spPr>
            <a:xfrm>
              <a:off x="1533157" y="2367017"/>
              <a:ext cx="260700" cy="260700"/>
            </a:xfrm>
            <a:prstGeom prst="ellipse">
              <a:avLst/>
            </a:prstGeom>
            <a:solidFill>
              <a:srgbClr val="FFFFFF"/>
            </a:solidFill>
            <a:ln cap="flat" cmpd="sng" w="952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grpSp>
          <p:nvGrpSpPr>
            <p:cNvPr id="956" name="Google Shape;956;p55"/>
            <p:cNvGrpSpPr/>
            <p:nvPr/>
          </p:nvGrpSpPr>
          <p:grpSpPr>
            <a:xfrm>
              <a:off x="1572989" y="2234117"/>
              <a:ext cx="6774007" cy="526500"/>
              <a:chOff x="1572989" y="2232222"/>
              <a:chExt cx="6774007" cy="526500"/>
            </a:xfrm>
          </p:grpSpPr>
          <p:sp>
            <p:nvSpPr>
              <p:cNvPr id="957" name="Google Shape;957;p55"/>
              <p:cNvSpPr txBox="1"/>
              <p:nvPr/>
            </p:nvSpPr>
            <p:spPr>
              <a:xfrm>
                <a:off x="1670958" y="2238972"/>
                <a:ext cx="1300800" cy="513000"/>
              </a:xfrm>
              <a:prstGeom prst="rect">
                <a:avLst/>
              </a:prstGeom>
              <a:noFill/>
              <a:ln cap="flat" cmpd="sng" w="9525">
                <a:solidFill>
                  <a:schemeClr val="lt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200" u="none" cap="none" strike="noStrike">
                    <a:solidFill>
                      <a:srgbClr val="FFFFFF"/>
                    </a:solidFill>
                    <a:latin typeface="Lato"/>
                    <a:ea typeface="Lato"/>
                    <a:cs typeface="Lato"/>
                    <a:sym typeface="Lato"/>
                  </a:rPr>
                  <a:t>Internal Adoption</a:t>
                </a:r>
                <a:endParaRPr b="0" i="0" sz="1600" u="none" cap="none" strike="noStrike">
                  <a:solidFill>
                    <a:srgbClr val="FFFFFF"/>
                  </a:solidFill>
                  <a:latin typeface="Lato"/>
                  <a:ea typeface="Lato"/>
                  <a:cs typeface="Lato"/>
                  <a:sym typeface="Lato"/>
                </a:endParaRPr>
              </a:p>
            </p:txBody>
          </p:sp>
          <p:sp>
            <p:nvSpPr>
              <p:cNvPr id="958" name="Google Shape;958;p55"/>
              <p:cNvSpPr/>
              <p:nvPr/>
            </p:nvSpPr>
            <p:spPr>
              <a:xfrm>
                <a:off x="2879796" y="2232222"/>
                <a:ext cx="5467200" cy="526500"/>
              </a:xfrm>
              <a:prstGeom prst="roundRect">
                <a:avLst>
                  <a:gd fmla="val 4000" name="adj"/>
                </a:avLst>
              </a:prstGeom>
              <a:solidFill>
                <a:srgbClr val="E9E9E9"/>
              </a:solidFill>
              <a:ln cap="flat" cmpd="sng" w="9525">
                <a:solidFill>
                  <a:schemeClr val="lt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ctr">
                  <a:spcBef>
                    <a:spcPts val="200"/>
                  </a:spcBef>
                  <a:spcAft>
                    <a:spcPts val="0"/>
                  </a:spcAft>
                  <a:buNone/>
                </a:pPr>
                <a:r>
                  <a:rPr b="1" i="0" lang="en" sz="1100" u="none" cap="none" strike="noStrike">
                    <a:solidFill>
                      <a:srgbClr val="262626"/>
                    </a:solidFill>
                    <a:latin typeface="Lato"/>
                    <a:ea typeface="Lato"/>
                    <a:cs typeface="Lato"/>
                    <a:sym typeface="Lato"/>
                  </a:rPr>
                  <a:t>Internal Adoption of </a:t>
                </a:r>
                <a:r>
                  <a:rPr b="1" lang="en" sz="1100">
                    <a:solidFill>
                      <a:srgbClr val="262626"/>
                    </a:solidFill>
                    <a:latin typeface="Lato"/>
                    <a:ea typeface="Lato"/>
                    <a:cs typeface="Lato"/>
                    <a:sym typeface="Lato"/>
                  </a:rPr>
                  <a:t>GCP</a:t>
                </a:r>
                <a:r>
                  <a:rPr b="1" i="0" lang="en" sz="1100" u="none" cap="none" strike="noStrike">
                    <a:solidFill>
                      <a:srgbClr val="262626"/>
                    </a:solidFill>
                    <a:latin typeface="Lato"/>
                    <a:ea typeface="Lato"/>
                    <a:cs typeface="Lato"/>
                    <a:sym typeface="Lato"/>
                  </a:rPr>
                  <a:t> Services  </a:t>
                </a:r>
                <a:endParaRPr b="1" i="0" sz="1100" u="none" cap="none" strike="noStrike">
                  <a:solidFill>
                    <a:srgbClr val="262626"/>
                  </a:solidFill>
                  <a:latin typeface="Lato"/>
                  <a:ea typeface="Lato"/>
                  <a:cs typeface="Lato"/>
                  <a:sym typeface="Lato"/>
                </a:endParaRPr>
              </a:p>
              <a:p>
                <a:pPr indent="0" lvl="0" marL="0" marR="0" rtl="0" algn="ctr">
                  <a:spcBef>
                    <a:spcPts val="200"/>
                  </a:spcBef>
                  <a:spcAft>
                    <a:spcPts val="0"/>
                  </a:spcAft>
                  <a:buNone/>
                </a:pPr>
                <a:r>
                  <a:rPr lang="en" sz="1100">
                    <a:solidFill>
                      <a:srgbClr val="262626"/>
                    </a:solidFill>
                    <a:latin typeface="Lato"/>
                    <a:ea typeface="Lato"/>
                    <a:cs typeface="Lato"/>
                    <a:sym typeface="Lato"/>
                  </a:rPr>
                  <a:t>Feature Parity Gap is a main obstacle - Wider region support on GCP needed</a:t>
                </a:r>
                <a:endParaRPr b="1" i="0" sz="1100" u="none" cap="none" strike="noStrike">
                  <a:solidFill>
                    <a:srgbClr val="262626"/>
                  </a:solidFill>
                  <a:latin typeface="Lato"/>
                  <a:ea typeface="Lato"/>
                  <a:cs typeface="Lato"/>
                  <a:sym typeface="Lato"/>
                </a:endParaRPr>
              </a:p>
            </p:txBody>
          </p:sp>
          <p:sp>
            <p:nvSpPr>
              <p:cNvPr id="959" name="Google Shape;959;p55"/>
              <p:cNvSpPr/>
              <p:nvPr/>
            </p:nvSpPr>
            <p:spPr>
              <a:xfrm>
                <a:off x="1572989" y="2413822"/>
                <a:ext cx="181032" cy="163299"/>
              </a:xfrm>
              <a:custGeom>
                <a:rect b="b" l="l" r="r" t="t"/>
                <a:pathLst>
                  <a:path extrusionOk="0" h="295563" w="295563">
                    <a:moveTo>
                      <a:pt x="147782" y="0"/>
                    </a:moveTo>
                    <a:cubicBezTo>
                      <a:pt x="66164" y="0"/>
                      <a:pt x="0" y="66164"/>
                      <a:pt x="0" y="147782"/>
                    </a:cubicBezTo>
                    <a:cubicBezTo>
                      <a:pt x="0" y="229400"/>
                      <a:pt x="66164" y="295564"/>
                      <a:pt x="147782" y="295564"/>
                    </a:cubicBezTo>
                    <a:cubicBezTo>
                      <a:pt x="229400" y="295564"/>
                      <a:pt x="295564" y="229400"/>
                      <a:pt x="295564" y="147782"/>
                    </a:cubicBezTo>
                    <a:cubicBezTo>
                      <a:pt x="295564" y="66164"/>
                      <a:pt x="229400" y="0"/>
                      <a:pt x="147782" y="0"/>
                    </a:cubicBezTo>
                    <a:close/>
                    <a:moveTo>
                      <a:pt x="101600" y="31773"/>
                    </a:moveTo>
                    <a:cubicBezTo>
                      <a:pt x="84605" y="56434"/>
                      <a:pt x="73337" y="94580"/>
                      <a:pt x="72044" y="138730"/>
                    </a:cubicBezTo>
                    <a:lnTo>
                      <a:pt x="23091" y="138730"/>
                    </a:lnTo>
                    <a:cubicBezTo>
                      <a:pt x="26627" y="91072"/>
                      <a:pt x="56976" y="49581"/>
                      <a:pt x="101323" y="31773"/>
                    </a:cubicBezTo>
                    <a:close/>
                    <a:moveTo>
                      <a:pt x="23091" y="156833"/>
                    </a:moveTo>
                    <a:lnTo>
                      <a:pt x="71767" y="156833"/>
                    </a:lnTo>
                    <a:cubicBezTo>
                      <a:pt x="73060" y="200983"/>
                      <a:pt x="84328" y="239129"/>
                      <a:pt x="101323" y="263791"/>
                    </a:cubicBezTo>
                    <a:cubicBezTo>
                      <a:pt x="56976" y="245983"/>
                      <a:pt x="26627" y="204491"/>
                      <a:pt x="23091" y="156833"/>
                    </a:cubicBezTo>
                    <a:close/>
                    <a:moveTo>
                      <a:pt x="138730" y="272473"/>
                    </a:moveTo>
                    <a:lnTo>
                      <a:pt x="136329" y="272473"/>
                    </a:lnTo>
                    <a:cubicBezTo>
                      <a:pt x="113238" y="261389"/>
                      <a:pt x="91902" y="218071"/>
                      <a:pt x="90147" y="157018"/>
                    </a:cubicBezTo>
                    <a:lnTo>
                      <a:pt x="139007" y="157018"/>
                    </a:lnTo>
                    <a:close/>
                    <a:moveTo>
                      <a:pt x="138730" y="138823"/>
                    </a:moveTo>
                    <a:lnTo>
                      <a:pt x="89870" y="138823"/>
                    </a:lnTo>
                    <a:cubicBezTo>
                      <a:pt x="91902" y="77770"/>
                      <a:pt x="113238" y="34452"/>
                      <a:pt x="136052" y="23368"/>
                    </a:cubicBezTo>
                    <a:lnTo>
                      <a:pt x="138453" y="23368"/>
                    </a:lnTo>
                    <a:close/>
                    <a:moveTo>
                      <a:pt x="156833" y="23091"/>
                    </a:moveTo>
                    <a:lnTo>
                      <a:pt x="159235" y="23091"/>
                    </a:lnTo>
                    <a:cubicBezTo>
                      <a:pt x="182326" y="34175"/>
                      <a:pt x="203662" y="77493"/>
                      <a:pt x="205417" y="138545"/>
                    </a:cubicBezTo>
                    <a:lnTo>
                      <a:pt x="156833" y="138545"/>
                    </a:lnTo>
                    <a:close/>
                    <a:moveTo>
                      <a:pt x="159235" y="272473"/>
                    </a:moveTo>
                    <a:lnTo>
                      <a:pt x="156833" y="272473"/>
                    </a:lnTo>
                    <a:lnTo>
                      <a:pt x="156833" y="156833"/>
                    </a:lnTo>
                    <a:lnTo>
                      <a:pt x="205694" y="156833"/>
                    </a:lnTo>
                    <a:cubicBezTo>
                      <a:pt x="203662" y="217886"/>
                      <a:pt x="182326" y="261204"/>
                      <a:pt x="159235" y="272473"/>
                    </a:cubicBezTo>
                    <a:close/>
                    <a:moveTo>
                      <a:pt x="194241" y="263975"/>
                    </a:moveTo>
                    <a:cubicBezTo>
                      <a:pt x="211236" y="239314"/>
                      <a:pt x="222504" y="201168"/>
                      <a:pt x="223797" y="157018"/>
                    </a:cubicBezTo>
                    <a:lnTo>
                      <a:pt x="272473" y="157018"/>
                    </a:lnTo>
                    <a:cubicBezTo>
                      <a:pt x="268869" y="204608"/>
                      <a:pt x="238531" y="246012"/>
                      <a:pt x="194241" y="263791"/>
                    </a:cubicBezTo>
                    <a:close/>
                    <a:moveTo>
                      <a:pt x="223797" y="138915"/>
                    </a:moveTo>
                    <a:cubicBezTo>
                      <a:pt x="222504" y="94765"/>
                      <a:pt x="211236" y="56619"/>
                      <a:pt x="194241" y="31958"/>
                    </a:cubicBezTo>
                    <a:cubicBezTo>
                      <a:pt x="238531" y="49736"/>
                      <a:pt x="268869" y="91141"/>
                      <a:pt x="272473" y="138730"/>
                    </a:cubicBezTo>
                    <a:close/>
                  </a:path>
                </a:pathLst>
              </a:custGeom>
              <a:solidFill>
                <a:srgbClr val="2AB5E8"/>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262626"/>
                  </a:solidFill>
                  <a:latin typeface="Arial"/>
                  <a:ea typeface="Arial"/>
                  <a:cs typeface="Arial"/>
                  <a:sym typeface="Arial"/>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56"/>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Snowflake Cortex AI Overview</a:t>
            </a:r>
            <a:endParaRPr/>
          </a:p>
        </p:txBody>
      </p:sp>
      <p:sp>
        <p:nvSpPr>
          <p:cNvPr id="966" name="Google Shape;966;p56"/>
          <p:cNvSpPr/>
          <p:nvPr/>
        </p:nvSpPr>
        <p:spPr>
          <a:xfrm>
            <a:off x="464963" y="1419138"/>
            <a:ext cx="8236800" cy="2961600"/>
          </a:xfrm>
          <a:prstGeom prst="roundRect">
            <a:avLst>
              <a:gd fmla="val 2090" name="adj"/>
            </a:avLst>
          </a:prstGeom>
          <a:solidFill>
            <a:srgbClr val="FFFFFF"/>
          </a:solidFill>
          <a:ln cap="flat" cmpd="sng" w="25400">
            <a:solidFill>
              <a:srgbClr val="29B5E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FFFF"/>
              </a:buClr>
              <a:buSzPts val="1800"/>
              <a:buFont typeface="Lato"/>
              <a:buNone/>
            </a:pPr>
            <a:r>
              <a:t/>
            </a:r>
            <a:endParaRPr b="1" sz="1000">
              <a:solidFill>
                <a:srgbClr val="434343"/>
              </a:solidFill>
            </a:endParaRPr>
          </a:p>
        </p:txBody>
      </p:sp>
      <p:sp>
        <p:nvSpPr>
          <p:cNvPr id="967" name="Google Shape;967;p56"/>
          <p:cNvSpPr/>
          <p:nvPr/>
        </p:nvSpPr>
        <p:spPr>
          <a:xfrm>
            <a:off x="603350" y="1688156"/>
            <a:ext cx="5399100" cy="8106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968" name="Google Shape;968;p56"/>
          <p:cNvSpPr/>
          <p:nvPr/>
        </p:nvSpPr>
        <p:spPr>
          <a:xfrm>
            <a:off x="2319029" y="2839400"/>
            <a:ext cx="1297800" cy="3807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700">
                <a:solidFill>
                  <a:srgbClr val="434343"/>
                </a:solidFill>
              </a:rPr>
              <a:t>Structured Data Retrieval</a:t>
            </a:r>
            <a:endParaRPr sz="700">
              <a:solidFill>
                <a:srgbClr val="434343"/>
              </a:solidFill>
            </a:endParaRPr>
          </a:p>
          <a:p>
            <a:pPr indent="0" lvl="0" marL="0" rtl="0" algn="ctr">
              <a:spcBef>
                <a:spcPts val="0"/>
              </a:spcBef>
              <a:spcAft>
                <a:spcPts val="0"/>
              </a:spcAft>
              <a:buNone/>
            </a:pPr>
            <a:r>
              <a:rPr b="1" lang="en" sz="800"/>
              <a:t>Cortex Analyst</a:t>
            </a:r>
            <a:endParaRPr b="1" baseline="30000" sz="800">
              <a:solidFill>
                <a:srgbClr val="595959"/>
              </a:solidFill>
            </a:endParaRPr>
          </a:p>
        </p:txBody>
      </p:sp>
      <p:sp>
        <p:nvSpPr>
          <p:cNvPr id="969" name="Google Shape;969;p56"/>
          <p:cNvSpPr/>
          <p:nvPr/>
        </p:nvSpPr>
        <p:spPr>
          <a:xfrm>
            <a:off x="603350" y="2561222"/>
            <a:ext cx="5399100" cy="8094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970" name="Google Shape;970;p56"/>
          <p:cNvSpPr/>
          <p:nvPr/>
        </p:nvSpPr>
        <p:spPr>
          <a:xfrm>
            <a:off x="602125" y="3432927"/>
            <a:ext cx="5401588" cy="812714"/>
          </a:xfrm>
          <a:custGeom>
            <a:rect b="b" l="l" r="r" t="t"/>
            <a:pathLst>
              <a:path extrusionOk="0" h="973310" w="7607871">
                <a:moveTo>
                  <a:pt x="7493619" y="0"/>
                </a:moveTo>
                <a:cubicBezTo>
                  <a:pt x="7556719" y="0"/>
                  <a:pt x="7607871" y="51141"/>
                  <a:pt x="7607871" y="114227"/>
                </a:cubicBezTo>
                <a:lnTo>
                  <a:pt x="7607871" y="859083"/>
                </a:lnTo>
                <a:cubicBezTo>
                  <a:pt x="7607871" y="922169"/>
                  <a:pt x="7556719" y="973311"/>
                  <a:pt x="7493619" y="973311"/>
                </a:cubicBezTo>
                <a:lnTo>
                  <a:pt x="114252" y="973311"/>
                </a:lnTo>
                <a:cubicBezTo>
                  <a:pt x="51152" y="973311"/>
                  <a:pt x="0" y="922170"/>
                  <a:pt x="0" y="859084"/>
                </a:cubicBezTo>
                <a:lnTo>
                  <a:pt x="0" y="114227"/>
                </a:lnTo>
                <a:cubicBezTo>
                  <a:pt x="0" y="51141"/>
                  <a:pt x="51152" y="0"/>
                  <a:pt x="114252" y="0"/>
                </a:cubicBezTo>
                <a:close/>
              </a:path>
            </a:pathLst>
          </a:custGeom>
          <a:solidFill>
            <a:srgbClr val="D4F0FA"/>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t/>
            </a:r>
            <a:endParaRPr b="1" sz="1000">
              <a:solidFill>
                <a:srgbClr val="11567F"/>
              </a:solidFill>
            </a:endParaRPr>
          </a:p>
        </p:txBody>
      </p:sp>
      <p:sp>
        <p:nvSpPr>
          <p:cNvPr id="971" name="Google Shape;971;p56"/>
          <p:cNvSpPr/>
          <p:nvPr/>
        </p:nvSpPr>
        <p:spPr>
          <a:xfrm>
            <a:off x="6097956" y="1688163"/>
            <a:ext cx="1186200" cy="25539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ctr">
              <a:spcBef>
                <a:spcPts val="0"/>
              </a:spcBef>
              <a:spcAft>
                <a:spcPts val="0"/>
              </a:spcAft>
              <a:buNone/>
            </a:pPr>
            <a:r>
              <a:t/>
            </a:r>
            <a:endParaRPr b="1" sz="1000">
              <a:solidFill>
                <a:srgbClr val="11567F"/>
              </a:solidFill>
            </a:endParaRPr>
          </a:p>
        </p:txBody>
      </p:sp>
      <p:sp>
        <p:nvSpPr>
          <p:cNvPr id="972" name="Google Shape;972;p56"/>
          <p:cNvSpPr/>
          <p:nvPr/>
        </p:nvSpPr>
        <p:spPr>
          <a:xfrm>
            <a:off x="6163956" y="3356493"/>
            <a:ext cx="1054200" cy="2838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700"/>
              <a:t>Inference &amp; </a:t>
            </a:r>
            <a:br>
              <a:rPr b="1" lang="en" sz="700"/>
            </a:br>
            <a:r>
              <a:rPr b="1" lang="en" sz="700"/>
              <a:t>Fine-Tuning APIs </a:t>
            </a:r>
            <a:endParaRPr b="1" baseline="30000" sz="700">
              <a:solidFill>
                <a:srgbClr val="595959"/>
              </a:solidFill>
            </a:endParaRPr>
          </a:p>
        </p:txBody>
      </p:sp>
      <p:pic>
        <p:nvPicPr>
          <p:cNvPr id="973" name="Google Shape;973;p56"/>
          <p:cNvPicPr preferRelativeResize="0"/>
          <p:nvPr/>
        </p:nvPicPr>
        <p:blipFill>
          <a:blip r:embed="rId3">
            <a:alphaModFix/>
          </a:blip>
          <a:stretch>
            <a:fillRect/>
          </a:stretch>
        </p:blipFill>
        <p:spPr>
          <a:xfrm>
            <a:off x="6515366" y="2421251"/>
            <a:ext cx="351380" cy="99337"/>
          </a:xfrm>
          <a:prstGeom prst="rect">
            <a:avLst/>
          </a:prstGeom>
          <a:noFill/>
          <a:ln>
            <a:noFill/>
          </a:ln>
        </p:spPr>
      </p:pic>
      <p:pic>
        <p:nvPicPr>
          <p:cNvPr id="974" name="Google Shape;974;p56"/>
          <p:cNvPicPr preferRelativeResize="0"/>
          <p:nvPr/>
        </p:nvPicPr>
        <p:blipFill>
          <a:blip r:embed="rId4">
            <a:alphaModFix/>
          </a:blip>
          <a:stretch>
            <a:fillRect/>
          </a:stretch>
        </p:blipFill>
        <p:spPr>
          <a:xfrm>
            <a:off x="6515368" y="2639528"/>
            <a:ext cx="351377" cy="125623"/>
          </a:xfrm>
          <a:prstGeom prst="rect">
            <a:avLst/>
          </a:prstGeom>
          <a:noFill/>
          <a:ln>
            <a:noFill/>
          </a:ln>
        </p:spPr>
      </p:pic>
      <p:pic>
        <p:nvPicPr>
          <p:cNvPr id="975" name="Google Shape;975;p56"/>
          <p:cNvPicPr preferRelativeResize="0"/>
          <p:nvPr/>
        </p:nvPicPr>
        <p:blipFill>
          <a:blip r:embed="rId5">
            <a:alphaModFix/>
          </a:blip>
          <a:stretch>
            <a:fillRect/>
          </a:stretch>
        </p:blipFill>
        <p:spPr>
          <a:xfrm>
            <a:off x="6419375" y="3102372"/>
            <a:ext cx="543363" cy="139745"/>
          </a:xfrm>
          <a:prstGeom prst="rect">
            <a:avLst/>
          </a:prstGeom>
          <a:noFill/>
          <a:ln>
            <a:noFill/>
          </a:ln>
        </p:spPr>
      </p:pic>
      <p:pic>
        <p:nvPicPr>
          <p:cNvPr id="976" name="Google Shape;976;p56"/>
          <p:cNvPicPr preferRelativeResize="0"/>
          <p:nvPr/>
        </p:nvPicPr>
        <p:blipFill>
          <a:blip r:embed="rId6">
            <a:alphaModFix/>
          </a:blip>
          <a:stretch>
            <a:fillRect/>
          </a:stretch>
        </p:blipFill>
        <p:spPr>
          <a:xfrm>
            <a:off x="6476414" y="2250140"/>
            <a:ext cx="429285" cy="52170"/>
          </a:xfrm>
          <a:prstGeom prst="rect">
            <a:avLst/>
          </a:prstGeom>
          <a:noFill/>
          <a:ln>
            <a:noFill/>
          </a:ln>
        </p:spPr>
      </p:pic>
      <p:pic>
        <p:nvPicPr>
          <p:cNvPr id="977" name="Google Shape;977;p56"/>
          <p:cNvPicPr preferRelativeResize="0"/>
          <p:nvPr/>
        </p:nvPicPr>
        <p:blipFill>
          <a:blip r:embed="rId7">
            <a:alphaModFix/>
          </a:blip>
          <a:stretch>
            <a:fillRect/>
          </a:stretch>
        </p:blipFill>
        <p:spPr>
          <a:xfrm>
            <a:off x="6476409" y="2884091"/>
            <a:ext cx="429294" cy="99340"/>
          </a:xfrm>
          <a:prstGeom prst="rect">
            <a:avLst/>
          </a:prstGeom>
          <a:noFill/>
          <a:ln>
            <a:noFill/>
          </a:ln>
        </p:spPr>
      </p:pic>
      <p:sp>
        <p:nvSpPr>
          <p:cNvPr id="978" name="Google Shape;978;p56"/>
          <p:cNvSpPr/>
          <p:nvPr/>
        </p:nvSpPr>
        <p:spPr>
          <a:xfrm>
            <a:off x="6163956" y="3803969"/>
            <a:ext cx="1054200" cy="2838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700"/>
              <a:t>Embedding Models</a:t>
            </a:r>
            <a:endParaRPr b="1" baseline="30000" sz="700">
              <a:solidFill>
                <a:srgbClr val="595959"/>
              </a:solidFill>
            </a:endParaRPr>
          </a:p>
        </p:txBody>
      </p:sp>
      <p:sp>
        <p:nvSpPr>
          <p:cNvPr id="979" name="Google Shape;979;p56"/>
          <p:cNvSpPr/>
          <p:nvPr/>
        </p:nvSpPr>
        <p:spPr>
          <a:xfrm>
            <a:off x="2326269" y="3474846"/>
            <a:ext cx="19533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DATA</a:t>
            </a:r>
            <a:endParaRPr b="1" sz="900">
              <a:solidFill>
                <a:srgbClr val="434343"/>
              </a:solidFill>
            </a:endParaRPr>
          </a:p>
        </p:txBody>
      </p:sp>
      <p:sp>
        <p:nvSpPr>
          <p:cNvPr id="980" name="Google Shape;980;p56"/>
          <p:cNvSpPr/>
          <p:nvPr/>
        </p:nvSpPr>
        <p:spPr>
          <a:xfrm>
            <a:off x="1385919" y="2603676"/>
            <a:ext cx="38340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 PROCESSING &amp; RETRIEVAL</a:t>
            </a:r>
            <a:endParaRPr b="1" sz="900">
              <a:solidFill>
                <a:srgbClr val="11567F"/>
              </a:solidFill>
            </a:endParaRPr>
          </a:p>
        </p:txBody>
      </p:sp>
      <p:sp>
        <p:nvSpPr>
          <p:cNvPr id="981" name="Google Shape;981;p56"/>
          <p:cNvSpPr/>
          <p:nvPr/>
        </p:nvSpPr>
        <p:spPr>
          <a:xfrm>
            <a:off x="2022219" y="1730728"/>
            <a:ext cx="25614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AGENTS &amp; INSIGHTS</a:t>
            </a:r>
            <a:endParaRPr b="1" sz="900">
              <a:solidFill>
                <a:srgbClr val="434343"/>
              </a:solidFill>
            </a:endParaRPr>
          </a:p>
        </p:txBody>
      </p:sp>
      <p:sp>
        <p:nvSpPr>
          <p:cNvPr id="982" name="Google Shape;982;p56"/>
          <p:cNvSpPr/>
          <p:nvPr/>
        </p:nvSpPr>
        <p:spPr>
          <a:xfrm>
            <a:off x="6264906" y="1729937"/>
            <a:ext cx="8523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MODELS</a:t>
            </a:r>
            <a:endParaRPr b="1" sz="900">
              <a:solidFill>
                <a:srgbClr val="434343"/>
              </a:solidFill>
            </a:endParaRPr>
          </a:p>
        </p:txBody>
      </p:sp>
      <p:pic>
        <p:nvPicPr>
          <p:cNvPr id="983" name="Google Shape;983;p56" title="confluence_logo-freelogovectors.net_.png"/>
          <p:cNvPicPr preferRelativeResize="0"/>
          <p:nvPr/>
        </p:nvPicPr>
        <p:blipFill rotWithShape="1">
          <a:blip r:embed="rId8">
            <a:alphaModFix/>
          </a:blip>
          <a:srcRect b="0" l="14583" r="14590" t="0"/>
          <a:stretch/>
        </p:blipFill>
        <p:spPr>
          <a:xfrm>
            <a:off x="1308799" y="3999922"/>
            <a:ext cx="131786" cy="139583"/>
          </a:xfrm>
          <a:prstGeom prst="rect">
            <a:avLst/>
          </a:prstGeom>
          <a:noFill/>
          <a:ln>
            <a:noFill/>
          </a:ln>
        </p:spPr>
      </p:pic>
      <p:sp>
        <p:nvSpPr>
          <p:cNvPr id="984" name="Google Shape;984;p56"/>
          <p:cNvSpPr txBox="1"/>
          <p:nvPr/>
        </p:nvSpPr>
        <p:spPr>
          <a:xfrm>
            <a:off x="1166000" y="3658150"/>
            <a:ext cx="852300" cy="274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700">
                <a:solidFill>
                  <a:srgbClr val="434343"/>
                </a:solidFill>
              </a:rPr>
              <a:t>Data Connectors</a:t>
            </a:r>
            <a:endParaRPr sz="700">
              <a:solidFill>
                <a:srgbClr val="434343"/>
              </a:solidFill>
            </a:endParaRPr>
          </a:p>
          <a:p>
            <a:pPr indent="0" lvl="0" marL="0" rtl="0" algn="ctr">
              <a:spcBef>
                <a:spcPts val="0"/>
              </a:spcBef>
              <a:spcAft>
                <a:spcPts val="0"/>
              </a:spcAft>
              <a:buNone/>
            </a:pPr>
            <a:r>
              <a:rPr b="1" lang="en" sz="800"/>
              <a:t>Openflow</a:t>
            </a:r>
            <a:endParaRPr sz="1300"/>
          </a:p>
        </p:txBody>
      </p:sp>
      <p:sp>
        <p:nvSpPr>
          <p:cNvPr id="985" name="Google Shape;985;p56"/>
          <p:cNvSpPr txBox="1"/>
          <p:nvPr/>
        </p:nvSpPr>
        <p:spPr>
          <a:xfrm>
            <a:off x="3968871" y="3658150"/>
            <a:ext cx="2035200" cy="274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700">
                <a:solidFill>
                  <a:srgbClr val="434343"/>
                </a:solidFill>
              </a:rPr>
              <a:t>Multimodal Data </a:t>
            </a:r>
            <a:endParaRPr sz="700">
              <a:solidFill>
                <a:srgbClr val="434343"/>
              </a:solidFill>
            </a:endParaRPr>
          </a:p>
          <a:p>
            <a:pPr indent="0" lvl="0" marL="0" rtl="0" algn="ctr">
              <a:spcBef>
                <a:spcPts val="0"/>
              </a:spcBef>
              <a:spcAft>
                <a:spcPts val="0"/>
              </a:spcAft>
              <a:buNone/>
            </a:pPr>
            <a:r>
              <a:rPr b="1" lang="en" sz="800"/>
              <a:t>Snowflake, Iceberg, External</a:t>
            </a:r>
            <a:endParaRPr sz="800"/>
          </a:p>
        </p:txBody>
      </p:sp>
      <p:sp>
        <p:nvSpPr>
          <p:cNvPr id="986" name="Google Shape;986;p56"/>
          <p:cNvSpPr/>
          <p:nvPr/>
        </p:nvSpPr>
        <p:spPr>
          <a:xfrm>
            <a:off x="7378413" y="1688163"/>
            <a:ext cx="1186200" cy="25539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ctr">
              <a:spcBef>
                <a:spcPts val="0"/>
              </a:spcBef>
              <a:spcAft>
                <a:spcPts val="0"/>
              </a:spcAft>
              <a:buNone/>
            </a:pPr>
            <a:r>
              <a:t/>
            </a:r>
            <a:endParaRPr b="1" sz="1000">
              <a:solidFill>
                <a:srgbClr val="11567F"/>
              </a:solidFill>
            </a:endParaRPr>
          </a:p>
        </p:txBody>
      </p:sp>
      <p:sp>
        <p:nvSpPr>
          <p:cNvPr id="987" name="Google Shape;987;p56"/>
          <p:cNvSpPr/>
          <p:nvPr/>
        </p:nvSpPr>
        <p:spPr>
          <a:xfrm>
            <a:off x="7444484" y="2909017"/>
            <a:ext cx="1054200" cy="2838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700"/>
              <a:t>Evaluations</a:t>
            </a:r>
            <a:endParaRPr b="1" baseline="30000" sz="700">
              <a:solidFill>
                <a:srgbClr val="595959"/>
              </a:solidFill>
            </a:endParaRPr>
          </a:p>
        </p:txBody>
      </p:sp>
      <p:sp>
        <p:nvSpPr>
          <p:cNvPr id="988" name="Google Shape;988;p56"/>
          <p:cNvSpPr/>
          <p:nvPr/>
        </p:nvSpPr>
        <p:spPr>
          <a:xfrm>
            <a:off x="7444484" y="2461541"/>
            <a:ext cx="1054200" cy="2838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700"/>
              <a:t>Guardrails  </a:t>
            </a:r>
            <a:endParaRPr b="1" baseline="30000" sz="700">
              <a:solidFill>
                <a:srgbClr val="595959"/>
              </a:solidFill>
            </a:endParaRPr>
          </a:p>
        </p:txBody>
      </p:sp>
      <p:sp>
        <p:nvSpPr>
          <p:cNvPr id="989" name="Google Shape;989;p56"/>
          <p:cNvSpPr/>
          <p:nvPr/>
        </p:nvSpPr>
        <p:spPr>
          <a:xfrm>
            <a:off x="7466985" y="1729937"/>
            <a:ext cx="10233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GOVERNANCE </a:t>
            </a:r>
            <a:endParaRPr b="1" sz="900">
              <a:solidFill>
                <a:srgbClr val="11567F"/>
              </a:solidFill>
            </a:endParaRPr>
          </a:p>
        </p:txBody>
      </p:sp>
      <p:sp>
        <p:nvSpPr>
          <p:cNvPr id="990" name="Google Shape;990;p56"/>
          <p:cNvSpPr/>
          <p:nvPr/>
        </p:nvSpPr>
        <p:spPr>
          <a:xfrm>
            <a:off x="7444484" y="2014065"/>
            <a:ext cx="1054200" cy="2838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700"/>
              <a:t>RBAC  </a:t>
            </a:r>
            <a:endParaRPr b="1" baseline="30000" sz="700">
              <a:solidFill>
                <a:srgbClr val="595959"/>
              </a:solidFill>
            </a:endParaRPr>
          </a:p>
        </p:txBody>
      </p:sp>
      <p:sp>
        <p:nvSpPr>
          <p:cNvPr id="991" name="Google Shape;991;p56"/>
          <p:cNvSpPr/>
          <p:nvPr/>
        </p:nvSpPr>
        <p:spPr>
          <a:xfrm>
            <a:off x="7444484" y="3803969"/>
            <a:ext cx="1054200" cy="2838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700"/>
              <a:t>AI Gateway</a:t>
            </a:r>
            <a:endParaRPr b="1" baseline="30000" sz="700">
              <a:solidFill>
                <a:srgbClr val="595959"/>
              </a:solidFill>
            </a:endParaRPr>
          </a:p>
        </p:txBody>
      </p:sp>
      <p:sp>
        <p:nvSpPr>
          <p:cNvPr id="992" name="Google Shape;992;p56"/>
          <p:cNvSpPr/>
          <p:nvPr/>
        </p:nvSpPr>
        <p:spPr>
          <a:xfrm>
            <a:off x="7444484" y="3356493"/>
            <a:ext cx="1054200" cy="2838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700"/>
              <a:t>Monitoring </a:t>
            </a:r>
            <a:endParaRPr b="1" baseline="30000" sz="700">
              <a:solidFill>
                <a:srgbClr val="595959"/>
              </a:solidFill>
            </a:endParaRPr>
          </a:p>
        </p:txBody>
      </p:sp>
      <p:sp>
        <p:nvSpPr>
          <p:cNvPr id="993" name="Google Shape;993;p56"/>
          <p:cNvSpPr/>
          <p:nvPr/>
        </p:nvSpPr>
        <p:spPr>
          <a:xfrm>
            <a:off x="2547050" y="1968146"/>
            <a:ext cx="1511700" cy="3795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700"/>
              <a:t>Agent APIs</a:t>
            </a:r>
            <a:br>
              <a:rPr b="1" lang="en" sz="700"/>
            </a:br>
            <a:r>
              <a:rPr b="1" lang="en" sz="800"/>
              <a:t>Cortex Agents</a:t>
            </a:r>
            <a:endParaRPr b="1" baseline="30000" sz="800">
              <a:solidFill>
                <a:srgbClr val="595959"/>
              </a:solidFill>
            </a:endParaRPr>
          </a:p>
        </p:txBody>
      </p:sp>
      <p:sp>
        <p:nvSpPr>
          <p:cNvPr id="994" name="Google Shape;994;p56"/>
          <p:cNvSpPr/>
          <p:nvPr/>
        </p:nvSpPr>
        <p:spPr>
          <a:xfrm>
            <a:off x="4257800" y="1968146"/>
            <a:ext cx="1511700" cy="3807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lnSpc>
                <a:spcPct val="100000"/>
              </a:lnSpc>
              <a:spcBef>
                <a:spcPts val="0"/>
              </a:spcBef>
              <a:spcAft>
                <a:spcPts val="0"/>
              </a:spcAft>
              <a:buNone/>
            </a:pPr>
            <a:r>
              <a:rPr lang="en" sz="700">
                <a:solidFill>
                  <a:srgbClr val="434343"/>
                </a:solidFill>
              </a:rPr>
              <a:t>Multimodal AI-powered SQL</a:t>
            </a:r>
            <a:endParaRPr sz="700">
              <a:solidFill>
                <a:srgbClr val="434343"/>
              </a:solidFill>
            </a:endParaRPr>
          </a:p>
          <a:p>
            <a:pPr indent="0" lvl="0" marL="0" rtl="0" algn="ctr">
              <a:lnSpc>
                <a:spcPct val="100000"/>
              </a:lnSpc>
              <a:spcBef>
                <a:spcPts val="0"/>
              </a:spcBef>
              <a:spcAft>
                <a:spcPts val="0"/>
              </a:spcAft>
              <a:buNone/>
            </a:pPr>
            <a:r>
              <a:rPr b="1" lang="en" sz="800"/>
              <a:t>Cortex AISQL</a:t>
            </a:r>
            <a:endParaRPr b="1" baseline="30000" sz="800">
              <a:solidFill>
                <a:srgbClr val="595959"/>
              </a:solidFill>
            </a:endParaRPr>
          </a:p>
        </p:txBody>
      </p:sp>
      <p:sp>
        <p:nvSpPr>
          <p:cNvPr id="995" name="Google Shape;995;p56"/>
          <p:cNvSpPr/>
          <p:nvPr/>
        </p:nvSpPr>
        <p:spPr>
          <a:xfrm>
            <a:off x="4257175" y="2841080"/>
            <a:ext cx="1513200" cy="3807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lnSpc>
                <a:spcPct val="115000"/>
              </a:lnSpc>
              <a:spcBef>
                <a:spcPts val="0"/>
              </a:spcBef>
              <a:spcAft>
                <a:spcPts val="0"/>
              </a:spcAft>
              <a:buNone/>
            </a:pPr>
            <a:r>
              <a:rPr lang="en" sz="700">
                <a:solidFill>
                  <a:srgbClr val="434343"/>
                </a:solidFill>
              </a:rPr>
              <a:t>Document Processing </a:t>
            </a:r>
            <a:endParaRPr sz="700">
              <a:solidFill>
                <a:srgbClr val="434343"/>
              </a:solidFill>
            </a:endParaRPr>
          </a:p>
          <a:p>
            <a:pPr indent="0" lvl="0" marL="0" rtl="0" algn="ctr">
              <a:spcBef>
                <a:spcPts val="0"/>
              </a:spcBef>
              <a:spcAft>
                <a:spcPts val="0"/>
              </a:spcAft>
              <a:buNone/>
            </a:pPr>
            <a:r>
              <a:rPr b="1" lang="en" sz="800"/>
              <a:t>Document AI, Parse, Embed</a:t>
            </a:r>
            <a:endParaRPr b="1" baseline="30000" sz="800">
              <a:solidFill>
                <a:srgbClr val="595959"/>
              </a:solidFill>
            </a:endParaRPr>
          </a:p>
        </p:txBody>
      </p:sp>
      <p:sp>
        <p:nvSpPr>
          <p:cNvPr id="996" name="Google Shape;996;p56"/>
          <p:cNvSpPr/>
          <p:nvPr/>
        </p:nvSpPr>
        <p:spPr>
          <a:xfrm>
            <a:off x="836925" y="2841075"/>
            <a:ext cx="1513200" cy="380700"/>
          </a:xfrm>
          <a:prstGeom prst="roundRect">
            <a:avLst>
              <a:gd fmla="val 1528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700">
                <a:solidFill>
                  <a:srgbClr val="434343"/>
                </a:solidFill>
              </a:rPr>
              <a:t>Unstructured Data Retrieval</a:t>
            </a:r>
            <a:endParaRPr sz="700">
              <a:solidFill>
                <a:srgbClr val="434343"/>
              </a:solidFill>
            </a:endParaRPr>
          </a:p>
          <a:p>
            <a:pPr indent="0" lvl="0" marL="0" rtl="0" algn="ctr">
              <a:spcBef>
                <a:spcPts val="0"/>
              </a:spcBef>
              <a:spcAft>
                <a:spcPts val="0"/>
              </a:spcAft>
              <a:buNone/>
            </a:pPr>
            <a:r>
              <a:rPr b="1" lang="en" sz="800"/>
              <a:t>Cortex </a:t>
            </a:r>
            <a:r>
              <a:rPr b="1" lang="en" sz="800"/>
              <a:t>Search</a:t>
            </a:r>
            <a:endParaRPr b="1" baseline="30000" sz="800">
              <a:solidFill>
                <a:srgbClr val="595959"/>
              </a:solidFill>
            </a:endParaRPr>
          </a:p>
        </p:txBody>
      </p:sp>
      <p:sp>
        <p:nvSpPr>
          <p:cNvPr id="997" name="Google Shape;997;p56"/>
          <p:cNvSpPr/>
          <p:nvPr/>
        </p:nvSpPr>
        <p:spPr>
          <a:xfrm>
            <a:off x="2547050" y="2841075"/>
            <a:ext cx="1513200" cy="3807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700">
                <a:solidFill>
                  <a:srgbClr val="434343"/>
                </a:solidFill>
              </a:rPr>
              <a:t>Structured Data Retrieval</a:t>
            </a:r>
            <a:endParaRPr sz="700">
              <a:solidFill>
                <a:srgbClr val="434343"/>
              </a:solidFill>
            </a:endParaRPr>
          </a:p>
          <a:p>
            <a:pPr indent="0" lvl="0" marL="0" rtl="0" algn="ctr">
              <a:spcBef>
                <a:spcPts val="0"/>
              </a:spcBef>
              <a:spcAft>
                <a:spcPts val="0"/>
              </a:spcAft>
              <a:buNone/>
            </a:pPr>
            <a:r>
              <a:rPr b="1" lang="en" sz="800"/>
              <a:t>Cortex Analyst</a:t>
            </a:r>
            <a:endParaRPr b="1" baseline="30000" sz="800">
              <a:solidFill>
                <a:srgbClr val="595959"/>
              </a:solidFill>
            </a:endParaRPr>
          </a:p>
        </p:txBody>
      </p:sp>
      <p:pic>
        <p:nvPicPr>
          <p:cNvPr descr="File:OpenAI Logo.svg" id="998" name="Google Shape;998;p56"/>
          <p:cNvPicPr preferRelativeResize="0"/>
          <p:nvPr/>
        </p:nvPicPr>
        <p:blipFill>
          <a:blip r:embed="rId9">
            <a:alphaModFix/>
          </a:blip>
          <a:stretch>
            <a:fillRect/>
          </a:stretch>
        </p:blipFill>
        <p:spPr>
          <a:xfrm>
            <a:off x="6483317" y="2021667"/>
            <a:ext cx="415478" cy="109533"/>
          </a:xfrm>
          <a:prstGeom prst="rect">
            <a:avLst/>
          </a:prstGeom>
          <a:noFill/>
          <a:ln>
            <a:noFill/>
          </a:ln>
        </p:spPr>
      </p:pic>
      <p:sp>
        <p:nvSpPr>
          <p:cNvPr id="999" name="Google Shape;999;p56"/>
          <p:cNvSpPr/>
          <p:nvPr/>
        </p:nvSpPr>
        <p:spPr>
          <a:xfrm>
            <a:off x="284743" y="1234982"/>
            <a:ext cx="363300" cy="3633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pic>
        <p:nvPicPr>
          <p:cNvPr id="1000" name="Google Shape;1000;p56"/>
          <p:cNvPicPr preferRelativeResize="0"/>
          <p:nvPr/>
        </p:nvPicPr>
        <p:blipFill rotWithShape="1">
          <a:blip r:embed="rId10">
            <a:alphaModFix/>
          </a:blip>
          <a:srcRect b="0" l="0" r="0" t="0"/>
          <a:stretch/>
        </p:blipFill>
        <p:spPr>
          <a:xfrm>
            <a:off x="350881" y="1299889"/>
            <a:ext cx="243363" cy="224939"/>
          </a:xfrm>
          <a:prstGeom prst="rect">
            <a:avLst/>
          </a:prstGeom>
          <a:noFill/>
          <a:ln>
            <a:noFill/>
          </a:ln>
        </p:spPr>
      </p:pic>
      <p:sp>
        <p:nvSpPr>
          <p:cNvPr id="1001" name="Google Shape;1001;p56"/>
          <p:cNvSpPr/>
          <p:nvPr/>
        </p:nvSpPr>
        <p:spPr>
          <a:xfrm>
            <a:off x="8539713" y="4216997"/>
            <a:ext cx="324300" cy="3243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grpSp>
        <p:nvGrpSpPr>
          <p:cNvPr id="1002" name="Google Shape;1002;p56"/>
          <p:cNvGrpSpPr/>
          <p:nvPr/>
        </p:nvGrpSpPr>
        <p:grpSpPr>
          <a:xfrm>
            <a:off x="8607849" y="4271201"/>
            <a:ext cx="188033" cy="215891"/>
            <a:chOff x="1853392" y="179809"/>
            <a:chExt cx="249381" cy="286328"/>
          </a:xfrm>
        </p:grpSpPr>
        <p:sp>
          <p:nvSpPr>
            <p:cNvPr id="1003" name="Google Shape;1003;p56"/>
            <p:cNvSpPr/>
            <p:nvPr/>
          </p:nvSpPr>
          <p:spPr>
            <a:xfrm>
              <a:off x="1853392" y="179809"/>
              <a:ext cx="249381" cy="286328"/>
            </a:xfrm>
            <a:custGeom>
              <a:rect b="b" l="l" r="r" t="t"/>
              <a:pathLst>
                <a:path extrusionOk="0" h="286328" w="249381">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Arial"/>
                <a:ea typeface="Arial"/>
                <a:cs typeface="Arial"/>
                <a:sym typeface="Arial"/>
              </a:endParaRPr>
            </a:p>
          </p:txBody>
        </p:sp>
        <p:sp>
          <p:nvSpPr>
            <p:cNvPr id="1004" name="Google Shape;1004;p56"/>
            <p:cNvSpPr/>
            <p:nvPr/>
          </p:nvSpPr>
          <p:spPr>
            <a:xfrm>
              <a:off x="1951851" y="344863"/>
              <a:ext cx="50892" cy="72044"/>
            </a:xfrm>
            <a:custGeom>
              <a:rect b="b" l="l" r="r" t="t"/>
              <a:pathLst>
                <a:path extrusionOk="0" h="72044" w="50892">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Arial"/>
                <a:ea typeface="Arial"/>
                <a:cs typeface="Arial"/>
                <a:sym typeface="Arial"/>
              </a:endParaRPr>
            </a:p>
          </p:txBody>
        </p:sp>
      </p:grpSp>
      <p:pic>
        <p:nvPicPr>
          <p:cNvPr id="1005" name="Google Shape;1005;p56"/>
          <p:cNvPicPr preferRelativeResize="0"/>
          <p:nvPr/>
        </p:nvPicPr>
        <p:blipFill>
          <a:blip r:embed="rId11">
            <a:alphaModFix/>
          </a:blip>
          <a:stretch>
            <a:fillRect/>
          </a:stretch>
        </p:blipFill>
        <p:spPr>
          <a:xfrm>
            <a:off x="1511180" y="3991537"/>
            <a:ext cx="156320" cy="156353"/>
          </a:xfrm>
          <a:prstGeom prst="rect">
            <a:avLst/>
          </a:prstGeom>
          <a:noFill/>
          <a:ln>
            <a:noFill/>
          </a:ln>
        </p:spPr>
      </p:pic>
      <p:pic>
        <p:nvPicPr>
          <p:cNvPr id="1006" name="Google Shape;1006;p56"/>
          <p:cNvPicPr preferRelativeResize="0"/>
          <p:nvPr/>
        </p:nvPicPr>
        <p:blipFill rotWithShape="1">
          <a:blip r:embed="rId12">
            <a:alphaModFix/>
          </a:blip>
          <a:srcRect b="10475" l="10467" r="10475" t="10467"/>
          <a:stretch/>
        </p:blipFill>
        <p:spPr>
          <a:xfrm>
            <a:off x="1956917" y="3995569"/>
            <a:ext cx="148265" cy="148290"/>
          </a:xfrm>
          <a:prstGeom prst="rect">
            <a:avLst/>
          </a:prstGeom>
          <a:noFill/>
          <a:ln>
            <a:noFill/>
          </a:ln>
        </p:spPr>
      </p:pic>
      <p:pic>
        <p:nvPicPr>
          <p:cNvPr id="1007" name="Google Shape;1007;p56"/>
          <p:cNvPicPr preferRelativeResize="0"/>
          <p:nvPr/>
        </p:nvPicPr>
        <p:blipFill>
          <a:blip r:embed="rId13">
            <a:alphaModFix/>
          </a:blip>
          <a:stretch>
            <a:fillRect/>
          </a:stretch>
        </p:blipFill>
        <p:spPr>
          <a:xfrm>
            <a:off x="1081883" y="3991545"/>
            <a:ext cx="156320" cy="156338"/>
          </a:xfrm>
          <a:prstGeom prst="rect">
            <a:avLst/>
          </a:prstGeom>
          <a:noFill/>
          <a:ln>
            <a:noFill/>
          </a:ln>
        </p:spPr>
      </p:pic>
      <p:pic>
        <p:nvPicPr>
          <p:cNvPr id="1008" name="Google Shape;1008;p56" title="Wfw2p9DY_400x400.png"/>
          <p:cNvPicPr preferRelativeResize="0"/>
          <p:nvPr/>
        </p:nvPicPr>
        <p:blipFill>
          <a:blip r:embed="rId14">
            <a:alphaModFix/>
          </a:blip>
          <a:stretch>
            <a:fillRect/>
          </a:stretch>
        </p:blipFill>
        <p:spPr>
          <a:xfrm>
            <a:off x="1738096" y="3995613"/>
            <a:ext cx="148200" cy="148200"/>
          </a:xfrm>
          <a:prstGeom prst="roundRect">
            <a:avLst>
              <a:gd fmla="val 16667" name="adj"/>
            </a:avLst>
          </a:prstGeom>
          <a:noFill/>
          <a:ln>
            <a:noFill/>
          </a:ln>
        </p:spPr>
      </p:pic>
      <p:sp>
        <p:nvSpPr>
          <p:cNvPr id="1009" name="Google Shape;1009;p56"/>
          <p:cNvSpPr/>
          <p:nvPr/>
        </p:nvSpPr>
        <p:spPr>
          <a:xfrm>
            <a:off x="3087571" y="1246513"/>
            <a:ext cx="2991600" cy="3633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010" name="Google Shape;1010;p56"/>
          <p:cNvSpPr/>
          <p:nvPr/>
        </p:nvSpPr>
        <p:spPr>
          <a:xfrm>
            <a:off x="3272241" y="1283776"/>
            <a:ext cx="429569" cy="274374"/>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6000"/>
              <a:buFont typeface="Arial"/>
              <a:buNone/>
            </a:pPr>
            <a:r>
              <a:t/>
            </a:r>
            <a:endParaRPr sz="6000">
              <a:solidFill>
                <a:srgbClr val="FFFFFF"/>
              </a:solidFill>
              <a:latin typeface="Lato"/>
              <a:ea typeface="Lato"/>
              <a:cs typeface="Lato"/>
              <a:sym typeface="Lato"/>
            </a:endParaRPr>
          </a:p>
        </p:txBody>
      </p:sp>
      <p:sp>
        <p:nvSpPr>
          <p:cNvPr id="1011" name="Google Shape;1011;p56"/>
          <p:cNvSpPr txBox="1"/>
          <p:nvPr/>
        </p:nvSpPr>
        <p:spPr>
          <a:xfrm>
            <a:off x="3781921" y="1291963"/>
            <a:ext cx="2112600" cy="25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29B5E8"/>
                </a:solidFill>
              </a:rPr>
              <a:t>Snowflake Cortex AI</a:t>
            </a:r>
            <a:endParaRPr b="1" sz="1700">
              <a:solidFill>
                <a:srgbClr val="29B5E8"/>
              </a:solidFill>
            </a:endParaRPr>
          </a:p>
        </p:txBody>
      </p:sp>
      <p:grpSp>
        <p:nvGrpSpPr>
          <p:cNvPr id="1012" name="Google Shape;1012;p56"/>
          <p:cNvGrpSpPr/>
          <p:nvPr/>
        </p:nvGrpSpPr>
        <p:grpSpPr>
          <a:xfrm>
            <a:off x="4472558" y="3975375"/>
            <a:ext cx="1027826" cy="188677"/>
            <a:chOff x="4485781" y="3822975"/>
            <a:chExt cx="1027826" cy="188677"/>
          </a:xfrm>
        </p:grpSpPr>
        <p:grpSp>
          <p:nvGrpSpPr>
            <p:cNvPr id="1013" name="Google Shape;1013;p56"/>
            <p:cNvGrpSpPr/>
            <p:nvPr/>
          </p:nvGrpSpPr>
          <p:grpSpPr>
            <a:xfrm>
              <a:off x="4793055" y="3825432"/>
              <a:ext cx="179811" cy="186220"/>
              <a:chOff x="4834290" y="3825432"/>
              <a:chExt cx="179811" cy="186220"/>
            </a:xfrm>
          </p:grpSpPr>
          <p:sp>
            <p:nvSpPr>
              <p:cNvPr id="1014" name="Google Shape;1014;p56"/>
              <p:cNvSpPr/>
              <p:nvPr/>
            </p:nvSpPr>
            <p:spPr>
              <a:xfrm>
                <a:off x="4873266" y="3825432"/>
                <a:ext cx="140835" cy="18622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1015" name="Google Shape;1015;p56"/>
              <p:cNvSpPr/>
              <p:nvPr/>
            </p:nvSpPr>
            <p:spPr>
              <a:xfrm>
                <a:off x="4834290" y="3914297"/>
                <a:ext cx="145165" cy="64961"/>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300">
                    <a:solidFill>
                      <a:srgbClr val="FFFFFF"/>
                    </a:solidFill>
                  </a:rPr>
                  <a:t>DOC</a:t>
                </a:r>
                <a:endParaRPr sz="300">
                  <a:solidFill>
                    <a:srgbClr val="252525"/>
                  </a:solidFill>
                  <a:latin typeface="Arial"/>
                  <a:ea typeface="Arial"/>
                  <a:cs typeface="Arial"/>
                  <a:sym typeface="Arial"/>
                </a:endParaRPr>
              </a:p>
            </p:txBody>
          </p:sp>
        </p:grpSp>
        <p:grpSp>
          <p:nvGrpSpPr>
            <p:cNvPr id="1016" name="Google Shape;1016;p56"/>
            <p:cNvGrpSpPr/>
            <p:nvPr/>
          </p:nvGrpSpPr>
          <p:grpSpPr>
            <a:xfrm>
              <a:off x="5063426" y="3825432"/>
              <a:ext cx="179811" cy="186220"/>
              <a:chOff x="1714900" y="552700"/>
              <a:chExt cx="4353775" cy="4508950"/>
            </a:xfrm>
          </p:grpSpPr>
          <p:sp>
            <p:nvSpPr>
              <p:cNvPr id="1017" name="Google Shape;1017;p56"/>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1018" name="Google Shape;1018;p56"/>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300">
                    <a:solidFill>
                      <a:srgbClr val="FFFFFF"/>
                    </a:solidFill>
                  </a:rPr>
                  <a:t>AUDIO</a:t>
                </a:r>
                <a:endParaRPr sz="300">
                  <a:solidFill>
                    <a:srgbClr val="252525"/>
                  </a:solidFill>
                  <a:latin typeface="Arial"/>
                  <a:ea typeface="Arial"/>
                  <a:cs typeface="Arial"/>
                  <a:sym typeface="Arial"/>
                </a:endParaRPr>
              </a:p>
            </p:txBody>
          </p:sp>
        </p:grpSp>
        <p:grpSp>
          <p:nvGrpSpPr>
            <p:cNvPr id="1019" name="Google Shape;1019;p56"/>
            <p:cNvGrpSpPr/>
            <p:nvPr/>
          </p:nvGrpSpPr>
          <p:grpSpPr>
            <a:xfrm>
              <a:off x="5333796" y="3825432"/>
              <a:ext cx="179811" cy="186220"/>
              <a:chOff x="1714900" y="552700"/>
              <a:chExt cx="4353775" cy="4508950"/>
            </a:xfrm>
          </p:grpSpPr>
          <p:sp>
            <p:nvSpPr>
              <p:cNvPr id="1020" name="Google Shape;1020;p56"/>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1021" name="Google Shape;1021;p56"/>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300">
                    <a:solidFill>
                      <a:srgbClr val="FFFFFF"/>
                    </a:solidFill>
                  </a:rPr>
                  <a:t>IMAGE</a:t>
                </a:r>
                <a:endParaRPr sz="900">
                  <a:solidFill>
                    <a:srgbClr val="252525"/>
                  </a:solidFill>
                  <a:latin typeface="Arial"/>
                  <a:ea typeface="Arial"/>
                  <a:cs typeface="Arial"/>
                  <a:sym typeface="Arial"/>
                </a:endParaRPr>
              </a:p>
            </p:txBody>
          </p:sp>
        </p:grpSp>
        <p:grpSp>
          <p:nvGrpSpPr>
            <p:cNvPr id="1022" name="Google Shape;1022;p56"/>
            <p:cNvGrpSpPr/>
            <p:nvPr/>
          </p:nvGrpSpPr>
          <p:grpSpPr>
            <a:xfrm>
              <a:off x="4485781" y="3822975"/>
              <a:ext cx="216714" cy="186205"/>
              <a:chOff x="4485781" y="3822975"/>
              <a:chExt cx="216714" cy="186205"/>
            </a:xfrm>
          </p:grpSpPr>
          <p:sp>
            <p:nvSpPr>
              <p:cNvPr id="1023" name="Google Shape;1023;p56"/>
              <p:cNvSpPr/>
              <p:nvPr/>
            </p:nvSpPr>
            <p:spPr>
              <a:xfrm>
                <a:off x="4522757" y="3822975"/>
                <a:ext cx="179739" cy="186205"/>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rgbClr val="262626"/>
                  </a:solidFill>
                  <a:latin typeface="Arial"/>
                  <a:ea typeface="Arial"/>
                  <a:cs typeface="Arial"/>
                  <a:sym typeface="Arial"/>
                </a:endParaRPr>
              </a:p>
            </p:txBody>
          </p:sp>
          <p:sp>
            <p:nvSpPr>
              <p:cNvPr id="1024" name="Google Shape;1024;p56"/>
              <p:cNvSpPr/>
              <p:nvPr/>
            </p:nvSpPr>
            <p:spPr>
              <a:xfrm>
                <a:off x="4485781" y="3914297"/>
                <a:ext cx="145165" cy="64961"/>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300">
                    <a:solidFill>
                      <a:srgbClr val="FFFFFF"/>
                    </a:solidFill>
                  </a:rPr>
                  <a:t>STR</a:t>
                </a:r>
                <a:endParaRPr sz="300">
                  <a:solidFill>
                    <a:srgbClr val="252525"/>
                  </a:solidFill>
                  <a:latin typeface="Arial"/>
                  <a:ea typeface="Arial"/>
                  <a:cs typeface="Arial"/>
                  <a:sym typeface="Arial"/>
                </a:endParaRPr>
              </a:p>
            </p:txBody>
          </p:sp>
        </p:grpSp>
      </p:grpSp>
      <p:sp>
        <p:nvSpPr>
          <p:cNvPr id="1025" name="Google Shape;1025;p56"/>
          <p:cNvSpPr/>
          <p:nvPr/>
        </p:nvSpPr>
        <p:spPr>
          <a:xfrm>
            <a:off x="836300" y="1968758"/>
            <a:ext cx="1511700" cy="3795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700"/>
              <a:t>Agent Apps</a:t>
            </a:r>
            <a:br>
              <a:rPr b="1" lang="en" sz="700"/>
            </a:br>
            <a:r>
              <a:rPr b="1" lang="en" sz="800"/>
              <a:t>Snowflake Intelligence</a:t>
            </a:r>
            <a:endParaRPr b="1" baseline="30000" sz="800">
              <a:solidFill>
                <a:srgbClr val="595959"/>
              </a:solidFill>
            </a:endParaRPr>
          </a:p>
        </p:txBody>
      </p:sp>
      <p:pic>
        <p:nvPicPr>
          <p:cNvPr id="1026" name="Google Shape;1026;p56"/>
          <p:cNvPicPr preferRelativeResize="0"/>
          <p:nvPr/>
        </p:nvPicPr>
        <p:blipFill rotWithShape="1">
          <a:blip r:embed="rId15">
            <a:alphaModFix/>
          </a:blip>
          <a:srcRect b="0" l="0" r="0" t="0"/>
          <a:stretch/>
        </p:blipFill>
        <p:spPr>
          <a:xfrm>
            <a:off x="2990126" y="3989463"/>
            <a:ext cx="627027" cy="160500"/>
          </a:xfrm>
          <a:prstGeom prst="rect">
            <a:avLst/>
          </a:prstGeom>
          <a:noFill/>
          <a:ln>
            <a:noFill/>
          </a:ln>
        </p:spPr>
      </p:pic>
      <p:sp>
        <p:nvSpPr>
          <p:cNvPr id="1027" name="Google Shape;1027;p56"/>
          <p:cNvSpPr txBox="1"/>
          <p:nvPr/>
        </p:nvSpPr>
        <p:spPr>
          <a:xfrm>
            <a:off x="2547050" y="3658150"/>
            <a:ext cx="1563000" cy="274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700">
                <a:solidFill>
                  <a:srgbClr val="434343"/>
                </a:solidFill>
              </a:rPr>
              <a:t>AI Ready Data &amp; Apps </a:t>
            </a:r>
            <a:endParaRPr sz="700">
              <a:solidFill>
                <a:srgbClr val="434343"/>
              </a:solidFill>
            </a:endParaRPr>
          </a:p>
          <a:p>
            <a:pPr indent="0" lvl="0" marL="0" rtl="0" algn="ctr">
              <a:spcBef>
                <a:spcPts val="0"/>
              </a:spcBef>
              <a:spcAft>
                <a:spcPts val="0"/>
              </a:spcAft>
              <a:buNone/>
            </a:pPr>
            <a:r>
              <a:rPr b="1" lang="en" sz="800"/>
              <a:t>Snowflake Marketplace</a:t>
            </a:r>
            <a:endParaRPr b="1"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57"/>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Archs from customers</a:t>
            </a:r>
            <a:endParaRPr/>
          </a:p>
        </p:txBody>
      </p:sp>
      <p:sp>
        <p:nvSpPr>
          <p:cNvPr id="1033" name="Google Shape;1033;p57"/>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Example Archs from customers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58"/>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Blackline (financial) use case for Snowflake</a:t>
            </a:r>
            <a:endParaRPr/>
          </a:p>
        </p:txBody>
      </p:sp>
      <p:pic>
        <p:nvPicPr>
          <p:cNvPr id="1039" name="Google Shape;1039;p58" title="image.png"/>
          <p:cNvPicPr preferRelativeResize="0"/>
          <p:nvPr/>
        </p:nvPicPr>
        <p:blipFill>
          <a:blip r:embed="rId3">
            <a:alphaModFix/>
          </a:blip>
          <a:stretch>
            <a:fillRect/>
          </a:stretch>
        </p:blipFill>
        <p:spPr>
          <a:xfrm>
            <a:off x="1455175" y="755875"/>
            <a:ext cx="5928700" cy="4235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59"/>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BigQuery vs Snowflake</a:t>
            </a:r>
            <a:endParaRPr/>
          </a:p>
        </p:txBody>
      </p:sp>
      <p:sp>
        <p:nvSpPr>
          <p:cNvPr id="1045" name="Google Shape;1045;p59"/>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BigQuery vs Snowflake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60"/>
          <p:cNvSpPr txBox="1"/>
          <p:nvPr>
            <p:ph type="title"/>
          </p:nvPr>
        </p:nvSpPr>
        <p:spPr>
          <a:xfrm>
            <a:off x="397800" y="-2"/>
            <a:ext cx="8348400" cy="365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Architectural Difference: Snowflake vs BigQuery</a:t>
            </a:r>
            <a:endParaRPr/>
          </a:p>
        </p:txBody>
      </p:sp>
      <p:sp>
        <p:nvSpPr>
          <p:cNvPr id="1051" name="Google Shape;1051;p60"/>
          <p:cNvSpPr txBox="1"/>
          <p:nvPr>
            <p:ph idx="1" type="body"/>
          </p:nvPr>
        </p:nvSpPr>
        <p:spPr>
          <a:xfrm>
            <a:off x="365750" y="560925"/>
            <a:ext cx="4160400" cy="41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Query</a:t>
            </a:r>
            <a:endParaRPr b="1"/>
          </a:p>
          <a:p>
            <a:pPr indent="-304800" lvl="0" marL="457200" rtl="0" algn="l">
              <a:spcBef>
                <a:spcPts val="0"/>
              </a:spcBef>
              <a:spcAft>
                <a:spcPts val="0"/>
              </a:spcAft>
              <a:buSzPts val="1200"/>
              <a:buChar char="-"/>
            </a:pPr>
            <a:r>
              <a:rPr b="1" lang="en" sz="1200"/>
              <a:t>Needs denormalization</a:t>
            </a:r>
            <a:endParaRPr b="1" sz="1200"/>
          </a:p>
          <a:p>
            <a:pPr indent="-317500" lvl="1" marL="914400" rtl="0" algn="l">
              <a:spcBef>
                <a:spcPts val="0"/>
              </a:spcBef>
              <a:spcAft>
                <a:spcPts val="0"/>
              </a:spcAft>
              <a:buSzPts val="1400"/>
              <a:buChar char="-"/>
            </a:pPr>
            <a:r>
              <a:rPr lang="en"/>
              <a:t>Engineers often ignore it</a:t>
            </a:r>
            <a:endParaRPr/>
          </a:p>
          <a:p>
            <a:pPr indent="-317500" lvl="1" marL="914400" rtl="0" algn="l">
              <a:spcBef>
                <a:spcPts val="0"/>
              </a:spcBef>
              <a:spcAft>
                <a:spcPts val="0"/>
              </a:spcAft>
              <a:buSzPts val="1400"/>
              <a:buChar char="-"/>
            </a:pPr>
            <a:r>
              <a:rPr lang="en"/>
              <a:t>Unpredictable query performance and cost</a:t>
            </a:r>
            <a:endParaRPr/>
          </a:p>
          <a:p>
            <a:pPr indent="-317500" lvl="1" marL="914400" rtl="0" algn="l">
              <a:spcBef>
                <a:spcPts val="0"/>
              </a:spcBef>
              <a:spcAft>
                <a:spcPts val="0"/>
              </a:spcAft>
              <a:buSzPts val="1400"/>
              <a:buChar char="-"/>
            </a:pPr>
            <a:r>
              <a:rPr lang="en"/>
              <a:t>Migration from other dbs are complicated</a:t>
            </a:r>
            <a:endParaRPr/>
          </a:p>
          <a:p>
            <a:pPr indent="-304800" lvl="0" marL="457200" rtl="0" algn="l">
              <a:spcBef>
                <a:spcPts val="0"/>
              </a:spcBef>
              <a:spcAft>
                <a:spcPts val="0"/>
              </a:spcAft>
              <a:buSzPts val="1200"/>
              <a:buChar char="-"/>
            </a:pPr>
            <a:r>
              <a:rPr b="1" lang="en" sz="1200"/>
              <a:t>One piece in GCP platform</a:t>
            </a:r>
            <a:endParaRPr b="1" sz="1200"/>
          </a:p>
          <a:p>
            <a:pPr indent="-317500" lvl="1" marL="914400" rtl="0" algn="l">
              <a:spcBef>
                <a:spcPts val="0"/>
              </a:spcBef>
              <a:spcAft>
                <a:spcPts val="0"/>
              </a:spcAft>
              <a:buSzPts val="1400"/>
              <a:buChar char="-"/>
            </a:pPr>
            <a:r>
              <a:rPr lang="en"/>
              <a:t>Needs complex ETL to run workloads on Vertex AI, DataProc, Cloud Run, etc</a:t>
            </a:r>
            <a:endParaRPr/>
          </a:p>
          <a:p>
            <a:pPr indent="-317500" lvl="1" marL="914400" rtl="0" algn="l">
              <a:spcBef>
                <a:spcPts val="0"/>
              </a:spcBef>
              <a:spcAft>
                <a:spcPts val="0"/>
              </a:spcAft>
              <a:buSzPts val="1400"/>
              <a:buChar char="-"/>
            </a:pPr>
            <a:r>
              <a:rPr lang="en"/>
              <a:t>Needs data movement </a:t>
            </a:r>
            <a:endParaRPr/>
          </a:p>
          <a:p>
            <a:pPr indent="-317500" lvl="1" marL="914400" rtl="0" algn="l">
              <a:spcBef>
                <a:spcPts val="0"/>
              </a:spcBef>
              <a:spcAft>
                <a:spcPts val="0"/>
              </a:spcAft>
              <a:buSzPts val="1400"/>
              <a:buChar char="-"/>
            </a:pPr>
            <a:r>
              <a:rPr lang="en"/>
              <a:t>Needs GCP complex role management</a:t>
            </a:r>
            <a:endParaRPr/>
          </a:p>
          <a:p>
            <a:pPr indent="-317500" lvl="1" marL="914400" rtl="0" algn="l">
              <a:spcBef>
                <a:spcPts val="0"/>
              </a:spcBef>
              <a:spcAft>
                <a:spcPts val="0"/>
              </a:spcAft>
              <a:buSzPts val="1400"/>
              <a:buChar char="-"/>
            </a:pPr>
            <a:r>
              <a:rPr lang="en"/>
              <a:t>Works mainly with GCP</a:t>
            </a:r>
            <a:endParaRPr/>
          </a:p>
          <a:p>
            <a:pPr indent="-317500" lvl="0" marL="457200" rtl="0" algn="l">
              <a:spcBef>
                <a:spcPts val="0"/>
              </a:spcBef>
              <a:spcAft>
                <a:spcPts val="0"/>
              </a:spcAft>
              <a:buSzPts val="1400"/>
              <a:buChar char="-"/>
            </a:pPr>
            <a:r>
              <a:rPr lang="en"/>
              <a:t>Complicated Cost structure</a:t>
            </a:r>
            <a:endParaRPr/>
          </a:p>
          <a:p>
            <a:pPr indent="-317500" lvl="1" marL="914400" rtl="0" algn="l">
              <a:spcBef>
                <a:spcPts val="0"/>
              </a:spcBef>
              <a:spcAft>
                <a:spcPts val="0"/>
              </a:spcAft>
              <a:buSzPts val="1400"/>
              <a:buChar char="-"/>
            </a:pPr>
            <a:r>
              <a:rPr lang="en"/>
              <a:t>Pricing based on data scanned and not compute time</a:t>
            </a:r>
            <a:endParaRPr/>
          </a:p>
          <a:p>
            <a:pPr indent="-317500" lvl="1" marL="914400" rtl="0" algn="l">
              <a:spcBef>
                <a:spcPts val="0"/>
              </a:spcBef>
              <a:spcAft>
                <a:spcPts val="0"/>
              </a:spcAft>
              <a:buSzPts val="1400"/>
              <a:buChar char="-"/>
            </a:pPr>
            <a:r>
              <a:rPr lang="en" u="sng">
                <a:solidFill>
                  <a:schemeClr val="hlink"/>
                </a:solidFill>
                <a:hlinkClick r:id="rId3"/>
              </a:rPr>
              <a:t>shocking pricing</a:t>
            </a:r>
            <a:endParaRPr/>
          </a:p>
        </p:txBody>
      </p:sp>
      <p:sp>
        <p:nvSpPr>
          <p:cNvPr id="1052" name="Google Shape;1052;p60"/>
          <p:cNvSpPr txBox="1"/>
          <p:nvPr>
            <p:ph idx="2" type="body"/>
          </p:nvPr>
        </p:nvSpPr>
        <p:spPr>
          <a:xfrm>
            <a:off x="4617725" y="561000"/>
            <a:ext cx="4160400" cy="41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Snowflake</a:t>
            </a:r>
            <a:endParaRPr b="1"/>
          </a:p>
          <a:p>
            <a:pPr indent="-304800" lvl="0" marL="457200" rtl="0" algn="l">
              <a:spcBef>
                <a:spcPts val="0"/>
              </a:spcBef>
              <a:spcAft>
                <a:spcPts val="0"/>
              </a:spcAft>
              <a:buSzPts val="1200"/>
              <a:buChar char="-"/>
            </a:pPr>
            <a:r>
              <a:rPr b="1" lang="en" sz="1200"/>
              <a:t>Zero-Copy data sharing</a:t>
            </a:r>
            <a:endParaRPr b="1" sz="1200"/>
          </a:p>
          <a:p>
            <a:pPr indent="-317500" lvl="1" marL="914400" rtl="0" algn="l">
              <a:spcBef>
                <a:spcPts val="0"/>
              </a:spcBef>
              <a:spcAft>
                <a:spcPts val="0"/>
              </a:spcAft>
              <a:buSzPts val="1400"/>
              <a:buChar char="-"/>
            </a:pPr>
            <a:r>
              <a:rPr lang="en"/>
              <a:t>Across clouds/regions</a:t>
            </a:r>
            <a:endParaRPr/>
          </a:p>
          <a:p>
            <a:pPr indent="-317500" lvl="1" marL="914400" rtl="0" algn="l">
              <a:spcBef>
                <a:spcPts val="0"/>
              </a:spcBef>
              <a:spcAft>
                <a:spcPts val="0"/>
              </a:spcAft>
              <a:buSzPts val="1400"/>
              <a:buChar char="-"/>
            </a:pPr>
            <a:r>
              <a:rPr lang="en"/>
              <a:t>Enrich your data with most active Marketplace</a:t>
            </a:r>
            <a:endParaRPr/>
          </a:p>
          <a:p>
            <a:pPr indent="-304800" lvl="0" marL="457200" rtl="0" algn="l">
              <a:spcBef>
                <a:spcPts val="0"/>
              </a:spcBef>
              <a:spcAft>
                <a:spcPts val="0"/>
              </a:spcAft>
              <a:buSzPts val="1200"/>
              <a:buChar char="-"/>
            </a:pPr>
            <a:r>
              <a:rPr b="1" lang="en" sz="1200"/>
              <a:t>Unified Data Cloud</a:t>
            </a:r>
            <a:endParaRPr b="1" sz="1200"/>
          </a:p>
          <a:p>
            <a:pPr indent="-304800" lvl="1" marL="914400" rtl="0" algn="l">
              <a:spcBef>
                <a:spcPts val="0"/>
              </a:spcBef>
              <a:spcAft>
                <a:spcPts val="0"/>
              </a:spcAft>
              <a:buSzPts val="1200"/>
              <a:buChar char="-"/>
            </a:pPr>
            <a:r>
              <a:rPr lang="en" sz="1200"/>
              <a:t>Zero-ETL end-to-end workloads</a:t>
            </a:r>
            <a:endParaRPr sz="1200"/>
          </a:p>
          <a:p>
            <a:pPr indent="-317500" lvl="1" marL="914400" rtl="0" algn="l">
              <a:spcBef>
                <a:spcPts val="0"/>
              </a:spcBef>
              <a:spcAft>
                <a:spcPts val="0"/>
              </a:spcAft>
              <a:buSzPts val="1400"/>
              <a:buChar char="-"/>
            </a:pPr>
            <a:r>
              <a:rPr lang="en"/>
              <a:t>Runs DE, BI, ML, and AI</a:t>
            </a:r>
            <a:endParaRPr/>
          </a:p>
          <a:p>
            <a:pPr indent="-317500" lvl="1" marL="914400" rtl="0" algn="l">
              <a:spcBef>
                <a:spcPts val="0"/>
              </a:spcBef>
              <a:spcAft>
                <a:spcPts val="0"/>
              </a:spcAft>
              <a:buSzPts val="1400"/>
              <a:buChar char="-"/>
            </a:pPr>
            <a:r>
              <a:rPr lang="en"/>
              <a:t>No data movement needed</a:t>
            </a:r>
            <a:endParaRPr/>
          </a:p>
          <a:p>
            <a:pPr indent="-304800" lvl="0" marL="457200" rtl="0" algn="l">
              <a:spcBef>
                <a:spcPts val="0"/>
              </a:spcBef>
              <a:spcAft>
                <a:spcPts val="0"/>
              </a:spcAft>
              <a:buSzPts val="1200"/>
              <a:buChar char="-"/>
            </a:pPr>
            <a:r>
              <a:rPr b="1" lang="en" sz="1200"/>
              <a:t>Low TCO</a:t>
            </a:r>
            <a:endParaRPr b="1" sz="1200"/>
          </a:p>
          <a:p>
            <a:pPr indent="-317500" lvl="1" marL="914400" rtl="0" algn="l">
              <a:spcBef>
                <a:spcPts val="0"/>
              </a:spcBef>
              <a:spcAft>
                <a:spcPts val="0"/>
              </a:spcAft>
              <a:buSzPts val="1400"/>
              <a:buChar char="-"/>
            </a:pPr>
            <a:r>
              <a:rPr lang="en"/>
              <a:t>True Serverless</a:t>
            </a:r>
            <a:endParaRPr/>
          </a:p>
          <a:p>
            <a:pPr indent="-317500" lvl="1" marL="914400" rtl="0" algn="l">
              <a:spcBef>
                <a:spcPts val="0"/>
              </a:spcBef>
              <a:spcAft>
                <a:spcPts val="0"/>
              </a:spcAft>
              <a:buSzPts val="1400"/>
              <a:buChar char="-"/>
            </a:pPr>
            <a:r>
              <a:rPr lang="en"/>
              <a:t>Easy to use cost monitoring and tagging</a:t>
            </a:r>
            <a:endParaRPr/>
          </a:p>
          <a:p>
            <a:pPr indent="-304800" lvl="0" marL="457200" rtl="0" algn="l">
              <a:spcBef>
                <a:spcPts val="0"/>
              </a:spcBef>
              <a:spcAft>
                <a:spcPts val="0"/>
              </a:spcAft>
              <a:buSzPts val="1200"/>
              <a:buChar char="-"/>
            </a:pPr>
            <a:r>
              <a:rPr b="1" lang="en" sz="1200"/>
              <a:t>Trusted</a:t>
            </a:r>
            <a:endParaRPr b="1" sz="1200"/>
          </a:p>
          <a:p>
            <a:pPr indent="-317500" lvl="1" marL="914400" rtl="0" algn="l">
              <a:spcBef>
                <a:spcPts val="0"/>
              </a:spcBef>
              <a:spcAft>
                <a:spcPts val="0"/>
              </a:spcAft>
              <a:buSzPts val="1400"/>
              <a:buChar char="-"/>
            </a:pPr>
            <a:r>
              <a:rPr lang="en"/>
              <a:t>Built-in Governance and Security</a:t>
            </a:r>
            <a:endParaRPr/>
          </a:p>
          <a:p>
            <a:pPr indent="-317500" lvl="1" marL="914400" rtl="0" algn="l">
              <a:spcBef>
                <a:spcPts val="0"/>
              </a:spcBef>
              <a:spcAft>
                <a:spcPts val="0"/>
              </a:spcAft>
              <a:buSzPts val="1400"/>
              <a:buChar char="-"/>
            </a:pPr>
            <a:r>
              <a:rPr lang="en"/>
              <a:t>Centralized Role-Based Data Access</a:t>
            </a:r>
            <a:endParaRPr/>
          </a:p>
          <a:p>
            <a:pPr indent="-317500" lvl="1" marL="914400" rtl="0" algn="l">
              <a:spcBef>
                <a:spcPts val="0"/>
              </a:spcBef>
              <a:spcAft>
                <a:spcPts val="0"/>
              </a:spcAft>
              <a:buSzPts val="1400"/>
              <a:buChar char="-"/>
            </a:pPr>
            <a:r>
              <a:rPr lang="en"/>
              <a:t>Easy data masking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61"/>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Snowflake vs BigQuery: It is all about the architecture</a:t>
            </a:r>
            <a:endParaRPr/>
          </a:p>
        </p:txBody>
      </p:sp>
      <p:graphicFrame>
        <p:nvGraphicFramePr>
          <p:cNvPr id="1058" name="Google Shape;1058;p61"/>
          <p:cNvGraphicFramePr/>
          <p:nvPr/>
        </p:nvGraphicFramePr>
        <p:xfrm>
          <a:off x="311700" y="734775"/>
          <a:ext cx="3000000" cy="3000000"/>
        </p:xfrm>
        <a:graphic>
          <a:graphicData uri="http://schemas.openxmlformats.org/drawingml/2006/table">
            <a:tbl>
              <a:tblPr>
                <a:noFill/>
                <a:tableStyleId>{E8F5248A-DBA3-46B8-8E12-1AFC5F6F1D41}</a:tableStyleId>
              </a:tblPr>
              <a:tblGrid>
                <a:gridCol w="1072725"/>
                <a:gridCol w="1773800"/>
                <a:gridCol w="2871575"/>
                <a:gridCol w="2802500"/>
              </a:tblGrid>
              <a:tr h="298875">
                <a:tc>
                  <a:txBody>
                    <a:bodyPr/>
                    <a:lstStyle/>
                    <a:p>
                      <a:pPr indent="0" lvl="0" marL="0" rtl="0" algn="l">
                        <a:spcBef>
                          <a:spcPts val="0"/>
                        </a:spcBef>
                        <a:spcAft>
                          <a:spcPts val="0"/>
                        </a:spcAft>
                        <a:buNone/>
                      </a:pPr>
                      <a:r>
                        <a:rPr b="1" lang="en" sz="1200"/>
                        <a:t>Key Aspect</a:t>
                      </a:r>
                      <a:endParaRPr b="1" sz="1200"/>
                    </a:p>
                  </a:txBody>
                  <a:tcPr marT="91425" marB="91425" marR="91425" marL="91425">
                    <a:solidFill>
                      <a:schemeClr val="lt2"/>
                    </a:solidFill>
                  </a:tcPr>
                </a:tc>
                <a:tc>
                  <a:txBody>
                    <a:bodyPr/>
                    <a:lstStyle/>
                    <a:p>
                      <a:pPr indent="0" lvl="0" marL="0" rtl="0" algn="l">
                        <a:spcBef>
                          <a:spcPts val="0"/>
                        </a:spcBef>
                        <a:spcAft>
                          <a:spcPts val="0"/>
                        </a:spcAft>
                        <a:buNone/>
                      </a:pPr>
                      <a:r>
                        <a:rPr b="1" lang="en" sz="1200"/>
                        <a:t>Design Difference</a:t>
                      </a:r>
                      <a:endParaRPr b="1" sz="1200"/>
                    </a:p>
                  </a:txBody>
                  <a:tcPr marT="91425" marB="91425" marR="91425" marL="91425">
                    <a:solidFill>
                      <a:schemeClr val="lt2"/>
                    </a:solidFill>
                  </a:tcPr>
                </a:tc>
                <a:tc>
                  <a:txBody>
                    <a:bodyPr/>
                    <a:lstStyle/>
                    <a:p>
                      <a:pPr indent="0" lvl="0" marL="0" rtl="0" algn="l">
                        <a:spcBef>
                          <a:spcPts val="0"/>
                        </a:spcBef>
                        <a:spcAft>
                          <a:spcPts val="0"/>
                        </a:spcAft>
                        <a:buNone/>
                      </a:pPr>
                      <a:r>
                        <a:rPr b="1" lang="en" sz="1200"/>
                        <a:t>Big Query</a:t>
                      </a:r>
                      <a:endParaRPr b="1" sz="1200"/>
                    </a:p>
                  </a:txBody>
                  <a:tcPr marT="91425" marB="91425" marR="91425" marL="91425">
                    <a:solidFill>
                      <a:schemeClr val="lt2"/>
                    </a:solidFill>
                  </a:tcPr>
                </a:tc>
                <a:tc>
                  <a:txBody>
                    <a:bodyPr/>
                    <a:lstStyle/>
                    <a:p>
                      <a:pPr indent="0" lvl="0" marL="0" rtl="0" algn="l">
                        <a:spcBef>
                          <a:spcPts val="0"/>
                        </a:spcBef>
                        <a:spcAft>
                          <a:spcPts val="0"/>
                        </a:spcAft>
                        <a:buNone/>
                      </a:pPr>
                      <a:r>
                        <a:rPr b="1" lang="en" sz="1200"/>
                        <a:t>Snowflake</a:t>
                      </a:r>
                      <a:endParaRPr b="1" sz="1200"/>
                    </a:p>
                  </a:txBody>
                  <a:tcPr marT="91425" marB="91425" marR="91425" marL="91425">
                    <a:solidFill>
                      <a:schemeClr val="lt2"/>
                    </a:solidFill>
                  </a:tcPr>
                </a:tc>
              </a:tr>
              <a:tr h="494650">
                <a:tc>
                  <a:txBody>
                    <a:bodyPr/>
                    <a:lstStyle/>
                    <a:p>
                      <a:pPr indent="0" lvl="0" marL="0" rtl="0" algn="l">
                        <a:spcBef>
                          <a:spcPts val="0"/>
                        </a:spcBef>
                        <a:spcAft>
                          <a:spcPts val="0"/>
                        </a:spcAft>
                        <a:buNone/>
                      </a:pPr>
                      <a:r>
                        <a:rPr b="1" lang="en" sz="1000"/>
                        <a:t>Cost and Performance</a:t>
                      </a:r>
                      <a:endParaRPr b="1" sz="1000"/>
                    </a:p>
                  </a:txBody>
                  <a:tcPr marT="91425" marB="91425" marR="91425" marL="91425">
                    <a:solidFill>
                      <a:schemeClr val="lt2"/>
                    </a:solidFill>
                  </a:tcPr>
                </a:tc>
                <a:tc>
                  <a:txBody>
                    <a:bodyPr/>
                    <a:lstStyle/>
                    <a:p>
                      <a:pPr indent="0" lvl="0" marL="0" rtl="0" algn="l">
                        <a:spcBef>
                          <a:spcPts val="0"/>
                        </a:spcBef>
                        <a:spcAft>
                          <a:spcPts val="0"/>
                        </a:spcAft>
                        <a:buNone/>
                      </a:pPr>
                      <a:r>
                        <a:rPr lang="en" sz="1000"/>
                        <a:t>BQ needs denormalization and cost per data scanned</a:t>
                      </a:r>
                      <a:endParaRPr sz="1000"/>
                    </a:p>
                  </a:txBody>
                  <a:tcPr marT="91425" marB="91425" marR="91425" marL="91425"/>
                </a:tc>
                <a:tc>
                  <a:txBody>
                    <a:bodyPr/>
                    <a:lstStyle/>
                    <a:p>
                      <a:pPr indent="0" lvl="0" marL="0" rtl="0" algn="l">
                        <a:spcBef>
                          <a:spcPts val="0"/>
                        </a:spcBef>
                        <a:spcAft>
                          <a:spcPts val="0"/>
                        </a:spcAft>
                        <a:buNone/>
                      </a:pPr>
                      <a:r>
                        <a:rPr lang="en" sz="1000"/>
                        <a:t>Unpredictable performance and unexpected costs when denormalization violated</a:t>
                      </a:r>
                      <a:endParaRPr sz="1000"/>
                    </a:p>
                  </a:txBody>
                  <a:tcPr marT="91425" marB="91425" marR="91425" marL="91425"/>
                </a:tc>
                <a:tc>
                  <a:txBody>
                    <a:bodyPr/>
                    <a:lstStyle/>
                    <a:p>
                      <a:pPr indent="0" lvl="0" marL="0" rtl="0" algn="l">
                        <a:spcBef>
                          <a:spcPts val="0"/>
                        </a:spcBef>
                        <a:spcAft>
                          <a:spcPts val="0"/>
                        </a:spcAft>
                        <a:buNone/>
                      </a:pPr>
                      <a:r>
                        <a:rPr lang="en" sz="1000"/>
                        <a:t>Snowflake means lower TCO and ease of use</a:t>
                      </a:r>
                      <a:endParaRPr sz="1000"/>
                    </a:p>
                  </a:txBody>
                  <a:tcPr marT="91425" marB="91425" marR="91425" marL="91425"/>
                </a:tc>
              </a:tr>
              <a:tr h="287425">
                <a:tc>
                  <a:txBody>
                    <a:bodyPr/>
                    <a:lstStyle/>
                    <a:p>
                      <a:pPr indent="0" lvl="0" marL="0" rtl="0" algn="l">
                        <a:spcBef>
                          <a:spcPts val="0"/>
                        </a:spcBef>
                        <a:spcAft>
                          <a:spcPts val="0"/>
                        </a:spcAft>
                        <a:buNone/>
                      </a:pPr>
                      <a:r>
                        <a:rPr b="1" lang="en" sz="1000"/>
                        <a:t>Collaboration</a:t>
                      </a:r>
                      <a:endParaRPr b="1" sz="1000"/>
                    </a:p>
                  </a:txBody>
                  <a:tcPr marT="91425" marB="91425" marR="91425" marL="91425">
                    <a:solidFill>
                      <a:schemeClr val="lt2"/>
                    </a:solidFill>
                  </a:tcPr>
                </a:tc>
                <a:tc>
                  <a:txBody>
                    <a:bodyPr/>
                    <a:lstStyle/>
                    <a:p>
                      <a:pPr indent="0" lvl="0" marL="0" rtl="0" algn="l">
                        <a:spcBef>
                          <a:spcPts val="0"/>
                        </a:spcBef>
                        <a:spcAft>
                          <a:spcPts val="0"/>
                        </a:spcAft>
                        <a:buNone/>
                      </a:pPr>
                      <a:r>
                        <a:rPr lang="en" sz="1000"/>
                        <a:t>Snowflake is multi-cloud platform</a:t>
                      </a:r>
                      <a:endParaRPr sz="1000"/>
                    </a:p>
                  </a:txBody>
                  <a:tcPr marT="91425" marB="91425" marR="91425" marL="91425"/>
                </a:tc>
                <a:tc>
                  <a:txBody>
                    <a:bodyPr/>
                    <a:lstStyle/>
                    <a:p>
                      <a:pPr indent="0" lvl="0" marL="0" rtl="0" algn="l">
                        <a:spcBef>
                          <a:spcPts val="0"/>
                        </a:spcBef>
                        <a:spcAft>
                          <a:spcPts val="0"/>
                        </a:spcAft>
                        <a:buNone/>
                      </a:pPr>
                      <a:r>
                        <a:rPr lang="en" sz="1000"/>
                        <a:t>Data sharing with Azure and AWS is complex and expensive</a:t>
                      </a:r>
                      <a:endParaRPr sz="1000"/>
                    </a:p>
                  </a:txBody>
                  <a:tcPr marT="91425" marB="91425" marR="91425" marL="91425"/>
                </a:tc>
                <a:tc>
                  <a:txBody>
                    <a:bodyPr/>
                    <a:lstStyle/>
                    <a:p>
                      <a:pPr indent="0" lvl="0" marL="0" rtl="0" algn="l">
                        <a:spcBef>
                          <a:spcPts val="0"/>
                        </a:spcBef>
                        <a:spcAft>
                          <a:spcPts val="0"/>
                        </a:spcAft>
                        <a:buNone/>
                      </a:pPr>
                      <a:r>
                        <a:rPr lang="en" sz="1000"/>
                        <a:t>Zero-copy cloning and data sharing across clouds/regions without data movement</a:t>
                      </a:r>
                      <a:endParaRPr sz="1000"/>
                    </a:p>
                  </a:txBody>
                  <a:tcPr marT="91425" marB="91425" marR="91425" marL="91425"/>
                </a:tc>
              </a:tr>
              <a:tr h="287425">
                <a:tc>
                  <a:txBody>
                    <a:bodyPr/>
                    <a:lstStyle/>
                    <a:p>
                      <a:pPr indent="0" lvl="0" marL="0" rtl="0" algn="l">
                        <a:spcBef>
                          <a:spcPts val="0"/>
                        </a:spcBef>
                        <a:spcAft>
                          <a:spcPts val="0"/>
                        </a:spcAft>
                        <a:buNone/>
                      </a:pPr>
                      <a:r>
                        <a:rPr b="1" lang="en" sz="1000"/>
                        <a:t>Migration</a:t>
                      </a:r>
                      <a:endParaRPr b="1" sz="1000"/>
                    </a:p>
                  </a:txBody>
                  <a:tcPr marT="91425" marB="91425" marR="91425" marL="91425">
                    <a:solidFill>
                      <a:schemeClr val="lt2"/>
                    </a:solidFill>
                  </a:tcPr>
                </a:tc>
                <a:tc>
                  <a:txBody>
                    <a:bodyPr/>
                    <a:lstStyle/>
                    <a:p>
                      <a:pPr indent="0" lvl="0" marL="0" rtl="0" algn="l">
                        <a:spcBef>
                          <a:spcPts val="0"/>
                        </a:spcBef>
                        <a:spcAft>
                          <a:spcPts val="0"/>
                        </a:spcAft>
                        <a:buNone/>
                      </a:pPr>
                      <a:r>
                        <a:rPr lang="en" sz="1000"/>
                        <a:t>BQ needs denormalization</a:t>
                      </a:r>
                      <a:endParaRPr sz="10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t>Very complex migration from other databases</a:t>
                      </a:r>
                      <a:endParaRPr sz="1000"/>
                    </a:p>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rPr lang="en" sz="1000"/>
                        <a:t>Snowconvert makes it easy to migrate</a:t>
                      </a:r>
                      <a:endParaRPr sz="1000"/>
                    </a:p>
                  </a:txBody>
                  <a:tcPr marT="91425" marB="91425" marR="91425" marL="91425"/>
                </a:tc>
              </a:tr>
              <a:tr h="287425">
                <a:tc>
                  <a:txBody>
                    <a:bodyPr/>
                    <a:lstStyle/>
                    <a:p>
                      <a:pPr indent="0" lvl="0" marL="0" rtl="0" algn="l">
                        <a:spcBef>
                          <a:spcPts val="0"/>
                        </a:spcBef>
                        <a:spcAft>
                          <a:spcPts val="0"/>
                        </a:spcAft>
                        <a:buNone/>
                      </a:pPr>
                      <a:r>
                        <a:rPr b="1" lang="en" sz="1000"/>
                        <a:t>ETL and data movement</a:t>
                      </a:r>
                      <a:endParaRPr b="1" sz="1000"/>
                    </a:p>
                  </a:txBody>
                  <a:tcPr marT="91425" marB="91425" marR="91425" marL="91425">
                    <a:solidFill>
                      <a:schemeClr val="lt2"/>
                    </a:solidFill>
                  </a:tcPr>
                </a:tc>
                <a:tc>
                  <a:txBody>
                    <a:bodyPr/>
                    <a:lstStyle/>
                    <a:p>
                      <a:pPr indent="0" lvl="0" marL="0" rtl="0" algn="l">
                        <a:spcBef>
                          <a:spcPts val="0"/>
                        </a:spcBef>
                        <a:spcAft>
                          <a:spcPts val="0"/>
                        </a:spcAft>
                        <a:buNone/>
                      </a:pPr>
                      <a:r>
                        <a:rPr lang="en" sz="1000"/>
                        <a:t>BQ is one piece of GCP</a:t>
                      </a:r>
                      <a:endParaRPr sz="1000"/>
                    </a:p>
                  </a:txBody>
                  <a:tcPr marT="91425" marB="91425" marR="91425" marL="91425"/>
                </a:tc>
                <a:tc>
                  <a:txBody>
                    <a:bodyPr/>
                    <a:lstStyle/>
                    <a:p>
                      <a:pPr indent="0" lvl="0" marL="0" rtl="0" algn="l">
                        <a:spcBef>
                          <a:spcPts val="0"/>
                        </a:spcBef>
                        <a:spcAft>
                          <a:spcPts val="0"/>
                        </a:spcAft>
                        <a:buNone/>
                      </a:pPr>
                      <a:r>
                        <a:rPr lang="en" sz="1000"/>
                        <a:t>Needs complex ETL for end-to-end workflow</a:t>
                      </a:r>
                      <a:endParaRPr sz="1000"/>
                    </a:p>
                  </a:txBody>
                  <a:tcPr marT="91425" marB="91425" marR="91425" marL="91425"/>
                </a:tc>
                <a:tc>
                  <a:txBody>
                    <a:bodyPr/>
                    <a:lstStyle/>
                    <a:p>
                      <a:pPr indent="0" lvl="0" marL="0" rtl="0" algn="l">
                        <a:spcBef>
                          <a:spcPts val="0"/>
                        </a:spcBef>
                        <a:spcAft>
                          <a:spcPts val="0"/>
                        </a:spcAft>
                        <a:buNone/>
                      </a:pPr>
                      <a:r>
                        <a:rPr lang="en" sz="1000"/>
                        <a:t>Snowflake Zero-ETL runs all your workloads for DE, BI, ML, and AI</a:t>
                      </a:r>
                      <a:endParaRPr sz="1000"/>
                    </a:p>
                  </a:txBody>
                  <a:tcPr marT="91425" marB="91425" marR="91425" marL="91425"/>
                </a:tc>
              </a:tr>
              <a:tr h="287425">
                <a:tc>
                  <a:txBody>
                    <a:bodyPr/>
                    <a:lstStyle/>
                    <a:p>
                      <a:pPr indent="0" lvl="0" marL="0" rtl="0" algn="l">
                        <a:spcBef>
                          <a:spcPts val="0"/>
                        </a:spcBef>
                        <a:spcAft>
                          <a:spcPts val="0"/>
                        </a:spcAft>
                        <a:buNone/>
                      </a:pPr>
                      <a:r>
                        <a:rPr b="1" lang="en" sz="1000"/>
                        <a:t>Security and Governance</a:t>
                      </a:r>
                      <a:endParaRPr b="1" sz="1000"/>
                    </a:p>
                  </a:txBody>
                  <a:tcPr marT="91425" marB="91425" marR="91425" marL="91425">
                    <a:solidFill>
                      <a:schemeClr val="lt2"/>
                    </a:solidFill>
                  </a:tcPr>
                </a:tc>
                <a:tc>
                  <a:txBody>
                    <a:bodyPr/>
                    <a:lstStyle/>
                    <a:p>
                      <a:pPr indent="0" lvl="0" marL="0" rtl="0" algn="l">
                        <a:spcBef>
                          <a:spcPts val="0"/>
                        </a:spcBef>
                        <a:spcAft>
                          <a:spcPts val="0"/>
                        </a:spcAft>
                        <a:buNone/>
                      </a:pPr>
                      <a:r>
                        <a:rPr lang="en" sz="1000"/>
                        <a:t>No need to move your data out of Snowflake</a:t>
                      </a:r>
                      <a:endParaRPr sz="1000"/>
                    </a:p>
                  </a:txBody>
                  <a:tcPr marT="91425" marB="91425" marR="91425" marL="91425"/>
                </a:tc>
                <a:tc>
                  <a:txBody>
                    <a:bodyPr/>
                    <a:lstStyle/>
                    <a:p>
                      <a:pPr indent="0" lvl="0" marL="0" rtl="0" algn="l">
                        <a:spcBef>
                          <a:spcPts val="0"/>
                        </a:spcBef>
                        <a:spcAft>
                          <a:spcPts val="0"/>
                        </a:spcAft>
                        <a:buNone/>
                      </a:pPr>
                      <a:r>
                        <a:rPr lang="en" sz="1000"/>
                        <a:t>Needs complex GCP security and governance to run workloads.</a:t>
                      </a:r>
                      <a:endParaRPr sz="1000"/>
                    </a:p>
                  </a:txBody>
                  <a:tcPr marT="91425" marB="91425" marR="91425" marL="91425"/>
                </a:tc>
                <a:tc>
                  <a:txBody>
                    <a:bodyPr/>
                    <a:lstStyle/>
                    <a:p>
                      <a:pPr indent="0" lvl="0" marL="0" rtl="0" algn="l">
                        <a:spcBef>
                          <a:spcPts val="0"/>
                        </a:spcBef>
                        <a:spcAft>
                          <a:spcPts val="0"/>
                        </a:spcAft>
                        <a:buNone/>
                      </a:pPr>
                      <a:r>
                        <a:rPr lang="en" sz="1000"/>
                        <a:t>Built-in security and governance with Role-Based Data Access.</a:t>
                      </a:r>
                      <a:endParaRPr sz="1000"/>
                    </a:p>
                  </a:txBody>
                  <a:tcPr marT="91425" marB="91425" marR="91425" marL="91425"/>
                </a:tc>
              </a:tr>
              <a:tr h="287425">
                <a:tc>
                  <a:txBody>
                    <a:bodyPr/>
                    <a:lstStyle/>
                    <a:p>
                      <a:pPr indent="0" lvl="0" marL="0" rtl="0" algn="l">
                        <a:spcBef>
                          <a:spcPts val="0"/>
                        </a:spcBef>
                        <a:spcAft>
                          <a:spcPts val="0"/>
                        </a:spcAft>
                        <a:buNone/>
                      </a:pPr>
                      <a:r>
                        <a:rPr b="1" lang="en" sz="1000"/>
                        <a:t>Open Standards</a:t>
                      </a:r>
                      <a:endParaRPr b="1" sz="1000"/>
                    </a:p>
                  </a:txBody>
                  <a:tcPr marT="91425" marB="91425" marR="91425" marL="91425">
                    <a:solidFill>
                      <a:schemeClr val="lt2"/>
                    </a:solidFill>
                  </a:tcPr>
                </a:tc>
                <a:tc>
                  <a:txBody>
                    <a:bodyPr/>
                    <a:lstStyle/>
                    <a:p>
                      <a:pPr indent="0" lvl="0" marL="0" rtl="0" algn="l">
                        <a:spcBef>
                          <a:spcPts val="0"/>
                        </a:spcBef>
                        <a:spcAft>
                          <a:spcPts val="0"/>
                        </a:spcAft>
                        <a:buNone/>
                      </a:pPr>
                      <a:r>
                        <a:rPr lang="en" sz="1000"/>
                        <a:t>Openflow and Iceberg</a:t>
                      </a:r>
                      <a:endParaRPr sz="1000"/>
                    </a:p>
                  </a:txBody>
                  <a:tcPr marT="91425" marB="91425" marR="91425" marL="91425"/>
                </a:tc>
                <a:tc>
                  <a:txBody>
                    <a:bodyPr/>
                    <a:lstStyle/>
                    <a:p>
                      <a:pPr indent="0" lvl="0" marL="0" rtl="0" algn="l">
                        <a:spcBef>
                          <a:spcPts val="0"/>
                        </a:spcBef>
                        <a:spcAft>
                          <a:spcPts val="0"/>
                        </a:spcAft>
                        <a:buNone/>
                      </a:pPr>
                      <a:r>
                        <a:rPr lang="en" sz="1000"/>
                        <a:t>BigQuery struggles to adapt to open standards cross clouds</a:t>
                      </a:r>
                      <a:endParaRPr sz="1000"/>
                    </a:p>
                  </a:txBody>
                  <a:tcPr marT="91425" marB="91425" marR="91425" marL="91425"/>
                </a:tc>
                <a:tc>
                  <a:txBody>
                    <a:bodyPr/>
                    <a:lstStyle/>
                    <a:p>
                      <a:pPr indent="0" lvl="0" marL="0" rtl="0" algn="l">
                        <a:spcBef>
                          <a:spcPts val="0"/>
                        </a:spcBef>
                        <a:spcAft>
                          <a:spcPts val="0"/>
                        </a:spcAft>
                        <a:buNone/>
                      </a:pPr>
                      <a:r>
                        <a:rPr lang="en" sz="1000"/>
                        <a:t>Snowflake is pioneering OpenFlow, Iceberg, and Polaris</a:t>
                      </a:r>
                      <a:endParaRPr sz="1000"/>
                    </a:p>
                  </a:txBody>
                  <a:tcPr marT="91425" marB="91425" marR="91425" marL="91425"/>
                </a:tc>
              </a:tr>
              <a:tr h="287425">
                <a:tc>
                  <a:txBody>
                    <a:bodyPr/>
                    <a:lstStyle/>
                    <a:p>
                      <a:pPr indent="0" lvl="0" marL="0" rtl="0" algn="l">
                        <a:spcBef>
                          <a:spcPts val="0"/>
                        </a:spcBef>
                        <a:spcAft>
                          <a:spcPts val="0"/>
                        </a:spcAft>
                        <a:buNone/>
                      </a:pPr>
                      <a:r>
                        <a:rPr b="1" lang="en" sz="1000"/>
                        <a:t>Data Augmentation</a:t>
                      </a:r>
                      <a:endParaRPr b="1" sz="1000"/>
                    </a:p>
                  </a:txBody>
                  <a:tcPr marT="91425" marB="91425" marR="91425" marL="91425">
                    <a:solidFill>
                      <a:schemeClr val="lt2"/>
                    </a:solidFill>
                  </a:tcPr>
                </a:tc>
                <a:tc>
                  <a:txBody>
                    <a:bodyPr/>
                    <a:lstStyle/>
                    <a:p>
                      <a:pPr indent="0" lvl="0" marL="0" rtl="0" algn="l">
                        <a:spcBef>
                          <a:spcPts val="0"/>
                        </a:spcBef>
                        <a:spcAft>
                          <a:spcPts val="0"/>
                        </a:spcAft>
                        <a:buNone/>
                      </a:pPr>
                      <a:r>
                        <a:rPr lang="en" sz="1000"/>
                        <a:t>Snowflake has the most active marketplace</a:t>
                      </a:r>
                      <a:endParaRPr sz="1000"/>
                    </a:p>
                  </a:txBody>
                  <a:tcPr marT="91425" marB="91425" marR="91425" marL="91425"/>
                </a:tc>
                <a:tc>
                  <a:txBody>
                    <a:bodyPr/>
                    <a:lstStyle/>
                    <a:p>
                      <a:pPr indent="0" lvl="0" marL="0" rtl="0" algn="l">
                        <a:spcBef>
                          <a:spcPts val="0"/>
                        </a:spcBef>
                        <a:spcAft>
                          <a:spcPts val="0"/>
                        </a:spcAft>
                        <a:buNone/>
                      </a:pPr>
                      <a:r>
                        <a:rPr lang="en" sz="1000"/>
                        <a:t>BigQuery data market is limited</a:t>
                      </a:r>
                      <a:endParaRPr sz="1000"/>
                    </a:p>
                  </a:txBody>
                  <a:tcPr marT="91425" marB="91425" marR="91425" marL="91425"/>
                </a:tc>
                <a:tc>
                  <a:txBody>
                    <a:bodyPr/>
                    <a:lstStyle/>
                    <a:p>
                      <a:pPr indent="0" lvl="0" marL="0" rtl="0" algn="l">
                        <a:spcBef>
                          <a:spcPts val="0"/>
                        </a:spcBef>
                        <a:spcAft>
                          <a:spcPts val="0"/>
                        </a:spcAft>
                        <a:buNone/>
                      </a:pPr>
                      <a:r>
                        <a:rPr lang="en" sz="1000"/>
                        <a:t>Buy/sell ready to use dataset in a click with zero-copy to augment and enrich your data</a:t>
                      </a:r>
                      <a:endParaRPr sz="1000"/>
                    </a:p>
                  </a:txBody>
                  <a:tcPr marT="91425" marB="91425" marR="91425" marL="91425"/>
                </a:tc>
              </a:tr>
              <a:tr h="287425">
                <a:tc>
                  <a:txBody>
                    <a:bodyPr/>
                    <a:lstStyle/>
                    <a:p>
                      <a:pPr indent="0" lvl="0" marL="0" rtl="0" algn="l">
                        <a:spcBef>
                          <a:spcPts val="0"/>
                        </a:spcBef>
                        <a:spcAft>
                          <a:spcPts val="0"/>
                        </a:spcAft>
                        <a:buNone/>
                      </a:pPr>
                      <a:r>
                        <a:rPr b="1" lang="en" sz="1000"/>
                        <a:t>Monitoring</a:t>
                      </a:r>
                      <a:endParaRPr b="1" sz="1000"/>
                    </a:p>
                  </a:txBody>
                  <a:tcPr marT="91425" marB="91425" marR="91425" marL="91425">
                    <a:solidFill>
                      <a:schemeClr val="lt2"/>
                    </a:solidFill>
                  </a:tcPr>
                </a:tc>
                <a:tc>
                  <a:txBody>
                    <a:bodyPr/>
                    <a:lstStyle/>
                    <a:p>
                      <a:pPr indent="0" lvl="0" marL="0" rtl="0" algn="l">
                        <a:spcBef>
                          <a:spcPts val="0"/>
                        </a:spcBef>
                        <a:spcAft>
                          <a:spcPts val="0"/>
                        </a:spcAft>
                        <a:buNone/>
                      </a:pPr>
                      <a:r>
                        <a:rPr lang="en" sz="1000"/>
                        <a:t>Unified Governance in Snowflake</a:t>
                      </a:r>
                      <a:endParaRPr sz="1000"/>
                    </a:p>
                  </a:txBody>
                  <a:tcPr marT="91425" marB="91425" marR="91425" marL="91425"/>
                </a:tc>
                <a:tc>
                  <a:txBody>
                    <a:bodyPr/>
                    <a:lstStyle/>
                    <a:p>
                      <a:pPr indent="0" lvl="0" marL="0" rtl="0" algn="l">
                        <a:spcBef>
                          <a:spcPts val="0"/>
                        </a:spcBef>
                        <a:spcAft>
                          <a:spcPts val="0"/>
                        </a:spcAft>
                        <a:buNone/>
                      </a:pPr>
                      <a:r>
                        <a:rPr lang="en" sz="1000"/>
                        <a:t>Need to deal with GCP to monitor costs, tags, and budgets</a:t>
                      </a:r>
                      <a:endParaRPr sz="1000"/>
                    </a:p>
                  </a:txBody>
                  <a:tcPr marT="91425" marB="91425" marR="91425" marL="91425"/>
                </a:tc>
                <a:tc>
                  <a:txBody>
                    <a:bodyPr/>
                    <a:lstStyle/>
                    <a:p>
                      <a:pPr indent="0" lvl="0" marL="0" rtl="0" algn="l">
                        <a:spcBef>
                          <a:spcPts val="0"/>
                        </a:spcBef>
                        <a:spcAft>
                          <a:spcPts val="0"/>
                        </a:spcAft>
                        <a:buNone/>
                      </a:pPr>
                      <a:r>
                        <a:rPr lang="en" sz="1000"/>
                        <a:t>Built-in and easy to use budgeting, monitoring, and tagging</a:t>
                      </a:r>
                      <a:endParaRPr sz="1000"/>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pic>
        <p:nvPicPr>
          <p:cNvPr id="1063" name="Google Shape;1063;p62"/>
          <p:cNvPicPr preferRelativeResize="0"/>
          <p:nvPr/>
        </p:nvPicPr>
        <p:blipFill>
          <a:blip r:embed="rId3">
            <a:alphaModFix/>
          </a:blip>
          <a:stretch>
            <a:fillRect/>
          </a:stretch>
        </p:blipFill>
        <p:spPr>
          <a:xfrm>
            <a:off x="1406200" y="580300"/>
            <a:ext cx="7518700" cy="4516325"/>
          </a:xfrm>
          <a:prstGeom prst="rect">
            <a:avLst/>
          </a:prstGeom>
          <a:noFill/>
          <a:ln>
            <a:noFill/>
          </a:ln>
        </p:spPr>
      </p:pic>
      <p:grpSp>
        <p:nvGrpSpPr>
          <p:cNvPr id="1064" name="Google Shape;1064;p62"/>
          <p:cNvGrpSpPr/>
          <p:nvPr/>
        </p:nvGrpSpPr>
        <p:grpSpPr>
          <a:xfrm>
            <a:off x="2382650" y="2067200"/>
            <a:ext cx="5090475" cy="2902100"/>
            <a:chOff x="2382650" y="2067200"/>
            <a:chExt cx="5090475" cy="2902100"/>
          </a:xfrm>
        </p:grpSpPr>
        <p:sp>
          <p:nvSpPr>
            <p:cNvPr id="1065" name="Google Shape;1065;p62"/>
            <p:cNvSpPr txBox="1"/>
            <p:nvPr/>
          </p:nvSpPr>
          <p:spPr>
            <a:xfrm>
              <a:off x="2382650" y="2067200"/>
              <a:ext cx="2489400" cy="32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1"/>
                  </a:solidFill>
                </a:rPr>
                <a:t>$0.22 (Snowflake XL)</a:t>
              </a:r>
              <a:endParaRPr sz="1800">
                <a:solidFill>
                  <a:schemeClr val="accent1"/>
                </a:solidFill>
              </a:endParaRPr>
            </a:p>
          </p:txBody>
        </p:sp>
        <p:sp>
          <p:nvSpPr>
            <p:cNvPr id="1066" name="Google Shape;1066;p62"/>
            <p:cNvSpPr txBox="1"/>
            <p:nvPr/>
          </p:nvSpPr>
          <p:spPr>
            <a:xfrm>
              <a:off x="2382650" y="3478038"/>
              <a:ext cx="2489400" cy="32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1"/>
                  </a:solidFill>
                </a:rPr>
                <a:t>$0.66 (Snowflake XL)</a:t>
              </a:r>
              <a:endParaRPr sz="1800">
                <a:solidFill>
                  <a:schemeClr val="accent1"/>
                </a:solidFill>
              </a:endParaRPr>
            </a:p>
          </p:txBody>
        </p:sp>
        <p:sp>
          <p:nvSpPr>
            <p:cNvPr id="1067" name="Google Shape;1067;p62"/>
            <p:cNvSpPr txBox="1"/>
            <p:nvPr/>
          </p:nvSpPr>
          <p:spPr>
            <a:xfrm>
              <a:off x="3757625" y="3106825"/>
              <a:ext cx="3715500" cy="32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rPr>
                <a:t>$0.85 (GBQ Enterprise Plus)</a:t>
              </a:r>
              <a:endParaRPr sz="1800">
                <a:solidFill>
                  <a:srgbClr val="FF0000"/>
                </a:solidFill>
              </a:endParaRPr>
            </a:p>
          </p:txBody>
        </p:sp>
        <p:sp>
          <p:nvSpPr>
            <p:cNvPr id="1068" name="Google Shape;1068;p62"/>
            <p:cNvSpPr txBox="1"/>
            <p:nvPr/>
          </p:nvSpPr>
          <p:spPr>
            <a:xfrm>
              <a:off x="3757625" y="4647400"/>
              <a:ext cx="3392100" cy="32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0000"/>
                  </a:solidFill>
                </a:rPr>
                <a:t>$2.03 (GBQ Enterprise Plus)</a:t>
              </a:r>
              <a:endParaRPr sz="1800">
                <a:solidFill>
                  <a:srgbClr val="FF0000"/>
                </a:solidFill>
              </a:endParaRPr>
            </a:p>
          </p:txBody>
        </p:sp>
        <p:cxnSp>
          <p:nvCxnSpPr>
            <p:cNvPr id="1069" name="Google Shape;1069;p62"/>
            <p:cNvCxnSpPr>
              <a:stCxn id="1065" idx="2"/>
            </p:cNvCxnSpPr>
            <p:nvPr/>
          </p:nvCxnSpPr>
          <p:spPr>
            <a:xfrm>
              <a:off x="3627350" y="2389100"/>
              <a:ext cx="204900" cy="241500"/>
            </a:xfrm>
            <a:prstGeom prst="straightConnector1">
              <a:avLst/>
            </a:prstGeom>
            <a:noFill/>
            <a:ln cap="flat" cmpd="sng" w="38100">
              <a:solidFill>
                <a:schemeClr val="accent1"/>
              </a:solidFill>
              <a:prstDash val="solid"/>
              <a:round/>
              <a:headEnd len="med" w="med" type="none"/>
              <a:tailEnd len="med" w="med" type="triangle"/>
            </a:ln>
          </p:spPr>
        </p:cxnSp>
        <p:cxnSp>
          <p:nvCxnSpPr>
            <p:cNvPr id="1070" name="Google Shape;1070;p62"/>
            <p:cNvCxnSpPr>
              <a:stCxn id="1066" idx="2"/>
            </p:cNvCxnSpPr>
            <p:nvPr/>
          </p:nvCxnSpPr>
          <p:spPr>
            <a:xfrm>
              <a:off x="3627350" y="3799938"/>
              <a:ext cx="204900" cy="333000"/>
            </a:xfrm>
            <a:prstGeom prst="straightConnector1">
              <a:avLst/>
            </a:prstGeom>
            <a:noFill/>
            <a:ln cap="flat" cmpd="sng" w="38100">
              <a:solidFill>
                <a:schemeClr val="accent1"/>
              </a:solidFill>
              <a:prstDash val="solid"/>
              <a:round/>
              <a:headEnd len="med" w="med" type="none"/>
              <a:tailEnd len="med" w="med" type="triangle"/>
            </a:ln>
          </p:spPr>
        </p:cxnSp>
        <p:cxnSp>
          <p:nvCxnSpPr>
            <p:cNvPr id="1071" name="Google Shape;1071;p62"/>
            <p:cNvCxnSpPr>
              <a:stCxn id="1068" idx="0"/>
            </p:cNvCxnSpPr>
            <p:nvPr/>
          </p:nvCxnSpPr>
          <p:spPr>
            <a:xfrm rot="10800000">
              <a:off x="5235875" y="4418200"/>
              <a:ext cx="217800" cy="229200"/>
            </a:xfrm>
            <a:prstGeom prst="straightConnector1">
              <a:avLst/>
            </a:prstGeom>
            <a:noFill/>
            <a:ln cap="flat" cmpd="sng" w="38100">
              <a:solidFill>
                <a:srgbClr val="FF0000"/>
              </a:solidFill>
              <a:prstDash val="solid"/>
              <a:round/>
              <a:headEnd len="med" w="med" type="none"/>
              <a:tailEnd len="med" w="med" type="triangle"/>
            </a:ln>
          </p:spPr>
        </p:cxnSp>
        <p:cxnSp>
          <p:nvCxnSpPr>
            <p:cNvPr id="1072" name="Google Shape;1072;p62"/>
            <p:cNvCxnSpPr>
              <a:stCxn id="1067" idx="0"/>
            </p:cNvCxnSpPr>
            <p:nvPr/>
          </p:nvCxnSpPr>
          <p:spPr>
            <a:xfrm rot="10800000">
              <a:off x="5356475" y="2904625"/>
              <a:ext cx="258900" cy="202200"/>
            </a:xfrm>
            <a:prstGeom prst="straightConnector1">
              <a:avLst/>
            </a:prstGeom>
            <a:noFill/>
            <a:ln cap="flat" cmpd="sng" w="38100">
              <a:solidFill>
                <a:srgbClr val="FF0000"/>
              </a:solidFill>
              <a:prstDash val="solid"/>
              <a:round/>
              <a:headEnd len="med" w="med" type="none"/>
              <a:tailEnd len="med" w="med" type="triangle"/>
            </a:ln>
          </p:spPr>
        </p:cxnSp>
      </p:grpSp>
      <p:sp>
        <p:nvSpPr>
          <p:cNvPr id="1073" name="Google Shape;1073;p62"/>
          <p:cNvSpPr txBox="1"/>
          <p:nvPr>
            <p:ph type="title"/>
          </p:nvPr>
        </p:nvSpPr>
        <p:spPr>
          <a:xfrm>
            <a:off x="289975" y="10630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Evidence: Cost Comparison (using Iceberg for neutrality)</a:t>
            </a:r>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63"/>
          <p:cNvSpPr txBox="1"/>
          <p:nvPr>
            <p:ph idx="12" type="sldNum"/>
          </p:nvPr>
        </p:nvSpPr>
        <p:spPr>
          <a:xfrm>
            <a:off x="8595360" y="4937760"/>
            <a:ext cx="473700" cy="12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Font typeface="Arial"/>
              <a:buNone/>
            </a:pPr>
            <a:fld id="{00000000-1234-1234-1234-123412341234}" type="slidenum">
              <a:rPr lang="en" sz="1300">
                <a:solidFill>
                  <a:srgbClr val="000000"/>
                </a:solidFill>
              </a:rPr>
              <a:t>‹#›</a:t>
            </a:fld>
            <a:endParaRPr sz="1300">
              <a:solidFill>
                <a:srgbClr val="000000"/>
              </a:solidFill>
            </a:endParaRPr>
          </a:p>
        </p:txBody>
      </p:sp>
      <p:sp>
        <p:nvSpPr>
          <p:cNvPr id="1079" name="Google Shape;1079;p63"/>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900"/>
              <a:t>Evidence Security: IAM </a:t>
            </a:r>
            <a:r>
              <a:rPr b="0" lang="en" sz="1700"/>
              <a:t>(Identity and Access Management)</a:t>
            </a:r>
            <a:r>
              <a:rPr lang="en" sz="1900"/>
              <a:t> in BigQuery is complex </a:t>
            </a:r>
            <a:endParaRPr sz="1900"/>
          </a:p>
          <a:p>
            <a:pPr indent="0" lvl="0" marL="0" rtl="0" algn="ctr">
              <a:spcBef>
                <a:spcPts val="0"/>
              </a:spcBef>
              <a:spcAft>
                <a:spcPts val="0"/>
              </a:spcAft>
              <a:buNone/>
            </a:pPr>
            <a:r>
              <a:rPr b="0" lang="en" sz="1200">
                <a:solidFill>
                  <a:srgbClr val="A5A5A5"/>
                </a:solidFill>
              </a:rPr>
              <a:t>Complexity of IAM in BigQuery requires understanding of the numerous roles and their implications.</a:t>
            </a:r>
            <a:endParaRPr b="0" sz="1200">
              <a:solidFill>
                <a:srgbClr val="A5A5A5"/>
              </a:solidFill>
            </a:endParaRPr>
          </a:p>
          <a:p>
            <a:pPr indent="0" lvl="0" marL="0" rtl="0" algn="ctr">
              <a:spcBef>
                <a:spcPts val="0"/>
              </a:spcBef>
              <a:spcAft>
                <a:spcPts val="0"/>
              </a:spcAft>
              <a:buNone/>
            </a:pPr>
            <a:r>
              <a:t/>
            </a:r>
            <a:endParaRPr b="0" sz="1300">
              <a:solidFill>
                <a:srgbClr val="929292"/>
              </a:solidFill>
            </a:endParaRPr>
          </a:p>
        </p:txBody>
      </p:sp>
      <p:graphicFrame>
        <p:nvGraphicFramePr>
          <p:cNvPr id="1080" name="Google Shape;1080;p63"/>
          <p:cNvGraphicFramePr/>
          <p:nvPr/>
        </p:nvGraphicFramePr>
        <p:xfrm>
          <a:off x="380406" y="1269907"/>
          <a:ext cx="3000000" cy="3000000"/>
        </p:xfrm>
        <a:graphic>
          <a:graphicData uri="http://schemas.openxmlformats.org/drawingml/2006/table">
            <a:tbl>
              <a:tblPr>
                <a:noFill/>
                <a:tableStyleId>{E8F5248A-DBA3-46B8-8E12-1AFC5F6F1D41}</a:tableStyleId>
              </a:tblPr>
              <a:tblGrid>
                <a:gridCol w="4428925"/>
                <a:gridCol w="3988725"/>
              </a:tblGrid>
              <a:tr h="474475">
                <a:tc>
                  <a:txBody>
                    <a:bodyPr/>
                    <a:lstStyle/>
                    <a:p>
                      <a:pPr indent="0" lvl="0" marL="0" rtl="0" algn="ctr">
                        <a:spcBef>
                          <a:spcPts val="0"/>
                        </a:spcBef>
                        <a:spcAft>
                          <a:spcPts val="0"/>
                        </a:spcAft>
                        <a:buNone/>
                      </a:pPr>
                      <a:r>
                        <a:rPr b="1" lang="en" sz="1100"/>
                        <a:t>Complex :</a:t>
                      </a:r>
                      <a:r>
                        <a:rPr lang="en" sz="1100"/>
                        <a:t> need to understand </a:t>
                      </a:r>
                      <a:r>
                        <a:rPr b="1" lang="en" sz="1100"/>
                        <a:t>the overall structure of GCP (projects, resources location, IAM, quotas)</a:t>
                      </a:r>
                      <a:r>
                        <a:rPr lang="en" sz="1100"/>
                        <a:t> before starting</a:t>
                      </a:r>
                      <a:endParaRPr b="1" sz="1200">
                        <a:solidFill>
                          <a:schemeClr val="dk1"/>
                        </a:solidFill>
                      </a:endParaRPr>
                    </a:p>
                  </a:txBody>
                  <a:tcPr marT="91425" marB="91425" marR="91425" marL="91425" anchor="ctr">
                    <a:lnL cap="flat" cmpd="sng" w="76200">
                      <a:solidFill>
                        <a:schemeClr val="lt1"/>
                      </a:solidFill>
                      <a:prstDash val="solid"/>
                      <a:round/>
                      <a:headEnd len="sm" w="sm" type="none"/>
                      <a:tailEnd len="sm" w="sm" type="none"/>
                    </a:lnL>
                    <a:lnR cap="flat" cmpd="sng" w="9525">
                      <a:solidFill>
                        <a:srgbClr val="DBDBDB"/>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b="1" lang="en" sz="1100"/>
                        <a:t>Simple </a:t>
                      </a:r>
                      <a:endParaRPr b="1" sz="1100"/>
                    </a:p>
                    <a:p>
                      <a:pPr indent="0" lvl="0" marL="0" rtl="0" algn="ctr">
                        <a:spcBef>
                          <a:spcPts val="0"/>
                        </a:spcBef>
                        <a:spcAft>
                          <a:spcPts val="0"/>
                        </a:spcAft>
                        <a:buNone/>
                      </a:pPr>
                      <a:r>
                        <a:rPr i="1" lang="en" sz="1000"/>
                        <a:t>(Database&gt;Schema, Virtual Warehouses, RBAC)</a:t>
                      </a:r>
                      <a:endParaRPr b="1" i="1" sz="1000"/>
                    </a:p>
                  </a:txBody>
                  <a:tcPr marT="91425" marB="91425" marR="91425" marL="91425" anchor="ctr">
                    <a:lnL cap="flat" cmpd="sng" w="9525">
                      <a:solidFill>
                        <a:srgbClr val="DBDBDB"/>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159825">
                <a:tc>
                  <a:txBody>
                    <a:bodyPr/>
                    <a:lstStyle/>
                    <a:p>
                      <a:pPr indent="0" lvl="0" marL="0" rtl="0" algn="l">
                        <a:spcBef>
                          <a:spcPts val="0"/>
                        </a:spcBef>
                        <a:spcAft>
                          <a:spcPts val="0"/>
                        </a:spcAft>
                        <a:buNone/>
                      </a:pPr>
                      <a:r>
                        <a:t/>
                      </a:r>
                      <a:endParaRPr sz="800"/>
                    </a:p>
                  </a:txBody>
                  <a:tcPr marT="91425" marB="91425" marR="91425" marL="91425">
                    <a:lnL cap="flat" cmpd="sng" w="76200">
                      <a:solidFill>
                        <a:schemeClr val="lt1"/>
                      </a:solidFill>
                      <a:prstDash val="solid"/>
                      <a:round/>
                      <a:headEnd len="sm" w="sm" type="none"/>
                      <a:tailEnd len="sm" w="sm" type="none"/>
                    </a:lnL>
                    <a:lnR cap="flat" cmpd="sng" w="9525">
                      <a:solidFill>
                        <a:srgbClr val="DBDBDB"/>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215900" lvl="0" marL="342900" rtl="0" algn="l">
                        <a:spcBef>
                          <a:spcPts val="0"/>
                        </a:spcBef>
                        <a:spcAft>
                          <a:spcPts val="0"/>
                        </a:spcAft>
                        <a:buClr>
                          <a:schemeClr val="dk1"/>
                        </a:buClr>
                        <a:buSzPts val="800"/>
                        <a:buChar char="-"/>
                      </a:pPr>
                      <a:r>
                        <a:rPr b="1" lang="en" sz="800">
                          <a:solidFill>
                            <a:schemeClr val="dk1"/>
                          </a:solidFill>
                        </a:rPr>
                        <a:t>Role-Based Access Control (RBAC) : </a:t>
                      </a:r>
                      <a:r>
                        <a:rPr lang="en" sz="800">
                          <a:solidFill>
                            <a:schemeClr val="dk1"/>
                          </a:solidFill>
                        </a:rPr>
                        <a:t>Access privileges are assigned to Roles, which are in turn assigned to Users</a:t>
                      </a:r>
                      <a:endParaRPr b="1" sz="800">
                        <a:solidFill>
                          <a:schemeClr val="dk1"/>
                        </a:solidFill>
                      </a:endParaRPr>
                    </a:p>
                    <a:p>
                      <a:pPr indent="0" lvl="0" marL="342900" rtl="0" algn="l">
                        <a:spcBef>
                          <a:spcPts val="500"/>
                        </a:spcBef>
                        <a:spcAft>
                          <a:spcPts val="0"/>
                        </a:spcAft>
                        <a:buNone/>
                      </a:pPr>
                      <a:r>
                        <a:t/>
                      </a:r>
                      <a:endParaRPr b="1" sz="1000">
                        <a:solidFill>
                          <a:schemeClr val="dk1"/>
                        </a:solidFill>
                      </a:endParaRPr>
                    </a:p>
                    <a:p>
                      <a:pPr indent="0" lvl="0" marL="0" rtl="0" algn="l">
                        <a:spcBef>
                          <a:spcPts val="500"/>
                        </a:spcBef>
                        <a:spcAft>
                          <a:spcPts val="0"/>
                        </a:spcAft>
                        <a:buNone/>
                      </a:pPr>
                      <a:r>
                        <a:t/>
                      </a:r>
                      <a:endParaRPr b="1" sz="1000">
                        <a:solidFill>
                          <a:schemeClr val="dk1"/>
                        </a:solidFill>
                      </a:endParaRPr>
                    </a:p>
                    <a:p>
                      <a:pPr indent="0" lvl="0" marL="342900" rtl="0" algn="l">
                        <a:spcBef>
                          <a:spcPts val="500"/>
                        </a:spcBef>
                        <a:spcAft>
                          <a:spcPts val="500"/>
                        </a:spcAft>
                        <a:buNone/>
                      </a:pPr>
                      <a:r>
                        <a:t/>
                      </a:r>
                      <a:endParaRPr sz="1000">
                        <a:solidFill>
                          <a:schemeClr val="dk1"/>
                        </a:solidFill>
                      </a:endParaRPr>
                    </a:p>
                  </a:txBody>
                  <a:tcPr marT="91425" marB="91425" marR="91425" marL="91425">
                    <a:lnL cap="flat" cmpd="sng" w="9525">
                      <a:solidFill>
                        <a:srgbClr val="DBDBDB"/>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pic>
        <p:nvPicPr>
          <p:cNvPr id="1081" name="Google Shape;1081;p63"/>
          <p:cNvPicPr preferRelativeResize="0"/>
          <p:nvPr/>
        </p:nvPicPr>
        <p:blipFill>
          <a:blip r:embed="rId3">
            <a:alphaModFix/>
          </a:blip>
          <a:stretch>
            <a:fillRect/>
          </a:stretch>
        </p:blipFill>
        <p:spPr>
          <a:xfrm>
            <a:off x="6223125" y="919191"/>
            <a:ext cx="1323674" cy="316687"/>
          </a:xfrm>
          <a:prstGeom prst="rect">
            <a:avLst/>
          </a:prstGeom>
          <a:noFill/>
          <a:ln>
            <a:noFill/>
          </a:ln>
        </p:spPr>
      </p:pic>
      <p:pic>
        <p:nvPicPr>
          <p:cNvPr id="1082" name="Google Shape;1082;p63"/>
          <p:cNvPicPr preferRelativeResize="0"/>
          <p:nvPr/>
        </p:nvPicPr>
        <p:blipFill>
          <a:blip r:embed="rId4">
            <a:alphaModFix/>
          </a:blip>
          <a:stretch>
            <a:fillRect/>
          </a:stretch>
        </p:blipFill>
        <p:spPr>
          <a:xfrm>
            <a:off x="2381756" y="919191"/>
            <a:ext cx="942525" cy="316688"/>
          </a:xfrm>
          <a:prstGeom prst="rect">
            <a:avLst/>
          </a:prstGeom>
          <a:noFill/>
          <a:ln>
            <a:noFill/>
          </a:ln>
        </p:spPr>
      </p:pic>
      <p:pic>
        <p:nvPicPr>
          <p:cNvPr id="1083" name="Google Shape;1083;p63"/>
          <p:cNvPicPr preferRelativeResize="0"/>
          <p:nvPr/>
        </p:nvPicPr>
        <p:blipFill>
          <a:blip r:embed="rId5">
            <a:alphaModFix/>
          </a:blip>
          <a:stretch>
            <a:fillRect/>
          </a:stretch>
        </p:blipFill>
        <p:spPr>
          <a:xfrm>
            <a:off x="4953319" y="2199675"/>
            <a:ext cx="3781537" cy="1660295"/>
          </a:xfrm>
          <a:prstGeom prst="rect">
            <a:avLst/>
          </a:prstGeom>
          <a:noFill/>
          <a:ln>
            <a:noFill/>
          </a:ln>
        </p:spPr>
      </p:pic>
      <p:pic>
        <p:nvPicPr>
          <p:cNvPr id="1084" name="Google Shape;1084;p63"/>
          <p:cNvPicPr preferRelativeResize="0"/>
          <p:nvPr/>
        </p:nvPicPr>
        <p:blipFill>
          <a:blip r:embed="rId4">
            <a:alphaModFix/>
          </a:blip>
          <a:stretch>
            <a:fillRect/>
          </a:stretch>
        </p:blipFill>
        <p:spPr>
          <a:xfrm>
            <a:off x="1192181" y="4194919"/>
            <a:ext cx="656696" cy="220650"/>
          </a:xfrm>
          <a:prstGeom prst="rect">
            <a:avLst/>
          </a:prstGeom>
          <a:noFill/>
          <a:ln>
            <a:noFill/>
          </a:ln>
        </p:spPr>
      </p:pic>
      <p:graphicFrame>
        <p:nvGraphicFramePr>
          <p:cNvPr id="1085" name="Google Shape;1085;p63"/>
          <p:cNvGraphicFramePr/>
          <p:nvPr/>
        </p:nvGraphicFramePr>
        <p:xfrm>
          <a:off x="545549" y="3960916"/>
          <a:ext cx="3000000" cy="3000000"/>
        </p:xfrm>
        <a:graphic>
          <a:graphicData uri="http://schemas.openxmlformats.org/drawingml/2006/table">
            <a:tbl>
              <a:tblPr>
                <a:noFill/>
                <a:tableStyleId>{E8F5248A-DBA3-46B8-8E12-1AFC5F6F1D41}</a:tableStyleId>
              </a:tblPr>
              <a:tblGrid>
                <a:gridCol w="1695000"/>
                <a:gridCol w="6784900"/>
              </a:tblGrid>
              <a:tr h="606275">
                <a:tc>
                  <a:txBody>
                    <a:bodyPr/>
                    <a:lstStyle/>
                    <a:p>
                      <a:pPr indent="0" lvl="0" marL="0" rtl="0" algn="l">
                        <a:spcBef>
                          <a:spcPts val="0"/>
                        </a:spcBef>
                        <a:spcAft>
                          <a:spcPts val="0"/>
                        </a:spcAft>
                        <a:buNone/>
                      </a:pPr>
                      <a:r>
                        <a:rPr b="1" lang="en" sz="1100">
                          <a:solidFill>
                            <a:schemeClr val="accent6"/>
                          </a:solidFill>
                        </a:rPr>
                        <a:t>Risks </a:t>
                      </a:r>
                      <a:endParaRPr b="1" sz="1100">
                        <a:solidFill>
                          <a:schemeClr val="accent6"/>
                        </a:solidFill>
                      </a:endParaRPr>
                    </a:p>
                    <a:p>
                      <a:pPr indent="0" lvl="0" marL="0" rtl="0" algn="l">
                        <a:spcBef>
                          <a:spcPts val="0"/>
                        </a:spcBef>
                        <a:spcAft>
                          <a:spcPts val="0"/>
                        </a:spcAft>
                        <a:buNone/>
                      </a:pPr>
                      <a:r>
                        <a:rPr b="1" lang="en" sz="1100">
                          <a:solidFill>
                            <a:schemeClr val="accent6"/>
                          </a:solidFill>
                        </a:rPr>
                        <a:t>&amp; Impact</a:t>
                      </a:r>
                      <a:endParaRPr b="1" sz="1100">
                        <a:solidFill>
                          <a:schemeClr val="accent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4CCCC"/>
                    </a:solidFill>
                  </a:tcPr>
                </a:tc>
                <a:tc>
                  <a:txBody>
                    <a:bodyPr/>
                    <a:lstStyle/>
                    <a:p>
                      <a:pPr indent="-222250" lvl="0" marL="342900" rtl="0" algn="l">
                        <a:spcBef>
                          <a:spcPts val="0"/>
                        </a:spcBef>
                        <a:spcAft>
                          <a:spcPts val="0"/>
                        </a:spcAft>
                        <a:buClr>
                          <a:schemeClr val="dk1"/>
                        </a:buClr>
                        <a:buSzPts val="900"/>
                        <a:buChar char="-"/>
                      </a:pPr>
                      <a:r>
                        <a:rPr b="1" lang="en" sz="900">
                          <a:solidFill>
                            <a:schemeClr val="dk1"/>
                          </a:solidFill>
                        </a:rPr>
                        <a:t>Time Consuming :</a:t>
                      </a:r>
                      <a:r>
                        <a:rPr lang="en" sz="900">
                          <a:solidFill>
                            <a:schemeClr val="dk1"/>
                          </a:solidFill>
                        </a:rPr>
                        <a:t> numerous predefined roles and custom roles that can be configured → </a:t>
                      </a:r>
                      <a:r>
                        <a:rPr b="1" lang="en" sz="900">
                          <a:solidFill>
                            <a:schemeClr val="dk1"/>
                          </a:solidFill>
                        </a:rPr>
                        <a:t>determining the appropriate set of permissions for each user or entity requires careful consideration</a:t>
                      </a:r>
                      <a:r>
                        <a:rPr lang="en" sz="900">
                          <a:solidFill>
                            <a:schemeClr val="dk1"/>
                          </a:solidFill>
                        </a:rPr>
                        <a:t> and understanding of the available roles and their implications.</a:t>
                      </a:r>
                      <a:endParaRPr sz="900">
                        <a:solidFill>
                          <a:schemeClr val="dk1"/>
                        </a:solidFill>
                      </a:endParaRPr>
                    </a:p>
                    <a:p>
                      <a:pPr indent="0" lvl="0" marL="342900" rtl="0" algn="l">
                        <a:spcBef>
                          <a:spcPts val="0"/>
                        </a:spcBef>
                        <a:spcAft>
                          <a:spcPts val="0"/>
                        </a:spcAft>
                        <a:buNone/>
                      </a:pPr>
                      <a:r>
                        <a:t/>
                      </a:r>
                      <a:endParaRPr sz="900">
                        <a:solidFill>
                          <a:schemeClr val="dk1"/>
                        </a:solidFill>
                      </a:endParaRPr>
                    </a:p>
                    <a:p>
                      <a:pPr indent="-222250" lvl="0" marL="342900" rtl="0" algn="l">
                        <a:spcBef>
                          <a:spcPts val="0"/>
                        </a:spcBef>
                        <a:spcAft>
                          <a:spcPts val="0"/>
                        </a:spcAft>
                        <a:buClr>
                          <a:schemeClr val="dk1"/>
                        </a:buClr>
                        <a:buSzPts val="900"/>
                        <a:buChar char="-"/>
                      </a:pPr>
                      <a:r>
                        <a:rPr b="1" lang="en" sz="900">
                          <a:solidFill>
                            <a:schemeClr val="dk1"/>
                          </a:solidFill>
                        </a:rPr>
                        <a:t>Integration Complexity with Google Cloud IAM </a:t>
                      </a:r>
                      <a:r>
                        <a:rPr lang="en" sz="900">
                          <a:solidFill>
                            <a:schemeClr val="dk1"/>
                          </a:solidFill>
                        </a:rPr>
                        <a:t>: additional layer of complexity, as BigQuery inherits the IAM features and policies from GCP</a:t>
                      </a:r>
                      <a:endParaRPr sz="900">
                        <a:solidFill>
                          <a:schemeClr val="dk1"/>
                        </a:solidFill>
                      </a:endParaRPr>
                    </a:p>
                  </a:txBody>
                  <a:tcPr marT="91425" marB="91425" marR="91425" marL="91425" anchor="ctr">
                    <a:lnL cap="flat" cmpd="sng" w="9525">
                      <a:solidFill>
                        <a:schemeClr val="accent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4CCCC"/>
                    </a:solidFill>
                  </a:tcPr>
                </a:tc>
              </a:tr>
            </a:tbl>
          </a:graphicData>
        </a:graphic>
      </p:graphicFrame>
      <p:sp>
        <p:nvSpPr>
          <p:cNvPr id="1086" name="Google Shape;1086;p63"/>
          <p:cNvSpPr txBox="1"/>
          <p:nvPr/>
        </p:nvSpPr>
        <p:spPr>
          <a:xfrm>
            <a:off x="2813831" y="1878300"/>
            <a:ext cx="1832100" cy="19701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sz="900"/>
              <a:t>IAM Predefined Roles</a:t>
            </a:r>
            <a:br>
              <a:rPr b="1" lang="en" sz="900"/>
            </a:br>
            <a:endParaRPr sz="900"/>
          </a:p>
          <a:p>
            <a:pPr indent="0" lvl="0" marL="0" rtl="0" algn="l">
              <a:spcBef>
                <a:spcPts val="0"/>
              </a:spcBef>
              <a:spcAft>
                <a:spcPts val="0"/>
              </a:spcAft>
              <a:buNone/>
            </a:pPr>
            <a:r>
              <a:rPr lang="en" sz="700">
                <a:solidFill>
                  <a:srgbClr val="202124"/>
                </a:solidFill>
                <a:highlight>
                  <a:srgbClr val="FFFFFF"/>
                </a:highlight>
                <a:latin typeface="Roboto"/>
                <a:ea typeface="Roboto"/>
                <a:cs typeface="Roboto"/>
                <a:sym typeface="Roboto"/>
              </a:rPr>
              <a:t>- BigQuery Admin</a:t>
            </a:r>
            <a:endParaRPr sz="7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800">
                <a:solidFill>
                  <a:srgbClr val="202124"/>
                </a:solidFill>
                <a:highlight>
                  <a:srgbClr val="FFFFFF"/>
                </a:highlight>
                <a:latin typeface="Roboto"/>
                <a:ea typeface="Roboto"/>
                <a:cs typeface="Roboto"/>
                <a:sym typeface="Roboto"/>
              </a:rPr>
              <a:t>- </a:t>
            </a:r>
            <a:r>
              <a:rPr lang="en" sz="600">
                <a:solidFill>
                  <a:srgbClr val="202124"/>
                </a:solidFill>
                <a:highlight>
                  <a:srgbClr val="FFFFFF"/>
                </a:highlight>
                <a:latin typeface="Roboto"/>
                <a:ea typeface="Roboto"/>
                <a:cs typeface="Roboto"/>
                <a:sym typeface="Roboto"/>
              </a:rPr>
              <a:t>BigQuery Connection Admin</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800">
                <a:solidFill>
                  <a:srgbClr val="202124"/>
                </a:solidFill>
                <a:highlight>
                  <a:srgbClr val="FFFFFF"/>
                </a:highlight>
                <a:latin typeface="Roboto"/>
                <a:ea typeface="Roboto"/>
                <a:cs typeface="Roboto"/>
                <a:sym typeface="Roboto"/>
              </a:rPr>
              <a:t>- </a:t>
            </a:r>
            <a:r>
              <a:rPr lang="en" sz="600">
                <a:solidFill>
                  <a:srgbClr val="202124"/>
                </a:solidFill>
                <a:highlight>
                  <a:srgbClr val="FFFFFF"/>
                </a:highlight>
                <a:latin typeface="Roboto"/>
                <a:ea typeface="Roboto"/>
                <a:cs typeface="Roboto"/>
                <a:sym typeface="Roboto"/>
              </a:rPr>
              <a:t>BigQuery Connection User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Data Editor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Data Owner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Data Viewer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Filtered Data Viewer (if Row Access policy)</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Job User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Metadata Viewer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Read Session User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Resource Admin</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Resource Editor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Resource Viewer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BigQuery User</a:t>
            </a:r>
            <a:endParaRPr sz="6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rPr lang="en" sz="600">
                <a:solidFill>
                  <a:srgbClr val="202124"/>
                </a:solidFill>
                <a:highlight>
                  <a:srgbClr val="FFFFFF"/>
                </a:highlight>
                <a:latin typeface="Roboto"/>
                <a:ea typeface="Roboto"/>
                <a:cs typeface="Roboto"/>
                <a:sym typeface="Roboto"/>
              </a:rPr>
              <a:t>- Masked Reader (if Column Access Policy)</a:t>
            </a:r>
            <a:endParaRPr sz="600">
              <a:solidFill>
                <a:srgbClr val="202124"/>
              </a:solidFill>
              <a:highlight>
                <a:srgbClr val="FFFFFF"/>
              </a:highlight>
              <a:latin typeface="Roboto"/>
              <a:ea typeface="Roboto"/>
              <a:cs typeface="Roboto"/>
              <a:sym typeface="Roboto"/>
            </a:endParaRPr>
          </a:p>
        </p:txBody>
      </p:sp>
      <p:pic>
        <p:nvPicPr>
          <p:cNvPr id="1087" name="Google Shape;1087;p63"/>
          <p:cNvPicPr preferRelativeResize="0"/>
          <p:nvPr/>
        </p:nvPicPr>
        <p:blipFill>
          <a:blip r:embed="rId6">
            <a:alphaModFix/>
          </a:blip>
          <a:stretch>
            <a:fillRect/>
          </a:stretch>
        </p:blipFill>
        <p:spPr>
          <a:xfrm>
            <a:off x="545550" y="1889953"/>
            <a:ext cx="1960737" cy="1900136"/>
          </a:xfrm>
          <a:prstGeom prst="rect">
            <a:avLst/>
          </a:prstGeom>
          <a:noFill/>
          <a:ln>
            <a:noFill/>
          </a:ln>
        </p:spPr>
      </p:pic>
      <p:pic>
        <p:nvPicPr>
          <p:cNvPr id="1088" name="Google Shape;1088;p63"/>
          <p:cNvPicPr preferRelativeResize="0"/>
          <p:nvPr/>
        </p:nvPicPr>
        <p:blipFill>
          <a:blip r:embed="rId4">
            <a:alphaModFix/>
          </a:blip>
          <a:stretch>
            <a:fillRect/>
          </a:stretch>
        </p:blipFill>
        <p:spPr>
          <a:xfrm>
            <a:off x="1192181" y="4388794"/>
            <a:ext cx="656700" cy="22063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64"/>
          <p:cNvSpPr txBox="1"/>
          <p:nvPr>
            <p:ph idx="12" type="sldNum"/>
          </p:nvPr>
        </p:nvSpPr>
        <p:spPr>
          <a:xfrm>
            <a:off x="8595360" y="4937760"/>
            <a:ext cx="473700" cy="12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Font typeface="Arial"/>
              <a:buNone/>
            </a:pPr>
            <a:fld id="{00000000-1234-1234-1234-123412341234}" type="slidenum">
              <a:rPr lang="en" sz="1300">
                <a:solidFill>
                  <a:srgbClr val="000000"/>
                </a:solidFill>
              </a:rPr>
              <a:t>‹#›</a:t>
            </a:fld>
            <a:endParaRPr sz="1300">
              <a:solidFill>
                <a:srgbClr val="000000"/>
              </a:solidFill>
            </a:endParaRPr>
          </a:p>
        </p:txBody>
      </p:sp>
      <p:sp>
        <p:nvSpPr>
          <p:cNvPr id="1094" name="Google Shape;1094;p64"/>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000"/>
              <a:t>Evidence: FinOps and Cost Monitoring</a:t>
            </a:r>
            <a:endParaRPr sz="2000"/>
          </a:p>
          <a:p>
            <a:pPr indent="0" lvl="0" marL="0" rtl="0" algn="ctr">
              <a:spcBef>
                <a:spcPts val="0"/>
              </a:spcBef>
              <a:spcAft>
                <a:spcPts val="0"/>
              </a:spcAft>
              <a:buNone/>
            </a:pPr>
            <a:r>
              <a:rPr b="0" lang="en" sz="1400">
                <a:solidFill>
                  <a:srgbClr val="929292"/>
                </a:solidFill>
              </a:rPr>
              <a:t>Snowflake provides built-in tools and features for cost management and monitoring</a:t>
            </a:r>
            <a:endParaRPr b="0" sz="1400">
              <a:solidFill>
                <a:srgbClr val="929292"/>
              </a:solidFill>
            </a:endParaRPr>
          </a:p>
        </p:txBody>
      </p:sp>
      <p:graphicFrame>
        <p:nvGraphicFramePr>
          <p:cNvPr id="1095" name="Google Shape;1095;p64"/>
          <p:cNvGraphicFramePr/>
          <p:nvPr/>
        </p:nvGraphicFramePr>
        <p:xfrm>
          <a:off x="114306" y="1185176"/>
          <a:ext cx="3000000" cy="3000000"/>
        </p:xfrm>
        <a:graphic>
          <a:graphicData uri="http://schemas.openxmlformats.org/drawingml/2006/table">
            <a:tbl>
              <a:tblPr>
                <a:noFill/>
                <a:tableStyleId>{E8F5248A-DBA3-46B8-8E12-1AFC5F6F1D41}</a:tableStyleId>
              </a:tblPr>
              <a:tblGrid>
                <a:gridCol w="4040225"/>
                <a:gridCol w="4439675"/>
              </a:tblGrid>
              <a:tr h="371300">
                <a:tc>
                  <a:txBody>
                    <a:bodyPr/>
                    <a:lstStyle/>
                    <a:p>
                      <a:pPr indent="0" lvl="0" marL="0" rtl="0" algn="ctr">
                        <a:spcBef>
                          <a:spcPts val="0"/>
                        </a:spcBef>
                        <a:spcAft>
                          <a:spcPts val="0"/>
                        </a:spcAft>
                        <a:buNone/>
                      </a:pPr>
                      <a:r>
                        <a:rPr b="1" lang="en" sz="1100">
                          <a:solidFill>
                            <a:schemeClr val="dk1"/>
                          </a:solidFill>
                        </a:rPr>
                        <a:t>Complex Monitoring &amp; Alerting</a:t>
                      </a:r>
                      <a:endParaRPr b="1" sz="1100">
                        <a:solidFill>
                          <a:schemeClr val="dk1"/>
                        </a:solidFill>
                      </a:endParaRPr>
                    </a:p>
                  </a:txBody>
                  <a:tcPr marT="91425" marB="91425" marR="91425" marL="91425" anchor="ctr">
                    <a:lnL cap="flat" cmpd="sng" w="76200">
                      <a:solidFill>
                        <a:schemeClr val="lt1"/>
                      </a:solidFill>
                      <a:prstDash val="solid"/>
                      <a:round/>
                      <a:headEnd len="sm" w="sm" type="none"/>
                      <a:tailEnd len="sm" w="sm" type="none"/>
                    </a:lnL>
                    <a:lnR cap="flat" cmpd="sng" w="9525">
                      <a:solidFill>
                        <a:srgbClr val="DBDBDB"/>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342900" rtl="0" algn="ctr">
                        <a:spcBef>
                          <a:spcPts val="500"/>
                        </a:spcBef>
                        <a:spcAft>
                          <a:spcPts val="500"/>
                        </a:spcAft>
                        <a:buNone/>
                      </a:pPr>
                      <a:r>
                        <a:rPr b="1" lang="en" sz="1100">
                          <a:solidFill>
                            <a:schemeClr val="dk1"/>
                          </a:solidFill>
                        </a:rPr>
                        <a:t>Simple Resource monitoring &amp; Management</a:t>
                      </a:r>
                      <a:endParaRPr b="1" sz="1100">
                        <a:solidFill>
                          <a:schemeClr val="dk1"/>
                        </a:solidFill>
                      </a:endParaRPr>
                    </a:p>
                  </a:txBody>
                  <a:tcPr marT="91425" marB="91425" marR="91425" marL="91425" anchor="ctr">
                    <a:lnL cap="flat" cmpd="sng" w="9525">
                      <a:solidFill>
                        <a:srgbClr val="DBDBDB"/>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2811000">
                <a:tc>
                  <a:txBody>
                    <a:bodyPr/>
                    <a:lstStyle/>
                    <a:p>
                      <a:pPr indent="0" lvl="0" marL="342900" rtl="0" algn="l">
                        <a:spcBef>
                          <a:spcPts val="0"/>
                        </a:spcBef>
                        <a:spcAft>
                          <a:spcPts val="0"/>
                        </a:spcAft>
                        <a:buNone/>
                      </a:pPr>
                      <a:r>
                        <a:t/>
                      </a:r>
                      <a:endParaRPr sz="900"/>
                    </a:p>
                  </a:txBody>
                  <a:tcPr marT="91425" marB="91425" marR="91425" marL="91425">
                    <a:lnL cap="flat" cmpd="sng" w="76200">
                      <a:solidFill>
                        <a:schemeClr val="lt1"/>
                      </a:solidFill>
                      <a:prstDash val="solid"/>
                      <a:round/>
                      <a:headEnd len="sm" w="sm" type="none"/>
                      <a:tailEnd len="sm" w="sm" type="none"/>
                    </a:lnL>
                    <a:lnR cap="flat" cmpd="sng" w="9525">
                      <a:solidFill>
                        <a:srgbClr val="DBDBDB"/>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215900" lvl="0" marL="342900" rtl="0" algn="l">
                        <a:spcBef>
                          <a:spcPts val="500"/>
                        </a:spcBef>
                        <a:spcAft>
                          <a:spcPts val="0"/>
                        </a:spcAft>
                        <a:buSzPts val="800"/>
                        <a:buChar char="-"/>
                      </a:pPr>
                      <a:r>
                        <a:rPr b="1" lang="en" sz="800">
                          <a:solidFill>
                            <a:schemeClr val="dk2"/>
                          </a:solidFill>
                        </a:rPr>
                        <a:t>RESOURCE </a:t>
                      </a:r>
                      <a:r>
                        <a:rPr lang="en" sz="800">
                          <a:solidFill>
                            <a:schemeClr val="dk1"/>
                          </a:solidFill>
                        </a:rPr>
                        <a:t>MONITORS : Create </a:t>
                      </a:r>
                      <a:r>
                        <a:rPr b="1" lang="en" sz="800">
                          <a:solidFill>
                            <a:schemeClr val="dk1"/>
                          </a:solidFill>
                        </a:rPr>
                        <a:t>hard limits</a:t>
                      </a:r>
                      <a:r>
                        <a:rPr lang="en" sz="800">
                          <a:solidFill>
                            <a:schemeClr val="dk1"/>
                          </a:solidFill>
                        </a:rPr>
                        <a:t> : don’t overspend or accidentally use up credits</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t/>
                      </a:r>
                      <a:endParaRPr sz="800">
                        <a:solidFill>
                          <a:schemeClr val="dk1"/>
                        </a:solidFill>
                      </a:endParaRPr>
                    </a:p>
                    <a:p>
                      <a:pPr indent="0" lvl="0" marL="0" rtl="0" algn="l">
                        <a:spcBef>
                          <a:spcPts val="500"/>
                        </a:spcBef>
                        <a:spcAft>
                          <a:spcPts val="0"/>
                        </a:spcAft>
                        <a:buNone/>
                      </a:pPr>
                      <a:r>
                        <a:rPr lang="en" sz="800">
                          <a:solidFill>
                            <a:schemeClr val="dk1"/>
                          </a:solidFill>
                        </a:rPr>
                        <a:t>A lot of other features:</a:t>
                      </a:r>
                      <a:endParaRPr sz="800">
                        <a:solidFill>
                          <a:schemeClr val="dk1"/>
                        </a:solidFill>
                      </a:endParaRPr>
                    </a:p>
                    <a:p>
                      <a:pPr indent="-215900" lvl="0" marL="342900" rtl="0" algn="l">
                        <a:spcBef>
                          <a:spcPts val="500"/>
                        </a:spcBef>
                        <a:spcAft>
                          <a:spcPts val="0"/>
                        </a:spcAft>
                        <a:buClr>
                          <a:schemeClr val="dk1"/>
                        </a:buClr>
                        <a:buSzPts val="800"/>
                        <a:buChar char="-"/>
                      </a:pPr>
                      <a:r>
                        <a:rPr b="1" lang="en" sz="800">
                          <a:solidFill>
                            <a:schemeClr val="accent6"/>
                          </a:solidFill>
                        </a:rPr>
                        <a:t>AUTO SUSPEND</a:t>
                      </a:r>
                      <a:r>
                        <a:rPr lang="en" sz="800">
                          <a:solidFill>
                            <a:schemeClr val="dk1"/>
                          </a:solidFill>
                        </a:rPr>
                        <a:t> POLICIES : Turning </a:t>
                      </a:r>
                      <a:r>
                        <a:rPr b="1" lang="en" sz="800">
                          <a:solidFill>
                            <a:schemeClr val="dk1"/>
                          </a:solidFill>
                        </a:rPr>
                        <a:t>virtual warehouses off </a:t>
                      </a:r>
                      <a:r>
                        <a:rPr lang="en" sz="800">
                          <a:solidFill>
                            <a:schemeClr val="dk1"/>
                          </a:solidFill>
                        </a:rPr>
                        <a:t>quickly after they go idle saves customers money</a:t>
                      </a:r>
                      <a:endParaRPr sz="800">
                        <a:solidFill>
                          <a:schemeClr val="dk1"/>
                        </a:solidFill>
                      </a:endParaRPr>
                    </a:p>
                    <a:p>
                      <a:pPr indent="-215900" lvl="0" marL="342900" rtl="0" algn="l">
                        <a:spcBef>
                          <a:spcPts val="0"/>
                        </a:spcBef>
                        <a:spcAft>
                          <a:spcPts val="0"/>
                        </a:spcAft>
                        <a:buClr>
                          <a:schemeClr val="dk1"/>
                        </a:buClr>
                        <a:buSzPts val="800"/>
                        <a:buChar char="-"/>
                      </a:pPr>
                      <a:r>
                        <a:rPr b="1" lang="en" sz="800">
                          <a:solidFill>
                            <a:schemeClr val="dk1"/>
                          </a:solidFill>
                        </a:rPr>
                        <a:t>BI DASHBOARDS</a:t>
                      </a:r>
                      <a:r>
                        <a:rPr lang="en" sz="800">
                          <a:solidFill>
                            <a:schemeClr val="dk1"/>
                          </a:solidFill>
                        </a:rPr>
                        <a:t> : Many of our 3rd party BI vendors </a:t>
                      </a:r>
                      <a:r>
                        <a:rPr b="1" lang="en" sz="800">
                          <a:solidFill>
                            <a:schemeClr val="dk1"/>
                          </a:solidFill>
                        </a:rPr>
                        <a:t>offer pre-built dashboards </a:t>
                      </a:r>
                      <a:r>
                        <a:rPr lang="en" sz="800">
                          <a:solidFill>
                            <a:schemeClr val="dk1"/>
                          </a:solidFill>
                        </a:rPr>
                        <a:t>(ex: </a:t>
                      </a:r>
                      <a:r>
                        <a:rPr lang="en" sz="800" u="sng">
                          <a:solidFill>
                            <a:schemeClr val="hlink"/>
                          </a:solidFill>
                          <a:hlinkClick r:id="rId3"/>
                        </a:rPr>
                        <a:t>https://github.com/mattfeks/Snowflake-PowerBI</a:t>
                      </a:r>
                      <a:r>
                        <a:rPr lang="en" sz="800">
                          <a:solidFill>
                            <a:schemeClr val="dk1"/>
                          </a:solidFill>
                        </a:rPr>
                        <a:t>)</a:t>
                      </a:r>
                      <a:endParaRPr sz="1000">
                        <a:solidFill>
                          <a:schemeClr val="dk1"/>
                        </a:solidFill>
                      </a:endParaRPr>
                    </a:p>
                  </a:txBody>
                  <a:tcPr marT="91425" marB="91425" marR="91425" marL="91425">
                    <a:lnL cap="flat" cmpd="sng" w="9525">
                      <a:solidFill>
                        <a:srgbClr val="DBDBDB"/>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pic>
        <p:nvPicPr>
          <p:cNvPr id="1096" name="Google Shape;1096;p64"/>
          <p:cNvPicPr preferRelativeResize="0"/>
          <p:nvPr/>
        </p:nvPicPr>
        <p:blipFill>
          <a:blip r:embed="rId4">
            <a:alphaModFix/>
          </a:blip>
          <a:stretch>
            <a:fillRect/>
          </a:stretch>
        </p:blipFill>
        <p:spPr>
          <a:xfrm>
            <a:off x="5896669" y="808547"/>
            <a:ext cx="1323674" cy="316687"/>
          </a:xfrm>
          <a:prstGeom prst="rect">
            <a:avLst/>
          </a:prstGeom>
          <a:noFill/>
          <a:ln>
            <a:noFill/>
          </a:ln>
        </p:spPr>
      </p:pic>
      <p:pic>
        <p:nvPicPr>
          <p:cNvPr id="1097" name="Google Shape;1097;p64"/>
          <p:cNvPicPr preferRelativeResize="0"/>
          <p:nvPr/>
        </p:nvPicPr>
        <p:blipFill>
          <a:blip r:embed="rId5">
            <a:alphaModFix/>
          </a:blip>
          <a:stretch>
            <a:fillRect/>
          </a:stretch>
        </p:blipFill>
        <p:spPr>
          <a:xfrm>
            <a:off x="1996275" y="808547"/>
            <a:ext cx="942525" cy="316688"/>
          </a:xfrm>
          <a:prstGeom prst="rect">
            <a:avLst/>
          </a:prstGeom>
          <a:noFill/>
          <a:ln>
            <a:noFill/>
          </a:ln>
        </p:spPr>
      </p:pic>
      <p:pic>
        <p:nvPicPr>
          <p:cNvPr id="1098" name="Google Shape;1098;p64"/>
          <p:cNvPicPr preferRelativeResize="0"/>
          <p:nvPr/>
        </p:nvPicPr>
        <p:blipFill>
          <a:blip r:embed="rId5">
            <a:alphaModFix/>
          </a:blip>
          <a:stretch>
            <a:fillRect/>
          </a:stretch>
        </p:blipFill>
        <p:spPr>
          <a:xfrm>
            <a:off x="1192181" y="4667888"/>
            <a:ext cx="656696" cy="220650"/>
          </a:xfrm>
          <a:prstGeom prst="rect">
            <a:avLst/>
          </a:prstGeom>
          <a:noFill/>
          <a:ln>
            <a:noFill/>
          </a:ln>
        </p:spPr>
      </p:pic>
      <p:graphicFrame>
        <p:nvGraphicFramePr>
          <p:cNvPr id="1099" name="Google Shape;1099;p64"/>
          <p:cNvGraphicFramePr/>
          <p:nvPr/>
        </p:nvGraphicFramePr>
        <p:xfrm>
          <a:off x="337000" y="4469172"/>
          <a:ext cx="3000000" cy="3000000"/>
        </p:xfrm>
        <a:graphic>
          <a:graphicData uri="http://schemas.openxmlformats.org/drawingml/2006/table">
            <a:tbl>
              <a:tblPr>
                <a:noFill/>
                <a:tableStyleId>{E8F5248A-DBA3-46B8-8E12-1AFC5F6F1D41}</a:tableStyleId>
              </a:tblPr>
              <a:tblGrid>
                <a:gridCol w="1738400"/>
                <a:gridCol w="6784900"/>
              </a:tblGrid>
              <a:tr h="419375">
                <a:tc>
                  <a:txBody>
                    <a:bodyPr/>
                    <a:lstStyle/>
                    <a:p>
                      <a:pPr indent="0" lvl="0" marL="0" rtl="0" algn="l">
                        <a:spcBef>
                          <a:spcPts val="0"/>
                        </a:spcBef>
                        <a:spcAft>
                          <a:spcPts val="0"/>
                        </a:spcAft>
                        <a:buNone/>
                      </a:pPr>
                      <a:r>
                        <a:rPr b="1" lang="en" sz="1100">
                          <a:solidFill>
                            <a:schemeClr val="accent6"/>
                          </a:solidFill>
                        </a:rPr>
                        <a:t>Risks </a:t>
                      </a:r>
                      <a:endParaRPr b="1" sz="1100">
                        <a:solidFill>
                          <a:schemeClr val="accent6"/>
                        </a:solidFill>
                      </a:endParaRPr>
                    </a:p>
                    <a:p>
                      <a:pPr indent="0" lvl="0" marL="0" rtl="0" algn="l">
                        <a:spcBef>
                          <a:spcPts val="0"/>
                        </a:spcBef>
                        <a:spcAft>
                          <a:spcPts val="0"/>
                        </a:spcAft>
                        <a:buNone/>
                      </a:pPr>
                      <a:r>
                        <a:rPr b="1" lang="en" sz="1100">
                          <a:solidFill>
                            <a:schemeClr val="accent6"/>
                          </a:solidFill>
                        </a:rPr>
                        <a:t>&amp; Impact</a:t>
                      </a:r>
                      <a:endParaRPr b="1" sz="1100">
                        <a:solidFill>
                          <a:schemeClr val="accent6"/>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4CCCC"/>
                    </a:solidFill>
                  </a:tcPr>
                </a:tc>
                <a:tc>
                  <a:txBody>
                    <a:bodyPr/>
                    <a:lstStyle/>
                    <a:p>
                      <a:pPr indent="-215900" lvl="0" marL="342900" rtl="0" algn="l">
                        <a:spcBef>
                          <a:spcPts val="0"/>
                        </a:spcBef>
                        <a:spcAft>
                          <a:spcPts val="0"/>
                        </a:spcAft>
                        <a:buClr>
                          <a:schemeClr val="dk1"/>
                        </a:buClr>
                        <a:buSzPts val="800"/>
                        <a:buChar char="-"/>
                      </a:pPr>
                      <a:r>
                        <a:rPr b="1" lang="en" sz="800">
                          <a:solidFill>
                            <a:schemeClr val="dk1"/>
                          </a:solidFill>
                        </a:rPr>
                        <a:t>Custom alerting setup:</a:t>
                      </a:r>
                      <a:r>
                        <a:rPr lang="en" sz="800">
                          <a:solidFill>
                            <a:schemeClr val="dk1"/>
                          </a:solidFill>
                        </a:rPr>
                        <a:t> To set up budget alerts in BigQuery, you often need to rely on c</a:t>
                      </a:r>
                      <a:r>
                        <a:rPr b="1" lang="en" sz="800">
                          <a:solidFill>
                            <a:schemeClr val="dk1"/>
                          </a:solidFill>
                        </a:rPr>
                        <a:t>ustom configurations using third-party monitoring and alerting tools</a:t>
                      </a:r>
                      <a:r>
                        <a:rPr lang="en" sz="800">
                          <a:solidFill>
                            <a:schemeClr val="dk1"/>
                          </a:solidFill>
                        </a:rPr>
                        <a:t> or by integrating with Google Cloud's monitoring and alerting services like </a:t>
                      </a:r>
                      <a:r>
                        <a:rPr b="1" lang="en" sz="800" u="sng">
                          <a:solidFill>
                            <a:schemeClr val="dk1"/>
                          </a:solidFill>
                        </a:rPr>
                        <a:t>Cloud Monitoring</a:t>
                      </a:r>
                      <a:r>
                        <a:rPr lang="en" sz="800">
                          <a:solidFill>
                            <a:schemeClr val="dk1"/>
                          </a:solidFill>
                        </a:rPr>
                        <a:t> and </a:t>
                      </a:r>
                      <a:r>
                        <a:rPr b="1" lang="en" sz="800" u="sng">
                          <a:solidFill>
                            <a:schemeClr val="dk1"/>
                          </a:solidFill>
                        </a:rPr>
                        <a:t>Cloud Pub/Sub</a:t>
                      </a:r>
                      <a:r>
                        <a:rPr lang="en" sz="800">
                          <a:solidFill>
                            <a:schemeClr val="dk1"/>
                          </a:solidFill>
                        </a:rPr>
                        <a:t>.</a:t>
                      </a:r>
                      <a:endParaRPr sz="800">
                        <a:solidFill>
                          <a:schemeClr val="dk1"/>
                        </a:solidFill>
                      </a:endParaRPr>
                    </a:p>
                    <a:p>
                      <a:pPr indent="0" lvl="0" marL="342900" rtl="0" algn="l">
                        <a:spcBef>
                          <a:spcPts val="0"/>
                        </a:spcBef>
                        <a:spcAft>
                          <a:spcPts val="0"/>
                        </a:spcAft>
                        <a:buNone/>
                      </a:pPr>
                      <a:r>
                        <a:rPr lang="en" sz="800">
                          <a:solidFill>
                            <a:schemeClr val="dk1"/>
                          </a:solidFill>
                        </a:rPr>
                        <a:t>→ </a:t>
                      </a:r>
                      <a:r>
                        <a:rPr b="1" lang="en" sz="800">
                          <a:solidFill>
                            <a:schemeClr val="dk1"/>
                          </a:solidFill>
                        </a:rPr>
                        <a:t>Additional setup and configuration to monitor BigQuery usage</a:t>
                      </a:r>
                      <a:r>
                        <a:rPr lang="en" sz="800">
                          <a:solidFill>
                            <a:schemeClr val="dk1"/>
                          </a:solidFill>
                        </a:rPr>
                        <a:t>, define budget thresholds, and trigger alerts based on specific conditions.</a:t>
                      </a:r>
                      <a:endParaRPr sz="800">
                        <a:solidFill>
                          <a:schemeClr val="dk1"/>
                        </a:solidFill>
                      </a:endParaRPr>
                    </a:p>
                  </a:txBody>
                  <a:tcPr marT="91425" marB="91425" marR="91425" marL="91425" anchor="ctr">
                    <a:lnL cap="flat" cmpd="sng" w="9525">
                      <a:solidFill>
                        <a:schemeClr val="accent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F4CCCC"/>
                    </a:solidFill>
                  </a:tcPr>
                </a:tc>
              </a:tr>
            </a:tbl>
          </a:graphicData>
        </a:graphic>
      </p:graphicFrame>
      <p:pic>
        <p:nvPicPr>
          <p:cNvPr id="1100" name="Google Shape;1100;p64"/>
          <p:cNvPicPr preferRelativeResize="0"/>
          <p:nvPr/>
        </p:nvPicPr>
        <p:blipFill>
          <a:blip r:embed="rId5">
            <a:alphaModFix/>
          </a:blip>
          <a:stretch>
            <a:fillRect/>
          </a:stretch>
        </p:blipFill>
        <p:spPr>
          <a:xfrm>
            <a:off x="1192181" y="4610297"/>
            <a:ext cx="656700" cy="220631"/>
          </a:xfrm>
          <a:prstGeom prst="rect">
            <a:avLst/>
          </a:prstGeom>
          <a:noFill/>
          <a:ln>
            <a:noFill/>
          </a:ln>
        </p:spPr>
      </p:pic>
      <p:pic>
        <p:nvPicPr>
          <p:cNvPr id="1101" name="Google Shape;1101;p64"/>
          <p:cNvPicPr preferRelativeResize="0"/>
          <p:nvPr/>
        </p:nvPicPr>
        <p:blipFill>
          <a:blip r:embed="rId6">
            <a:alphaModFix/>
          </a:blip>
          <a:stretch>
            <a:fillRect/>
          </a:stretch>
        </p:blipFill>
        <p:spPr>
          <a:xfrm>
            <a:off x="1259944" y="1711275"/>
            <a:ext cx="2579250" cy="2648343"/>
          </a:xfrm>
          <a:prstGeom prst="rect">
            <a:avLst/>
          </a:prstGeom>
          <a:noFill/>
          <a:ln>
            <a:noFill/>
          </a:ln>
        </p:spPr>
      </p:pic>
      <p:pic>
        <p:nvPicPr>
          <p:cNvPr id="1102" name="Google Shape;1102;p64"/>
          <p:cNvPicPr preferRelativeResize="0"/>
          <p:nvPr/>
        </p:nvPicPr>
        <p:blipFill>
          <a:blip r:embed="rId7">
            <a:alphaModFix/>
          </a:blip>
          <a:stretch>
            <a:fillRect/>
          </a:stretch>
        </p:blipFill>
        <p:spPr>
          <a:xfrm>
            <a:off x="5763488" y="1944094"/>
            <a:ext cx="2696905" cy="187945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65"/>
          <p:cNvSpPr txBox="1"/>
          <p:nvPr>
            <p:ph type="title"/>
          </p:nvPr>
        </p:nvSpPr>
        <p:spPr>
          <a:xfrm>
            <a:off x="386675" y="-2"/>
            <a:ext cx="8344800" cy="365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References and related docs</a:t>
            </a:r>
            <a:endParaRPr/>
          </a:p>
        </p:txBody>
      </p:sp>
      <p:sp>
        <p:nvSpPr>
          <p:cNvPr id="1108" name="Google Shape;1108;p65"/>
          <p:cNvSpPr txBox="1"/>
          <p:nvPr>
            <p:ph idx="1" type="subTitle"/>
          </p:nvPr>
        </p:nvSpPr>
        <p:spPr>
          <a:xfrm>
            <a:off x="161375" y="655175"/>
            <a:ext cx="8795400" cy="4170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Service Map (Snowflake, CSP): </a:t>
            </a:r>
            <a:r>
              <a:rPr lang="en" u="sng">
                <a:solidFill>
                  <a:schemeClr val="hlink"/>
                </a:solidFill>
                <a:hlinkClick r:id="rId3"/>
              </a:rPr>
              <a:t>multi-cloud</a:t>
            </a:r>
            <a:endParaRPr/>
          </a:p>
          <a:p>
            <a:pPr indent="-317500" lvl="0" marL="457200" rtl="0" algn="l">
              <a:spcBef>
                <a:spcPts val="0"/>
              </a:spcBef>
              <a:spcAft>
                <a:spcPts val="0"/>
              </a:spcAft>
              <a:buSzPts val="1400"/>
              <a:buChar char="-"/>
            </a:pPr>
            <a:r>
              <a:rPr lang="en"/>
              <a:t>Snow vs BQ: </a:t>
            </a:r>
            <a:r>
              <a:rPr lang="en" u="sng">
                <a:solidFill>
                  <a:schemeClr val="hlink"/>
                </a:solidFill>
                <a:hlinkClick r:id="rId4"/>
              </a:rPr>
              <a:t>BigQuery-Compete</a:t>
            </a:r>
            <a:endParaRPr/>
          </a:p>
          <a:p>
            <a:pPr indent="-317500" lvl="0" marL="457200" rtl="0" algn="l">
              <a:spcBef>
                <a:spcPts val="0"/>
              </a:spcBef>
              <a:spcAft>
                <a:spcPts val="0"/>
              </a:spcAft>
              <a:buSzPts val="1400"/>
              <a:buChar char="-"/>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66"/>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Snow vs BigQuery</a:t>
            </a:r>
            <a:endParaRPr/>
          </a:p>
        </p:txBody>
      </p:sp>
      <p:sp>
        <p:nvSpPr>
          <p:cNvPr id="1114" name="Google Shape;1114;p66"/>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Success stories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67"/>
          <p:cNvSpPr txBox="1"/>
          <p:nvPr>
            <p:ph idx="12" type="sldNum"/>
          </p:nvPr>
        </p:nvSpPr>
        <p:spPr>
          <a:xfrm>
            <a:off x="8595360" y="4937760"/>
            <a:ext cx="473700" cy="12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Font typeface="Arial"/>
              <a:buNone/>
            </a:pPr>
            <a:fld id="{00000000-1234-1234-1234-123412341234}" type="slidenum">
              <a:rPr lang="en" sz="1300">
                <a:solidFill>
                  <a:srgbClr val="000000"/>
                </a:solidFill>
              </a:rPr>
              <a:t>‹#›</a:t>
            </a:fld>
            <a:endParaRPr sz="1300">
              <a:solidFill>
                <a:srgbClr val="000000"/>
              </a:solidFill>
            </a:endParaRPr>
          </a:p>
        </p:txBody>
      </p:sp>
      <p:sp>
        <p:nvSpPr>
          <p:cNvPr id="1120" name="Google Shape;1120;p67"/>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Google BigQuery to Snowflake Migration Proof Points</a:t>
            </a:r>
            <a:endParaRPr/>
          </a:p>
        </p:txBody>
      </p:sp>
      <p:pic>
        <p:nvPicPr>
          <p:cNvPr id="1121" name="Google Shape;1121;p67"/>
          <p:cNvPicPr preferRelativeResize="0"/>
          <p:nvPr/>
        </p:nvPicPr>
        <p:blipFill rotWithShape="1">
          <a:blip r:embed="rId3">
            <a:alphaModFix/>
          </a:blip>
          <a:srcRect b="0" l="0" r="0" t="0"/>
          <a:stretch/>
        </p:blipFill>
        <p:spPr>
          <a:xfrm>
            <a:off x="8245416" y="4771725"/>
            <a:ext cx="882768" cy="282746"/>
          </a:xfrm>
          <a:prstGeom prst="rect">
            <a:avLst/>
          </a:prstGeom>
          <a:noFill/>
          <a:ln>
            <a:noFill/>
          </a:ln>
        </p:spPr>
      </p:pic>
      <p:sp>
        <p:nvSpPr>
          <p:cNvPr id="1122" name="Google Shape;1122;p67"/>
          <p:cNvSpPr txBox="1"/>
          <p:nvPr/>
        </p:nvSpPr>
        <p:spPr>
          <a:xfrm>
            <a:off x="1632875" y="1390134"/>
            <a:ext cx="2442300" cy="501300"/>
          </a:xfrm>
          <a:prstGeom prst="rect">
            <a:avLst/>
          </a:prstGeom>
          <a:no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100"/>
              <a:t>Compute/Storage</a:t>
            </a:r>
            <a:r>
              <a:rPr b="0" i="0" lang="en" sz="1100" u="none" cap="none" strike="noStrike">
                <a:solidFill>
                  <a:srgbClr val="000000"/>
                </a:solidFill>
                <a:latin typeface="Arial"/>
                <a:ea typeface="Arial"/>
                <a:cs typeface="Arial"/>
                <a:sym typeface="Arial"/>
              </a:rPr>
              <a:t> </a:t>
            </a:r>
            <a:r>
              <a:rPr b="1" lang="en" sz="1100"/>
              <a:t>Cost Reduction</a:t>
            </a: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after migration</a:t>
            </a:r>
            <a:endParaRPr b="0" i="0" sz="1100" u="none" cap="none" strike="noStrike">
              <a:solidFill>
                <a:srgbClr val="000000"/>
              </a:solidFill>
              <a:latin typeface="Arial"/>
              <a:ea typeface="Arial"/>
              <a:cs typeface="Arial"/>
              <a:sym typeface="Arial"/>
            </a:endParaRPr>
          </a:p>
        </p:txBody>
      </p:sp>
      <p:sp>
        <p:nvSpPr>
          <p:cNvPr id="1123" name="Google Shape;1123;p67"/>
          <p:cNvSpPr txBox="1"/>
          <p:nvPr/>
        </p:nvSpPr>
        <p:spPr>
          <a:xfrm>
            <a:off x="1632876" y="1977932"/>
            <a:ext cx="2442300" cy="501300"/>
          </a:xfrm>
          <a:prstGeom prst="rect">
            <a:avLst/>
          </a:prstGeom>
          <a:no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Productivity Improvements</a:t>
            </a:r>
            <a:r>
              <a:rPr lang="en" sz="1100"/>
              <a:t> </a:t>
            </a:r>
            <a:endParaRPr sz="1100"/>
          </a:p>
          <a:p>
            <a:pPr indent="0" lvl="0" marL="0" rtl="0" algn="ctr">
              <a:spcBef>
                <a:spcPts val="0"/>
              </a:spcBef>
              <a:spcAft>
                <a:spcPts val="0"/>
              </a:spcAft>
              <a:buNone/>
            </a:pPr>
            <a:r>
              <a:rPr lang="en" sz="1100"/>
              <a:t>for Platform Administration</a:t>
            </a:r>
            <a:endParaRPr sz="1100"/>
          </a:p>
        </p:txBody>
      </p:sp>
      <p:sp>
        <p:nvSpPr>
          <p:cNvPr id="1124" name="Google Shape;1124;p67"/>
          <p:cNvSpPr txBox="1"/>
          <p:nvPr/>
        </p:nvSpPr>
        <p:spPr>
          <a:xfrm>
            <a:off x="1632876" y="2604580"/>
            <a:ext cx="2442300" cy="501300"/>
          </a:xfrm>
          <a:prstGeom prst="rect">
            <a:avLst/>
          </a:prstGeom>
          <a:no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100"/>
              <a:t>Productivity Improvements</a:t>
            </a: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 sz="1100"/>
              <a:t>for</a:t>
            </a:r>
            <a:r>
              <a:rPr b="0" i="0" lang="en" sz="1100" u="none" cap="none" strike="noStrike">
                <a:solidFill>
                  <a:srgbClr val="000000"/>
                </a:solidFill>
                <a:latin typeface="Arial"/>
                <a:ea typeface="Arial"/>
                <a:cs typeface="Arial"/>
                <a:sym typeface="Arial"/>
              </a:rPr>
              <a:t> Data Engineers</a:t>
            </a:r>
            <a:endParaRPr b="0" i="0" sz="1100" u="none" cap="none" strike="noStrike">
              <a:solidFill>
                <a:srgbClr val="000000"/>
              </a:solidFill>
              <a:latin typeface="Arial"/>
              <a:ea typeface="Arial"/>
              <a:cs typeface="Arial"/>
              <a:sym typeface="Arial"/>
            </a:endParaRPr>
          </a:p>
        </p:txBody>
      </p:sp>
      <p:sp>
        <p:nvSpPr>
          <p:cNvPr id="1125" name="Google Shape;1125;p67"/>
          <p:cNvSpPr txBox="1"/>
          <p:nvPr/>
        </p:nvSpPr>
        <p:spPr>
          <a:xfrm>
            <a:off x="1632876" y="3191628"/>
            <a:ext cx="2442300" cy="501300"/>
          </a:xfrm>
          <a:prstGeom prst="rect">
            <a:avLst/>
          </a:prstGeom>
          <a:no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100"/>
              <a:t>Productivity Improvements</a:t>
            </a: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 sz="1100"/>
              <a:t>for</a:t>
            </a:r>
            <a:r>
              <a:rPr b="0" i="0" lang="en" sz="1100" u="none" cap="none" strike="noStrike">
                <a:solidFill>
                  <a:srgbClr val="000000"/>
                </a:solidFill>
                <a:latin typeface="Arial"/>
                <a:ea typeface="Arial"/>
                <a:cs typeface="Arial"/>
                <a:sym typeface="Arial"/>
              </a:rPr>
              <a:t> Data Scientists</a:t>
            </a:r>
            <a:endParaRPr b="0" i="0" sz="1100" u="none" cap="none" strike="noStrike">
              <a:solidFill>
                <a:srgbClr val="000000"/>
              </a:solidFill>
              <a:latin typeface="Arial"/>
              <a:ea typeface="Arial"/>
              <a:cs typeface="Arial"/>
              <a:sym typeface="Arial"/>
            </a:endParaRPr>
          </a:p>
        </p:txBody>
      </p:sp>
      <p:sp>
        <p:nvSpPr>
          <p:cNvPr id="1126" name="Google Shape;1126;p67"/>
          <p:cNvSpPr txBox="1"/>
          <p:nvPr/>
        </p:nvSpPr>
        <p:spPr>
          <a:xfrm>
            <a:off x="1632878" y="3792700"/>
            <a:ext cx="2442300" cy="501300"/>
          </a:xfrm>
          <a:prstGeom prst="rect">
            <a:avLst/>
          </a:prstGeom>
          <a:no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Time-to-market</a:t>
            </a: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improvement for new projects</a:t>
            </a:r>
            <a:endParaRPr b="0" i="0" sz="1100" u="none" cap="none" strike="noStrike">
              <a:solidFill>
                <a:srgbClr val="000000"/>
              </a:solidFill>
              <a:latin typeface="Arial"/>
              <a:ea typeface="Arial"/>
              <a:cs typeface="Arial"/>
              <a:sym typeface="Arial"/>
            </a:endParaRPr>
          </a:p>
        </p:txBody>
      </p:sp>
      <p:sp>
        <p:nvSpPr>
          <p:cNvPr id="1127" name="Google Shape;1127;p67"/>
          <p:cNvSpPr txBox="1"/>
          <p:nvPr/>
        </p:nvSpPr>
        <p:spPr>
          <a:xfrm>
            <a:off x="173125" y="1389384"/>
            <a:ext cx="1465500" cy="502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Arial"/>
              <a:buNone/>
            </a:pPr>
            <a:r>
              <a:rPr b="1" lang="en" sz="2800">
                <a:solidFill>
                  <a:srgbClr val="28B5E8"/>
                </a:solidFill>
              </a:rPr>
              <a:t>20-40</a:t>
            </a:r>
            <a:r>
              <a:rPr b="1" i="0" lang="en" sz="2800" u="none" cap="none" strike="noStrike">
                <a:solidFill>
                  <a:srgbClr val="28B5E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28" name="Google Shape;1128;p67"/>
          <p:cNvSpPr txBox="1"/>
          <p:nvPr/>
        </p:nvSpPr>
        <p:spPr>
          <a:xfrm>
            <a:off x="173125" y="1977182"/>
            <a:ext cx="1465500" cy="502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Arial"/>
              <a:buNone/>
            </a:pPr>
            <a:r>
              <a:rPr b="1" lang="en" sz="2800">
                <a:solidFill>
                  <a:srgbClr val="28B5E8"/>
                </a:solidFill>
              </a:rPr>
              <a:t>40-60</a:t>
            </a:r>
            <a:r>
              <a:rPr b="1" i="0" lang="en" sz="2800" u="none" cap="none" strike="noStrike">
                <a:solidFill>
                  <a:srgbClr val="28B5E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29" name="Google Shape;1129;p67"/>
          <p:cNvSpPr txBox="1"/>
          <p:nvPr/>
        </p:nvSpPr>
        <p:spPr>
          <a:xfrm>
            <a:off x="173125" y="2603830"/>
            <a:ext cx="1465500" cy="502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Arial"/>
              <a:buNone/>
            </a:pPr>
            <a:r>
              <a:rPr b="1" lang="en" sz="2800">
                <a:solidFill>
                  <a:srgbClr val="28B5E8"/>
                </a:solidFill>
              </a:rPr>
              <a:t>25</a:t>
            </a:r>
            <a:r>
              <a:rPr b="1" i="0" lang="en" sz="2800" u="none" cap="none" strike="noStrike">
                <a:solidFill>
                  <a:srgbClr val="28B5E8"/>
                </a:solidFill>
                <a:latin typeface="Arial"/>
                <a:ea typeface="Arial"/>
                <a:cs typeface="Arial"/>
                <a:sym typeface="Arial"/>
              </a:rPr>
              <a:t>-</a:t>
            </a:r>
            <a:r>
              <a:rPr b="1" lang="en" sz="2800">
                <a:solidFill>
                  <a:srgbClr val="28B5E8"/>
                </a:solidFill>
              </a:rPr>
              <a:t>4</a:t>
            </a:r>
            <a:r>
              <a:rPr b="1" i="0" lang="en" sz="2800" u="none" cap="none" strike="noStrike">
                <a:solidFill>
                  <a:srgbClr val="28B5E8"/>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130" name="Google Shape;1130;p67"/>
          <p:cNvSpPr txBox="1"/>
          <p:nvPr/>
        </p:nvSpPr>
        <p:spPr>
          <a:xfrm>
            <a:off x="173125" y="3190878"/>
            <a:ext cx="1465500" cy="502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Arial"/>
              <a:buNone/>
            </a:pPr>
            <a:r>
              <a:rPr b="1" lang="en" sz="2800">
                <a:solidFill>
                  <a:srgbClr val="28B5E8"/>
                </a:solidFill>
              </a:rPr>
              <a:t>5</a:t>
            </a:r>
            <a:r>
              <a:rPr b="1" i="0" lang="en" sz="2800" u="none" cap="none" strike="noStrike">
                <a:solidFill>
                  <a:srgbClr val="28B5E8"/>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
        <p:nvSpPr>
          <p:cNvPr id="1131" name="Google Shape;1131;p67"/>
          <p:cNvSpPr txBox="1"/>
          <p:nvPr/>
        </p:nvSpPr>
        <p:spPr>
          <a:xfrm>
            <a:off x="173125" y="3791950"/>
            <a:ext cx="1465500" cy="502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Arial"/>
              <a:buNone/>
            </a:pPr>
            <a:r>
              <a:rPr b="1" lang="en" sz="2800">
                <a:solidFill>
                  <a:srgbClr val="28B5E8"/>
                </a:solidFill>
              </a:rPr>
              <a:t>25</a:t>
            </a:r>
            <a:r>
              <a:rPr b="1" i="0" lang="en" sz="2800" u="none" cap="none" strike="noStrike">
                <a:solidFill>
                  <a:srgbClr val="28B5E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1132" name="Google Shape;1132;p67"/>
          <p:cNvGrpSpPr/>
          <p:nvPr/>
        </p:nvGrpSpPr>
        <p:grpSpPr>
          <a:xfrm>
            <a:off x="4235388" y="1463001"/>
            <a:ext cx="306272" cy="355549"/>
            <a:chOff x="3911600" y="1809750"/>
            <a:chExt cx="1321275" cy="1524000"/>
          </a:xfrm>
        </p:grpSpPr>
        <p:sp>
          <p:nvSpPr>
            <p:cNvPr id="1133" name="Google Shape;1133;p67"/>
            <p:cNvSpPr/>
            <p:nvPr/>
          </p:nvSpPr>
          <p:spPr>
            <a:xfrm>
              <a:off x="3911600" y="1809750"/>
              <a:ext cx="1321275" cy="1524000"/>
            </a:xfrm>
            <a:custGeom>
              <a:rect b="b" l="l" r="r" t="t"/>
              <a:pathLst>
                <a:path extrusionOk="0" h="1524000" w="1321275">
                  <a:moveTo>
                    <a:pt x="660400" y="0"/>
                  </a:moveTo>
                  <a:cubicBezTo>
                    <a:pt x="332576" y="0"/>
                    <a:pt x="0" y="99536"/>
                    <a:pt x="0" y="290036"/>
                  </a:cubicBezTo>
                  <a:lnTo>
                    <a:pt x="0" y="1233964"/>
                  </a:lnTo>
                  <a:cubicBezTo>
                    <a:pt x="0" y="1424464"/>
                    <a:pt x="332576" y="1524000"/>
                    <a:pt x="660400" y="1524000"/>
                  </a:cubicBezTo>
                  <a:cubicBezTo>
                    <a:pt x="988224" y="1524000"/>
                    <a:pt x="1321275" y="1424464"/>
                    <a:pt x="1321275" y="1233964"/>
                  </a:cubicBezTo>
                  <a:lnTo>
                    <a:pt x="1321275" y="290036"/>
                  </a:lnTo>
                  <a:cubicBezTo>
                    <a:pt x="1321275" y="99536"/>
                    <a:pt x="988700" y="0"/>
                    <a:pt x="660400" y="0"/>
                  </a:cubicBezTo>
                  <a:close/>
                  <a:moveTo>
                    <a:pt x="1205349" y="1233964"/>
                  </a:moveTo>
                  <a:cubicBezTo>
                    <a:pt x="1205349" y="1304925"/>
                    <a:pt x="992976" y="1407795"/>
                    <a:pt x="660400" y="1407795"/>
                  </a:cubicBezTo>
                  <a:cubicBezTo>
                    <a:pt x="327824" y="1407795"/>
                    <a:pt x="115926" y="1304925"/>
                    <a:pt x="115926" y="1233964"/>
                  </a:cubicBezTo>
                  <a:lnTo>
                    <a:pt x="115926" y="461010"/>
                  </a:lnTo>
                  <a:cubicBezTo>
                    <a:pt x="241355" y="539591"/>
                    <a:pt x="451828" y="580073"/>
                    <a:pt x="660400" y="580073"/>
                  </a:cubicBezTo>
                  <a:cubicBezTo>
                    <a:pt x="868972" y="580073"/>
                    <a:pt x="1079445" y="539591"/>
                    <a:pt x="1205349" y="461010"/>
                  </a:cubicBezTo>
                  <a:close/>
                  <a:moveTo>
                    <a:pt x="660400" y="463868"/>
                  </a:moveTo>
                  <a:cubicBezTo>
                    <a:pt x="327824" y="463868"/>
                    <a:pt x="115926" y="360998"/>
                    <a:pt x="115926" y="290036"/>
                  </a:cubicBezTo>
                  <a:cubicBezTo>
                    <a:pt x="115926" y="219075"/>
                    <a:pt x="328300" y="116205"/>
                    <a:pt x="660400" y="116205"/>
                  </a:cubicBezTo>
                  <a:cubicBezTo>
                    <a:pt x="992500" y="116205"/>
                    <a:pt x="1205349" y="219075"/>
                    <a:pt x="1205349" y="290036"/>
                  </a:cubicBezTo>
                  <a:cubicBezTo>
                    <a:pt x="1205349" y="360998"/>
                    <a:pt x="992976" y="463868"/>
                    <a:pt x="660400" y="46386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134" name="Google Shape;1134;p67"/>
            <p:cNvGrpSpPr/>
            <p:nvPr/>
          </p:nvGrpSpPr>
          <p:grpSpPr>
            <a:xfrm>
              <a:off x="4289557" y="2513832"/>
              <a:ext cx="565598" cy="566457"/>
              <a:chOff x="4289557" y="2513832"/>
              <a:chExt cx="565598" cy="566457"/>
            </a:xfrm>
          </p:grpSpPr>
          <p:sp>
            <p:nvSpPr>
              <p:cNvPr id="1135" name="Google Shape;1135;p67"/>
              <p:cNvSpPr/>
              <p:nvPr/>
            </p:nvSpPr>
            <p:spPr>
              <a:xfrm>
                <a:off x="4289557" y="2513832"/>
                <a:ext cx="565598" cy="566457"/>
              </a:xfrm>
              <a:custGeom>
                <a:rect b="b" l="l" r="r" t="t"/>
                <a:pathLst>
                  <a:path extrusionOk="0" h="566457" w="565598">
                    <a:moveTo>
                      <a:pt x="53440" y="282707"/>
                    </a:moveTo>
                    <a:lnTo>
                      <a:pt x="53440" y="315759"/>
                    </a:lnTo>
                    <a:lnTo>
                      <a:pt x="11631" y="337381"/>
                    </a:lnTo>
                    <a:cubicBezTo>
                      <a:pt x="6447" y="340153"/>
                      <a:pt x="2582" y="344886"/>
                      <a:pt x="893" y="350525"/>
                    </a:cubicBezTo>
                    <a:cubicBezTo>
                      <a:pt x="-811" y="356469"/>
                      <a:pt x="-57" y="362860"/>
                      <a:pt x="2984" y="368242"/>
                    </a:cubicBezTo>
                    <a:lnTo>
                      <a:pt x="68644" y="481685"/>
                    </a:lnTo>
                    <a:cubicBezTo>
                      <a:pt x="72467" y="488600"/>
                      <a:pt x="79756" y="492876"/>
                      <a:pt x="87648" y="492829"/>
                    </a:cubicBezTo>
                    <a:cubicBezTo>
                      <a:pt x="91052" y="492438"/>
                      <a:pt x="94310" y="491229"/>
                      <a:pt x="97150" y="489305"/>
                    </a:cubicBezTo>
                    <a:lnTo>
                      <a:pt x="137154" y="467492"/>
                    </a:lnTo>
                    <a:cubicBezTo>
                      <a:pt x="153570" y="481789"/>
                      <a:pt x="172138" y="493400"/>
                      <a:pt x="192172" y="501878"/>
                    </a:cubicBezTo>
                    <a:lnTo>
                      <a:pt x="192172" y="544550"/>
                    </a:lnTo>
                    <a:cubicBezTo>
                      <a:pt x="192172" y="556646"/>
                      <a:pt x="201956" y="566457"/>
                      <a:pt x="214027" y="566457"/>
                    </a:cubicBezTo>
                    <a:lnTo>
                      <a:pt x="346202" y="566457"/>
                    </a:lnTo>
                    <a:cubicBezTo>
                      <a:pt x="358266" y="566409"/>
                      <a:pt x="368048" y="556646"/>
                      <a:pt x="368152" y="544550"/>
                    </a:cubicBezTo>
                    <a:lnTo>
                      <a:pt x="368152" y="502068"/>
                    </a:lnTo>
                    <a:cubicBezTo>
                      <a:pt x="389491" y="493381"/>
                      <a:pt x="409512" y="481742"/>
                      <a:pt x="427635" y="467492"/>
                    </a:cubicBezTo>
                    <a:lnTo>
                      <a:pt x="467734" y="489305"/>
                    </a:lnTo>
                    <a:cubicBezTo>
                      <a:pt x="470966" y="491105"/>
                      <a:pt x="474586" y="492086"/>
                      <a:pt x="478282" y="492162"/>
                    </a:cubicBezTo>
                    <a:cubicBezTo>
                      <a:pt x="486187" y="492172"/>
                      <a:pt x="493472" y="487866"/>
                      <a:pt x="497286" y="480923"/>
                    </a:cubicBezTo>
                    <a:lnTo>
                      <a:pt x="562756" y="367670"/>
                    </a:lnTo>
                    <a:cubicBezTo>
                      <a:pt x="568259" y="356602"/>
                      <a:pt x="564066" y="343153"/>
                      <a:pt x="553254" y="337190"/>
                    </a:cubicBezTo>
                    <a:lnTo>
                      <a:pt x="515245" y="315950"/>
                    </a:lnTo>
                    <a:cubicBezTo>
                      <a:pt x="516275" y="304643"/>
                      <a:pt x="516687" y="293290"/>
                      <a:pt x="516480" y="281945"/>
                    </a:cubicBezTo>
                    <a:cubicBezTo>
                      <a:pt x="516480" y="270515"/>
                      <a:pt x="516480" y="259466"/>
                      <a:pt x="515435" y="248894"/>
                    </a:cubicBezTo>
                    <a:lnTo>
                      <a:pt x="554489" y="226700"/>
                    </a:lnTo>
                    <a:cubicBezTo>
                      <a:pt x="565020" y="220597"/>
                      <a:pt x="568704" y="207143"/>
                      <a:pt x="562756" y="196506"/>
                    </a:cubicBezTo>
                    <a:lnTo>
                      <a:pt x="496906" y="85254"/>
                    </a:lnTo>
                    <a:cubicBezTo>
                      <a:pt x="490801" y="75322"/>
                      <a:pt x="478131" y="71723"/>
                      <a:pt x="467734" y="76967"/>
                    </a:cubicBezTo>
                    <a:lnTo>
                      <a:pt x="427825" y="98780"/>
                    </a:lnTo>
                    <a:cubicBezTo>
                      <a:pt x="409741" y="84149"/>
                      <a:pt x="389642" y="72215"/>
                      <a:pt x="368152" y="63347"/>
                    </a:cubicBezTo>
                    <a:lnTo>
                      <a:pt x="368152" y="21913"/>
                    </a:lnTo>
                    <a:cubicBezTo>
                      <a:pt x="368048" y="9820"/>
                      <a:pt x="358266" y="57"/>
                      <a:pt x="346202" y="5"/>
                    </a:cubicBezTo>
                    <a:lnTo>
                      <a:pt x="214502" y="5"/>
                    </a:lnTo>
                    <a:cubicBezTo>
                      <a:pt x="202434" y="-258"/>
                      <a:pt x="192440" y="9335"/>
                      <a:pt x="192176" y="21432"/>
                    </a:cubicBezTo>
                    <a:cubicBezTo>
                      <a:pt x="192174" y="21592"/>
                      <a:pt x="192172" y="21752"/>
                      <a:pt x="192172" y="21913"/>
                    </a:cubicBezTo>
                    <a:lnTo>
                      <a:pt x="192172" y="63918"/>
                    </a:lnTo>
                    <a:cubicBezTo>
                      <a:pt x="172135" y="72380"/>
                      <a:pt x="153590" y="84022"/>
                      <a:pt x="137249" y="98399"/>
                    </a:cubicBezTo>
                    <a:lnTo>
                      <a:pt x="101901" y="77539"/>
                    </a:lnTo>
                    <a:cubicBezTo>
                      <a:pt x="98536" y="75539"/>
                      <a:pt x="94696" y="74487"/>
                      <a:pt x="90784" y="74491"/>
                    </a:cubicBezTo>
                    <a:cubicBezTo>
                      <a:pt x="82998" y="74462"/>
                      <a:pt x="75773" y="78553"/>
                      <a:pt x="71779" y="85254"/>
                    </a:cubicBezTo>
                    <a:lnTo>
                      <a:pt x="6594" y="196506"/>
                    </a:lnTo>
                    <a:cubicBezTo>
                      <a:pt x="3249" y="201779"/>
                      <a:pt x="2413" y="208270"/>
                      <a:pt x="4314" y="214223"/>
                    </a:cubicBezTo>
                    <a:cubicBezTo>
                      <a:pt x="5896" y="219905"/>
                      <a:pt x="9652" y="224731"/>
                      <a:pt x="14766" y="227653"/>
                    </a:cubicBezTo>
                    <a:lnTo>
                      <a:pt x="55341" y="250608"/>
                    </a:lnTo>
                    <a:cubicBezTo>
                      <a:pt x="54164" y="261267"/>
                      <a:pt x="53529" y="271982"/>
                      <a:pt x="53440" y="282707"/>
                    </a:cubicBezTo>
                    <a:close/>
                    <a:moveTo>
                      <a:pt x="220678" y="464825"/>
                    </a:moveTo>
                    <a:cubicBezTo>
                      <a:pt x="198824" y="457872"/>
                      <a:pt x="178773" y="446156"/>
                      <a:pt x="161955" y="430535"/>
                    </a:cubicBezTo>
                    <a:lnTo>
                      <a:pt x="153688" y="424154"/>
                    </a:lnTo>
                    <a:cubicBezTo>
                      <a:pt x="149868" y="421001"/>
                      <a:pt x="145050" y="419305"/>
                      <a:pt x="140100" y="419391"/>
                    </a:cubicBezTo>
                    <a:cubicBezTo>
                      <a:pt x="136445" y="419372"/>
                      <a:pt x="132847" y="420286"/>
                      <a:pt x="129647" y="422058"/>
                    </a:cubicBezTo>
                    <a:lnTo>
                      <a:pt x="95915" y="439679"/>
                    </a:lnTo>
                    <a:lnTo>
                      <a:pt x="52015" y="365194"/>
                    </a:lnTo>
                    <a:lnTo>
                      <a:pt x="84607" y="347477"/>
                    </a:lnTo>
                    <a:cubicBezTo>
                      <a:pt x="92299" y="343839"/>
                      <a:pt x="97138" y="336000"/>
                      <a:pt x="96960" y="327475"/>
                    </a:cubicBezTo>
                    <a:lnTo>
                      <a:pt x="96960" y="281945"/>
                    </a:lnTo>
                    <a:cubicBezTo>
                      <a:pt x="96960" y="275592"/>
                      <a:pt x="96960" y="269248"/>
                      <a:pt x="96960" y="262895"/>
                    </a:cubicBezTo>
                    <a:cubicBezTo>
                      <a:pt x="98289" y="254580"/>
                      <a:pt x="98956" y="246171"/>
                      <a:pt x="98955" y="237749"/>
                    </a:cubicBezTo>
                    <a:cubicBezTo>
                      <a:pt x="98905" y="229866"/>
                      <a:pt x="94668" y="222606"/>
                      <a:pt x="87838" y="218699"/>
                    </a:cubicBezTo>
                    <a:lnTo>
                      <a:pt x="55531" y="199649"/>
                    </a:lnTo>
                    <a:lnTo>
                      <a:pt x="98385" y="126593"/>
                    </a:lnTo>
                    <a:lnTo>
                      <a:pt x="128602" y="144309"/>
                    </a:lnTo>
                    <a:cubicBezTo>
                      <a:pt x="136732" y="149174"/>
                      <a:pt x="147067" y="148211"/>
                      <a:pt x="154163" y="141928"/>
                    </a:cubicBezTo>
                    <a:lnTo>
                      <a:pt x="155968" y="140499"/>
                    </a:lnTo>
                    <a:cubicBezTo>
                      <a:pt x="174289" y="122443"/>
                      <a:pt x="196394" y="108712"/>
                      <a:pt x="220678" y="100304"/>
                    </a:cubicBezTo>
                    <a:cubicBezTo>
                      <a:pt x="229742" y="97476"/>
                      <a:pt x="235982" y="89148"/>
                      <a:pt x="236167" y="79634"/>
                    </a:cubicBezTo>
                    <a:lnTo>
                      <a:pt x="236167" y="44201"/>
                    </a:lnTo>
                    <a:lnTo>
                      <a:pt x="324442" y="44201"/>
                    </a:lnTo>
                    <a:lnTo>
                      <a:pt x="324442" y="79634"/>
                    </a:lnTo>
                    <a:cubicBezTo>
                      <a:pt x="324480" y="89254"/>
                      <a:pt x="330695" y="97754"/>
                      <a:pt x="339835" y="100685"/>
                    </a:cubicBezTo>
                    <a:cubicBezTo>
                      <a:pt x="366405" y="109344"/>
                      <a:pt x="390851" y="123527"/>
                      <a:pt x="411576" y="142309"/>
                    </a:cubicBezTo>
                    <a:cubicBezTo>
                      <a:pt x="415509" y="145637"/>
                      <a:pt x="420492" y="147459"/>
                      <a:pt x="425640" y="147452"/>
                    </a:cubicBezTo>
                    <a:cubicBezTo>
                      <a:pt x="429289" y="147441"/>
                      <a:pt x="432880" y="146525"/>
                      <a:pt x="436092" y="144785"/>
                    </a:cubicBezTo>
                    <a:lnTo>
                      <a:pt x="470015" y="127069"/>
                    </a:lnTo>
                    <a:lnTo>
                      <a:pt x="513440" y="200792"/>
                    </a:lnTo>
                    <a:lnTo>
                      <a:pt x="480277" y="219842"/>
                    </a:lnTo>
                    <a:cubicBezTo>
                      <a:pt x="471460" y="224736"/>
                      <a:pt x="467199" y="235098"/>
                      <a:pt x="470015" y="244798"/>
                    </a:cubicBezTo>
                    <a:cubicBezTo>
                      <a:pt x="472138" y="257609"/>
                      <a:pt x="473030" y="270582"/>
                      <a:pt x="472675" y="283565"/>
                    </a:cubicBezTo>
                    <a:cubicBezTo>
                      <a:pt x="472962" y="297366"/>
                      <a:pt x="472008" y="311178"/>
                      <a:pt x="469825" y="324808"/>
                    </a:cubicBezTo>
                    <a:cubicBezTo>
                      <a:pt x="467563" y="334399"/>
                      <a:pt x="472057" y="344305"/>
                      <a:pt x="480752" y="348906"/>
                    </a:cubicBezTo>
                    <a:lnTo>
                      <a:pt x="513440" y="366623"/>
                    </a:lnTo>
                    <a:lnTo>
                      <a:pt x="470015" y="441870"/>
                    </a:lnTo>
                    <a:lnTo>
                      <a:pt x="436282" y="424154"/>
                    </a:lnTo>
                    <a:cubicBezTo>
                      <a:pt x="428583" y="419972"/>
                      <a:pt x="419148" y="420763"/>
                      <a:pt x="412242" y="426154"/>
                    </a:cubicBezTo>
                    <a:cubicBezTo>
                      <a:pt x="391449" y="444613"/>
                      <a:pt x="367048" y="458529"/>
                      <a:pt x="340595" y="467016"/>
                    </a:cubicBezTo>
                    <a:cubicBezTo>
                      <a:pt x="331230" y="469740"/>
                      <a:pt x="324747" y="478294"/>
                      <a:pt x="324632" y="488066"/>
                    </a:cubicBezTo>
                    <a:lnTo>
                      <a:pt x="324632" y="522547"/>
                    </a:lnTo>
                    <a:lnTo>
                      <a:pt x="236357" y="522547"/>
                    </a:lnTo>
                    <a:lnTo>
                      <a:pt x="236357" y="486542"/>
                    </a:lnTo>
                    <a:cubicBezTo>
                      <a:pt x="236575" y="476598"/>
                      <a:pt x="230168" y="467721"/>
                      <a:pt x="220678" y="46482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36" name="Google Shape;1136;p67"/>
              <p:cNvSpPr/>
              <p:nvPr/>
            </p:nvSpPr>
            <p:spPr>
              <a:xfrm>
                <a:off x="4452082" y="2676525"/>
                <a:ext cx="240214" cy="240791"/>
              </a:xfrm>
              <a:custGeom>
                <a:rect b="b" l="l" r="r" t="t"/>
                <a:pathLst>
                  <a:path extrusionOk="0" h="240791" w="240214">
                    <a:moveTo>
                      <a:pt x="120107" y="0"/>
                    </a:moveTo>
                    <a:cubicBezTo>
                      <a:pt x="53774" y="0"/>
                      <a:pt x="0" y="53903"/>
                      <a:pt x="0" y="120396"/>
                    </a:cubicBezTo>
                    <a:cubicBezTo>
                      <a:pt x="0" y="186890"/>
                      <a:pt x="53774" y="240792"/>
                      <a:pt x="120107" y="240792"/>
                    </a:cubicBezTo>
                    <a:lnTo>
                      <a:pt x="120107" y="240792"/>
                    </a:lnTo>
                    <a:cubicBezTo>
                      <a:pt x="186441" y="240792"/>
                      <a:pt x="240215" y="186890"/>
                      <a:pt x="240215" y="120396"/>
                    </a:cubicBezTo>
                    <a:cubicBezTo>
                      <a:pt x="240215" y="53903"/>
                      <a:pt x="186441" y="0"/>
                      <a:pt x="120107" y="0"/>
                    </a:cubicBezTo>
                    <a:close/>
                    <a:moveTo>
                      <a:pt x="120107" y="204121"/>
                    </a:moveTo>
                    <a:cubicBezTo>
                      <a:pt x="73978" y="204178"/>
                      <a:pt x="36541" y="166735"/>
                      <a:pt x="36488" y="120491"/>
                    </a:cubicBezTo>
                    <a:cubicBezTo>
                      <a:pt x="36436" y="74251"/>
                      <a:pt x="73788" y="36724"/>
                      <a:pt x="119917" y="36671"/>
                    </a:cubicBezTo>
                    <a:cubicBezTo>
                      <a:pt x="166046" y="36619"/>
                      <a:pt x="203484" y="74061"/>
                      <a:pt x="203536" y="120301"/>
                    </a:cubicBezTo>
                    <a:cubicBezTo>
                      <a:pt x="203536" y="120329"/>
                      <a:pt x="203536" y="120367"/>
                      <a:pt x="203536" y="120396"/>
                    </a:cubicBezTo>
                    <a:cubicBezTo>
                      <a:pt x="203588" y="166640"/>
                      <a:pt x="166236" y="204159"/>
                      <a:pt x="120107" y="20421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grpSp>
      <p:grpSp>
        <p:nvGrpSpPr>
          <p:cNvPr id="1137" name="Google Shape;1137;p67"/>
          <p:cNvGrpSpPr/>
          <p:nvPr/>
        </p:nvGrpSpPr>
        <p:grpSpPr>
          <a:xfrm>
            <a:off x="4179126" y="2711675"/>
            <a:ext cx="418792" cy="347405"/>
            <a:chOff x="4422169" y="2428439"/>
            <a:chExt cx="297797" cy="247035"/>
          </a:xfrm>
        </p:grpSpPr>
        <p:sp>
          <p:nvSpPr>
            <p:cNvPr id="1138" name="Google Shape;1138;p67"/>
            <p:cNvSpPr/>
            <p:nvPr/>
          </p:nvSpPr>
          <p:spPr>
            <a:xfrm>
              <a:off x="4469383" y="2428439"/>
              <a:ext cx="134019" cy="178870"/>
            </a:xfrm>
            <a:custGeom>
              <a:rect b="b" l="l" r="r" t="t"/>
              <a:pathLst>
                <a:path extrusionOk="0" h="178870" w="134019">
                  <a:moveTo>
                    <a:pt x="27617" y="152546"/>
                  </a:moveTo>
                  <a:cubicBezTo>
                    <a:pt x="30327" y="154843"/>
                    <a:pt x="32917" y="157279"/>
                    <a:pt x="35375" y="159843"/>
                  </a:cubicBezTo>
                  <a:cubicBezTo>
                    <a:pt x="44612" y="169080"/>
                    <a:pt x="54495" y="178870"/>
                    <a:pt x="66964" y="178870"/>
                  </a:cubicBezTo>
                  <a:cubicBezTo>
                    <a:pt x="79433" y="178870"/>
                    <a:pt x="89500" y="168710"/>
                    <a:pt x="98460" y="159843"/>
                  </a:cubicBezTo>
                  <a:cubicBezTo>
                    <a:pt x="100926" y="157253"/>
                    <a:pt x="103547" y="154816"/>
                    <a:pt x="106311" y="152546"/>
                  </a:cubicBezTo>
                  <a:cubicBezTo>
                    <a:pt x="117113" y="143911"/>
                    <a:pt x="123812" y="131151"/>
                    <a:pt x="124783" y="117356"/>
                  </a:cubicBezTo>
                  <a:cubicBezTo>
                    <a:pt x="130652" y="111579"/>
                    <a:pt x="133976" y="103701"/>
                    <a:pt x="134020" y="95466"/>
                  </a:cubicBezTo>
                  <a:lnTo>
                    <a:pt x="134020" y="90663"/>
                  </a:lnTo>
                  <a:cubicBezTo>
                    <a:pt x="134035" y="83736"/>
                    <a:pt x="131726" y="77003"/>
                    <a:pt x="127462" y="71544"/>
                  </a:cubicBezTo>
                  <a:cubicBezTo>
                    <a:pt x="126908" y="45589"/>
                    <a:pt x="120627" y="26378"/>
                    <a:pt x="108527" y="14370"/>
                  </a:cubicBezTo>
                  <a:cubicBezTo>
                    <a:pt x="97468" y="4194"/>
                    <a:pt x="82691" y="-955"/>
                    <a:pt x="67703" y="146"/>
                  </a:cubicBezTo>
                  <a:lnTo>
                    <a:pt x="66132" y="146"/>
                  </a:lnTo>
                  <a:cubicBezTo>
                    <a:pt x="51188" y="-912"/>
                    <a:pt x="36474" y="4272"/>
                    <a:pt x="25492" y="14463"/>
                  </a:cubicBezTo>
                  <a:cubicBezTo>
                    <a:pt x="13393" y="26470"/>
                    <a:pt x="7020" y="45682"/>
                    <a:pt x="6558" y="71636"/>
                  </a:cubicBezTo>
                  <a:cubicBezTo>
                    <a:pt x="2293" y="77095"/>
                    <a:pt x="-16" y="83828"/>
                    <a:pt x="0" y="90755"/>
                  </a:cubicBezTo>
                  <a:lnTo>
                    <a:pt x="0" y="95558"/>
                  </a:lnTo>
                  <a:cubicBezTo>
                    <a:pt x="93" y="103783"/>
                    <a:pt x="3410" y="111642"/>
                    <a:pt x="9236" y="117448"/>
                  </a:cubicBezTo>
                  <a:cubicBezTo>
                    <a:pt x="10188" y="131202"/>
                    <a:pt x="16854" y="143930"/>
                    <a:pt x="27617" y="152546"/>
                  </a:cubicBezTo>
                  <a:close/>
                  <a:moveTo>
                    <a:pt x="18380" y="90663"/>
                  </a:moveTo>
                  <a:cubicBezTo>
                    <a:pt x="18366" y="87203"/>
                    <a:pt x="19728" y="83880"/>
                    <a:pt x="22167" y="81426"/>
                  </a:cubicBezTo>
                  <a:cubicBezTo>
                    <a:pt x="23930" y="79699"/>
                    <a:pt x="24928" y="77337"/>
                    <a:pt x="24938" y="74869"/>
                  </a:cubicBezTo>
                  <a:cubicBezTo>
                    <a:pt x="24938" y="52240"/>
                    <a:pt x="29464" y="36261"/>
                    <a:pt x="38423" y="27301"/>
                  </a:cubicBezTo>
                  <a:cubicBezTo>
                    <a:pt x="45653" y="20650"/>
                    <a:pt x="55322" y="17304"/>
                    <a:pt x="65116" y="18065"/>
                  </a:cubicBezTo>
                  <a:lnTo>
                    <a:pt x="67610" y="18065"/>
                  </a:lnTo>
                  <a:cubicBezTo>
                    <a:pt x="77734" y="17116"/>
                    <a:pt x="87790" y="20468"/>
                    <a:pt x="95319" y="27301"/>
                  </a:cubicBezTo>
                  <a:cubicBezTo>
                    <a:pt x="104556" y="36538"/>
                    <a:pt x="108804" y="52240"/>
                    <a:pt x="108804" y="74869"/>
                  </a:cubicBezTo>
                  <a:cubicBezTo>
                    <a:pt x="108815" y="77337"/>
                    <a:pt x="109812" y="79699"/>
                    <a:pt x="111575" y="81426"/>
                  </a:cubicBezTo>
                  <a:cubicBezTo>
                    <a:pt x="114015" y="83880"/>
                    <a:pt x="115377" y="87203"/>
                    <a:pt x="115362" y="90663"/>
                  </a:cubicBezTo>
                  <a:lnTo>
                    <a:pt x="115362" y="95466"/>
                  </a:lnTo>
                  <a:cubicBezTo>
                    <a:pt x="115377" y="98926"/>
                    <a:pt x="114015" y="102249"/>
                    <a:pt x="111575" y="104702"/>
                  </a:cubicBezTo>
                  <a:lnTo>
                    <a:pt x="109359" y="106919"/>
                  </a:lnTo>
                  <a:cubicBezTo>
                    <a:pt x="107595" y="108647"/>
                    <a:pt x="106598" y="111009"/>
                    <a:pt x="106588" y="113477"/>
                  </a:cubicBezTo>
                  <a:cubicBezTo>
                    <a:pt x="106644" y="123056"/>
                    <a:pt x="102324" y="132137"/>
                    <a:pt x="94858" y="138138"/>
                  </a:cubicBezTo>
                  <a:cubicBezTo>
                    <a:pt x="91618" y="140856"/>
                    <a:pt x="88534" y="143754"/>
                    <a:pt x="85621" y="146820"/>
                  </a:cubicBezTo>
                  <a:cubicBezTo>
                    <a:pt x="80172" y="152269"/>
                    <a:pt x="71859" y="160490"/>
                    <a:pt x="67148" y="160490"/>
                  </a:cubicBezTo>
                  <a:cubicBezTo>
                    <a:pt x="62438" y="160490"/>
                    <a:pt x="54033" y="152269"/>
                    <a:pt x="48676" y="146820"/>
                  </a:cubicBezTo>
                  <a:cubicBezTo>
                    <a:pt x="45763" y="143754"/>
                    <a:pt x="42679" y="140856"/>
                    <a:pt x="39439" y="138138"/>
                  </a:cubicBezTo>
                  <a:cubicBezTo>
                    <a:pt x="31973" y="132137"/>
                    <a:pt x="27653" y="123056"/>
                    <a:pt x="27709" y="113477"/>
                  </a:cubicBezTo>
                  <a:cubicBezTo>
                    <a:pt x="27723" y="111022"/>
                    <a:pt x="26760" y="108662"/>
                    <a:pt x="25031" y="106919"/>
                  </a:cubicBezTo>
                  <a:lnTo>
                    <a:pt x="22722" y="104702"/>
                  </a:lnTo>
                  <a:cubicBezTo>
                    <a:pt x="20282" y="102249"/>
                    <a:pt x="18920" y="98926"/>
                    <a:pt x="18935" y="9546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39" name="Google Shape;1139;p67"/>
            <p:cNvSpPr/>
            <p:nvPr/>
          </p:nvSpPr>
          <p:spPr>
            <a:xfrm>
              <a:off x="4502052" y="2462954"/>
              <a:ext cx="68284" cy="37583"/>
            </a:xfrm>
            <a:custGeom>
              <a:rect b="b" l="l" r="r" t="t"/>
              <a:pathLst>
                <a:path extrusionOk="0" h="37583" w="68284">
                  <a:moveTo>
                    <a:pt x="7325" y="37584"/>
                  </a:moveTo>
                  <a:cubicBezTo>
                    <a:pt x="8222" y="37547"/>
                    <a:pt x="9102" y="37327"/>
                    <a:pt x="9911" y="36937"/>
                  </a:cubicBezTo>
                  <a:cubicBezTo>
                    <a:pt x="16691" y="34350"/>
                    <a:pt x="22059" y="29015"/>
                    <a:pt x="24689" y="22251"/>
                  </a:cubicBezTo>
                  <a:cubicBezTo>
                    <a:pt x="35056" y="30362"/>
                    <a:pt x="47739" y="34957"/>
                    <a:pt x="60895" y="35367"/>
                  </a:cubicBezTo>
                  <a:cubicBezTo>
                    <a:pt x="64976" y="35367"/>
                    <a:pt x="68285" y="32059"/>
                    <a:pt x="68285" y="27978"/>
                  </a:cubicBezTo>
                  <a:cubicBezTo>
                    <a:pt x="68285" y="23897"/>
                    <a:pt x="64976" y="20589"/>
                    <a:pt x="60895" y="20589"/>
                  </a:cubicBezTo>
                  <a:cubicBezTo>
                    <a:pt x="47013" y="19272"/>
                    <a:pt x="34113" y="12855"/>
                    <a:pt x="24689" y="2578"/>
                  </a:cubicBezTo>
                  <a:cubicBezTo>
                    <a:pt x="22563" y="40"/>
                    <a:pt x="18982" y="-722"/>
                    <a:pt x="16007" y="730"/>
                  </a:cubicBezTo>
                  <a:cubicBezTo>
                    <a:pt x="13012" y="2163"/>
                    <a:pt x="11320" y="5397"/>
                    <a:pt x="11850" y="8674"/>
                  </a:cubicBezTo>
                  <a:cubicBezTo>
                    <a:pt x="13067" y="14736"/>
                    <a:pt x="9975" y="20844"/>
                    <a:pt x="4369" y="23452"/>
                  </a:cubicBezTo>
                  <a:cubicBezTo>
                    <a:pt x="645" y="25121"/>
                    <a:pt x="-1021" y="29493"/>
                    <a:pt x="648" y="33217"/>
                  </a:cubicBezTo>
                  <a:cubicBezTo>
                    <a:pt x="1829" y="35852"/>
                    <a:pt x="4437" y="37558"/>
                    <a:pt x="7325" y="3758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40" name="Google Shape;1140;p67"/>
            <p:cNvSpPr/>
            <p:nvPr/>
          </p:nvSpPr>
          <p:spPr>
            <a:xfrm>
              <a:off x="4422169" y="2605835"/>
              <a:ext cx="230371" cy="69639"/>
            </a:xfrm>
            <a:custGeom>
              <a:rect b="b" l="l" r="r" t="t"/>
              <a:pathLst>
                <a:path extrusionOk="0" h="69639" w="230371">
                  <a:moveTo>
                    <a:pt x="115102" y="60310"/>
                  </a:moveTo>
                  <a:lnTo>
                    <a:pt x="115656" y="60310"/>
                  </a:lnTo>
                  <a:cubicBezTo>
                    <a:pt x="117849" y="60265"/>
                    <a:pt x="119963" y="59485"/>
                    <a:pt x="121660" y="58094"/>
                  </a:cubicBezTo>
                  <a:lnTo>
                    <a:pt x="165440" y="19578"/>
                  </a:lnTo>
                  <a:cubicBezTo>
                    <a:pt x="180162" y="23496"/>
                    <a:pt x="194433" y="28945"/>
                    <a:pt x="208020" y="35834"/>
                  </a:cubicBezTo>
                  <a:cubicBezTo>
                    <a:pt x="209540" y="41898"/>
                    <a:pt x="210560" y="48076"/>
                    <a:pt x="211068" y="54307"/>
                  </a:cubicBezTo>
                  <a:cubicBezTo>
                    <a:pt x="211068" y="57078"/>
                    <a:pt x="211622" y="59572"/>
                    <a:pt x="211899" y="61604"/>
                  </a:cubicBezTo>
                  <a:cubicBezTo>
                    <a:pt x="212548" y="66194"/>
                    <a:pt x="216500" y="69592"/>
                    <a:pt x="221136" y="69547"/>
                  </a:cubicBezTo>
                  <a:lnTo>
                    <a:pt x="222429" y="69547"/>
                  </a:lnTo>
                  <a:cubicBezTo>
                    <a:pt x="227478" y="68832"/>
                    <a:pt x="230993" y="64159"/>
                    <a:pt x="230280" y="59110"/>
                  </a:cubicBezTo>
                  <a:cubicBezTo>
                    <a:pt x="230280" y="57262"/>
                    <a:pt x="229725" y="54953"/>
                    <a:pt x="229448" y="52460"/>
                  </a:cubicBezTo>
                  <a:cubicBezTo>
                    <a:pt x="228976" y="43977"/>
                    <a:pt x="227392" y="35592"/>
                    <a:pt x="224738" y="27521"/>
                  </a:cubicBezTo>
                  <a:cubicBezTo>
                    <a:pt x="223352" y="24012"/>
                    <a:pt x="219935" y="15791"/>
                    <a:pt x="165810" y="366"/>
                  </a:cubicBezTo>
                  <a:cubicBezTo>
                    <a:pt x="162775" y="-515"/>
                    <a:pt x="159500" y="217"/>
                    <a:pt x="157128" y="2306"/>
                  </a:cubicBezTo>
                  <a:lnTo>
                    <a:pt x="115195" y="39252"/>
                  </a:lnTo>
                  <a:lnTo>
                    <a:pt x="73261" y="2306"/>
                  </a:lnTo>
                  <a:cubicBezTo>
                    <a:pt x="70911" y="248"/>
                    <a:pt x="67679" y="-481"/>
                    <a:pt x="64672" y="366"/>
                  </a:cubicBezTo>
                  <a:cubicBezTo>
                    <a:pt x="10362" y="15884"/>
                    <a:pt x="6667" y="24104"/>
                    <a:pt x="5559" y="27614"/>
                  </a:cubicBezTo>
                  <a:cubicBezTo>
                    <a:pt x="3029" y="35329"/>
                    <a:pt x="1508" y="43339"/>
                    <a:pt x="1033" y="51444"/>
                  </a:cubicBezTo>
                  <a:cubicBezTo>
                    <a:pt x="1033" y="54307"/>
                    <a:pt x="387" y="56893"/>
                    <a:pt x="109" y="59110"/>
                  </a:cubicBezTo>
                  <a:cubicBezTo>
                    <a:pt x="-666" y="64131"/>
                    <a:pt x="2759" y="68835"/>
                    <a:pt x="7776" y="69639"/>
                  </a:cubicBezTo>
                  <a:lnTo>
                    <a:pt x="9253" y="69639"/>
                  </a:lnTo>
                  <a:cubicBezTo>
                    <a:pt x="13829" y="69698"/>
                    <a:pt x="17758" y="66398"/>
                    <a:pt x="18490" y="61881"/>
                  </a:cubicBezTo>
                  <a:cubicBezTo>
                    <a:pt x="18490" y="59479"/>
                    <a:pt x="19229" y="56524"/>
                    <a:pt x="19598" y="53291"/>
                  </a:cubicBezTo>
                  <a:cubicBezTo>
                    <a:pt x="20019" y="47367"/>
                    <a:pt x="20978" y="41492"/>
                    <a:pt x="22461" y="35742"/>
                  </a:cubicBezTo>
                  <a:cubicBezTo>
                    <a:pt x="36007" y="28831"/>
                    <a:pt x="50250" y="23382"/>
                    <a:pt x="64949" y="19486"/>
                  </a:cubicBezTo>
                  <a:lnTo>
                    <a:pt x="108267" y="58094"/>
                  </a:lnTo>
                  <a:cubicBezTo>
                    <a:pt x="109940" y="59524"/>
                    <a:pt x="112070" y="60310"/>
                    <a:pt x="114271" y="6031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41" name="Google Shape;1141;p67"/>
            <p:cNvSpPr/>
            <p:nvPr/>
          </p:nvSpPr>
          <p:spPr>
            <a:xfrm>
              <a:off x="4592320" y="2439670"/>
              <a:ext cx="127646" cy="177338"/>
            </a:xfrm>
            <a:custGeom>
              <a:rect b="b" l="l" r="r" t="t"/>
              <a:pathLst>
                <a:path extrusionOk="0" h="177338" w="127646">
                  <a:moveTo>
                    <a:pt x="7389" y="14778"/>
                  </a:moveTo>
                  <a:lnTo>
                    <a:pt x="112868" y="14778"/>
                  </a:lnTo>
                  <a:lnTo>
                    <a:pt x="112868" y="162560"/>
                  </a:lnTo>
                  <a:lnTo>
                    <a:pt x="59575" y="162560"/>
                  </a:lnTo>
                  <a:cubicBezTo>
                    <a:pt x="55494" y="162560"/>
                    <a:pt x="52185" y="165868"/>
                    <a:pt x="52185" y="169949"/>
                  </a:cubicBezTo>
                  <a:cubicBezTo>
                    <a:pt x="52185" y="174030"/>
                    <a:pt x="55494" y="177338"/>
                    <a:pt x="59575" y="177338"/>
                  </a:cubicBezTo>
                  <a:lnTo>
                    <a:pt x="120257" y="177338"/>
                  </a:lnTo>
                  <a:cubicBezTo>
                    <a:pt x="124338" y="177338"/>
                    <a:pt x="127647" y="174030"/>
                    <a:pt x="127647" y="169949"/>
                  </a:cubicBezTo>
                  <a:lnTo>
                    <a:pt x="127647" y="7389"/>
                  </a:lnTo>
                  <a:cubicBezTo>
                    <a:pt x="127647" y="3308"/>
                    <a:pt x="124338" y="0"/>
                    <a:pt x="120257" y="0"/>
                  </a:cubicBezTo>
                  <a:lnTo>
                    <a:pt x="7389" y="0"/>
                  </a:lnTo>
                  <a:cubicBezTo>
                    <a:pt x="3308" y="0"/>
                    <a:pt x="0" y="3308"/>
                    <a:pt x="0" y="7389"/>
                  </a:cubicBezTo>
                  <a:cubicBezTo>
                    <a:pt x="0" y="11470"/>
                    <a:pt x="3308" y="14778"/>
                    <a:pt x="7389" y="1477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42" name="Google Shape;1142;p67"/>
            <p:cNvSpPr/>
            <p:nvPr/>
          </p:nvSpPr>
          <p:spPr>
            <a:xfrm>
              <a:off x="4600362" y="2484009"/>
              <a:ext cx="93970" cy="97781"/>
            </a:xfrm>
            <a:custGeom>
              <a:rect b="b" l="l" r="r" t="t"/>
              <a:pathLst>
                <a:path extrusionOk="0" h="97781" w="93970">
                  <a:moveTo>
                    <a:pt x="60214" y="66035"/>
                  </a:moveTo>
                  <a:lnTo>
                    <a:pt x="93280" y="10617"/>
                  </a:lnTo>
                  <a:cubicBezTo>
                    <a:pt x="95012" y="6866"/>
                    <a:pt x="93374" y="2421"/>
                    <a:pt x="89623" y="689"/>
                  </a:cubicBezTo>
                  <a:cubicBezTo>
                    <a:pt x="86437" y="-781"/>
                    <a:pt x="82658" y="160"/>
                    <a:pt x="80534" y="2951"/>
                  </a:cubicBezTo>
                  <a:lnTo>
                    <a:pt x="51162" y="51996"/>
                  </a:lnTo>
                  <a:lnTo>
                    <a:pt x="36846" y="44422"/>
                  </a:lnTo>
                  <a:cubicBezTo>
                    <a:pt x="33594" y="42860"/>
                    <a:pt x="29690" y="43876"/>
                    <a:pt x="27610" y="46824"/>
                  </a:cubicBezTo>
                  <a:lnTo>
                    <a:pt x="1286" y="86263"/>
                  </a:lnTo>
                  <a:cubicBezTo>
                    <a:pt x="-998" y="89583"/>
                    <a:pt x="-159" y="94126"/>
                    <a:pt x="3161" y="96410"/>
                  </a:cubicBezTo>
                  <a:cubicBezTo>
                    <a:pt x="3213" y="96446"/>
                    <a:pt x="3265" y="96481"/>
                    <a:pt x="3318" y="96515"/>
                  </a:cubicBezTo>
                  <a:cubicBezTo>
                    <a:pt x="6509" y="98689"/>
                    <a:pt x="10841" y="98001"/>
                    <a:pt x="13201" y="94945"/>
                  </a:cubicBezTo>
                  <a:lnTo>
                    <a:pt x="35830" y="61048"/>
                  </a:lnTo>
                  <a:lnTo>
                    <a:pt x="50424" y="68806"/>
                  </a:lnTo>
                  <a:cubicBezTo>
                    <a:pt x="53899" y="70686"/>
                    <a:pt x="58239" y="69457"/>
                    <a:pt x="60214" y="6603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grpSp>
        <p:nvGrpSpPr>
          <p:cNvPr id="1143" name="Google Shape;1143;p67"/>
          <p:cNvGrpSpPr/>
          <p:nvPr/>
        </p:nvGrpSpPr>
        <p:grpSpPr>
          <a:xfrm>
            <a:off x="4179126" y="3268574"/>
            <a:ext cx="418792" cy="347405"/>
            <a:chOff x="4422169" y="2428439"/>
            <a:chExt cx="297797" cy="247035"/>
          </a:xfrm>
        </p:grpSpPr>
        <p:sp>
          <p:nvSpPr>
            <p:cNvPr id="1144" name="Google Shape;1144;p67"/>
            <p:cNvSpPr/>
            <p:nvPr/>
          </p:nvSpPr>
          <p:spPr>
            <a:xfrm>
              <a:off x="4469383" y="2428439"/>
              <a:ext cx="134019" cy="178870"/>
            </a:xfrm>
            <a:custGeom>
              <a:rect b="b" l="l" r="r" t="t"/>
              <a:pathLst>
                <a:path extrusionOk="0" h="178870" w="134019">
                  <a:moveTo>
                    <a:pt x="27617" y="152546"/>
                  </a:moveTo>
                  <a:cubicBezTo>
                    <a:pt x="30327" y="154843"/>
                    <a:pt x="32917" y="157279"/>
                    <a:pt x="35375" y="159843"/>
                  </a:cubicBezTo>
                  <a:cubicBezTo>
                    <a:pt x="44612" y="169080"/>
                    <a:pt x="54495" y="178870"/>
                    <a:pt x="66964" y="178870"/>
                  </a:cubicBezTo>
                  <a:cubicBezTo>
                    <a:pt x="79433" y="178870"/>
                    <a:pt x="89500" y="168710"/>
                    <a:pt x="98460" y="159843"/>
                  </a:cubicBezTo>
                  <a:cubicBezTo>
                    <a:pt x="100926" y="157253"/>
                    <a:pt x="103547" y="154816"/>
                    <a:pt x="106311" y="152546"/>
                  </a:cubicBezTo>
                  <a:cubicBezTo>
                    <a:pt x="117113" y="143911"/>
                    <a:pt x="123812" y="131151"/>
                    <a:pt x="124783" y="117356"/>
                  </a:cubicBezTo>
                  <a:cubicBezTo>
                    <a:pt x="130652" y="111579"/>
                    <a:pt x="133976" y="103701"/>
                    <a:pt x="134020" y="95466"/>
                  </a:cubicBezTo>
                  <a:lnTo>
                    <a:pt x="134020" y="90663"/>
                  </a:lnTo>
                  <a:cubicBezTo>
                    <a:pt x="134035" y="83736"/>
                    <a:pt x="131726" y="77003"/>
                    <a:pt x="127462" y="71544"/>
                  </a:cubicBezTo>
                  <a:cubicBezTo>
                    <a:pt x="126908" y="45589"/>
                    <a:pt x="120627" y="26378"/>
                    <a:pt x="108527" y="14370"/>
                  </a:cubicBezTo>
                  <a:cubicBezTo>
                    <a:pt x="97468" y="4194"/>
                    <a:pt x="82691" y="-955"/>
                    <a:pt x="67703" y="146"/>
                  </a:cubicBezTo>
                  <a:lnTo>
                    <a:pt x="66132" y="146"/>
                  </a:lnTo>
                  <a:cubicBezTo>
                    <a:pt x="51188" y="-912"/>
                    <a:pt x="36474" y="4272"/>
                    <a:pt x="25492" y="14463"/>
                  </a:cubicBezTo>
                  <a:cubicBezTo>
                    <a:pt x="13393" y="26470"/>
                    <a:pt x="7020" y="45682"/>
                    <a:pt x="6558" y="71636"/>
                  </a:cubicBezTo>
                  <a:cubicBezTo>
                    <a:pt x="2293" y="77095"/>
                    <a:pt x="-16" y="83828"/>
                    <a:pt x="0" y="90755"/>
                  </a:cubicBezTo>
                  <a:lnTo>
                    <a:pt x="0" y="95558"/>
                  </a:lnTo>
                  <a:cubicBezTo>
                    <a:pt x="93" y="103783"/>
                    <a:pt x="3410" y="111642"/>
                    <a:pt x="9236" y="117448"/>
                  </a:cubicBezTo>
                  <a:cubicBezTo>
                    <a:pt x="10188" y="131202"/>
                    <a:pt x="16854" y="143930"/>
                    <a:pt x="27617" y="152546"/>
                  </a:cubicBezTo>
                  <a:close/>
                  <a:moveTo>
                    <a:pt x="18380" y="90663"/>
                  </a:moveTo>
                  <a:cubicBezTo>
                    <a:pt x="18366" y="87203"/>
                    <a:pt x="19728" y="83880"/>
                    <a:pt x="22167" y="81426"/>
                  </a:cubicBezTo>
                  <a:cubicBezTo>
                    <a:pt x="23930" y="79699"/>
                    <a:pt x="24928" y="77337"/>
                    <a:pt x="24938" y="74869"/>
                  </a:cubicBezTo>
                  <a:cubicBezTo>
                    <a:pt x="24938" y="52240"/>
                    <a:pt x="29464" y="36261"/>
                    <a:pt x="38423" y="27301"/>
                  </a:cubicBezTo>
                  <a:cubicBezTo>
                    <a:pt x="45653" y="20650"/>
                    <a:pt x="55322" y="17304"/>
                    <a:pt x="65116" y="18065"/>
                  </a:cubicBezTo>
                  <a:lnTo>
                    <a:pt x="67610" y="18065"/>
                  </a:lnTo>
                  <a:cubicBezTo>
                    <a:pt x="77734" y="17116"/>
                    <a:pt x="87790" y="20468"/>
                    <a:pt x="95319" y="27301"/>
                  </a:cubicBezTo>
                  <a:cubicBezTo>
                    <a:pt x="104556" y="36538"/>
                    <a:pt x="108804" y="52240"/>
                    <a:pt x="108804" y="74869"/>
                  </a:cubicBezTo>
                  <a:cubicBezTo>
                    <a:pt x="108815" y="77337"/>
                    <a:pt x="109812" y="79699"/>
                    <a:pt x="111575" y="81426"/>
                  </a:cubicBezTo>
                  <a:cubicBezTo>
                    <a:pt x="114015" y="83880"/>
                    <a:pt x="115377" y="87203"/>
                    <a:pt x="115362" y="90663"/>
                  </a:cubicBezTo>
                  <a:lnTo>
                    <a:pt x="115362" y="95466"/>
                  </a:lnTo>
                  <a:cubicBezTo>
                    <a:pt x="115377" y="98926"/>
                    <a:pt x="114015" y="102249"/>
                    <a:pt x="111575" y="104702"/>
                  </a:cubicBezTo>
                  <a:lnTo>
                    <a:pt x="109359" y="106919"/>
                  </a:lnTo>
                  <a:cubicBezTo>
                    <a:pt x="107595" y="108647"/>
                    <a:pt x="106598" y="111009"/>
                    <a:pt x="106588" y="113477"/>
                  </a:cubicBezTo>
                  <a:cubicBezTo>
                    <a:pt x="106644" y="123056"/>
                    <a:pt x="102324" y="132137"/>
                    <a:pt x="94858" y="138138"/>
                  </a:cubicBezTo>
                  <a:cubicBezTo>
                    <a:pt x="91618" y="140856"/>
                    <a:pt x="88534" y="143754"/>
                    <a:pt x="85621" y="146820"/>
                  </a:cubicBezTo>
                  <a:cubicBezTo>
                    <a:pt x="80172" y="152269"/>
                    <a:pt x="71859" y="160490"/>
                    <a:pt x="67148" y="160490"/>
                  </a:cubicBezTo>
                  <a:cubicBezTo>
                    <a:pt x="62438" y="160490"/>
                    <a:pt x="54033" y="152269"/>
                    <a:pt x="48676" y="146820"/>
                  </a:cubicBezTo>
                  <a:cubicBezTo>
                    <a:pt x="45763" y="143754"/>
                    <a:pt x="42679" y="140856"/>
                    <a:pt x="39439" y="138138"/>
                  </a:cubicBezTo>
                  <a:cubicBezTo>
                    <a:pt x="31973" y="132137"/>
                    <a:pt x="27653" y="123056"/>
                    <a:pt x="27709" y="113477"/>
                  </a:cubicBezTo>
                  <a:cubicBezTo>
                    <a:pt x="27723" y="111022"/>
                    <a:pt x="26760" y="108662"/>
                    <a:pt x="25031" y="106919"/>
                  </a:cubicBezTo>
                  <a:lnTo>
                    <a:pt x="22722" y="104702"/>
                  </a:lnTo>
                  <a:cubicBezTo>
                    <a:pt x="20282" y="102249"/>
                    <a:pt x="18920" y="98926"/>
                    <a:pt x="18935" y="9546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45" name="Google Shape;1145;p67"/>
            <p:cNvSpPr/>
            <p:nvPr/>
          </p:nvSpPr>
          <p:spPr>
            <a:xfrm>
              <a:off x="4502052" y="2462954"/>
              <a:ext cx="68284" cy="37583"/>
            </a:xfrm>
            <a:custGeom>
              <a:rect b="b" l="l" r="r" t="t"/>
              <a:pathLst>
                <a:path extrusionOk="0" h="37583" w="68284">
                  <a:moveTo>
                    <a:pt x="7325" y="37584"/>
                  </a:moveTo>
                  <a:cubicBezTo>
                    <a:pt x="8222" y="37547"/>
                    <a:pt x="9102" y="37327"/>
                    <a:pt x="9911" y="36937"/>
                  </a:cubicBezTo>
                  <a:cubicBezTo>
                    <a:pt x="16691" y="34350"/>
                    <a:pt x="22059" y="29015"/>
                    <a:pt x="24689" y="22251"/>
                  </a:cubicBezTo>
                  <a:cubicBezTo>
                    <a:pt x="35056" y="30362"/>
                    <a:pt x="47739" y="34957"/>
                    <a:pt x="60895" y="35367"/>
                  </a:cubicBezTo>
                  <a:cubicBezTo>
                    <a:pt x="64976" y="35367"/>
                    <a:pt x="68285" y="32059"/>
                    <a:pt x="68285" y="27978"/>
                  </a:cubicBezTo>
                  <a:cubicBezTo>
                    <a:pt x="68285" y="23897"/>
                    <a:pt x="64976" y="20589"/>
                    <a:pt x="60895" y="20589"/>
                  </a:cubicBezTo>
                  <a:cubicBezTo>
                    <a:pt x="47013" y="19272"/>
                    <a:pt x="34113" y="12855"/>
                    <a:pt x="24689" y="2578"/>
                  </a:cubicBezTo>
                  <a:cubicBezTo>
                    <a:pt x="22563" y="40"/>
                    <a:pt x="18982" y="-722"/>
                    <a:pt x="16007" y="730"/>
                  </a:cubicBezTo>
                  <a:cubicBezTo>
                    <a:pt x="13012" y="2163"/>
                    <a:pt x="11320" y="5397"/>
                    <a:pt x="11850" y="8674"/>
                  </a:cubicBezTo>
                  <a:cubicBezTo>
                    <a:pt x="13067" y="14736"/>
                    <a:pt x="9975" y="20844"/>
                    <a:pt x="4369" y="23452"/>
                  </a:cubicBezTo>
                  <a:cubicBezTo>
                    <a:pt x="645" y="25121"/>
                    <a:pt x="-1021" y="29493"/>
                    <a:pt x="648" y="33217"/>
                  </a:cubicBezTo>
                  <a:cubicBezTo>
                    <a:pt x="1829" y="35852"/>
                    <a:pt x="4437" y="37558"/>
                    <a:pt x="7325" y="3758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46" name="Google Shape;1146;p67"/>
            <p:cNvSpPr/>
            <p:nvPr/>
          </p:nvSpPr>
          <p:spPr>
            <a:xfrm>
              <a:off x="4422169" y="2605835"/>
              <a:ext cx="230371" cy="69639"/>
            </a:xfrm>
            <a:custGeom>
              <a:rect b="b" l="l" r="r" t="t"/>
              <a:pathLst>
                <a:path extrusionOk="0" h="69639" w="230371">
                  <a:moveTo>
                    <a:pt x="115102" y="60310"/>
                  </a:moveTo>
                  <a:lnTo>
                    <a:pt x="115656" y="60310"/>
                  </a:lnTo>
                  <a:cubicBezTo>
                    <a:pt x="117849" y="60265"/>
                    <a:pt x="119963" y="59485"/>
                    <a:pt x="121660" y="58094"/>
                  </a:cubicBezTo>
                  <a:lnTo>
                    <a:pt x="165440" y="19578"/>
                  </a:lnTo>
                  <a:cubicBezTo>
                    <a:pt x="180162" y="23496"/>
                    <a:pt x="194433" y="28945"/>
                    <a:pt x="208020" y="35834"/>
                  </a:cubicBezTo>
                  <a:cubicBezTo>
                    <a:pt x="209540" y="41898"/>
                    <a:pt x="210560" y="48076"/>
                    <a:pt x="211068" y="54307"/>
                  </a:cubicBezTo>
                  <a:cubicBezTo>
                    <a:pt x="211068" y="57078"/>
                    <a:pt x="211622" y="59572"/>
                    <a:pt x="211899" y="61604"/>
                  </a:cubicBezTo>
                  <a:cubicBezTo>
                    <a:pt x="212548" y="66194"/>
                    <a:pt x="216500" y="69592"/>
                    <a:pt x="221136" y="69547"/>
                  </a:cubicBezTo>
                  <a:lnTo>
                    <a:pt x="222429" y="69547"/>
                  </a:lnTo>
                  <a:cubicBezTo>
                    <a:pt x="227478" y="68832"/>
                    <a:pt x="230993" y="64159"/>
                    <a:pt x="230280" y="59110"/>
                  </a:cubicBezTo>
                  <a:cubicBezTo>
                    <a:pt x="230280" y="57262"/>
                    <a:pt x="229725" y="54953"/>
                    <a:pt x="229448" y="52460"/>
                  </a:cubicBezTo>
                  <a:cubicBezTo>
                    <a:pt x="228976" y="43977"/>
                    <a:pt x="227392" y="35592"/>
                    <a:pt x="224738" y="27521"/>
                  </a:cubicBezTo>
                  <a:cubicBezTo>
                    <a:pt x="223352" y="24012"/>
                    <a:pt x="219935" y="15791"/>
                    <a:pt x="165810" y="366"/>
                  </a:cubicBezTo>
                  <a:cubicBezTo>
                    <a:pt x="162775" y="-515"/>
                    <a:pt x="159500" y="217"/>
                    <a:pt x="157128" y="2306"/>
                  </a:cubicBezTo>
                  <a:lnTo>
                    <a:pt x="115195" y="39252"/>
                  </a:lnTo>
                  <a:lnTo>
                    <a:pt x="73261" y="2306"/>
                  </a:lnTo>
                  <a:cubicBezTo>
                    <a:pt x="70911" y="248"/>
                    <a:pt x="67679" y="-481"/>
                    <a:pt x="64672" y="366"/>
                  </a:cubicBezTo>
                  <a:cubicBezTo>
                    <a:pt x="10362" y="15884"/>
                    <a:pt x="6667" y="24104"/>
                    <a:pt x="5559" y="27614"/>
                  </a:cubicBezTo>
                  <a:cubicBezTo>
                    <a:pt x="3029" y="35329"/>
                    <a:pt x="1508" y="43339"/>
                    <a:pt x="1033" y="51444"/>
                  </a:cubicBezTo>
                  <a:cubicBezTo>
                    <a:pt x="1033" y="54307"/>
                    <a:pt x="387" y="56893"/>
                    <a:pt x="109" y="59110"/>
                  </a:cubicBezTo>
                  <a:cubicBezTo>
                    <a:pt x="-666" y="64131"/>
                    <a:pt x="2759" y="68835"/>
                    <a:pt x="7776" y="69639"/>
                  </a:cubicBezTo>
                  <a:lnTo>
                    <a:pt x="9253" y="69639"/>
                  </a:lnTo>
                  <a:cubicBezTo>
                    <a:pt x="13829" y="69698"/>
                    <a:pt x="17758" y="66398"/>
                    <a:pt x="18490" y="61881"/>
                  </a:cubicBezTo>
                  <a:cubicBezTo>
                    <a:pt x="18490" y="59479"/>
                    <a:pt x="19229" y="56524"/>
                    <a:pt x="19598" y="53291"/>
                  </a:cubicBezTo>
                  <a:cubicBezTo>
                    <a:pt x="20019" y="47367"/>
                    <a:pt x="20978" y="41492"/>
                    <a:pt x="22461" y="35742"/>
                  </a:cubicBezTo>
                  <a:cubicBezTo>
                    <a:pt x="36007" y="28831"/>
                    <a:pt x="50250" y="23382"/>
                    <a:pt x="64949" y="19486"/>
                  </a:cubicBezTo>
                  <a:lnTo>
                    <a:pt x="108267" y="58094"/>
                  </a:lnTo>
                  <a:cubicBezTo>
                    <a:pt x="109940" y="59524"/>
                    <a:pt x="112070" y="60310"/>
                    <a:pt x="114271" y="6031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47" name="Google Shape;1147;p67"/>
            <p:cNvSpPr/>
            <p:nvPr/>
          </p:nvSpPr>
          <p:spPr>
            <a:xfrm>
              <a:off x="4592320" y="2439670"/>
              <a:ext cx="127646" cy="177338"/>
            </a:xfrm>
            <a:custGeom>
              <a:rect b="b" l="l" r="r" t="t"/>
              <a:pathLst>
                <a:path extrusionOk="0" h="177338" w="127646">
                  <a:moveTo>
                    <a:pt x="7389" y="14778"/>
                  </a:moveTo>
                  <a:lnTo>
                    <a:pt x="112868" y="14778"/>
                  </a:lnTo>
                  <a:lnTo>
                    <a:pt x="112868" y="162560"/>
                  </a:lnTo>
                  <a:lnTo>
                    <a:pt x="59575" y="162560"/>
                  </a:lnTo>
                  <a:cubicBezTo>
                    <a:pt x="55494" y="162560"/>
                    <a:pt x="52185" y="165868"/>
                    <a:pt x="52185" y="169949"/>
                  </a:cubicBezTo>
                  <a:cubicBezTo>
                    <a:pt x="52185" y="174030"/>
                    <a:pt x="55494" y="177338"/>
                    <a:pt x="59575" y="177338"/>
                  </a:cubicBezTo>
                  <a:lnTo>
                    <a:pt x="120257" y="177338"/>
                  </a:lnTo>
                  <a:cubicBezTo>
                    <a:pt x="124338" y="177338"/>
                    <a:pt x="127647" y="174030"/>
                    <a:pt x="127647" y="169949"/>
                  </a:cubicBezTo>
                  <a:lnTo>
                    <a:pt x="127647" y="7389"/>
                  </a:lnTo>
                  <a:cubicBezTo>
                    <a:pt x="127647" y="3308"/>
                    <a:pt x="124338" y="0"/>
                    <a:pt x="120257" y="0"/>
                  </a:cubicBezTo>
                  <a:lnTo>
                    <a:pt x="7389" y="0"/>
                  </a:lnTo>
                  <a:cubicBezTo>
                    <a:pt x="3308" y="0"/>
                    <a:pt x="0" y="3308"/>
                    <a:pt x="0" y="7389"/>
                  </a:cubicBezTo>
                  <a:cubicBezTo>
                    <a:pt x="0" y="11470"/>
                    <a:pt x="3308" y="14778"/>
                    <a:pt x="7389" y="1477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48" name="Google Shape;1148;p67"/>
            <p:cNvSpPr/>
            <p:nvPr/>
          </p:nvSpPr>
          <p:spPr>
            <a:xfrm>
              <a:off x="4600362" y="2484009"/>
              <a:ext cx="93970" cy="97781"/>
            </a:xfrm>
            <a:custGeom>
              <a:rect b="b" l="l" r="r" t="t"/>
              <a:pathLst>
                <a:path extrusionOk="0" h="97781" w="93970">
                  <a:moveTo>
                    <a:pt x="60214" y="66035"/>
                  </a:moveTo>
                  <a:lnTo>
                    <a:pt x="93280" y="10617"/>
                  </a:lnTo>
                  <a:cubicBezTo>
                    <a:pt x="95012" y="6866"/>
                    <a:pt x="93374" y="2421"/>
                    <a:pt x="89623" y="689"/>
                  </a:cubicBezTo>
                  <a:cubicBezTo>
                    <a:pt x="86437" y="-781"/>
                    <a:pt x="82658" y="160"/>
                    <a:pt x="80534" y="2951"/>
                  </a:cubicBezTo>
                  <a:lnTo>
                    <a:pt x="51162" y="51996"/>
                  </a:lnTo>
                  <a:lnTo>
                    <a:pt x="36846" y="44422"/>
                  </a:lnTo>
                  <a:cubicBezTo>
                    <a:pt x="33594" y="42860"/>
                    <a:pt x="29690" y="43876"/>
                    <a:pt x="27610" y="46824"/>
                  </a:cubicBezTo>
                  <a:lnTo>
                    <a:pt x="1286" y="86263"/>
                  </a:lnTo>
                  <a:cubicBezTo>
                    <a:pt x="-998" y="89583"/>
                    <a:pt x="-159" y="94126"/>
                    <a:pt x="3161" y="96410"/>
                  </a:cubicBezTo>
                  <a:cubicBezTo>
                    <a:pt x="3213" y="96446"/>
                    <a:pt x="3265" y="96481"/>
                    <a:pt x="3318" y="96515"/>
                  </a:cubicBezTo>
                  <a:cubicBezTo>
                    <a:pt x="6509" y="98689"/>
                    <a:pt x="10841" y="98001"/>
                    <a:pt x="13201" y="94945"/>
                  </a:cubicBezTo>
                  <a:lnTo>
                    <a:pt x="35830" y="61048"/>
                  </a:lnTo>
                  <a:lnTo>
                    <a:pt x="50424" y="68806"/>
                  </a:lnTo>
                  <a:cubicBezTo>
                    <a:pt x="53899" y="70686"/>
                    <a:pt x="58239" y="69457"/>
                    <a:pt x="60214" y="6603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149" name="Google Shape;1149;p67"/>
          <p:cNvSpPr/>
          <p:nvPr/>
        </p:nvSpPr>
        <p:spPr>
          <a:xfrm>
            <a:off x="4240693" y="3895649"/>
            <a:ext cx="295649" cy="295413"/>
          </a:xfrm>
          <a:custGeom>
            <a:rect b="b" l="l" r="r" t="t"/>
            <a:pathLst>
              <a:path extrusionOk="0" h="496493" w="496889">
                <a:moveTo>
                  <a:pt x="477199" y="428963"/>
                </a:moveTo>
                <a:lnTo>
                  <a:pt x="67936" y="428963"/>
                </a:lnTo>
                <a:lnTo>
                  <a:pt x="67936" y="19699"/>
                </a:lnTo>
                <a:cubicBezTo>
                  <a:pt x="67730" y="8875"/>
                  <a:pt x="58658" y="215"/>
                  <a:pt x="47833" y="524"/>
                </a:cubicBezTo>
                <a:cubicBezTo>
                  <a:pt x="37318" y="731"/>
                  <a:pt x="28865" y="9184"/>
                  <a:pt x="28659" y="19699"/>
                </a:cubicBezTo>
                <a:lnTo>
                  <a:pt x="28659" y="428963"/>
                </a:lnTo>
                <a:lnTo>
                  <a:pt x="19690" y="428963"/>
                </a:lnTo>
                <a:cubicBezTo>
                  <a:pt x="8866" y="428963"/>
                  <a:pt x="0" y="437725"/>
                  <a:pt x="0" y="448653"/>
                </a:cubicBezTo>
                <a:cubicBezTo>
                  <a:pt x="0" y="459580"/>
                  <a:pt x="8763" y="468343"/>
                  <a:pt x="19690" y="468343"/>
                </a:cubicBezTo>
                <a:cubicBezTo>
                  <a:pt x="19690" y="468343"/>
                  <a:pt x="19690" y="468343"/>
                  <a:pt x="19690" y="468343"/>
                </a:cubicBezTo>
                <a:lnTo>
                  <a:pt x="28659" y="468343"/>
                </a:lnTo>
                <a:lnTo>
                  <a:pt x="28659" y="477311"/>
                </a:lnTo>
                <a:cubicBezTo>
                  <a:pt x="28865" y="488136"/>
                  <a:pt x="37937" y="496795"/>
                  <a:pt x="48761" y="496486"/>
                </a:cubicBezTo>
                <a:cubicBezTo>
                  <a:pt x="59276" y="496280"/>
                  <a:pt x="67730" y="487826"/>
                  <a:pt x="67936" y="477311"/>
                </a:cubicBezTo>
                <a:lnTo>
                  <a:pt x="67936" y="468343"/>
                </a:lnTo>
                <a:lnTo>
                  <a:pt x="477199" y="468343"/>
                </a:lnTo>
                <a:cubicBezTo>
                  <a:pt x="488024" y="468343"/>
                  <a:pt x="496889" y="459580"/>
                  <a:pt x="496889" y="448653"/>
                </a:cubicBezTo>
                <a:cubicBezTo>
                  <a:pt x="496786" y="437725"/>
                  <a:pt x="488024" y="428963"/>
                  <a:pt x="477199" y="428963"/>
                </a:cubicBezTo>
                <a:cubicBezTo>
                  <a:pt x="477199" y="428963"/>
                  <a:pt x="477199" y="428963"/>
                  <a:pt x="477199" y="428963"/>
                </a:cubicBezTo>
                <a:close/>
                <a:moveTo>
                  <a:pt x="210302" y="217527"/>
                </a:moveTo>
                <a:lnTo>
                  <a:pt x="248445" y="217527"/>
                </a:lnTo>
                <a:cubicBezTo>
                  <a:pt x="253702" y="217527"/>
                  <a:pt x="257929" y="221753"/>
                  <a:pt x="257929" y="227011"/>
                </a:cubicBezTo>
                <a:lnTo>
                  <a:pt x="257929" y="387315"/>
                </a:lnTo>
                <a:cubicBezTo>
                  <a:pt x="257929" y="392572"/>
                  <a:pt x="253702" y="396799"/>
                  <a:pt x="248445" y="396799"/>
                </a:cubicBezTo>
                <a:lnTo>
                  <a:pt x="210302" y="396799"/>
                </a:lnTo>
                <a:cubicBezTo>
                  <a:pt x="205044" y="396799"/>
                  <a:pt x="200818" y="392572"/>
                  <a:pt x="200818" y="387315"/>
                </a:cubicBezTo>
                <a:lnTo>
                  <a:pt x="200818" y="227114"/>
                </a:lnTo>
                <a:cubicBezTo>
                  <a:pt x="200818" y="221857"/>
                  <a:pt x="205044" y="217527"/>
                  <a:pt x="210302" y="217527"/>
                </a:cubicBezTo>
                <a:close/>
                <a:moveTo>
                  <a:pt x="117315" y="274741"/>
                </a:moveTo>
                <a:lnTo>
                  <a:pt x="155458" y="274741"/>
                </a:lnTo>
                <a:cubicBezTo>
                  <a:pt x="160716" y="274741"/>
                  <a:pt x="164943" y="278968"/>
                  <a:pt x="164943" y="284225"/>
                </a:cubicBezTo>
                <a:lnTo>
                  <a:pt x="164943" y="387418"/>
                </a:lnTo>
                <a:cubicBezTo>
                  <a:pt x="164943" y="392675"/>
                  <a:pt x="160716" y="396902"/>
                  <a:pt x="155458" y="396902"/>
                </a:cubicBezTo>
                <a:lnTo>
                  <a:pt x="117315" y="396902"/>
                </a:lnTo>
                <a:cubicBezTo>
                  <a:pt x="112058" y="396902"/>
                  <a:pt x="107831" y="392675"/>
                  <a:pt x="107831" y="387418"/>
                </a:cubicBezTo>
                <a:lnTo>
                  <a:pt x="107831" y="284225"/>
                </a:lnTo>
                <a:cubicBezTo>
                  <a:pt x="107831" y="278968"/>
                  <a:pt x="112058" y="274741"/>
                  <a:pt x="117315" y="274741"/>
                </a:cubicBezTo>
                <a:close/>
                <a:moveTo>
                  <a:pt x="303185" y="274741"/>
                </a:moveTo>
                <a:lnTo>
                  <a:pt x="341328" y="274741"/>
                </a:lnTo>
                <a:cubicBezTo>
                  <a:pt x="346585" y="274741"/>
                  <a:pt x="350812" y="278968"/>
                  <a:pt x="350812" y="284225"/>
                </a:cubicBezTo>
                <a:lnTo>
                  <a:pt x="350812" y="387418"/>
                </a:lnTo>
                <a:cubicBezTo>
                  <a:pt x="350812" y="392675"/>
                  <a:pt x="346585" y="396902"/>
                  <a:pt x="341328" y="396902"/>
                </a:cubicBezTo>
                <a:lnTo>
                  <a:pt x="303185" y="396902"/>
                </a:lnTo>
                <a:cubicBezTo>
                  <a:pt x="297927" y="396902"/>
                  <a:pt x="293701" y="392675"/>
                  <a:pt x="293701" y="387418"/>
                </a:cubicBezTo>
                <a:lnTo>
                  <a:pt x="293701" y="284225"/>
                </a:lnTo>
                <a:cubicBezTo>
                  <a:pt x="293701" y="278968"/>
                  <a:pt x="297927" y="274741"/>
                  <a:pt x="303185" y="274741"/>
                </a:cubicBezTo>
                <a:close/>
                <a:moveTo>
                  <a:pt x="396171" y="198455"/>
                </a:moveTo>
                <a:lnTo>
                  <a:pt x="434314" y="198455"/>
                </a:lnTo>
                <a:cubicBezTo>
                  <a:pt x="439572" y="198455"/>
                  <a:pt x="443798" y="202682"/>
                  <a:pt x="443798" y="207940"/>
                </a:cubicBezTo>
                <a:lnTo>
                  <a:pt x="443798" y="387315"/>
                </a:lnTo>
                <a:cubicBezTo>
                  <a:pt x="443798" y="392572"/>
                  <a:pt x="439572" y="396799"/>
                  <a:pt x="434314" y="396799"/>
                </a:cubicBezTo>
                <a:lnTo>
                  <a:pt x="396171" y="396799"/>
                </a:lnTo>
                <a:cubicBezTo>
                  <a:pt x="390914" y="396799"/>
                  <a:pt x="386687" y="392572"/>
                  <a:pt x="386687" y="387315"/>
                </a:cubicBezTo>
                <a:lnTo>
                  <a:pt x="386687" y="207940"/>
                </a:lnTo>
                <a:cubicBezTo>
                  <a:pt x="386584" y="202785"/>
                  <a:pt x="390914" y="198455"/>
                  <a:pt x="396171" y="198455"/>
                </a:cubicBezTo>
                <a:close/>
                <a:moveTo>
                  <a:pt x="129068" y="221444"/>
                </a:moveTo>
                <a:cubicBezTo>
                  <a:pt x="131954" y="221444"/>
                  <a:pt x="134737" y="220413"/>
                  <a:pt x="136902" y="218661"/>
                </a:cubicBezTo>
                <a:lnTo>
                  <a:pt x="234940" y="139488"/>
                </a:lnTo>
                <a:lnTo>
                  <a:pt x="309989" y="214640"/>
                </a:lnTo>
                <a:cubicBezTo>
                  <a:pt x="314834" y="219486"/>
                  <a:pt x="322669" y="219589"/>
                  <a:pt x="327617" y="214847"/>
                </a:cubicBezTo>
                <a:lnTo>
                  <a:pt x="422459" y="123716"/>
                </a:lnTo>
                <a:cubicBezTo>
                  <a:pt x="427510" y="118974"/>
                  <a:pt x="427717" y="110933"/>
                  <a:pt x="422871" y="105984"/>
                </a:cubicBezTo>
                <a:cubicBezTo>
                  <a:pt x="418129" y="100933"/>
                  <a:pt x="410088" y="100727"/>
                  <a:pt x="405140" y="105572"/>
                </a:cubicBezTo>
                <a:cubicBezTo>
                  <a:pt x="405140" y="105572"/>
                  <a:pt x="405037" y="105675"/>
                  <a:pt x="405037" y="105675"/>
                </a:cubicBezTo>
                <a:lnTo>
                  <a:pt x="319164" y="188250"/>
                </a:lnTo>
                <a:lnTo>
                  <a:pt x="244837" y="113819"/>
                </a:lnTo>
                <a:cubicBezTo>
                  <a:pt x="240301" y="109283"/>
                  <a:pt x="233084" y="108871"/>
                  <a:pt x="228033" y="112891"/>
                </a:cubicBezTo>
                <a:lnTo>
                  <a:pt x="121130" y="199074"/>
                </a:lnTo>
                <a:cubicBezTo>
                  <a:pt x="115769" y="203404"/>
                  <a:pt x="114841" y="211341"/>
                  <a:pt x="119171" y="216702"/>
                </a:cubicBezTo>
                <a:cubicBezTo>
                  <a:pt x="121645" y="219692"/>
                  <a:pt x="125253" y="221444"/>
                  <a:pt x="129068" y="221444"/>
                </a:cubicBezTo>
                <a:lnTo>
                  <a:pt x="129068" y="221444"/>
                </a:lnTo>
                <a:close/>
                <a:moveTo>
                  <a:pt x="317205" y="100418"/>
                </a:moveTo>
                <a:cubicBezTo>
                  <a:pt x="312257" y="100418"/>
                  <a:pt x="300917" y="99181"/>
                  <a:pt x="300917" y="88150"/>
                </a:cubicBezTo>
                <a:cubicBezTo>
                  <a:pt x="300711" y="83820"/>
                  <a:pt x="297103" y="80418"/>
                  <a:pt x="292773" y="80625"/>
                </a:cubicBezTo>
                <a:cubicBezTo>
                  <a:pt x="288649" y="80728"/>
                  <a:pt x="285351" y="84130"/>
                  <a:pt x="285247" y="88150"/>
                </a:cubicBezTo>
                <a:cubicBezTo>
                  <a:pt x="285247" y="102479"/>
                  <a:pt x="294732" y="112685"/>
                  <a:pt x="309473" y="115469"/>
                </a:cubicBezTo>
                <a:lnTo>
                  <a:pt x="309473" y="120417"/>
                </a:lnTo>
                <a:cubicBezTo>
                  <a:pt x="309267" y="124747"/>
                  <a:pt x="312669" y="128355"/>
                  <a:pt x="316999" y="128561"/>
                </a:cubicBezTo>
                <a:cubicBezTo>
                  <a:pt x="321329" y="128767"/>
                  <a:pt x="324937" y="125365"/>
                  <a:pt x="325143" y="121035"/>
                </a:cubicBezTo>
                <a:cubicBezTo>
                  <a:pt x="325143" y="120829"/>
                  <a:pt x="325143" y="120623"/>
                  <a:pt x="325143" y="120417"/>
                </a:cubicBezTo>
                <a:lnTo>
                  <a:pt x="325143" y="115469"/>
                </a:lnTo>
                <a:cubicBezTo>
                  <a:pt x="339885" y="112788"/>
                  <a:pt x="349369" y="102583"/>
                  <a:pt x="349369" y="88150"/>
                </a:cubicBezTo>
                <a:cubicBezTo>
                  <a:pt x="349369" y="71037"/>
                  <a:pt x="338441" y="65677"/>
                  <a:pt x="324627" y="58873"/>
                </a:cubicBezTo>
                <a:lnTo>
                  <a:pt x="316999" y="55058"/>
                </a:lnTo>
                <a:cubicBezTo>
                  <a:pt x="303082" y="48152"/>
                  <a:pt x="301020" y="46708"/>
                  <a:pt x="301020" y="39801"/>
                </a:cubicBezTo>
                <a:cubicBezTo>
                  <a:pt x="301020" y="28255"/>
                  <a:pt x="313494" y="27328"/>
                  <a:pt x="317308" y="27328"/>
                </a:cubicBezTo>
                <a:cubicBezTo>
                  <a:pt x="322153" y="27328"/>
                  <a:pt x="333287" y="28565"/>
                  <a:pt x="333287" y="39801"/>
                </a:cubicBezTo>
                <a:cubicBezTo>
                  <a:pt x="333493" y="44131"/>
                  <a:pt x="337101" y="47533"/>
                  <a:pt x="341431" y="47327"/>
                </a:cubicBezTo>
                <a:cubicBezTo>
                  <a:pt x="345555" y="47224"/>
                  <a:pt x="348853" y="43822"/>
                  <a:pt x="348957" y="39801"/>
                </a:cubicBezTo>
                <a:cubicBezTo>
                  <a:pt x="348957" y="25369"/>
                  <a:pt x="339678" y="15163"/>
                  <a:pt x="325143" y="12380"/>
                </a:cubicBezTo>
                <a:lnTo>
                  <a:pt x="325143" y="7534"/>
                </a:lnTo>
                <a:cubicBezTo>
                  <a:pt x="324937" y="3205"/>
                  <a:pt x="321329" y="-197"/>
                  <a:pt x="316999" y="9"/>
                </a:cubicBezTo>
                <a:cubicBezTo>
                  <a:pt x="312875" y="112"/>
                  <a:pt x="309576" y="3514"/>
                  <a:pt x="309473" y="7534"/>
                </a:cubicBezTo>
                <a:lnTo>
                  <a:pt x="309473" y="12380"/>
                </a:lnTo>
                <a:cubicBezTo>
                  <a:pt x="294938" y="15163"/>
                  <a:pt x="285247" y="25575"/>
                  <a:pt x="285247" y="39801"/>
                </a:cubicBezTo>
                <a:cubicBezTo>
                  <a:pt x="285247" y="56914"/>
                  <a:pt x="296175" y="62275"/>
                  <a:pt x="309989" y="69079"/>
                </a:cubicBezTo>
                <a:lnTo>
                  <a:pt x="317721" y="72893"/>
                </a:lnTo>
                <a:cubicBezTo>
                  <a:pt x="331638" y="79697"/>
                  <a:pt x="333699" y="81140"/>
                  <a:pt x="333699" y="88047"/>
                </a:cubicBezTo>
                <a:cubicBezTo>
                  <a:pt x="333493" y="99181"/>
                  <a:pt x="322050" y="100418"/>
                  <a:pt x="317205" y="100418"/>
                </a:cubicBezTo>
                <a:close/>
              </a:path>
            </a:pathLst>
          </a:custGeom>
          <a:solidFill>
            <a:srgbClr val="2AB4E7"/>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50" name="Google Shape;1150;p67">
            <a:hlinkClick r:id="rId4"/>
          </p:cNvPr>
          <p:cNvSpPr txBox="1"/>
          <p:nvPr/>
        </p:nvSpPr>
        <p:spPr>
          <a:xfrm>
            <a:off x="5144302" y="4763811"/>
            <a:ext cx="1020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67"/>
          <p:cNvSpPr/>
          <p:nvPr/>
        </p:nvSpPr>
        <p:spPr>
          <a:xfrm flipH="1">
            <a:off x="8339" y="4497949"/>
            <a:ext cx="9135661" cy="642780"/>
          </a:xfrm>
          <a:custGeom>
            <a:rect b="b" l="l" r="r" t="t"/>
            <a:pathLst>
              <a:path extrusionOk="0" h="4214949" w="8978537">
                <a:moveTo>
                  <a:pt x="0" y="4214948"/>
                </a:moveTo>
                <a:cubicBezTo>
                  <a:pt x="644434" y="3315062"/>
                  <a:pt x="1540008" y="1561737"/>
                  <a:pt x="1853517" y="1576251"/>
                </a:cubicBezTo>
                <a:cubicBezTo>
                  <a:pt x="2164123" y="1570446"/>
                  <a:pt x="2639157" y="2313576"/>
                  <a:pt x="3080392" y="2290354"/>
                </a:cubicBezTo>
                <a:cubicBezTo>
                  <a:pt x="3684186" y="2278743"/>
                  <a:pt x="4409367" y="29027"/>
                  <a:pt x="5023750" y="0"/>
                </a:cubicBezTo>
                <a:cubicBezTo>
                  <a:pt x="5680414" y="11612"/>
                  <a:pt x="5889897" y="1233713"/>
                  <a:pt x="6200503" y="1245325"/>
                </a:cubicBezTo>
                <a:cubicBezTo>
                  <a:pt x="6496595" y="1226456"/>
                  <a:pt x="7003613" y="156754"/>
                  <a:pt x="7306962" y="792480"/>
                </a:cubicBezTo>
                <a:lnTo>
                  <a:pt x="8978537" y="4214949"/>
                </a:lnTo>
                <a:lnTo>
                  <a:pt x="0" y="4214948"/>
                </a:lnTo>
                <a:close/>
              </a:path>
            </a:pathLst>
          </a:custGeom>
          <a:solidFill>
            <a:srgbClr val="29B5E8">
              <a:alpha val="2824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nvGrpSpPr>
          <p:cNvPr id="1152" name="Google Shape;1152;p67"/>
          <p:cNvGrpSpPr/>
          <p:nvPr/>
        </p:nvGrpSpPr>
        <p:grpSpPr>
          <a:xfrm>
            <a:off x="2736734" y="4788328"/>
            <a:ext cx="707119" cy="340669"/>
            <a:chOff x="3774175" y="5561362"/>
            <a:chExt cx="1820125" cy="1449039"/>
          </a:xfrm>
        </p:grpSpPr>
        <p:sp>
          <p:nvSpPr>
            <p:cNvPr id="1153" name="Google Shape;1153;p67"/>
            <p:cNvSpPr/>
            <p:nvPr/>
          </p:nvSpPr>
          <p:spPr>
            <a:xfrm>
              <a:off x="4447489" y="5561362"/>
              <a:ext cx="1146811" cy="1449038"/>
            </a:xfrm>
            <a:custGeom>
              <a:rect b="b" l="l" r="r" t="t"/>
              <a:pathLst>
                <a:path extrusionOk="0" h="733" w="578">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1154" name="Google Shape;1154;p67"/>
            <p:cNvSpPr/>
            <p:nvPr/>
          </p:nvSpPr>
          <p:spPr>
            <a:xfrm>
              <a:off x="3774175" y="6097554"/>
              <a:ext cx="878339" cy="912847"/>
            </a:xfrm>
            <a:custGeom>
              <a:rect b="b" l="l" r="r" t="t"/>
              <a:pathLst>
                <a:path extrusionOk="0" h="608" w="584">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grpSp>
      <p:sp>
        <p:nvSpPr>
          <p:cNvPr id="1155" name="Google Shape;1155;p67"/>
          <p:cNvSpPr/>
          <p:nvPr/>
        </p:nvSpPr>
        <p:spPr>
          <a:xfrm>
            <a:off x="3760969" y="4640200"/>
            <a:ext cx="639639" cy="489221"/>
          </a:xfrm>
          <a:custGeom>
            <a:rect b="b" l="l" r="r" t="t"/>
            <a:pathLst>
              <a:path extrusionOk="0" h="733" w="578">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rgbClr val="11567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1156" name="Google Shape;1156;p67"/>
          <p:cNvSpPr/>
          <p:nvPr/>
        </p:nvSpPr>
        <p:spPr>
          <a:xfrm>
            <a:off x="3385422" y="4821228"/>
            <a:ext cx="489902" cy="308194"/>
          </a:xfrm>
          <a:custGeom>
            <a:rect b="b" l="l" r="r" t="t"/>
            <a:pathLst>
              <a:path extrusionOk="0" h="608" w="584">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rgbClr val="11567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grpSp>
        <p:nvGrpSpPr>
          <p:cNvPr id="1157" name="Google Shape;1157;p67"/>
          <p:cNvGrpSpPr/>
          <p:nvPr/>
        </p:nvGrpSpPr>
        <p:grpSpPr>
          <a:xfrm>
            <a:off x="4322141" y="4788328"/>
            <a:ext cx="707119" cy="340669"/>
            <a:chOff x="3774175" y="5561362"/>
            <a:chExt cx="1820125" cy="1449039"/>
          </a:xfrm>
        </p:grpSpPr>
        <p:sp>
          <p:nvSpPr>
            <p:cNvPr id="1158" name="Google Shape;1158;p67"/>
            <p:cNvSpPr/>
            <p:nvPr/>
          </p:nvSpPr>
          <p:spPr>
            <a:xfrm>
              <a:off x="4447489" y="5561362"/>
              <a:ext cx="1146811" cy="1449038"/>
            </a:xfrm>
            <a:custGeom>
              <a:rect b="b" l="l" r="r" t="t"/>
              <a:pathLst>
                <a:path extrusionOk="0" h="733" w="578">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1159" name="Google Shape;1159;p67"/>
            <p:cNvSpPr/>
            <p:nvPr/>
          </p:nvSpPr>
          <p:spPr>
            <a:xfrm>
              <a:off x="3774175" y="6097554"/>
              <a:ext cx="878339" cy="912847"/>
            </a:xfrm>
            <a:custGeom>
              <a:rect b="b" l="l" r="r" t="t"/>
              <a:pathLst>
                <a:path extrusionOk="0" h="608" w="584">
                  <a:moveTo>
                    <a:pt x="0" y="608"/>
                  </a:moveTo>
                  <a:lnTo>
                    <a:pt x="151" y="408"/>
                  </a:lnTo>
                  <a:lnTo>
                    <a:pt x="31" y="408"/>
                  </a:lnTo>
                  <a:lnTo>
                    <a:pt x="192" y="232"/>
                  </a:lnTo>
                  <a:lnTo>
                    <a:pt x="80" y="232"/>
                  </a:lnTo>
                  <a:lnTo>
                    <a:pt x="292" y="0"/>
                  </a:lnTo>
                  <a:lnTo>
                    <a:pt x="503" y="232"/>
                  </a:lnTo>
                  <a:lnTo>
                    <a:pt x="391" y="232"/>
                  </a:lnTo>
                  <a:lnTo>
                    <a:pt x="552" y="408"/>
                  </a:lnTo>
                  <a:lnTo>
                    <a:pt x="433" y="408"/>
                  </a:lnTo>
                  <a:lnTo>
                    <a:pt x="584" y="608"/>
                  </a:lnTo>
                  <a:lnTo>
                    <a:pt x="0" y="608"/>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grpSp>
      <p:sp>
        <p:nvSpPr>
          <p:cNvPr id="1160" name="Google Shape;1160;p67"/>
          <p:cNvSpPr/>
          <p:nvPr/>
        </p:nvSpPr>
        <p:spPr>
          <a:xfrm>
            <a:off x="4973451" y="4788661"/>
            <a:ext cx="461430" cy="340764"/>
          </a:xfrm>
          <a:custGeom>
            <a:rect b="b" l="l" r="r" t="t"/>
            <a:pathLst>
              <a:path extrusionOk="0" h="733" w="578">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rgbClr val="11567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1161" name="Google Shape;1161;p67"/>
          <p:cNvSpPr/>
          <p:nvPr/>
        </p:nvSpPr>
        <p:spPr>
          <a:xfrm>
            <a:off x="5375783" y="4865952"/>
            <a:ext cx="342268" cy="263473"/>
          </a:xfrm>
          <a:custGeom>
            <a:rect b="b" l="l" r="r" t="t"/>
            <a:pathLst>
              <a:path extrusionOk="0" h="733" w="578">
                <a:moveTo>
                  <a:pt x="289" y="265"/>
                </a:moveTo>
                <a:lnTo>
                  <a:pt x="290" y="265"/>
                </a:lnTo>
                <a:lnTo>
                  <a:pt x="288" y="265"/>
                </a:lnTo>
                <a:lnTo>
                  <a:pt x="289" y="265"/>
                </a:lnTo>
                <a:close/>
                <a:moveTo>
                  <a:pt x="578" y="733"/>
                </a:moveTo>
                <a:lnTo>
                  <a:pt x="425" y="548"/>
                </a:lnTo>
                <a:lnTo>
                  <a:pt x="524" y="548"/>
                </a:lnTo>
                <a:lnTo>
                  <a:pt x="397" y="395"/>
                </a:lnTo>
                <a:lnTo>
                  <a:pt x="479" y="395"/>
                </a:lnTo>
                <a:lnTo>
                  <a:pt x="381" y="265"/>
                </a:lnTo>
                <a:lnTo>
                  <a:pt x="458" y="265"/>
                </a:lnTo>
                <a:lnTo>
                  <a:pt x="354" y="151"/>
                </a:lnTo>
                <a:lnTo>
                  <a:pt x="427" y="151"/>
                </a:lnTo>
                <a:lnTo>
                  <a:pt x="289" y="0"/>
                </a:lnTo>
                <a:lnTo>
                  <a:pt x="151" y="151"/>
                </a:lnTo>
                <a:lnTo>
                  <a:pt x="224" y="151"/>
                </a:lnTo>
                <a:lnTo>
                  <a:pt x="119" y="265"/>
                </a:lnTo>
                <a:lnTo>
                  <a:pt x="197" y="265"/>
                </a:lnTo>
                <a:lnTo>
                  <a:pt x="99" y="395"/>
                </a:lnTo>
                <a:lnTo>
                  <a:pt x="181" y="395"/>
                </a:lnTo>
                <a:lnTo>
                  <a:pt x="54" y="548"/>
                </a:lnTo>
                <a:lnTo>
                  <a:pt x="153" y="548"/>
                </a:lnTo>
                <a:lnTo>
                  <a:pt x="0" y="733"/>
                </a:lnTo>
                <a:lnTo>
                  <a:pt x="578" y="733"/>
                </a:lnTo>
                <a:close/>
              </a:path>
            </a:pathLst>
          </a:custGeom>
          <a:solidFill>
            <a:srgbClr val="11567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1162" name="Google Shape;1162;p67"/>
          <p:cNvSpPr/>
          <p:nvPr/>
        </p:nvSpPr>
        <p:spPr>
          <a:xfrm>
            <a:off x="4925563" y="2571750"/>
            <a:ext cx="295500" cy="756600"/>
          </a:xfrm>
          <a:prstGeom prst="chevron">
            <a:avLst>
              <a:gd fmla="val 5809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63" name="Google Shape;1163;p67"/>
          <p:cNvGrpSpPr/>
          <p:nvPr/>
        </p:nvGrpSpPr>
        <p:grpSpPr>
          <a:xfrm>
            <a:off x="4179126" y="2091413"/>
            <a:ext cx="418792" cy="347405"/>
            <a:chOff x="4422169" y="2428439"/>
            <a:chExt cx="297797" cy="247035"/>
          </a:xfrm>
        </p:grpSpPr>
        <p:sp>
          <p:nvSpPr>
            <p:cNvPr id="1164" name="Google Shape;1164;p67"/>
            <p:cNvSpPr/>
            <p:nvPr/>
          </p:nvSpPr>
          <p:spPr>
            <a:xfrm>
              <a:off x="4469383" y="2428439"/>
              <a:ext cx="134019" cy="178870"/>
            </a:xfrm>
            <a:custGeom>
              <a:rect b="b" l="l" r="r" t="t"/>
              <a:pathLst>
                <a:path extrusionOk="0" h="178870" w="134019">
                  <a:moveTo>
                    <a:pt x="27617" y="152546"/>
                  </a:moveTo>
                  <a:cubicBezTo>
                    <a:pt x="30327" y="154843"/>
                    <a:pt x="32917" y="157279"/>
                    <a:pt x="35375" y="159843"/>
                  </a:cubicBezTo>
                  <a:cubicBezTo>
                    <a:pt x="44612" y="169080"/>
                    <a:pt x="54495" y="178870"/>
                    <a:pt x="66964" y="178870"/>
                  </a:cubicBezTo>
                  <a:cubicBezTo>
                    <a:pt x="79433" y="178870"/>
                    <a:pt x="89500" y="168710"/>
                    <a:pt x="98460" y="159843"/>
                  </a:cubicBezTo>
                  <a:cubicBezTo>
                    <a:pt x="100926" y="157253"/>
                    <a:pt x="103547" y="154816"/>
                    <a:pt x="106311" y="152546"/>
                  </a:cubicBezTo>
                  <a:cubicBezTo>
                    <a:pt x="117113" y="143911"/>
                    <a:pt x="123812" y="131151"/>
                    <a:pt x="124783" y="117356"/>
                  </a:cubicBezTo>
                  <a:cubicBezTo>
                    <a:pt x="130652" y="111579"/>
                    <a:pt x="133976" y="103701"/>
                    <a:pt x="134020" y="95466"/>
                  </a:cubicBezTo>
                  <a:lnTo>
                    <a:pt x="134020" y="90663"/>
                  </a:lnTo>
                  <a:cubicBezTo>
                    <a:pt x="134035" y="83736"/>
                    <a:pt x="131726" y="77003"/>
                    <a:pt x="127462" y="71544"/>
                  </a:cubicBezTo>
                  <a:cubicBezTo>
                    <a:pt x="126908" y="45589"/>
                    <a:pt x="120627" y="26378"/>
                    <a:pt x="108527" y="14370"/>
                  </a:cubicBezTo>
                  <a:cubicBezTo>
                    <a:pt x="97468" y="4194"/>
                    <a:pt x="82691" y="-955"/>
                    <a:pt x="67703" y="146"/>
                  </a:cubicBezTo>
                  <a:lnTo>
                    <a:pt x="66132" y="146"/>
                  </a:lnTo>
                  <a:cubicBezTo>
                    <a:pt x="51188" y="-912"/>
                    <a:pt x="36474" y="4272"/>
                    <a:pt x="25492" y="14463"/>
                  </a:cubicBezTo>
                  <a:cubicBezTo>
                    <a:pt x="13393" y="26470"/>
                    <a:pt x="7020" y="45682"/>
                    <a:pt x="6558" y="71636"/>
                  </a:cubicBezTo>
                  <a:cubicBezTo>
                    <a:pt x="2293" y="77095"/>
                    <a:pt x="-16" y="83828"/>
                    <a:pt x="0" y="90755"/>
                  </a:cubicBezTo>
                  <a:lnTo>
                    <a:pt x="0" y="95558"/>
                  </a:lnTo>
                  <a:cubicBezTo>
                    <a:pt x="93" y="103783"/>
                    <a:pt x="3410" y="111642"/>
                    <a:pt x="9236" y="117448"/>
                  </a:cubicBezTo>
                  <a:cubicBezTo>
                    <a:pt x="10188" y="131202"/>
                    <a:pt x="16854" y="143930"/>
                    <a:pt x="27617" y="152546"/>
                  </a:cubicBezTo>
                  <a:close/>
                  <a:moveTo>
                    <a:pt x="18380" y="90663"/>
                  </a:moveTo>
                  <a:cubicBezTo>
                    <a:pt x="18366" y="87203"/>
                    <a:pt x="19728" y="83880"/>
                    <a:pt x="22167" y="81426"/>
                  </a:cubicBezTo>
                  <a:cubicBezTo>
                    <a:pt x="23930" y="79699"/>
                    <a:pt x="24928" y="77337"/>
                    <a:pt x="24938" y="74869"/>
                  </a:cubicBezTo>
                  <a:cubicBezTo>
                    <a:pt x="24938" y="52240"/>
                    <a:pt x="29464" y="36261"/>
                    <a:pt x="38423" y="27301"/>
                  </a:cubicBezTo>
                  <a:cubicBezTo>
                    <a:pt x="45653" y="20650"/>
                    <a:pt x="55322" y="17304"/>
                    <a:pt x="65116" y="18065"/>
                  </a:cubicBezTo>
                  <a:lnTo>
                    <a:pt x="67610" y="18065"/>
                  </a:lnTo>
                  <a:cubicBezTo>
                    <a:pt x="77734" y="17116"/>
                    <a:pt x="87790" y="20468"/>
                    <a:pt x="95319" y="27301"/>
                  </a:cubicBezTo>
                  <a:cubicBezTo>
                    <a:pt x="104556" y="36538"/>
                    <a:pt x="108804" y="52240"/>
                    <a:pt x="108804" y="74869"/>
                  </a:cubicBezTo>
                  <a:cubicBezTo>
                    <a:pt x="108815" y="77337"/>
                    <a:pt x="109812" y="79699"/>
                    <a:pt x="111575" y="81426"/>
                  </a:cubicBezTo>
                  <a:cubicBezTo>
                    <a:pt x="114015" y="83880"/>
                    <a:pt x="115377" y="87203"/>
                    <a:pt x="115362" y="90663"/>
                  </a:cubicBezTo>
                  <a:lnTo>
                    <a:pt x="115362" y="95466"/>
                  </a:lnTo>
                  <a:cubicBezTo>
                    <a:pt x="115377" y="98926"/>
                    <a:pt x="114015" y="102249"/>
                    <a:pt x="111575" y="104702"/>
                  </a:cubicBezTo>
                  <a:lnTo>
                    <a:pt x="109359" y="106919"/>
                  </a:lnTo>
                  <a:cubicBezTo>
                    <a:pt x="107595" y="108647"/>
                    <a:pt x="106598" y="111009"/>
                    <a:pt x="106588" y="113477"/>
                  </a:cubicBezTo>
                  <a:cubicBezTo>
                    <a:pt x="106644" y="123056"/>
                    <a:pt x="102324" y="132137"/>
                    <a:pt x="94858" y="138138"/>
                  </a:cubicBezTo>
                  <a:cubicBezTo>
                    <a:pt x="91618" y="140856"/>
                    <a:pt x="88534" y="143754"/>
                    <a:pt x="85621" y="146820"/>
                  </a:cubicBezTo>
                  <a:cubicBezTo>
                    <a:pt x="80172" y="152269"/>
                    <a:pt x="71859" y="160490"/>
                    <a:pt x="67148" y="160490"/>
                  </a:cubicBezTo>
                  <a:cubicBezTo>
                    <a:pt x="62438" y="160490"/>
                    <a:pt x="54033" y="152269"/>
                    <a:pt x="48676" y="146820"/>
                  </a:cubicBezTo>
                  <a:cubicBezTo>
                    <a:pt x="45763" y="143754"/>
                    <a:pt x="42679" y="140856"/>
                    <a:pt x="39439" y="138138"/>
                  </a:cubicBezTo>
                  <a:cubicBezTo>
                    <a:pt x="31973" y="132137"/>
                    <a:pt x="27653" y="123056"/>
                    <a:pt x="27709" y="113477"/>
                  </a:cubicBezTo>
                  <a:cubicBezTo>
                    <a:pt x="27723" y="111022"/>
                    <a:pt x="26760" y="108662"/>
                    <a:pt x="25031" y="106919"/>
                  </a:cubicBezTo>
                  <a:lnTo>
                    <a:pt x="22722" y="104702"/>
                  </a:lnTo>
                  <a:cubicBezTo>
                    <a:pt x="20282" y="102249"/>
                    <a:pt x="18920" y="98926"/>
                    <a:pt x="18935" y="9546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65" name="Google Shape;1165;p67"/>
            <p:cNvSpPr/>
            <p:nvPr/>
          </p:nvSpPr>
          <p:spPr>
            <a:xfrm>
              <a:off x="4502052" y="2462954"/>
              <a:ext cx="68284" cy="37583"/>
            </a:xfrm>
            <a:custGeom>
              <a:rect b="b" l="l" r="r" t="t"/>
              <a:pathLst>
                <a:path extrusionOk="0" h="37583" w="68284">
                  <a:moveTo>
                    <a:pt x="7325" y="37584"/>
                  </a:moveTo>
                  <a:cubicBezTo>
                    <a:pt x="8222" y="37547"/>
                    <a:pt x="9102" y="37327"/>
                    <a:pt x="9911" y="36937"/>
                  </a:cubicBezTo>
                  <a:cubicBezTo>
                    <a:pt x="16691" y="34350"/>
                    <a:pt x="22059" y="29015"/>
                    <a:pt x="24689" y="22251"/>
                  </a:cubicBezTo>
                  <a:cubicBezTo>
                    <a:pt x="35056" y="30362"/>
                    <a:pt x="47739" y="34957"/>
                    <a:pt x="60895" y="35367"/>
                  </a:cubicBezTo>
                  <a:cubicBezTo>
                    <a:pt x="64976" y="35367"/>
                    <a:pt x="68285" y="32059"/>
                    <a:pt x="68285" y="27978"/>
                  </a:cubicBezTo>
                  <a:cubicBezTo>
                    <a:pt x="68285" y="23897"/>
                    <a:pt x="64976" y="20589"/>
                    <a:pt x="60895" y="20589"/>
                  </a:cubicBezTo>
                  <a:cubicBezTo>
                    <a:pt x="47013" y="19272"/>
                    <a:pt x="34113" y="12855"/>
                    <a:pt x="24689" y="2578"/>
                  </a:cubicBezTo>
                  <a:cubicBezTo>
                    <a:pt x="22563" y="40"/>
                    <a:pt x="18982" y="-722"/>
                    <a:pt x="16007" y="730"/>
                  </a:cubicBezTo>
                  <a:cubicBezTo>
                    <a:pt x="13012" y="2163"/>
                    <a:pt x="11320" y="5397"/>
                    <a:pt x="11850" y="8674"/>
                  </a:cubicBezTo>
                  <a:cubicBezTo>
                    <a:pt x="13067" y="14736"/>
                    <a:pt x="9975" y="20844"/>
                    <a:pt x="4369" y="23452"/>
                  </a:cubicBezTo>
                  <a:cubicBezTo>
                    <a:pt x="645" y="25121"/>
                    <a:pt x="-1021" y="29493"/>
                    <a:pt x="648" y="33217"/>
                  </a:cubicBezTo>
                  <a:cubicBezTo>
                    <a:pt x="1829" y="35852"/>
                    <a:pt x="4437" y="37558"/>
                    <a:pt x="7325" y="3758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66" name="Google Shape;1166;p67"/>
            <p:cNvSpPr/>
            <p:nvPr/>
          </p:nvSpPr>
          <p:spPr>
            <a:xfrm>
              <a:off x="4422169" y="2605835"/>
              <a:ext cx="230371" cy="69639"/>
            </a:xfrm>
            <a:custGeom>
              <a:rect b="b" l="l" r="r" t="t"/>
              <a:pathLst>
                <a:path extrusionOk="0" h="69639" w="230371">
                  <a:moveTo>
                    <a:pt x="115102" y="60310"/>
                  </a:moveTo>
                  <a:lnTo>
                    <a:pt x="115656" y="60310"/>
                  </a:lnTo>
                  <a:cubicBezTo>
                    <a:pt x="117849" y="60265"/>
                    <a:pt x="119963" y="59485"/>
                    <a:pt x="121660" y="58094"/>
                  </a:cubicBezTo>
                  <a:lnTo>
                    <a:pt x="165440" y="19578"/>
                  </a:lnTo>
                  <a:cubicBezTo>
                    <a:pt x="180162" y="23496"/>
                    <a:pt x="194433" y="28945"/>
                    <a:pt x="208020" y="35834"/>
                  </a:cubicBezTo>
                  <a:cubicBezTo>
                    <a:pt x="209540" y="41898"/>
                    <a:pt x="210560" y="48076"/>
                    <a:pt x="211068" y="54307"/>
                  </a:cubicBezTo>
                  <a:cubicBezTo>
                    <a:pt x="211068" y="57078"/>
                    <a:pt x="211622" y="59572"/>
                    <a:pt x="211899" y="61604"/>
                  </a:cubicBezTo>
                  <a:cubicBezTo>
                    <a:pt x="212548" y="66194"/>
                    <a:pt x="216500" y="69592"/>
                    <a:pt x="221136" y="69547"/>
                  </a:cubicBezTo>
                  <a:lnTo>
                    <a:pt x="222429" y="69547"/>
                  </a:lnTo>
                  <a:cubicBezTo>
                    <a:pt x="227478" y="68832"/>
                    <a:pt x="230993" y="64159"/>
                    <a:pt x="230280" y="59110"/>
                  </a:cubicBezTo>
                  <a:cubicBezTo>
                    <a:pt x="230280" y="57262"/>
                    <a:pt x="229725" y="54953"/>
                    <a:pt x="229448" y="52460"/>
                  </a:cubicBezTo>
                  <a:cubicBezTo>
                    <a:pt x="228976" y="43977"/>
                    <a:pt x="227392" y="35592"/>
                    <a:pt x="224738" y="27521"/>
                  </a:cubicBezTo>
                  <a:cubicBezTo>
                    <a:pt x="223352" y="24012"/>
                    <a:pt x="219935" y="15791"/>
                    <a:pt x="165810" y="366"/>
                  </a:cubicBezTo>
                  <a:cubicBezTo>
                    <a:pt x="162775" y="-515"/>
                    <a:pt x="159500" y="217"/>
                    <a:pt x="157128" y="2306"/>
                  </a:cubicBezTo>
                  <a:lnTo>
                    <a:pt x="115195" y="39252"/>
                  </a:lnTo>
                  <a:lnTo>
                    <a:pt x="73261" y="2306"/>
                  </a:lnTo>
                  <a:cubicBezTo>
                    <a:pt x="70911" y="248"/>
                    <a:pt x="67679" y="-481"/>
                    <a:pt x="64672" y="366"/>
                  </a:cubicBezTo>
                  <a:cubicBezTo>
                    <a:pt x="10362" y="15884"/>
                    <a:pt x="6667" y="24104"/>
                    <a:pt x="5559" y="27614"/>
                  </a:cubicBezTo>
                  <a:cubicBezTo>
                    <a:pt x="3029" y="35329"/>
                    <a:pt x="1508" y="43339"/>
                    <a:pt x="1033" y="51444"/>
                  </a:cubicBezTo>
                  <a:cubicBezTo>
                    <a:pt x="1033" y="54307"/>
                    <a:pt x="387" y="56893"/>
                    <a:pt x="109" y="59110"/>
                  </a:cubicBezTo>
                  <a:cubicBezTo>
                    <a:pt x="-666" y="64131"/>
                    <a:pt x="2759" y="68835"/>
                    <a:pt x="7776" y="69639"/>
                  </a:cubicBezTo>
                  <a:lnTo>
                    <a:pt x="9253" y="69639"/>
                  </a:lnTo>
                  <a:cubicBezTo>
                    <a:pt x="13829" y="69698"/>
                    <a:pt x="17758" y="66398"/>
                    <a:pt x="18490" y="61881"/>
                  </a:cubicBezTo>
                  <a:cubicBezTo>
                    <a:pt x="18490" y="59479"/>
                    <a:pt x="19229" y="56524"/>
                    <a:pt x="19598" y="53291"/>
                  </a:cubicBezTo>
                  <a:cubicBezTo>
                    <a:pt x="20019" y="47367"/>
                    <a:pt x="20978" y="41492"/>
                    <a:pt x="22461" y="35742"/>
                  </a:cubicBezTo>
                  <a:cubicBezTo>
                    <a:pt x="36007" y="28831"/>
                    <a:pt x="50250" y="23382"/>
                    <a:pt x="64949" y="19486"/>
                  </a:cubicBezTo>
                  <a:lnTo>
                    <a:pt x="108267" y="58094"/>
                  </a:lnTo>
                  <a:cubicBezTo>
                    <a:pt x="109940" y="59524"/>
                    <a:pt x="112070" y="60310"/>
                    <a:pt x="114271" y="6031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67" name="Google Shape;1167;p67"/>
            <p:cNvSpPr/>
            <p:nvPr/>
          </p:nvSpPr>
          <p:spPr>
            <a:xfrm>
              <a:off x="4592320" y="2439670"/>
              <a:ext cx="127646" cy="177338"/>
            </a:xfrm>
            <a:custGeom>
              <a:rect b="b" l="l" r="r" t="t"/>
              <a:pathLst>
                <a:path extrusionOk="0" h="177338" w="127646">
                  <a:moveTo>
                    <a:pt x="7389" y="14778"/>
                  </a:moveTo>
                  <a:lnTo>
                    <a:pt x="112868" y="14778"/>
                  </a:lnTo>
                  <a:lnTo>
                    <a:pt x="112868" y="162560"/>
                  </a:lnTo>
                  <a:lnTo>
                    <a:pt x="59575" y="162560"/>
                  </a:lnTo>
                  <a:cubicBezTo>
                    <a:pt x="55494" y="162560"/>
                    <a:pt x="52185" y="165868"/>
                    <a:pt x="52185" y="169949"/>
                  </a:cubicBezTo>
                  <a:cubicBezTo>
                    <a:pt x="52185" y="174030"/>
                    <a:pt x="55494" y="177338"/>
                    <a:pt x="59575" y="177338"/>
                  </a:cubicBezTo>
                  <a:lnTo>
                    <a:pt x="120257" y="177338"/>
                  </a:lnTo>
                  <a:cubicBezTo>
                    <a:pt x="124338" y="177338"/>
                    <a:pt x="127647" y="174030"/>
                    <a:pt x="127647" y="169949"/>
                  </a:cubicBezTo>
                  <a:lnTo>
                    <a:pt x="127647" y="7389"/>
                  </a:lnTo>
                  <a:cubicBezTo>
                    <a:pt x="127647" y="3308"/>
                    <a:pt x="124338" y="0"/>
                    <a:pt x="120257" y="0"/>
                  </a:cubicBezTo>
                  <a:lnTo>
                    <a:pt x="7389" y="0"/>
                  </a:lnTo>
                  <a:cubicBezTo>
                    <a:pt x="3308" y="0"/>
                    <a:pt x="0" y="3308"/>
                    <a:pt x="0" y="7389"/>
                  </a:cubicBezTo>
                  <a:cubicBezTo>
                    <a:pt x="0" y="11470"/>
                    <a:pt x="3308" y="14778"/>
                    <a:pt x="7389" y="14778"/>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68" name="Google Shape;1168;p67"/>
            <p:cNvSpPr/>
            <p:nvPr/>
          </p:nvSpPr>
          <p:spPr>
            <a:xfrm>
              <a:off x="4600362" y="2484009"/>
              <a:ext cx="93970" cy="97781"/>
            </a:xfrm>
            <a:custGeom>
              <a:rect b="b" l="l" r="r" t="t"/>
              <a:pathLst>
                <a:path extrusionOk="0" h="97781" w="93970">
                  <a:moveTo>
                    <a:pt x="60214" y="66035"/>
                  </a:moveTo>
                  <a:lnTo>
                    <a:pt x="93280" y="10617"/>
                  </a:lnTo>
                  <a:cubicBezTo>
                    <a:pt x="95012" y="6866"/>
                    <a:pt x="93374" y="2421"/>
                    <a:pt x="89623" y="689"/>
                  </a:cubicBezTo>
                  <a:cubicBezTo>
                    <a:pt x="86437" y="-781"/>
                    <a:pt x="82658" y="160"/>
                    <a:pt x="80534" y="2951"/>
                  </a:cubicBezTo>
                  <a:lnTo>
                    <a:pt x="51162" y="51996"/>
                  </a:lnTo>
                  <a:lnTo>
                    <a:pt x="36846" y="44422"/>
                  </a:lnTo>
                  <a:cubicBezTo>
                    <a:pt x="33594" y="42860"/>
                    <a:pt x="29690" y="43876"/>
                    <a:pt x="27610" y="46824"/>
                  </a:cubicBezTo>
                  <a:lnTo>
                    <a:pt x="1286" y="86263"/>
                  </a:lnTo>
                  <a:cubicBezTo>
                    <a:pt x="-998" y="89583"/>
                    <a:pt x="-159" y="94126"/>
                    <a:pt x="3161" y="96410"/>
                  </a:cubicBezTo>
                  <a:cubicBezTo>
                    <a:pt x="3213" y="96446"/>
                    <a:pt x="3265" y="96481"/>
                    <a:pt x="3318" y="96515"/>
                  </a:cubicBezTo>
                  <a:cubicBezTo>
                    <a:pt x="6509" y="98689"/>
                    <a:pt x="10841" y="98001"/>
                    <a:pt x="13201" y="94945"/>
                  </a:cubicBezTo>
                  <a:lnTo>
                    <a:pt x="35830" y="61048"/>
                  </a:lnTo>
                  <a:lnTo>
                    <a:pt x="50424" y="68806"/>
                  </a:lnTo>
                  <a:cubicBezTo>
                    <a:pt x="53899" y="70686"/>
                    <a:pt x="58239" y="69457"/>
                    <a:pt x="60214" y="66035"/>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169" name="Google Shape;1169;p67"/>
          <p:cNvSpPr txBox="1"/>
          <p:nvPr/>
        </p:nvSpPr>
        <p:spPr>
          <a:xfrm>
            <a:off x="5365575" y="2593184"/>
            <a:ext cx="3383400" cy="634800"/>
          </a:xfrm>
          <a:prstGeom prst="rect">
            <a:avLst/>
          </a:prstGeom>
          <a:noFill/>
          <a:ln>
            <a:noFill/>
          </a:ln>
        </p:spPr>
        <p:txBody>
          <a:bodyPr anchorCtr="0" anchor="t" bIns="91425" lIns="91425" spcFirstLastPara="1" rIns="91425" wrap="square" tIns="91425">
            <a:spAutoFit/>
          </a:bodyPr>
          <a:lstStyle/>
          <a:p>
            <a:pPr indent="0" lvl="0" marL="0" rtl="0" algn="ctr">
              <a:lnSpc>
                <a:spcPct val="112500"/>
              </a:lnSpc>
              <a:spcBef>
                <a:spcPts val="0"/>
              </a:spcBef>
              <a:spcAft>
                <a:spcPts val="0"/>
              </a:spcAft>
              <a:buNone/>
            </a:pPr>
            <a:r>
              <a:rPr lang="en" sz="900"/>
              <a:t>"Since shifting to data mesh </a:t>
            </a:r>
            <a:r>
              <a:rPr b="1" lang="en" sz="900"/>
              <a:t>with Snowflake, 5.5x more people are using data</a:t>
            </a:r>
            <a:r>
              <a:rPr lang="en" sz="900"/>
              <a:t> across the business on a regular basis.”</a:t>
            </a:r>
            <a:endParaRPr sz="900"/>
          </a:p>
        </p:txBody>
      </p:sp>
      <p:pic>
        <p:nvPicPr>
          <p:cNvPr id="1170" name="Google Shape;1170;p67"/>
          <p:cNvPicPr preferRelativeResize="0"/>
          <p:nvPr/>
        </p:nvPicPr>
        <p:blipFill rotWithShape="1">
          <a:blip r:embed="rId5">
            <a:alphaModFix/>
          </a:blip>
          <a:srcRect b="24955" l="0" r="0" t="20463"/>
          <a:stretch/>
        </p:blipFill>
        <p:spPr>
          <a:xfrm>
            <a:off x="6400825" y="2308017"/>
            <a:ext cx="1282299" cy="365699"/>
          </a:xfrm>
          <a:prstGeom prst="rect">
            <a:avLst/>
          </a:prstGeom>
          <a:noFill/>
          <a:ln>
            <a:noFill/>
          </a:ln>
        </p:spPr>
      </p:pic>
      <p:sp>
        <p:nvSpPr>
          <p:cNvPr id="1171" name="Google Shape;1171;p67"/>
          <p:cNvSpPr txBox="1"/>
          <p:nvPr/>
        </p:nvSpPr>
        <p:spPr>
          <a:xfrm>
            <a:off x="5365575" y="3790700"/>
            <a:ext cx="3383400" cy="946500"/>
          </a:xfrm>
          <a:prstGeom prst="rect">
            <a:avLst/>
          </a:prstGeom>
          <a:noFill/>
          <a:ln>
            <a:noFill/>
          </a:ln>
        </p:spPr>
        <p:txBody>
          <a:bodyPr anchorCtr="0" anchor="t" bIns="91425" lIns="91425" spcFirstLastPara="1" rIns="91425" wrap="square" tIns="91425">
            <a:spAutoFit/>
          </a:bodyPr>
          <a:lstStyle/>
          <a:p>
            <a:pPr indent="0" lvl="0" marL="0" rtl="0" algn="ctr">
              <a:lnSpc>
                <a:spcPct val="112500"/>
              </a:lnSpc>
              <a:spcBef>
                <a:spcPts val="0"/>
              </a:spcBef>
              <a:spcAft>
                <a:spcPts val="0"/>
              </a:spcAft>
              <a:buNone/>
            </a:pPr>
            <a:r>
              <a:rPr lang="en" sz="900"/>
              <a:t>“Snowflake’s </a:t>
            </a:r>
            <a:r>
              <a:rPr b="1" lang="en" sz="900"/>
              <a:t>data sharing</a:t>
            </a:r>
            <a:r>
              <a:rPr lang="en" sz="900"/>
              <a:t> across clouds is one of its big pros. The gaming industry relies on external partners for faster game development and time to market. Having good </a:t>
            </a:r>
            <a:r>
              <a:rPr b="1" lang="en" sz="900"/>
              <a:t>data governance</a:t>
            </a:r>
            <a:r>
              <a:rPr lang="en" sz="900"/>
              <a:t> to ensure that live data can be shared without movement across cloud providers is key to that model.”</a:t>
            </a:r>
            <a:endParaRPr sz="900"/>
          </a:p>
        </p:txBody>
      </p:sp>
      <p:sp>
        <p:nvSpPr>
          <p:cNvPr id="1172" name="Google Shape;1172;p67"/>
          <p:cNvSpPr txBox="1"/>
          <p:nvPr/>
        </p:nvSpPr>
        <p:spPr>
          <a:xfrm>
            <a:off x="5365575" y="1444025"/>
            <a:ext cx="3383400" cy="790800"/>
          </a:xfrm>
          <a:prstGeom prst="rect">
            <a:avLst/>
          </a:prstGeom>
          <a:noFill/>
          <a:ln>
            <a:noFill/>
          </a:ln>
        </p:spPr>
        <p:txBody>
          <a:bodyPr anchorCtr="0" anchor="t" bIns="91425" lIns="91425" spcFirstLastPara="1" rIns="91425" wrap="square" tIns="91425">
            <a:spAutoFit/>
          </a:bodyPr>
          <a:lstStyle/>
          <a:p>
            <a:pPr indent="0" lvl="0" marL="0" rtl="0" algn="ctr">
              <a:lnSpc>
                <a:spcPct val="112500"/>
              </a:lnSpc>
              <a:spcBef>
                <a:spcPts val="0"/>
              </a:spcBef>
              <a:spcAft>
                <a:spcPts val="600"/>
              </a:spcAft>
              <a:buNone/>
            </a:pPr>
            <a:r>
              <a:rPr lang="en" sz="900"/>
              <a:t>"As the company and data rapidly grew, </a:t>
            </a:r>
            <a:r>
              <a:rPr b="1" lang="en" sz="900"/>
              <a:t>BigQuery became a bottleneck</a:t>
            </a:r>
            <a:r>
              <a:rPr lang="en" sz="900"/>
              <a:t>. To avoid contention and performance issues, all requests had to pass through the central data engineering team"</a:t>
            </a:r>
            <a:endParaRPr sz="900"/>
          </a:p>
        </p:txBody>
      </p:sp>
      <p:grpSp>
        <p:nvGrpSpPr>
          <p:cNvPr id="1173" name="Google Shape;1173;p67"/>
          <p:cNvGrpSpPr/>
          <p:nvPr/>
        </p:nvGrpSpPr>
        <p:grpSpPr>
          <a:xfrm>
            <a:off x="6532875" y="1141391"/>
            <a:ext cx="1018200" cy="302639"/>
            <a:chOff x="5382475" y="1113741"/>
            <a:chExt cx="1018200" cy="302639"/>
          </a:xfrm>
        </p:grpSpPr>
        <p:sp>
          <p:nvSpPr>
            <p:cNvPr id="1174" name="Google Shape;1174;p67"/>
            <p:cNvSpPr/>
            <p:nvPr/>
          </p:nvSpPr>
          <p:spPr>
            <a:xfrm>
              <a:off x="5382475" y="1115180"/>
              <a:ext cx="1018200" cy="301200"/>
            </a:xfrm>
            <a:prstGeom prst="rect">
              <a:avLst/>
            </a:prstGeom>
            <a:solidFill>
              <a:srgbClr val="F46C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pic>
          <p:nvPicPr>
            <p:cNvPr id="1175" name="Google Shape;1175;p67"/>
            <p:cNvPicPr preferRelativeResize="0"/>
            <p:nvPr/>
          </p:nvPicPr>
          <p:blipFill>
            <a:blip r:embed="rId6">
              <a:alphaModFix/>
            </a:blip>
            <a:stretch>
              <a:fillRect/>
            </a:stretch>
          </p:blipFill>
          <p:spPr>
            <a:xfrm>
              <a:off x="5630050" y="1113741"/>
              <a:ext cx="502800" cy="293297"/>
            </a:xfrm>
            <a:prstGeom prst="rect">
              <a:avLst/>
            </a:prstGeom>
            <a:noFill/>
            <a:ln>
              <a:noFill/>
            </a:ln>
          </p:spPr>
        </p:pic>
      </p:grpSp>
      <p:sp>
        <p:nvSpPr>
          <p:cNvPr id="1176" name="Google Shape;1176;p67"/>
          <p:cNvSpPr txBox="1"/>
          <p:nvPr/>
        </p:nvSpPr>
        <p:spPr>
          <a:xfrm>
            <a:off x="1388250" y="4313150"/>
            <a:ext cx="2683800" cy="18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*Metrics gathered through Snowflake </a:t>
            </a:r>
            <a:r>
              <a:rPr lang="en" sz="600">
                <a:solidFill>
                  <a:srgbClr val="929292"/>
                </a:solidFill>
              </a:rPr>
              <a:t>c</a:t>
            </a:r>
            <a:r>
              <a:rPr b="0" i="0" lang="en" sz="600" u="none" cap="none" strike="noStrike">
                <a:solidFill>
                  <a:srgbClr val="929292"/>
                </a:solidFill>
                <a:latin typeface="Arial"/>
                <a:ea typeface="Arial"/>
                <a:cs typeface="Arial"/>
                <a:sym typeface="Arial"/>
              </a:rPr>
              <a:t>ustomer Value Realization studies</a:t>
            </a:r>
            <a:endParaRPr b="0" i="0" sz="1400" u="none" cap="none" strike="noStrike">
              <a:solidFill>
                <a:srgbClr val="000000"/>
              </a:solidFill>
              <a:latin typeface="Arial"/>
              <a:ea typeface="Arial"/>
              <a:cs typeface="Arial"/>
              <a:sym typeface="Arial"/>
            </a:endParaRPr>
          </a:p>
        </p:txBody>
      </p:sp>
      <p:pic>
        <p:nvPicPr>
          <p:cNvPr id="1177" name="Google Shape;1177;p67"/>
          <p:cNvPicPr preferRelativeResize="0"/>
          <p:nvPr/>
        </p:nvPicPr>
        <p:blipFill>
          <a:blip r:embed="rId7">
            <a:alphaModFix/>
          </a:blip>
          <a:stretch>
            <a:fillRect/>
          </a:stretch>
        </p:blipFill>
        <p:spPr>
          <a:xfrm>
            <a:off x="6728873" y="3301473"/>
            <a:ext cx="626203" cy="489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pic>
        <p:nvPicPr>
          <p:cNvPr id="1183" name="Google Shape;1183;p68"/>
          <p:cNvPicPr preferRelativeResize="0"/>
          <p:nvPr/>
        </p:nvPicPr>
        <p:blipFill rotWithShape="1">
          <a:blip r:embed="rId3">
            <a:alphaModFix/>
          </a:blip>
          <a:srcRect b="3523" l="0" r="0" t="3514"/>
          <a:stretch/>
        </p:blipFill>
        <p:spPr>
          <a:xfrm>
            <a:off x="1" y="14100"/>
            <a:ext cx="9144003" cy="5665852"/>
          </a:xfrm>
          <a:prstGeom prst="rect">
            <a:avLst/>
          </a:prstGeom>
          <a:noFill/>
          <a:ln>
            <a:noFill/>
          </a:ln>
        </p:spPr>
      </p:pic>
      <p:sp>
        <p:nvSpPr>
          <p:cNvPr id="1184" name="Google Shape;1184;p68"/>
          <p:cNvSpPr/>
          <p:nvPr/>
        </p:nvSpPr>
        <p:spPr>
          <a:xfrm>
            <a:off x="444000" y="675600"/>
            <a:ext cx="4000500" cy="3792300"/>
          </a:xfrm>
          <a:prstGeom prst="roundRect">
            <a:avLst>
              <a:gd fmla="val 2146" name="adj"/>
            </a:avLst>
          </a:prstGeom>
          <a:solidFill>
            <a:srgbClr val="FFFFFF">
              <a:alpha val="89800"/>
            </a:srgbClr>
          </a:solidFill>
          <a:ln>
            <a:noFill/>
          </a:ln>
        </p:spPr>
        <p:txBody>
          <a:bodyPr anchorCtr="0" anchor="t" bIns="182875" lIns="182875" spcFirstLastPara="1" rIns="182875" wrap="square" tIns="640075">
            <a:noAutofit/>
          </a:bodyPr>
          <a:lstStyle/>
          <a:p>
            <a:pPr indent="0" lvl="0" marL="0" marR="0" rtl="0" algn="l">
              <a:lnSpc>
                <a:spcPct val="90000"/>
              </a:lnSpc>
              <a:spcBef>
                <a:spcPts val="0"/>
              </a:spcBef>
              <a:spcAft>
                <a:spcPts val="0"/>
              </a:spcAft>
              <a:buClr>
                <a:srgbClr val="000000"/>
              </a:buClr>
              <a:buSzPts val="2500"/>
              <a:buFont typeface="Arial"/>
              <a:buNone/>
            </a:pPr>
            <a:r>
              <a:t/>
            </a:r>
            <a:endParaRPr b="1" i="0" sz="2500" u="none" cap="none" strike="noStrike">
              <a:solidFill>
                <a:srgbClr val="28B5E8"/>
              </a:solidFill>
              <a:latin typeface="Arial"/>
              <a:ea typeface="Arial"/>
              <a:cs typeface="Arial"/>
              <a:sym typeface="Arial"/>
            </a:endParaRPr>
          </a:p>
          <a:p>
            <a:pPr indent="0" lvl="0" marL="0" marR="0" rtl="0" algn="l">
              <a:lnSpc>
                <a:spcPct val="90000"/>
              </a:lnSpc>
              <a:spcBef>
                <a:spcPts val="1000"/>
              </a:spcBef>
              <a:spcAft>
                <a:spcPts val="1000"/>
              </a:spcAft>
              <a:buClr>
                <a:srgbClr val="000000"/>
              </a:buClr>
              <a:buSzPts val="2300"/>
              <a:buFont typeface="Arial"/>
              <a:buNone/>
            </a:pPr>
            <a:r>
              <a:t/>
            </a:r>
            <a:endParaRPr b="1" i="0" sz="2300" u="none" cap="none" strike="noStrike">
              <a:solidFill>
                <a:srgbClr val="252525"/>
              </a:solidFill>
              <a:latin typeface="Arial"/>
              <a:ea typeface="Arial"/>
              <a:cs typeface="Arial"/>
              <a:sym typeface="Arial"/>
            </a:endParaRPr>
          </a:p>
        </p:txBody>
      </p:sp>
      <p:sp>
        <p:nvSpPr>
          <p:cNvPr id="1185" name="Google Shape;1185;p68"/>
          <p:cNvSpPr txBox="1"/>
          <p:nvPr/>
        </p:nvSpPr>
        <p:spPr>
          <a:xfrm>
            <a:off x="685800" y="1403325"/>
            <a:ext cx="3686100" cy="1300800"/>
          </a:xfrm>
          <a:prstGeom prst="rect">
            <a:avLst/>
          </a:prstGeom>
          <a:noFill/>
          <a:ln>
            <a:noFill/>
          </a:ln>
        </p:spPr>
        <p:txBody>
          <a:bodyPr anchorCtr="0" anchor="t" bIns="45725" lIns="45725" spcFirstLastPara="1" rIns="0" wrap="square" tIns="457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accent1"/>
                </a:solidFill>
                <a:latin typeface="Arial"/>
                <a:ea typeface="Arial"/>
                <a:cs typeface="Arial"/>
                <a:sym typeface="Arial"/>
              </a:rPr>
              <a:t>Wargaming Powers Up Player Happiness With Unified Data And Faster Insights</a:t>
            </a:r>
            <a:endParaRPr b="1" i="0" sz="2000" u="none" cap="none" strike="noStrike">
              <a:solidFill>
                <a:schemeClr val="accen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accent1"/>
              </a:solidFill>
              <a:latin typeface="Arial"/>
              <a:ea typeface="Arial"/>
              <a:cs typeface="Arial"/>
              <a:sym typeface="Arial"/>
            </a:endParaRPr>
          </a:p>
          <a:p>
            <a:pPr indent="0" lvl="0" marL="0" marR="0" rtl="0" algn="l">
              <a:lnSpc>
                <a:spcPct val="90000"/>
              </a:lnSpc>
              <a:spcBef>
                <a:spcPts val="0"/>
              </a:spcBef>
              <a:spcAft>
                <a:spcPts val="1000"/>
              </a:spcAft>
              <a:buClr>
                <a:srgbClr val="000000"/>
              </a:buClr>
              <a:buSzPts val="2100"/>
              <a:buFont typeface="Arial"/>
              <a:buNone/>
            </a:pPr>
            <a:r>
              <a:t/>
            </a:r>
            <a:endParaRPr b="1" i="0" sz="2100" u="none" cap="none" strike="noStrike">
              <a:solidFill>
                <a:schemeClr val="accent1"/>
              </a:solidFill>
              <a:latin typeface="Arial"/>
              <a:ea typeface="Arial"/>
              <a:cs typeface="Arial"/>
              <a:sym typeface="Arial"/>
            </a:endParaRPr>
          </a:p>
        </p:txBody>
      </p:sp>
      <p:sp>
        <p:nvSpPr>
          <p:cNvPr id="1186" name="Google Shape;1186;p68"/>
          <p:cNvSpPr txBox="1"/>
          <p:nvPr/>
        </p:nvSpPr>
        <p:spPr>
          <a:xfrm>
            <a:off x="750525" y="3084463"/>
            <a:ext cx="1425600" cy="898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500"/>
              </a:spcAft>
              <a:buClr>
                <a:srgbClr val="000000"/>
              </a:buClr>
              <a:buSzPts val="1000"/>
              <a:buFont typeface="Arial"/>
              <a:buNone/>
            </a:pPr>
            <a:r>
              <a:rPr b="0" i="0" lang="en" sz="1000" u="none" cap="none" strike="noStrike">
                <a:solidFill>
                  <a:srgbClr val="4E4E4E"/>
                </a:solidFill>
                <a:latin typeface="Arial"/>
                <a:ea typeface="Arial"/>
                <a:cs typeface="Arial"/>
                <a:sym typeface="Arial"/>
              </a:rPr>
              <a:t>Annual savings with Snowflake</a:t>
            </a:r>
            <a:endParaRPr b="0" i="0" sz="1000" u="none" cap="none" strike="noStrike">
              <a:solidFill>
                <a:srgbClr val="000000"/>
              </a:solidFill>
              <a:latin typeface="Arial"/>
              <a:ea typeface="Arial"/>
              <a:cs typeface="Arial"/>
              <a:sym typeface="Arial"/>
            </a:endParaRPr>
          </a:p>
        </p:txBody>
      </p:sp>
      <p:sp>
        <p:nvSpPr>
          <p:cNvPr id="1187" name="Google Shape;1187;p68"/>
          <p:cNvSpPr txBox="1"/>
          <p:nvPr/>
        </p:nvSpPr>
        <p:spPr>
          <a:xfrm>
            <a:off x="750516" y="2627925"/>
            <a:ext cx="1080600" cy="35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1" i="0" lang="en" sz="2700" u="none" cap="none" strike="noStrike">
                <a:solidFill>
                  <a:schemeClr val="accent1"/>
                </a:solidFill>
                <a:latin typeface="Arial"/>
                <a:ea typeface="Arial"/>
                <a:cs typeface="Arial"/>
                <a:sym typeface="Arial"/>
              </a:rPr>
              <a:t>~500K</a:t>
            </a:r>
            <a:endParaRPr b="1" i="0" sz="1200" u="none" cap="none" strike="noStrike">
              <a:solidFill>
                <a:schemeClr val="accent1"/>
              </a:solidFill>
              <a:latin typeface="Arial"/>
              <a:ea typeface="Arial"/>
              <a:cs typeface="Arial"/>
              <a:sym typeface="Arial"/>
            </a:endParaRPr>
          </a:p>
        </p:txBody>
      </p:sp>
      <p:sp>
        <p:nvSpPr>
          <p:cNvPr id="1188" name="Google Shape;1188;p68"/>
          <p:cNvSpPr txBox="1"/>
          <p:nvPr/>
        </p:nvSpPr>
        <p:spPr>
          <a:xfrm>
            <a:off x="2468975" y="2627925"/>
            <a:ext cx="1763700" cy="13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4E4E4E"/>
                </a:solidFill>
                <a:latin typeface="Arial"/>
                <a:ea typeface="Arial"/>
                <a:cs typeface="Arial"/>
                <a:sym typeface="Arial"/>
              </a:rPr>
              <a:t>By migrating from Hadoop and Google BigQuery to Snowflake, Wargaming is saving half a million dollars every year while tapping into data to enhance player experiences and remain on the cutting edge of the gaming industry.</a:t>
            </a:r>
            <a:endParaRPr b="1" i="0" sz="1000" u="none" cap="none" strike="noStrike">
              <a:solidFill>
                <a:srgbClr val="4E4E4E"/>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4E4E4E"/>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t/>
            </a:r>
            <a:endParaRPr b="1" i="0" sz="1000" u="none" cap="none" strike="noStrike">
              <a:solidFill>
                <a:srgbClr val="4E4E4E"/>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000"/>
              <a:buFont typeface="Arial"/>
              <a:buNone/>
            </a:pPr>
            <a:r>
              <a:rPr b="1" i="0" lang="en" sz="1000" u="none" cap="none" strike="noStrike">
                <a:solidFill>
                  <a:srgbClr val="4E4E4E"/>
                </a:solidFill>
                <a:latin typeface="Arial"/>
                <a:ea typeface="Arial"/>
                <a:cs typeface="Arial"/>
                <a:sym typeface="Arial"/>
              </a:rPr>
              <a:t> </a:t>
            </a:r>
            <a:endParaRPr b="1" i="0" sz="1000" u="none" cap="none" strike="noStrike">
              <a:solidFill>
                <a:srgbClr val="4E4E4E"/>
              </a:solidFill>
              <a:latin typeface="Arial"/>
              <a:ea typeface="Arial"/>
              <a:cs typeface="Arial"/>
              <a:sym typeface="Arial"/>
            </a:endParaRPr>
          </a:p>
        </p:txBody>
      </p:sp>
      <p:sp>
        <p:nvSpPr>
          <p:cNvPr id="1189" name="Google Shape;1189;p68"/>
          <p:cNvSpPr txBox="1"/>
          <p:nvPr>
            <p:ph idx="1" type="body"/>
          </p:nvPr>
        </p:nvSpPr>
        <p:spPr>
          <a:xfrm>
            <a:off x="660675" y="4076925"/>
            <a:ext cx="2666100" cy="477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800"/>
              <a:buNone/>
            </a:pPr>
            <a:r>
              <a:rPr b="1" lang="en" sz="1000">
                <a:solidFill>
                  <a:schemeClr val="dk2"/>
                </a:solidFill>
              </a:rPr>
              <a:t>View </a:t>
            </a:r>
            <a:r>
              <a:rPr b="1" lang="en" sz="1000" u="sng">
                <a:solidFill>
                  <a:schemeClr val="hlink"/>
                </a:solidFill>
                <a:hlinkClick r:id="rId4"/>
              </a:rPr>
              <a:t>Full Case Study</a:t>
            </a:r>
            <a:r>
              <a:rPr b="1" lang="en" sz="1000">
                <a:solidFill>
                  <a:schemeClr val="dk2"/>
                </a:solidFill>
              </a:rPr>
              <a:t> </a:t>
            </a:r>
            <a:endParaRPr b="1" sz="1000">
              <a:solidFill>
                <a:schemeClr val="dk2"/>
              </a:solidFill>
            </a:endParaRPr>
          </a:p>
          <a:p>
            <a:pPr indent="0" lvl="0" marL="0" rtl="0" algn="l">
              <a:lnSpc>
                <a:spcPct val="115000"/>
              </a:lnSpc>
              <a:spcBef>
                <a:spcPts val="0"/>
              </a:spcBef>
              <a:spcAft>
                <a:spcPts val="1000"/>
              </a:spcAft>
              <a:buSzPts val="1800"/>
              <a:buNone/>
            </a:pPr>
            <a:r>
              <a:t/>
            </a:r>
            <a:endParaRPr sz="900"/>
          </a:p>
        </p:txBody>
      </p:sp>
      <p:grpSp>
        <p:nvGrpSpPr>
          <p:cNvPr id="1190" name="Google Shape;1190;p68"/>
          <p:cNvGrpSpPr/>
          <p:nvPr/>
        </p:nvGrpSpPr>
        <p:grpSpPr>
          <a:xfrm>
            <a:off x="2097207" y="4188873"/>
            <a:ext cx="99373" cy="99203"/>
            <a:chOff x="5815058" y="2571751"/>
            <a:chExt cx="840006" cy="838568"/>
          </a:xfrm>
        </p:grpSpPr>
        <p:cxnSp>
          <p:nvCxnSpPr>
            <p:cNvPr id="1191" name="Google Shape;1191;p68"/>
            <p:cNvCxnSpPr/>
            <p:nvPr/>
          </p:nvCxnSpPr>
          <p:spPr>
            <a:xfrm flipH="1" rot="10800000">
              <a:off x="6048531" y="2580949"/>
              <a:ext cx="597900" cy="597900"/>
            </a:xfrm>
            <a:prstGeom prst="straightConnector1">
              <a:avLst/>
            </a:prstGeom>
            <a:noFill/>
            <a:ln cap="rnd" cmpd="sng" w="19050">
              <a:solidFill>
                <a:schemeClr val="dk2"/>
              </a:solidFill>
              <a:prstDash val="solid"/>
              <a:miter lim="800000"/>
              <a:headEnd len="sm" w="sm" type="none"/>
              <a:tailEnd len="sm" w="sm" type="none"/>
            </a:ln>
          </p:spPr>
        </p:cxnSp>
        <p:sp>
          <p:nvSpPr>
            <p:cNvPr id="1192" name="Google Shape;1192;p68"/>
            <p:cNvSpPr/>
            <p:nvPr/>
          </p:nvSpPr>
          <p:spPr>
            <a:xfrm>
              <a:off x="6327366" y="2571751"/>
              <a:ext cx="327698" cy="302852"/>
            </a:xfrm>
            <a:custGeom>
              <a:rect b="b" l="l" r="r" t="t"/>
              <a:pathLst>
                <a:path extrusionOk="0" h="734187" w="794419">
                  <a:moveTo>
                    <a:pt x="0" y="0"/>
                  </a:moveTo>
                  <a:lnTo>
                    <a:pt x="765045" y="0"/>
                  </a:lnTo>
                  <a:cubicBezTo>
                    <a:pt x="781268" y="0"/>
                    <a:pt x="794419" y="13151"/>
                    <a:pt x="794419" y="29374"/>
                  </a:cubicBezTo>
                  <a:lnTo>
                    <a:pt x="794419" y="734187"/>
                  </a:lnTo>
                </a:path>
              </a:pathLst>
            </a:custGeom>
            <a:noFill/>
            <a:ln cap="rnd" cmpd="sng" w="190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3" name="Google Shape;1193;p68"/>
            <p:cNvSpPr/>
            <p:nvPr/>
          </p:nvSpPr>
          <p:spPr>
            <a:xfrm>
              <a:off x="5815058" y="2742570"/>
              <a:ext cx="666954" cy="667749"/>
            </a:xfrm>
            <a:custGeom>
              <a:rect b="b" l="l" r="r" t="t"/>
              <a:pathLst>
                <a:path extrusionOk="0" h="533133" w="532498">
                  <a:moveTo>
                    <a:pt x="532498" y="209267"/>
                  </a:moveTo>
                  <a:lnTo>
                    <a:pt x="532498" y="476901"/>
                  </a:lnTo>
                  <a:cubicBezTo>
                    <a:pt x="532498" y="507957"/>
                    <a:pt x="507322" y="533133"/>
                    <a:pt x="476266" y="533133"/>
                  </a:cubicBezTo>
                  <a:lnTo>
                    <a:pt x="56232" y="533133"/>
                  </a:lnTo>
                  <a:cubicBezTo>
                    <a:pt x="25176" y="533133"/>
                    <a:pt x="0" y="507957"/>
                    <a:pt x="0" y="476901"/>
                  </a:cubicBezTo>
                  <a:lnTo>
                    <a:pt x="0" y="56867"/>
                  </a:lnTo>
                  <a:cubicBezTo>
                    <a:pt x="0" y="25811"/>
                    <a:pt x="25176" y="635"/>
                    <a:pt x="56232" y="635"/>
                  </a:cubicBezTo>
                  <a:lnTo>
                    <a:pt x="285131" y="0"/>
                  </a:lnTo>
                </a:path>
              </a:pathLst>
            </a:custGeom>
            <a:noFill/>
            <a:ln cap="rnd" cmpd="sng" w="190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id="1194" name="Google Shape;1194;p68"/>
          <p:cNvPicPr preferRelativeResize="0"/>
          <p:nvPr/>
        </p:nvPicPr>
        <p:blipFill rotWithShape="1">
          <a:blip r:embed="rId5">
            <a:alphaModFix/>
          </a:blip>
          <a:srcRect b="0" l="0" r="0" t="0"/>
          <a:stretch/>
        </p:blipFill>
        <p:spPr>
          <a:xfrm>
            <a:off x="583038" y="697475"/>
            <a:ext cx="2821350" cy="83484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pic>
        <p:nvPicPr>
          <p:cNvPr id="1199" name="Google Shape;1199;p69"/>
          <p:cNvPicPr preferRelativeResize="0"/>
          <p:nvPr/>
        </p:nvPicPr>
        <p:blipFill rotWithShape="1">
          <a:blip r:embed="rId3">
            <a:alphaModFix/>
          </a:blip>
          <a:srcRect b="7807" l="0" r="0" t="7798"/>
          <a:stretch/>
        </p:blipFill>
        <p:spPr>
          <a:xfrm>
            <a:off x="0" y="0"/>
            <a:ext cx="9144003" cy="5143494"/>
          </a:xfrm>
          <a:prstGeom prst="rect">
            <a:avLst/>
          </a:prstGeom>
          <a:noFill/>
          <a:ln>
            <a:noFill/>
          </a:ln>
        </p:spPr>
      </p:pic>
      <p:sp>
        <p:nvSpPr>
          <p:cNvPr id="1200" name="Google Shape;1200;p69"/>
          <p:cNvSpPr/>
          <p:nvPr/>
        </p:nvSpPr>
        <p:spPr>
          <a:xfrm>
            <a:off x="457200" y="675600"/>
            <a:ext cx="4000500" cy="3792300"/>
          </a:xfrm>
          <a:prstGeom prst="roundRect">
            <a:avLst>
              <a:gd fmla="val 2146" name="adj"/>
            </a:avLst>
          </a:prstGeom>
          <a:solidFill>
            <a:srgbClr val="FFFFFF">
              <a:alpha val="89800"/>
            </a:srgbClr>
          </a:solidFill>
          <a:ln>
            <a:noFill/>
          </a:ln>
        </p:spPr>
        <p:txBody>
          <a:bodyPr anchorCtr="0" anchor="t" bIns="182875" lIns="182875" spcFirstLastPara="1" rIns="182875" wrap="square" tIns="640075">
            <a:noAutofit/>
          </a:bodyPr>
          <a:lstStyle/>
          <a:p>
            <a:pPr indent="0" lvl="0" marL="0" marR="0" rtl="0" algn="l">
              <a:lnSpc>
                <a:spcPct val="90000"/>
              </a:lnSpc>
              <a:spcBef>
                <a:spcPts val="0"/>
              </a:spcBef>
              <a:spcAft>
                <a:spcPts val="0"/>
              </a:spcAft>
              <a:buClr>
                <a:srgbClr val="000000"/>
              </a:buClr>
              <a:buSzPts val="2500"/>
              <a:buFont typeface="Arial"/>
              <a:buNone/>
            </a:pPr>
            <a:r>
              <a:t/>
            </a:r>
            <a:endParaRPr b="1" i="0" sz="2500" u="none" cap="none" strike="noStrike">
              <a:solidFill>
                <a:srgbClr val="28B5E8"/>
              </a:solidFill>
              <a:latin typeface="Arial"/>
              <a:ea typeface="Arial"/>
              <a:cs typeface="Arial"/>
              <a:sym typeface="Arial"/>
            </a:endParaRPr>
          </a:p>
          <a:p>
            <a:pPr indent="0" lvl="0" marL="0" marR="0" rtl="0" algn="l">
              <a:lnSpc>
                <a:spcPct val="90000"/>
              </a:lnSpc>
              <a:spcBef>
                <a:spcPts val="1000"/>
              </a:spcBef>
              <a:spcAft>
                <a:spcPts val="1000"/>
              </a:spcAft>
              <a:buClr>
                <a:srgbClr val="000000"/>
              </a:buClr>
              <a:buSzPts val="2300"/>
              <a:buFont typeface="Arial"/>
              <a:buNone/>
            </a:pPr>
            <a:r>
              <a:t/>
            </a:r>
            <a:endParaRPr b="1" i="0" sz="2300" u="none" cap="none" strike="noStrike">
              <a:solidFill>
                <a:srgbClr val="252525"/>
              </a:solidFill>
              <a:latin typeface="Arial"/>
              <a:ea typeface="Arial"/>
              <a:cs typeface="Arial"/>
              <a:sym typeface="Arial"/>
            </a:endParaRPr>
          </a:p>
        </p:txBody>
      </p:sp>
      <p:sp>
        <p:nvSpPr>
          <p:cNvPr id="1201" name="Google Shape;1201;p69"/>
          <p:cNvSpPr txBox="1"/>
          <p:nvPr/>
        </p:nvSpPr>
        <p:spPr>
          <a:xfrm>
            <a:off x="685800" y="1403325"/>
            <a:ext cx="3697500" cy="1300800"/>
          </a:xfrm>
          <a:prstGeom prst="rect">
            <a:avLst/>
          </a:prstGeom>
          <a:noFill/>
          <a:ln>
            <a:noFill/>
          </a:ln>
        </p:spPr>
        <p:txBody>
          <a:bodyPr anchorCtr="0" anchor="t" bIns="45725" lIns="45725" spcFirstLastPara="1" rIns="0" wrap="square" tIns="45725">
            <a:noAutofit/>
          </a:bodyPr>
          <a:lstStyle/>
          <a:p>
            <a:pPr indent="0" lvl="0" marL="0" marR="0" rtl="0" algn="l">
              <a:lnSpc>
                <a:spcPct val="90000"/>
              </a:lnSpc>
              <a:spcBef>
                <a:spcPts val="0"/>
              </a:spcBef>
              <a:spcAft>
                <a:spcPts val="0"/>
              </a:spcAft>
              <a:buClr>
                <a:srgbClr val="000000"/>
              </a:buClr>
              <a:buSzPts val="2000"/>
              <a:buFont typeface="Arial"/>
              <a:buNone/>
            </a:pPr>
            <a:r>
              <a:rPr b="1" i="0" lang="en" sz="2000" u="none" cap="none" strike="noStrike">
                <a:solidFill>
                  <a:schemeClr val="accent1"/>
                </a:solidFill>
                <a:latin typeface="Arial"/>
                <a:ea typeface="Arial"/>
                <a:cs typeface="Arial"/>
                <a:sym typeface="Arial"/>
              </a:rPr>
              <a:t>BIG FISH GAMES LAUNCHES AND DEVELOPS GAMES FASTER WITH SNOWFLAKE</a:t>
            </a:r>
            <a:endParaRPr b="1" i="0" sz="2000" u="none" cap="none" strike="noStrike">
              <a:solidFill>
                <a:schemeClr val="accent1"/>
              </a:solidFill>
              <a:latin typeface="Arial"/>
              <a:ea typeface="Arial"/>
              <a:cs typeface="Arial"/>
              <a:sym typeface="Arial"/>
            </a:endParaRPr>
          </a:p>
          <a:p>
            <a:pPr indent="0" lvl="0" marL="0" marR="0" rtl="0" algn="l">
              <a:lnSpc>
                <a:spcPct val="90000"/>
              </a:lnSpc>
              <a:spcBef>
                <a:spcPts val="0"/>
              </a:spcBef>
              <a:spcAft>
                <a:spcPts val="1000"/>
              </a:spcAft>
              <a:buClr>
                <a:srgbClr val="000000"/>
              </a:buClr>
              <a:buSzPts val="2000"/>
              <a:buFont typeface="Arial"/>
              <a:buNone/>
            </a:pPr>
            <a:r>
              <a:t/>
            </a:r>
            <a:endParaRPr b="1" i="0" sz="2000" u="none" cap="none" strike="noStrike">
              <a:solidFill>
                <a:schemeClr val="accent1"/>
              </a:solidFill>
              <a:latin typeface="Arial"/>
              <a:ea typeface="Arial"/>
              <a:cs typeface="Arial"/>
              <a:sym typeface="Arial"/>
            </a:endParaRPr>
          </a:p>
        </p:txBody>
      </p:sp>
      <p:sp>
        <p:nvSpPr>
          <p:cNvPr id="1202" name="Google Shape;1202;p69"/>
          <p:cNvSpPr txBox="1"/>
          <p:nvPr/>
        </p:nvSpPr>
        <p:spPr>
          <a:xfrm>
            <a:off x="745075" y="2571750"/>
            <a:ext cx="1477500" cy="35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accent1"/>
                </a:solidFill>
                <a:latin typeface="Arial"/>
                <a:ea typeface="Arial"/>
                <a:cs typeface="Arial"/>
                <a:sym typeface="Arial"/>
              </a:rPr>
              <a:t>99%</a:t>
            </a:r>
            <a:endParaRPr b="1" i="0" sz="2800" u="none" cap="none" strike="noStrike">
              <a:solidFill>
                <a:schemeClr val="accent1"/>
              </a:solidFill>
              <a:latin typeface="Arial"/>
              <a:ea typeface="Arial"/>
              <a:cs typeface="Arial"/>
              <a:sym typeface="Arial"/>
            </a:endParaRPr>
          </a:p>
        </p:txBody>
      </p:sp>
      <p:sp>
        <p:nvSpPr>
          <p:cNvPr id="1203" name="Google Shape;1203;p69"/>
          <p:cNvSpPr txBox="1"/>
          <p:nvPr/>
        </p:nvSpPr>
        <p:spPr>
          <a:xfrm>
            <a:off x="724825" y="3044675"/>
            <a:ext cx="1518000" cy="106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B5B5B"/>
                </a:solidFill>
                <a:latin typeface="Arial"/>
                <a:ea typeface="Arial"/>
                <a:cs typeface="Arial"/>
                <a:sym typeface="Arial"/>
              </a:rPr>
              <a:t>Faster time to analytics after releasing new in-game missions and other live-ops content</a:t>
            </a:r>
            <a:endParaRPr b="0"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1567F"/>
                </a:solidFill>
                <a:latin typeface="Arial"/>
                <a:ea typeface="Arial"/>
                <a:cs typeface="Arial"/>
                <a:sym typeface="Arial"/>
              </a:rPr>
              <a:t>View </a:t>
            </a:r>
            <a:r>
              <a:rPr b="1" i="0" lang="en" sz="1000" u="sng" cap="none" strike="noStrike">
                <a:solidFill>
                  <a:schemeClr val="hlink"/>
                </a:solidFill>
                <a:latin typeface="Arial"/>
                <a:ea typeface="Arial"/>
                <a:cs typeface="Arial"/>
                <a:sym typeface="Arial"/>
                <a:hlinkClick r:id="rId4"/>
              </a:rPr>
              <a:t>Full Case Study</a:t>
            </a:r>
            <a:r>
              <a:rPr b="1" i="0" lang="en" sz="1000" u="none" cap="none" strike="noStrike">
                <a:solidFill>
                  <a:srgbClr val="5B5B5B"/>
                </a:solidFill>
                <a:latin typeface="Arial"/>
                <a:ea typeface="Arial"/>
                <a:cs typeface="Arial"/>
                <a:sym typeface="Arial"/>
              </a:rPr>
              <a:t> </a:t>
            </a:r>
            <a:endParaRPr b="1"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5B5B5B"/>
              </a:solidFill>
              <a:latin typeface="Arial"/>
              <a:ea typeface="Arial"/>
              <a:cs typeface="Arial"/>
              <a:sym typeface="Arial"/>
            </a:endParaRPr>
          </a:p>
        </p:txBody>
      </p:sp>
      <p:sp>
        <p:nvSpPr>
          <p:cNvPr id="1204" name="Google Shape;1204;p69"/>
          <p:cNvSpPr txBox="1"/>
          <p:nvPr/>
        </p:nvSpPr>
        <p:spPr>
          <a:xfrm>
            <a:off x="2608276" y="2551725"/>
            <a:ext cx="1518000" cy="106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5B5B5B"/>
                </a:solidFill>
                <a:latin typeface="Arial"/>
                <a:ea typeface="Arial"/>
                <a:cs typeface="Arial"/>
                <a:sym typeface="Arial"/>
              </a:rPr>
              <a:t>With the partitioning and allocation of compute resources provided by Snowflake, Big Fish Games provides external developers with a platform they can work autonomously within to analyze, transform, and share data.</a:t>
            </a:r>
            <a:endParaRPr b="1"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5B5B5B"/>
              </a:solidFill>
              <a:latin typeface="Arial"/>
              <a:ea typeface="Arial"/>
              <a:cs typeface="Arial"/>
              <a:sym typeface="Arial"/>
            </a:endParaRPr>
          </a:p>
        </p:txBody>
      </p:sp>
      <p:grpSp>
        <p:nvGrpSpPr>
          <p:cNvPr id="1205" name="Google Shape;1205;p69"/>
          <p:cNvGrpSpPr/>
          <p:nvPr/>
        </p:nvGrpSpPr>
        <p:grpSpPr>
          <a:xfrm>
            <a:off x="2034507" y="4137048"/>
            <a:ext cx="99373" cy="99203"/>
            <a:chOff x="5815058" y="2571751"/>
            <a:chExt cx="840006" cy="838568"/>
          </a:xfrm>
        </p:grpSpPr>
        <p:cxnSp>
          <p:nvCxnSpPr>
            <p:cNvPr id="1206" name="Google Shape;1206;p69"/>
            <p:cNvCxnSpPr/>
            <p:nvPr/>
          </p:nvCxnSpPr>
          <p:spPr>
            <a:xfrm flipH="1" rot="10800000">
              <a:off x="6048531" y="2580949"/>
              <a:ext cx="597900" cy="597900"/>
            </a:xfrm>
            <a:prstGeom prst="straightConnector1">
              <a:avLst/>
            </a:prstGeom>
            <a:noFill/>
            <a:ln cap="rnd" cmpd="sng" w="19050">
              <a:solidFill>
                <a:schemeClr val="dk2"/>
              </a:solidFill>
              <a:prstDash val="solid"/>
              <a:miter lim="800000"/>
              <a:headEnd len="sm" w="sm" type="none"/>
              <a:tailEnd len="sm" w="sm" type="none"/>
            </a:ln>
          </p:spPr>
        </p:cxnSp>
        <p:sp>
          <p:nvSpPr>
            <p:cNvPr id="1207" name="Google Shape;1207;p69"/>
            <p:cNvSpPr/>
            <p:nvPr/>
          </p:nvSpPr>
          <p:spPr>
            <a:xfrm>
              <a:off x="6327366" y="2571751"/>
              <a:ext cx="327698" cy="302852"/>
            </a:xfrm>
            <a:custGeom>
              <a:rect b="b" l="l" r="r" t="t"/>
              <a:pathLst>
                <a:path extrusionOk="0" h="734187" w="794419">
                  <a:moveTo>
                    <a:pt x="0" y="0"/>
                  </a:moveTo>
                  <a:lnTo>
                    <a:pt x="765045" y="0"/>
                  </a:lnTo>
                  <a:cubicBezTo>
                    <a:pt x="781268" y="0"/>
                    <a:pt x="794419" y="13151"/>
                    <a:pt x="794419" y="29374"/>
                  </a:cubicBezTo>
                  <a:lnTo>
                    <a:pt x="794419" y="734187"/>
                  </a:lnTo>
                </a:path>
              </a:pathLst>
            </a:custGeom>
            <a:noFill/>
            <a:ln cap="rnd" cmpd="sng" w="190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08" name="Google Shape;1208;p69"/>
            <p:cNvSpPr/>
            <p:nvPr/>
          </p:nvSpPr>
          <p:spPr>
            <a:xfrm>
              <a:off x="5815058" y="2742570"/>
              <a:ext cx="666954" cy="667749"/>
            </a:xfrm>
            <a:custGeom>
              <a:rect b="b" l="l" r="r" t="t"/>
              <a:pathLst>
                <a:path extrusionOk="0" h="533133" w="532498">
                  <a:moveTo>
                    <a:pt x="532498" y="209267"/>
                  </a:moveTo>
                  <a:lnTo>
                    <a:pt x="532498" y="476901"/>
                  </a:lnTo>
                  <a:cubicBezTo>
                    <a:pt x="532498" y="507957"/>
                    <a:pt x="507322" y="533133"/>
                    <a:pt x="476266" y="533133"/>
                  </a:cubicBezTo>
                  <a:lnTo>
                    <a:pt x="56232" y="533133"/>
                  </a:lnTo>
                  <a:cubicBezTo>
                    <a:pt x="25176" y="533133"/>
                    <a:pt x="0" y="507957"/>
                    <a:pt x="0" y="476901"/>
                  </a:cubicBezTo>
                  <a:lnTo>
                    <a:pt x="0" y="56867"/>
                  </a:lnTo>
                  <a:cubicBezTo>
                    <a:pt x="0" y="25811"/>
                    <a:pt x="25176" y="635"/>
                    <a:pt x="56232" y="635"/>
                  </a:cubicBezTo>
                  <a:lnTo>
                    <a:pt x="285131" y="0"/>
                  </a:lnTo>
                </a:path>
              </a:pathLst>
            </a:custGeom>
            <a:noFill/>
            <a:ln cap="rnd" cmpd="sng" w="190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id="1209" name="Google Shape;1209;p69"/>
          <p:cNvPicPr preferRelativeResize="0"/>
          <p:nvPr/>
        </p:nvPicPr>
        <p:blipFill rotWithShape="1">
          <a:blip r:embed="rId5">
            <a:alphaModFix/>
          </a:blip>
          <a:srcRect b="0" l="0" r="0" t="0"/>
          <a:stretch/>
        </p:blipFill>
        <p:spPr>
          <a:xfrm>
            <a:off x="745075" y="770337"/>
            <a:ext cx="713800" cy="556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pic>
        <p:nvPicPr>
          <p:cNvPr id="1214" name="Google Shape;1214;p70"/>
          <p:cNvPicPr preferRelativeResize="0"/>
          <p:nvPr/>
        </p:nvPicPr>
        <p:blipFill rotWithShape="1">
          <a:blip r:embed="rId3">
            <a:alphaModFix/>
          </a:blip>
          <a:srcRect b="0" l="7251" r="7242" t="0"/>
          <a:stretch/>
        </p:blipFill>
        <p:spPr>
          <a:xfrm>
            <a:off x="0" y="0"/>
            <a:ext cx="9144003" cy="5143495"/>
          </a:xfrm>
          <a:prstGeom prst="rect">
            <a:avLst/>
          </a:prstGeom>
          <a:noFill/>
          <a:ln>
            <a:noFill/>
          </a:ln>
        </p:spPr>
      </p:pic>
      <p:sp>
        <p:nvSpPr>
          <p:cNvPr id="1215" name="Google Shape;1215;p70"/>
          <p:cNvSpPr/>
          <p:nvPr/>
        </p:nvSpPr>
        <p:spPr>
          <a:xfrm>
            <a:off x="457200" y="675600"/>
            <a:ext cx="4000500" cy="3792300"/>
          </a:xfrm>
          <a:prstGeom prst="roundRect">
            <a:avLst>
              <a:gd fmla="val 2146" name="adj"/>
            </a:avLst>
          </a:prstGeom>
          <a:solidFill>
            <a:srgbClr val="FFFFFF">
              <a:alpha val="89800"/>
            </a:srgbClr>
          </a:solidFill>
          <a:ln>
            <a:noFill/>
          </a:ln>
        </p:spPr>
        <p:txBody>
          <a:bodyPr anchorCtr="0" anchor="t" bIns="182875" lIns="182875" spcFirstLastPara="1" rIns="182875" wrap="square" tIns="640075">
            <a:noAutofit/>
          </a:bodyPr>
          <a:lstStyle/>
          <a:p>
            <a:pPr indent="0" lvl="0" marL="0" marR="0" rtl="0" algn="l">
              <a:lnSpc>
                <a:spcPct val="90000"/>
              </a:lnSpc>
              <a:spcBef>
                <a:spcPts val="0"/>
              </a:spcBef>
              <a:spcAft>
                <a:spcPts val="0"/>
              </a:spcAft>
              <a:buClr>
                <a:srgbClr val="000000"/>
              </a:buClr>
              <a:buSzPts val="2500"/>
              <a:buFont typeface="Arial"/>
              <a:buNone/>
            </a:pPr>
            <a:r>
              <a:t/>
            </a:r>
            <a:endParaRPr b="1" i="0" sz="2500" u="none" cap="none" strike="noStrike">
              <a:solidFill>
                <a:srgbClr val="28B5E8"/>
              </a:solidFill>
              <a:latin typeface="Arial"/>
              <a:ea typeface="Arial"/>
              <a:cs typeface="Arial"/>
              <a:sym typeface="Arial"/>
            </a:endParaRPr>
          </a:p>
          <a:p>
            <a:pPr indent="0" lvl="0" marL="0" marR="0" rtl="0" algn="l">
              <a:lnSpc>
                <a:spcPct val="90000"/>
              </a:lnSpc>
              <a:spcBef>
                <a:spcPts val="1000"/>
              </a:spcBef>
              <a:spcAft>
                <a:spcPts val="1000"/>
              </a:spcAft>
              <a:buClr>
                <a:srgbClr val="000000"/>
              </a:buClr>
              <a:buSzPts val="2300"/>
              <a:buFont typeface="Arial"/>
              <a:buNone/>
            </a:pPr>
            <a:r>
              <a:t/>
            </a:r>
            <a:endParaRPr b="1" i="0" sz="2300" u="none" cap="none" strike="noStrike">
              <a:solidFill>
                <a:srgbClr val="252525"/>
              </a:solidFill>
              <a:latin typeface="Arial"/>
              <a:ea typeface="Arial"/>
              <a:cs typeface="Arial"/>
              <a:sym typeface="Arial"/>
            </a:endParaRPr>
          </a:p>
        </p:txBody>
      </p:sp>
      <p:sp>
        <p:nvSpPr>
          <p:cNvPr id="1216" name="Google Shape;1216;p70"/>
          <p:cNvSpPr txBox="1"/>
          <p:nvPr/>
        </p:nvSpPr>
        <p:spPr>
          <a:xfrm>
            <a:off x="685800" y="1403325"/>
            <a:ext cx="3697500" cy="1300800"/>
          </a:xfrm>
          <a:prstGeom prst="rect">
            <a:avLst/>
          </a:prstGeom>
          <a:noFill/>
          <a:ln>
            <a:noFill/>
          </a:ln>
        </p:spPr>
        <p:txBody>
          <a:bodyPr anchorCtr="0" anchor="t" bIns="45725" lIns="45725" spcFirstLastPara="1" rIns="0" wrap="square" tIns="45725">
            <a:noAutofit/>
          </a:bodyPr>
          <a:lstStyle/>
          <a:p>
            <a:pPr indent="0" lvl="0" marL="0" marR="0" rtl="0" algn="l">
              <a:lnSpc>
                <a:spcPct val="90000"/>
              </a:lnSpc>
              <a:spcBef>
                <a:spcPts val="0"/>
              </a:spcBef>
              <a:spcAft>
                <a:spcPts val="1000"/>
              </a:spcAft>
              <a:buClr>
                <a:srgbClr val="000000"/>
              </a:buClr>
              <a:buSzPts val="2400"/>
              <a:buFont typeface="Arial"/>
              <a:buNone/>
            </a:pPr>
            <a:r>
              <a:rPr b="1" i="0" lang="en" sz="2400" u="none" cap="none" strike="noStrike">
                <a:solidFill>
                  <a:schemeClr val="accent1"/>
                </a:solidFill>
                <a:latin typeface="Arial"/>
                <a:ea typeface="Arial"/>
                <a:cs typeface="Arial"/>
                <a:sym typeface="Arial"/>
              </a:rPr>
              <a:t>Bumble Scales Up While Keeping Costs Down</a:t>
            </a:r>
            <a:endParaRPr b="1" i="0" sz="2400" u="none" cap="none" strike="noStrike">
              <a:solidFill>
                <a:schemeClr val="accent1"/>
              </a:solidFill>
              <a:latin typeface="Arial"/>
              <a:ea typeface="Arial"/>
              <a:cs typeface="Arial"/>
              <a:sym typeface="Arial"/>
            </a:endParaRPr>
          </a:p>
        </p:txBody>
      </p:sp>
      <p:sp>
        <p:nvSpPr>
          <p:cNvPr id="1217" name="Google Shape;1217;p70"/>
          <p:cNvSpPr txBox="1"/>
          <p:nvPr/>
        </p:nvSpPr>
        <p:spPr>
          <a:xfrm>
            <a:off x="745075" y="2495550"/>
            <a:ext cx="1477500" cy="35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accent1"/>
                </a:solidFill>
                <a:latin typeface="Arial"/>
                <a:ea typeface="Arial"/>
                <a:cs typeface="Arial"/>
                <a:sym typeface="Arial"/>
              </a:rPr>
              <a:t>200+</a:t>
            </a:r>
            <a:endParaRPr b="1" i="0" sz="2800" u="none" cap="none" strike="noStrike">
              <a:solidFill>
                <a:schemeClr val="accent1"/>
              </a:solidFill>
              <a:latin typeface="Arial"/>
              <a:ea typeface="Arial"/>
              <a:cs typeface="Arial"/>
              <a:sym typeface="Arial"/>
            </a:endParaRPr>
          </a:p>
        </p:txBody>
      </p:sp>
      <p:sp>
        <p:nvSpPr>
          <p:cNvPr id="1218" name="Google Shape;1218;p70"/>
          <p:cNvSpPr txBox="1"/>
          <p:nvPr/>
        </p:nvSpPr>
        <p:spPr>
          <a:xfrm>
            <a:off x="724825" y="2892275"/>
            <a:ext cx="1518000" cy="106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B5B5B"/>
                </a:solidFill>
                <a:latin typeface="Arial"/>
                <a:ea typeface="Arial"/>
                <a:cs typeface="Arial"/>
                <a:sym typeface="Arial"/>
              </a:rPr>
              <a:t>Users without impact on query performance</a:t>
            </a:r>
            <a:endParaRPr b="0"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 sz="1000" u="sng" cap="none" strike="noStrike">
                <a:solidFill>
                  <a:srgbClr val="11567F"/>
                </a:solidFill>
                <a:latin typeface="Arial"/>
                <a:ea typeface="Arial"/>
                <a:cs typeface="Arial"/>
                <a:sym typeface="Arial"/>
              </a:rPr>
              <a:t>View </a:t>
            </a:r>
            <a:r>
              <a:rPr b="1" i="0" lang="en" sz="1000" u="sng" cap="none" strike="noStrike">
                <a:solidFill>
                  <a:schemeClr val="hlink"/>
                </a:solidFill>
                <a:latin typeface="Arial"/>
                <a:ea typeface="Arial"/>
                <a:cs typeface="Arial"/>
                <a:sym typeface="Arial"/>
                <a:hlinkClick r:id="rId4"/>
              </a:rPr>
              <a:t>Full Case Study</a:t>
            </a:r>
            <a:r>
              <a:rPr b="1" i="0" lang="en" sz="1000" u="sng" cap="none" strike="noStrike">
                <a:solidFill>
                  <a:schemeClr val="dk2"/>
                </a:solidFill>
                <a:latin typeface="Arial"/>
                <a:ea typeface="Arial"/>
                <a:cs typeface="Arial"/>
                <a:sym typeface="Arial"/>
              </a:rPr>
              <a:t> </a:t>
            </a:r>
            <a:endParaRPr b="1" i="0" sz="1000" u="sng"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5B5B5B"/>
              </a:solidFill>
              <a:latin typeface="Arial"/>
              <a:ea typeface="Arial"/>
              <a:cs typeface="Arial"/>
              <a:sym typeface="Arial"/>
            </a:endParaRPr>
          </a:p>
        </p:txBody>
      </p:sp>
      <p:sp>
        <p:nvSpPr>
          <p:cNvPr id="1219" name="Google Shape;1219;p70"/>
          <p:cNvSpPr txBox="1"/>
          <p:nvPr/>
        </p:nvSpPr>
        <p:spPr>
          <a:xfrm>
            <a:off x="2532075" y="2551725"/>
            <a:ext cx="1679400" cy="106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5B5B5B"/>
                </a:solidFill>
                <a:latin typeface="Arial"/>
                <a:ea typeface="Arial"/>
                <a:cs typeface="Arial"/>
                <a:sym typeface="Arial"/>
              </a:rPr>
              <a:t>With Snowflake as its single platform for its data warehouses, business intelligence, data lake and beyond, Bumble has democratized data, boosted collaboration and fueled innovation.</a:t>
            </a:r>
            <a:endParaRPr b="1" i="0" sz="1000" u="none" cap="none" strike="noStrike">
              <a:solidFill>
                <a:srgbClr val="5B5B5B"/>
              </a:solidFill>
              <a:latin typeface="Arial"/>
              <a:ea typeface="Arial"/>
              <a:cs typeface="Arial"/>
              <a:sym typeface="Arial"/>
            </a:endParaRPr>
          </a:p>
        </p:txBody>
      </p:sp>
      <p:grpSp>
        <p:nvGrpSpPr>
          <p:cNvPr id="1220" name="Google Shape;1220;p70"/>
          <p:cNvGrpSpPr/>
          <p:nvPr/>
        </p:nvGrpSpPr>
        <p:grpSpPr>
          <a:xfrm>
            <a:off x="2034507" y="3603648"/>
            <a:ext cx="99373" cy="99203"/>
            <a:chOff x="5815058" y="2571751"/>
            <a:chExt cx="840006" cy="838568"/>
          </a:xfrm>
        </p:grpSpPr>
        <p:cxnSp>
          <p:nvCxnSpPr>
            <p:cNvPr id="1221" name="Google Shape;1221;p70"/>
            <p:cNvCxnSpPr/>
            <p:nvPr/>
          </p:nvCxnSpPr>
          <p:spPr>
            <a:xfrm flipH="1" rot="10800000">
              <a:off x="6048531" y="2580949"/>
              <a:ext cx="597900" cy="597900"/>
            </a:xfrm>
            <a:prstGeom prst="straightConnector1">
              <a:avLst/>
            </a:prstGeom>
            <a:noFill/>
            <a:ln cap="rnd" cmpd="sng" w="19050">
              <a:solidFill>
                <a:schemeClr val="dk2"/>
              </a:solidFill>
              <a:prstDash val="solid"/>
              <a:miter lim="800000"/>
              <a:headEnd len="sm" w="sm" type="none"/>
              <a:tailEnd len="sm" w="sm" type="none"/>
            </a:ln>
          </p:spPr>
        </p:cxnSp>
        <p:sp>
          <p:nvSpPr>
            <p:cNvPr id="1222" name="Google Shape;1222;p70"/>
            <p:cNvSpPr/>
            <p:nvPr/>
          </p:nvSpPr>
          <p:spPr>
            <a:xfrm>
              <a:off x="6327366" y="2571751"/>
              <a:ext cx="327698" cy="302852"/>
            </a:xfrm>
            <a:custGeom>
              <a:rect b="b" l="l" r="r" t="t"/>
              <a:pathLst>
                <a:path extrusionOk="0" h="734187" w="794419">
                  <a:moveTo>
                    <a:pt x="0" y="0"/>
                  </a:moveTo>
                  <a:lnTo>
                    <a:pt x="765045" y="0"/>
                  </a:lnTo>
                  <a:cubicBezTo>
                    <a:pt x="781268" y="0"/>
                    <a:pt x="794419" y="13151"/>
                    <a:pt x="794419" y="29374"/>
                  </a:cubicBezTo>
                  <a:lnTo>
                    <a:pt x="794419" y="734187"/>
                  </a:lnTo>
                </a:path>
              </a:pathLst>
            </a:custGeom>
            <a:noFill/>
            <a:ln cap="rnd" cmpd="sng" w="190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23" name="Google Shape;1223;p70"/>
            <p:cNvSpPr/>
            <p:nvPr/>
          </p:nvSpPr>
          <p:spPr>
            <a:xfrm>
              <a:off x="5815058" y="2742570"/>
              <a:ext cx="666954" cy="667749"/>
            </a:xfrm>
            <a:custGeom>
              <a:rect b="b" l="l" r="r" t="t"/>
              <a:pathLst>
                <a:path extrusionOk="0" h="533133" w="532498">
                  <a:moveTo>
                    <a:pt x="532498" y="209267"/>
                  </a:moveTo>
                  <a:lnTo>
                    <a:pt x="532498" y="476901"/>
                  </a:lnTo>
                  <a:cubicBezTo>
                    <a:pt x="532498" y="507957"/>
                    <a:pt x="507322" y="533133"/>
                    <a:pt x="476266" y="533133"/>
                  </a:cubicBezTo>
                  <a:lnTo>
                    <a:pt x="56232" y="533133"/>
                  </a:lnTo>
                  <a:cubicBezTo>
                    <a:pt x="25176" y="533133"/>
                    <a:pt x="0" y="507957"/>
                    <a:pt x="0" y="476901"/>
                  </a:cubicBezTo>
                  <a:lnTo>
                    <a:pt x="0" y="56867"/>
                  </a:lnTo>
                  <a:cubicBezTo>
                    <a:pt x="0" y="25811"/>
                    <a:pt x="25176" y="635"/>
                    <a:pt x="56232" y="635"/>
                  </a:cubicBezTo>
                  <a:lnTo>
                    <a:pt x="285131" y="0"/>
                  </a:lnTo>
                </a:path>
              </a:pathLst>
            </a:custGeom>
            <a:noFill/>
            <a:ln cap="rnd" cmpd="sng" w="190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id="1224" name="Google Shape;1224;p70"/>
          <p:cNvPicPr preferRelativeResize="0"/>
          <p:nvPr/>
        </p:nvPicPr>
        <p:blipFill rotWithShape="1">
          <a:blip r:embed="rId5">
            <a:alphaModFix/>
          </a:blip>
          <a:srcRect b="0" l="0" r="0" t="0"/>
          <a:stretch/>
        </p:blipFill>
        <p:spPr>
          <a:xfrm>
            <a:off x="724825" y="914350"/>
            <a:ext cx="2073825" cy="353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71"/>
          <p:cNvSpPr txBox="1"/>
          <p:nvPr>
            <p:ph idx="6" type="body"/>
          </p:nvPr>
        </p:nvSpPr>
        <p:spPr>
          <a:xfrm>
            <a:off x="237500" y="4471650"/>
            <a:ext cx="1790100" cy="146100"/>
          </a:xfrm>
          <a:prstGeom prst="rect">
            <a:avLst/>
          </a:prstGeom>
          <a:noFill/>
          <a:ln>
            <a:noFill/>
          </a:ln>
        </p:spPr>
        <p:txBody>
          <a:bodyPr anchorCtr="0" anchor="t" bIns="0" lIns="0" spcFirstLastPara="1" rIns="91425" wrap="square" tIns="0">
            <a:noAutofit/>
          </a:bodyPr>
          <a:lstStyle/>
          <a:p>
            <a:pPr indent="0" lvl="0" marL="0" rtl="0" algn="l">
              <a:lnSpc>
                <a:spcPct val="100000"/>
              </a:lnSpc>
              <a:spcBef>
                <a:spcPts val="0"/>
              </a:spcBef>
              <a:spcAft>
                <a:spcPts val="0"/>
              </a:spcAft>
              <a:buSzPts val="1800"/>
              <a:buNone/>
            </a:pPr>
            <a:r>
              <a:rPr lang="en"/>
              <a:t>View </a:t>
            </a:r>
            <a:r>
              <a:rPr lang="en" u="sng">
                <a:solidFill>
                  <a:schemeClr val="hlink"/>
                </a:solidFill>
                <a:hlinkClick r:id="rId3"/>
              </a:rPr>
              <a:t>Full Case Study</a:t>
            </a:r>
            <a:endParaRPr/>
          </a:p>
        </p:txBody>
      </p:sp>
      <p:grpSp>
        <p:nvGrpSpPr>
          <p:cNvPr id="1230" name="Google Shape;1230;p71"/>
          <p:cNvGrpSpPr/>
          <p:nvPr/>
        </p:nvGrpSpPr>
        <p:grpSpPr>
          <a:xfrm>
            <a:off x="1574532" y="4501123"/>
            <a:ext cx="99373" cy="99203"/>
            <a:chOff x="5815058" y="2571751"/>
            <a:chExt cx="840006" cy="838568"/>
          </a:xfrm>
        </p:grpSpPr>
        <p:cxnSp>
          <p:nvCxnSpPr>
            <p:cNvPr id="1231" name="Google Shape;1231;p71"/>
            <p:cNvCxnSpPr/>
            <p:nvPr/>
          </p:nvCxnSpPr>
          <p:spPr>
            <a:xfrm flipH="1" rot="10800000">
              <a:off x="6048531" y="2580949"/>
              <a:ext cx="597900" cy="597900"/>
            </a:xfrm>
            <a:prstGeom prst="straightConnector1">
              <a:avLst/>
            </a:prstGeom>
            <a:noFill/>
            <a:ln cap="rnd" cmpd="sng" w="19050">
              <a:solidFill>
                <a:schemeClr val="dk2"/>
              </a:solidFill>
              <a:prstDash val="solid"/>
              <a:miter lim="800000"/>
              <a:headEnd len="sm" w="sm" type="none"/>
              <a:tailEnd len="sm" w="sm" type="none"/>
            </a:ln>
          </p:spPr>
        </p:cxnSp>
        <p:sp>
          <p:nvSpPr>
            <p:cNvPr id="1232" name="Google Shape;1232;p71"/>
            <p:cNvSpPr/>
            <p:nvPr/>
          </p:nvSpPr>
          <p:spPr>
            <a:xfrm>
              <a:off x="6327366" y="2571751"/>
              <a:ext cx="327698" cy="302852"/>
            </a:xfrm>
            <a:custGeom>
              <a:rect b="b" l="l" r="r" t="t"/>
              <a:pathLst>
                <a:path extrusionOk="0" h="734187" w="794419">
                  <a:moveTo>
                    <a:pt x="0" y="0"/>
                  </a:moveTo>
                  <a:lnTo>
                    <a:pt x="765045" y="0"/>
                  </a:lnTo>
                  <a:cubicBezTo>
                    <a:pt x="781268" y="0"/>
                    <a:pt x="794419" y="13151"/>
                    <a:pt x="794419" y="29374"/>
                  </a:cubicBezTo>
                  <a:lnTo>
                    <a:pt x="794419" y="734187"/>
                  </a:lnTo>
                </a:path>
              </a:pathLst>
            </a:custGeom>
            <a:noFill/>
            <a:ln cap="rnd" cmpd="sng" w="190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3" name="Google Shape;1233;p71"/>
            <p:cNvSpPr/>
            <p:nvPr/>
          </p:nvSpPr>
          <p:spPr>
            <a:xfrm>
              <a:off x="5815058" y="2742570"/>
              <a:ext cx="666954" cy="667749"/>
            </a:xfrm>
            <a:custGeom>
              <a:rect b="b" l="l" r="r" t="t"/>
              <a:pathLst>
                <a:path extrusionOk="0" h="533133" w="532498">
                  <a:moveTo>
                    <a:pt x="532498" y="209267"/>
                  </a:moveTo>
                  <a:lnTo>
                    <a:pt x="532498" y="476901"/>
                  </a:lnTo>
                  <a:cubicBezTo>
                    <a:pt x="532498" y="507957"/>
                    <a:pt x="507322" y="533133"/>
                    <a:pt x="476266" y="533133"/>
                  </a:cubicBezTo>
                  <a:lnTo>
                    <a:pt x="56232" y="533133"/>
                  </a:lnTo>
                  <a:cubicBezTo>
                    <a:pt x="25176" y="533133"/>
                    <a:pt x="0" y="507957"/>
                    <a:pt x="0" y="476901"/>
                  </a:cubicBezTo>
                  <a:lnTo>
                    <a:pt x="0" y="56867"/>
                  </a:lnTo>
                  <a:cubicBezTo>
                    <a:pt x="0" y="25811"/>
                    <a:pt x="25176" y="635"/>
                    <a:pt x="56232" y="635"/>
                  </a:cubicBezTo>
                  <a:lnTo>
                    <a:pt x="285131" y="0"/>
                  </a:lnTo>
                </a:path>
              </a:pathLst>
            </a:custGeom>
            <a:noFill/>
            <a:ln cap="rnd" cmpd="sng" w="190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234" name="Google Shape;1234;p71"/>
          <p:cNvSpPr txBox="1"/>
          <p:nvPr>
            <p:ph type="title"/>
          </p:nvPr>
        </p:nvSpPr>
        <p:spPr>
          <a:xfrm>
            <a:off x="2613600" y="152750"/>
            <a:ext cx="5121300" cy="62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sz="2000"/>
              <a:t>WARGAMING POWERS UP PLAYER HAPPINESS WITH UNIFIED DATA AND FASTER INSIGHTS</a:t>
            </a:r>
            <a:endParaRPr b="1" sz="2000"/>
          </a:p>
          <a:p>
            <a:pPr indent="0" lvl="0" marL="0" rtl="0" algn="l">
              <a:lnSpc>
                <a:spcPct val="90000"/>
              </a:lnSpc>
              <a:spcBef>
                <a:spcPts val="0"/>
              </a:spcBef>
              <a:spcAft>
                <a:spcPts val="0"/>
              </a:spcAft>
              <a:buSzPts val="2600"/>
              <a:buNone/>
            </a:pPr>
            <a:r>
              <a:t/>
            </a:r>
            <a:endParaRPr sz="2000"/>
          </a:p>
        </p:txBody>
      </p:sp>
      <p:sp>
        <p:nvSpPr>
          <p:cNvPr id="1235" name="Google Shape;1235;p71"/>
          <p:cNvSpPr txBox="1"/>
          <p:nvPr>
            <p:ph idx="1" type="body"/>
          </p:nvPr>
        </p:nvSpPr>
        <p:spPr>
          <a:xfrm>
            <a:off x="2690425" y="1630891"/>
            <a:ext cx="2057400" cy="3358800"/>
          </a:xfrm>
          <a:prstGeom prst="rect">
            <a:avLst/>
          </a:prstGeom>
          <a:noFill/>
          <a:ln>
            <a:noFill/>
          </a:ln>
        </p:spPr>
        <p:txBody>
          <a:bodyPr anchorCtr="0" anchor="t" bIns="0" lIns="0" spcFirstLastPara="1" rIns="0" wrap="square" tIns="0">
            <a:noAutofit/>
          </a:bodyPr>
          <a:lstStyle/>
          <a:p>
            <a:pPr indent="-114300" lvl="0" marL="114300" rtl="0" algn="l">
              <a:lnSpc>
                <a:spcPct val="115000"/>
              </a:lnSpc>
              <a:spcBef>
                <a:spcPts val="0"/>
              </a:spcBef>
              <a:spcAft>
                <a:spcPts val="0"/>
              </a:spcAft>
              <a:buSzPts val="1000"/>
              <a:buChar char="●"/>
            </a:pPr>
            <a:r>
              <a:rPr lang="en"/>
              <a:t>Wargaming’s original data warehouse, using Hadoop, Oracle, Cloudera, Tableau, and Google BigQuery, couldn’t handle growing data volumes and player base.</a:t>
            </a:r>
            <a:endParaRPr/>
          </a:p>
          <a:p>
            <a:pPr indent="-114300" lvl="0" marL="114300" rtl="0" algn="l">
              <a:lnSpc>
                <a:spcPct val="115000"/>
              </a:lnSpc>
              <a:spcBef>
                <a:spcPts val="500"/>
              </a:spcBef>
              <a:spcAft>
                <a:spcPts val="0"/>
              </a:spcAft>
              <a:buSzPts val="1000"/>
              <a:buChar char="●"/>
            </a:pPr>
            <a:r>
              <a:rPr lang="en"/>
              <a:t>On-prem systems and BigQuery became unsustainable due to increasing storage, processing costs, and hardware upgrades.</a:t>
            </a:r>
            <a:endParaRPr/>
          </a:p>
          <a:p>
            <a:pPr indent="-114300" lvl="0" marL="114300" rtl="0" algn="l">
              <a:lnSpc>
                <a:spcPct val="115000"/>
              </a:lnSpc>
              <a:spcBef>
                <a:spcPts val="500"/>
              </a:spcBef>
              <a:spcAft>
                <a:spcPts val="500"/>
              </a:spcAft>
              <a:buSzPts val="1000"/>
              <a:buChar char="●"/>
            </a:pPr>
            <a:r>
              <a:rPr lang="en"/>
              <a:t>The old setup required complex ETL workarounds and slow hardware expansion (e.g., adding six new nodes took six months), delaying growth and agility.</a:t>
            </a:r>
            <a:endParaRPr/>
          </a:p>
        </p:txBody>
      </p:sp>
      <p:sp>
        <p:nvSpPr>
          <p:cNvPr id="1236" name="Google Shape;1236;p71"/>
          <p:cNvSpPr txBox="1"/>
          <p:nvPr>
            <p:ph idx="4" type="body"/>
          </p:nvPr>
        </p:nvSpPr>
        <p:spPr>
          <a:xfrm>
            <a:off x="4854400" y="1630891"/>
            <a:ext cx="2057400" cy="3358800"/>
          </a:xfrm>
          <a:prstGeom prst="rect">
            <a:avLst/>
          </a:prstGeom>
          <a:noFill/>
          <a:ln>
            <a:noFill/>
          </a:ln>
        </p:spPr>
        <p:txBody>
          <a:bodyPr anchorCtr="0" anchor="t" bIns="0" lIns="0" spcFirstLastPara="1" rIns="0" wrap="square" tIns="0">
            <a:noAutofit/>
          </a:bodyPr>
          <a:lstStyle/>
          <a:p>
            <a:pPr indent="-114300" lvl="0" marL="114300" rtl="0" algn="l">
              <a:lnSpc>
                <a:spcPct val="115000"/>
              </a:lnSpc>
              <a:spcBef>
                <a:spcPts val="0"/>
              </a:spcBef>
              <a:spcAft>
                <a:spcPts val="0"/>
              </a:spcAft>
              <a:buSzPts val="1000"/>
              <a:buChar char="●"/>
            </a:pPr>
            <a:r>
              <a:rPr lang="en"/>
              <a:t>Wargaming moved to Snowflake for a more scalable, unified data platform that consolidated multiple data sources and offered high performance for fast-growing data needs.</a:t>
            </a:r>
            <a:endParaRPr/>
          </a:p>
          <a:p>
            <a:pPr indent="-114300" lvl="0" marL="114300" rtl="0" algn="l">
              <a:lnSpc>
                <a:spcPct val="115000"/>
              </a:lnSpc>
              <a:spcBef>
                <a:spcPts val="500"/>
              </a:spcBef>
              <a:spcAft>
                <a:spcPts val="0"/>
              </a:spcAft>
              <a:buSzPts val="1000"/>
              <a:buChar char="●"/>
            </a:pPr>
            <a:r>
              <a:rPr lang="en"/>
              <a:t>Snowflake allowed data to be stored anywhere, giving Wargaming the freedom to choose cloud providers and store data in open formats like Iceberg Tables.</a:t>
            </a:r>
            <a:endParaRPr/>
          </a:p>
          <a:p>
            <a:pPr indent="-114300" lvl="0" marL="114300" rtl="0" algn="l">
              <a:lnSpc>
                <a:spcPct val="115000"/>
              </a:lnSpc>
              <a:spcBef>
                <a:spcPts val="500"/>
              </a:spcBef>
              <a:spcAft>
                <a:spcPts val="500"/>
              </a:spcAft>
              <a:buSzPts val="1000"/>
              <a:buChar char="●"/>
            </a:pPr>
            <a:r>
              <a:rPr lang="en"/>
              <a:t>Snowflake’s built-in role-based access control (via Horizon Catalog) enabled secure, efficient data access across Wargaming’s global team.</a:t>
            </a:r>
            <a:endParaRPr/>
          </a:p>
        </p:txBody>
      </p:sp>
      <p:sp>
        <p:nvSpPr>
          <p:cNvPr id="1237" name="Google Shape;1237;p71"/>
          <p:cNvSpPr txBox="1"/>
          <p:nvPr>
            <p:ph idx="5" type="body"/>
          </p:nvPr>
        </p:nvSpPr>
        <p:spPr>
          <a:xfrm>
            <a:off x="7018375" y="1630891"/>
            <a:ext cx="2057400" cy="3358800"/>
          </a:xfrm>
          <a:prstGeom prst="rect">
            <a:avLst/>
          </a:prstGeom>
          <a:noFill/>
          <a:ln>
            <a:noFill/>
          </a:ln>
        </p:spPr>
        <p:txBody>
          <a:bodyPr anchorCtr="0" anchor="t" bIns="0" lIns="0" spcFirstLastPara="1" rIns="0" wrap="square" tIns="0">
            <a:noAutofit/>
          </a:bodyPr>
          <a:lstStyle/>
          <a:p>
            <a:pPr indent="-114300" lvl="0" marL="114300" rtl="0" algn="l">
              <a:lnSpc>
                <a:spcPct val="115000"/>
              </a:lnSpc>
              <a:spcBef>
                <a:spcPts val="0"/>
              </a:spcBef>
              <a:spcAft>
                <a:spcPts val="0"/>
              </a:spcAft>
              <a:buSzPts val="1000"/>
              <a:buChar char="●"/>
            </a:pPr>
            <a:r>
              <a:rPr lang="en"/>
              <a:t>Wargaming saved approximately $500,000 annually by migrating to Snowflake.</a:t>
            </a:r>
            <a:endParaRPr/>
          </a:p>
          <a:p>
            <a:pPr indent="-114300" lvl="0" marL="114300" rtl="0" algn="l">
              <a:lnSpc>
                <a:spcPct val="115000"/>
              </a:lnSpc>
              <a:spcBef>
                <a:spcPts val="500"/>
              </a:spcBef>
              <a:spcAft>
                <a:spcPts val="0"/>
              </a:spcAft>
              <a:buSzPts val="1000"/>
              <a:buChar char="●"/>
            </a:pPr>
            <a:r>
              <a:rPr lang="en"/>
              <a:t>Wargaming saw up to a 40% improvement in data delivery speed, allowing product analytics teams to access near real-time insights through Tableau dashboards.</a:t>
            </a:r>
            <a:endParaRPr/>
          </a:p>
          <a:p>
            <a:pPr indent="-114300" lvl="0" marL="114300" rtl="0" algn="l">
              <a:lnSpc>
                <a:spcPct val="115000"/>
              </a:lnSpc>
              <a:spcBef>
                <a:spcPts val="500"/>
              </a:spcBef>
              <a:spcAft>
                <a:spcPts val="500"/>
              </a:spcAft>
              <a:buSzPts val="1000"/>
              <a:buChar char="●"/>
            </a:pPr>
            <a:r>
              <a:rPr lang="en"/>
              <a:t>The move to Snowflake alleviated previous performance bottlenecks, enabling faster, more comprehensive insights, and eliminating frustrations like query timeouts.</a:t>
            </a:r>
            <a:endParaRPr/>
          </a:p>
        </p:txBody>
      </p:sp>
      <p:sp>
        <p:nvSpPr>
          <p:cNvPr id="1238" name="Google Shape;1238;p71"/>
          <p:cNvSpPr txBox="1"/>
          <p:nvPr>
            <p:ph idx="3" type="body"/>
          </p:nvPr>
        </p:nvSpPr>
        <p:spPr>
          <a:xfrm>
            <a:off x="237525" y="1630900"/>
            <a:ext cx="2164800" cy="244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800"/>
              <a:buNone/>
            </a:pPr>
            <a:r>
              <a:rPr lang="en"/>
              <a:t>Our analysts are thrilled with the performance improvement. Snowflake is significantly faster than what we had with Hadoop: Data delivery is now up to 40% more efficient.</a:t>
            </a:r>
            <a:endParaRPr/>
          </a:p>
          <a:p>
            <a:pPr indent="0" lvl="0" marL="0" rtl="0" algn="l">
              <a:lnSpc>
                <a:spcPct val="115000"/>
              </a:lnSpc>
              <a:spcBef>
                <a:spcPts val="500"/>
              </a:spcBef>
              <a:spcAft>
                <a:spcPts val="0"/>
              </a:spcAft>
              <a:buSzPts val="2800"/>
              <a:buNone/>
            </a:pPr>
            <a:r>
              <a:t/>
            </a:r>
            <a:endParaRPr/>
          </a:p>
          <a:p>
            <a:pPr indent="0" lvl="0" marL="0" rtl="0" algn="l">
              <a:lnSpc>
                <a:spcPct val="115000"/>
              </a:lnSpc>
              <a:spcBef>
                <a:spcPts val="500"/>
              </a:spcBef>
              <a:spcAft>
                <a:spcPts val="500"/>
              </a:spcAft>
              <a:buSzPts val="2800"/>
              <a:buNone/>
            </a:pPr>
            <a:r>
              <a:rPr b="1" lang="en"/>
              <a:t>— ALEX RYABOV</a:t>
            </a:r>
            <a:br>
              <a:rPr b="1" lang="en"/>
            </a:br>
            <a:r>
              <a:rPr b="1" lang="en"/>
              <a:t>Head of Data Services, Wargaming</a:t>
            </a:r>
            <a:endParaRPr b="1"/>
          </a:p>
        </p:txBody>
      </p:sp>
      <p:pic>
        <p:nvPicPr>
          <p:cNvPr id="1239" name="Google Shape;1239;p71"/>
          <p:cNvPicPr preferRelativeResize="0"/>
          <p:nvPr/>
        </p:nvPicPr>
        <p:blipFill rotWithShape="1">
          <a:blip r:embed="rId4">
            <a:alphaModFix/>
          </a:blip>
          <a:srcRect b="0" l="0" r="0" t="0"/>
          <a:stretch/>
        </p:blipFill>
        <p:spPr>
          <a:xfrm>
            <a:off x="237525" y="193048"/>
            <a:ext cx="1845550" cy="546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pic>
        <p:nvPicPr>
          <p:cNvPr id="1244" name="Google Shape;1244;p72"/>
          <p:cNvPicPr preferRelativeResize="0"/>
          <p:nvPr/>
        </p:nvPicPr>
        <p:blipFill rotWithShape="1">
          <a:blip r:embed="rId3">
            <a:alphaModFix/>
          </a:blip>
          <a:srcRect b="0" l="0" r="0" t="0"/>
          <a:stretch/>
        </p:blipFill>
        <p:spPr>
          <a:xfrm>
            <a:off x="797350" y="168962"/>
            <a:ext cx="713800" cy="556775"/>
          </a:xfrm>
          <a:prstGeom prst="rect">
            <a:avLst/>
          </a:prstGeom>
          <a:noFill/>
          <a:ln>
            <a:noFill/>
          </a:ln>
        </p:spPr>
      </p:pic>
      <p:sp>
        <p:nvSpPr>
          <p:cNvPr id="1245" name="Google Shape;1245;p72"/>
          <p:cNvSpPr txBox="1"/>
          <p:nvPr>
            <p:ph type="title"/>
          </p:nvPr>
        </p:nvSpPr>
        <p:spPr>
          <a:xfrm>
            <a:off x="2613600" y="152750"/>
            <a:ext cx="5121300" cy="626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SzPts val="2600"/>
              <a:buNone/>
            </a:pPr>
            <a:r>
              <a:rPr lang="en" sz="1700"/>
              <a:t>BIG FISH GAMES LAUNCHES AND DEVELOPS GAMES FASTER WITH SNOWFLAKE</a:t>
            </a:r>
            <a:endParaRPr sz="1700"/>
          </a:p>
          <a:p>
            <a:pPr indent="0" lvl="0" marL="0" rtl="0" algn="l">
              <a:lnSpc>
                <a:spcPct val="105000"/>
              </a:lnSpc>
              <a:spcBef>
                <a:spcPts val="0"/>
              </a:spcBef>
              <a:spcAft>
                <a:spcPts val="1000"/>
              </a:spcAft>
              <a:buSzPts val="2600"/>
              <a:buNone/>
            </a:pPr>
            <a:r>
              <a:t/>
            </a:r>
            <a:endParaRPr sz="1700"/>
          </a:p>
        </p:txBody>
      </p:sp>
      <p:sp>
        <p:nvSpPr>
          <p:cNvPr id="1246" name="Google Shape;1246;p72"/>
          <p:cNvSpPr txBox="1"/>
          <p:nvPr>
            <p:ph idx="1" type="body"/>
          </p:nvPr>
        </p:nvSpPr>
        <p:spPr>
          <a:xfrm>
            <a:off x="2690425" y="1630891"/>
            <a:ext cx="2057400" cy="3358800"/>
          </a:xfrm>
          <a:prstGeom prst="rect">
            <a:avLst/>
          </a:prstGeom>
          <a:noFill/>
          <a:ln>
            <a:noFill/>
          </a:ln>
        </p:spPr>
        <p:txBody>
          <a:bodyPr anchorCtr="0" anchor="t" bIns="0" lIns="0" spcFirstLastPara="1" rIns="0" wrap="square" tIns="0">
            <a:noAutofit/>
          </a:bodyPr>
          <a:lstStyle/>
          <a:p>
            <a:pPr indent="-109220" lvl="0" marL="137160" marR="0" rtl="0" algn="l">
              <a:lnSpc>
                <a:spcPct val="100000"/>
              </a:lnSpc>
              <a:spcBef>
                <a:spcPts val="800"/>
              </a:spcBef>
              <a:spcAft>
                <a:spcPts val="0"/>
              </a:spcAft>
              <a:buClr>
                <a:schemeClr val="accent1"/>
              </a:buClr>
              <a:buSzPts val="1000"/>
              <a:buChar char="●"/>
            </a:pPr>
            <a:r>
              <a:rPr lang="en"/>
              <a:t>Big Fish Games’ LiveOps team wanted to introduce a game event and quickly measure how engaged the players were by the new content.</a:t>
            </a:r>
            <a:endParaRPr/>
          </a:p>
          <a:p>
            <a:pPr indent="-109220" lvl="0" marL="137160" marR="0" rtl="0" algn="l">
              <a:lnSpc>
                <a:spcPct val="100000"/>
              </a:lnSpc>
              <a:spcBef>
                <a:spcPts val="800"/>
              </a:spcBef>
              <a:spcAft>
                <a:spcPts val="0"/>
              </a:spcAft>
              <a:buClr>
                <a:schemeClr val="accent1"/>
              </a:buClr>
              <a:buSzPts val="1000"/>
              <a:buChar char="●"/>
            </a:pPr>
            <a:r>
              <a:rPr lang="en"/>
              <a:t>Moved from on-premises to Google BigQuery, but the data engineering team was still the central clearinghouse for data requests. </a:t>
            </a:r>
            <a:endParaRPr/>
          </a:p>
          <a:p>
            <a:pPr indent="-109220" lvl="0" marL="137160" marR="0" rtl="0" algn="l">
              <a:lnSpc>
                <a:spcPct val="100000"/>
              </a:lnSpc>
              <a:spcBef>
                <a:spcPts val="800"/>
              </a:spcBef>
              <a:spcAft>
                <a:spcPts val="0"/>
              </a:spcAft>
              <a:buClr>
                <a:schemeClr val="accent1"/>
              </a:buClr>
              <a:buSzPts val="1000"/>
              <a:buChar char="●"/>
            </a:pPr>
            <a:r>
              <a:rPr lang="en"/>
              <a:t>Bottleneck to data access for these downstream users because the data had to be processed first.</a:t>
            </a:r>
            <a:endParaRPr/>
          </a:p>
          <a:p>
            <a:pPr indent="0" lvl="0" marL="0" rtl="0" algn="l">
              <a:lnSpc>
                <a:spcPct val="115000"/>
              </a:lnSpc>
              <a:spcBef>
                <a:spcPts val="0"/>
              </a:spcBef>
              <a:spcAft>
                <a:spcPts val="500"/>
              </a:spcAft>
              <a:buSzPts val="1000"/>
              <a:buNone/>
            </a:pPr>
            <a:r>
              <a:t/>
            </a:r>
            <a:endParaRPr/>
          </a:p>
        </p:txBody>
      </p:sp>
      <p:sp>
        <p:nvSpPr>
          <p:cNvPr id="1247" name="Google Shape;1247;p72"/>
          <p:cNvSpPr txBox="1"/>
          <p:nvPr>
            <p:ph idx="3" type="body"/>
          </p:nvPr>
        </p:nvSpPr>
        <p:spPr>
          <a:xfrm>
            <a:off x="237525" y="1630900"/>
            <a:ext cx="2164800" cy="2441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800"/>
              <a:buNone/>
            </a:pPr>
            <a:r>
              <a:rPr lang="en"/>
              <a:t>The gaming industry relies on external partners for faster game development and time to Market. Having good data governance to ensure that live data can be shared without movement across cloud providers is key to that model.</a:t>
            </a:r>
            <a:endParaRPr/>
          </a:p>
          <a:p>
            <a:pPr indent="0" lvl="0" marL="0" rtl="0" algn="l">
              <a:lnSpc>
                <a:spcPct val="100000"/>
              </a:lnSpc>
              <a:spcBef>
                <a:spcPts val="0"/>
              </a:spcBef>
              <a:spcAft>
                <a:spcPts val="0"/>
              </a:spcAft>
              <a:buSzPts val="2800"/>
              <a:buNone/>
            </a:pPr>
            <a:r>
              <a:t/>
            </a:r>
            <a:endParaRPr b="1"/>
          </a:p>
          <a:p>
            <a:pPr indent="0" lvl="0" marL="0" rtl="0" algn="l">
              <a:lnSpc>
                <a:spcPct val="100000"/>
              </a:lnSpc>
              <a:spcBef>
                <a:spcPts val="0"/>
              </a:spcBef>
              <a:spcAft>
                <a:spcPts val="0"/>
              </a:spcAft>
              <a:buSzPts val="2800"/>
              <a:buNone/>
            </a:pPr>
            <a:r>
              <a:rPr b="1" lang="en"/>
              <a:t>— GLEN MACKAY,</a:t>
            </a:r>
            <a:endParaRPr b="1"/>
          </a:p>
          <a:p>
            <a:pPr indent="0" lvl="0" marL="0" rtl="0" algn="l">
              <a:lnSpc>
                <a:spcPct val="100000"/>
              </a:lnSpc>
              <a:spcBef>
                <a:spcPts val="0"/>
              </a:spcBef>
              <a:spcAft>
                <a:spcPts val="0"/>
              </a:spcAft>
              <a:buSzPts val="2800"/>
              <a:buNone/>
            </a:pPr>
            <a:r>
              <a:rPr b="1" lang="en"/>
              <a:t>Senior Manager, Data Engineering</a:t>
            </a:r>
            <a:endParaRPr b="1"/>
          </a:p>
          <a:p>
            <a:pPr indent="0" lvl="0" marL="0" rtl="0" algn="l">
              <a:lnSpc>
                <a:spcPct val="115000"/>
              </a:lnSpc>
              <a:spcBef>
                <a:spcPts val="0"/>
              </a:spcBef>
              <a:spcAft>
                <a:spcPts val="500"/>
              </a:spcAft>
              <a:buSzPts val="2800"/>
              <a:buNone/>
            </a:pPr>
            <a:r>
              <a:t/>
            </a:r>
            <a:endParaRPr b="1"/>
          </a:p>
        </p:txBody>
      </p:sp>
      <p:sp>
        <p:nvSpPr>
          <p:cNvPr id="1248" name="Google Shape;1248;p72"/>
          <p:cNvSpPr txBox="1"/>
          <p:nvPr>
            <p:ph idx="4" type="body"/>
          </p:nvPr>
        </p:nvSpPr>
        <p:spPr>
          <a:xfrm>
            <a:off x="4854400" y="1630891"/>
            <a:ext cx="2057400" cy="3358800"/>
          </a:xfrm>
          <a:prstGeom prst="rect">
            <a:avLst/>
          </a:prstGeom>
          <a:noFill/>
          <a:ln>
            <a:noFill/>
          </a:ln>
        </p:spPr>
        <p:txBody>
          <a:bodyPr anchorCtr="0" anchor="t" bIns="0" lIns="0" spcFirstLastPara="1" rIns="0" wrap="square" tIns="0">
            <a:noAutofit/>
          </a:bodyPr>
          <a:lstStyle/>
          <a:p>
            <a:pPr indent="-109220" lvl="0" marL="137160" marR="0" rtl="0" algn="l">
              <a:lnSpc>
                <a:spcPct val="100000"/>
              </a:lnSpc>
              <a:spcBef>
                <a:spcPts val="800"/>
              </a:spcBef>
              <a:spcAft>
                <a:spcPts val="0"/>
              </a:spcAft>
              <a:buClr>
                <a:schemeClr val="accent1"/>
              </a:buClr>
              <a:buSzPts val="1000"/>
              <a:buChar char="●"/>
            </a:pPr>
            <a:r>
              <a:rPr lang="en"/>
              <a:t>Snowflake’s ability to run consistently on multiple clouds allowed Big Fish to both stay on Google Cloud, simplifying their migration from BigQuery, and be on the same platform as key partner organizations, even though those orgs may be on a different cloud platform.</a:t>
            </a:r>
            <a:endParaRPr/>
          </a:p>
          <a:p>
            <a:pPr indent="-109220" lvl="0" marL="137160" marR="0" rtl="0" algn="l">
              <a:lnSpc>
                <a:spcPct val="100000"/>
              </a:lnSpc>
              <a:spcBef>
                <a:spcPts val="800"/>
              </a:spcBef>
              <a:spcAft>
                <a:spcPts val="0"/>
              </a:spcAft>
              <a:buClr>
                <a:schemeClr val="accent1"/>
              </a:buClr>
              <a:buSzPts val="1000"/>
              <a:buChar char="●"/>
            </a:pPr>
            <a:r>
              <a:rPr lang="en"/>
              <a:t>Big Fish Games uses Snowflake to give external partners semi-autonomy to independently work within its organization.</a:t>
            </a:r>
            <a:endParaRPr/>
          </a:p>
          <a:p>
            <a:pPr indent="0" lvl="0" marL="0" rtl="0" algn="l">
              <a:lnSpc>
                <a:spcPct val="115000"/>
              </a:lnSpc>
              <a:spcBef>
                <a:spcPts val="0"/>
              </a:spcBef>
              <a:spcAft>
                <a:spcPts val="500"/>
              </a:spcAft>
              <a:buSzPts val="1000"/>
              <a:buNone/>
            </a:pPr>
            <a:r>
              <a:t/>
            </a:r>
            <a:endParaRPr/>
          </a:p>
        </p:txBody>
      </p:sp>
      <p:sp>
        <p:nvSpPr>
          <p:cNvPr id="1249" name="Google Shape;1249;p72"/>
          <p:cNvSpPr txBox="1"/>
          <p:nvPr>
            <p:ph idx="5" type="body"/>
          </p:nvPr>
        </p:nvSpPr>
        <p:spPr>
          <a:xfrm>
            <a:off x="7018375" y="1630891"/>
            <a:ext cx="2057400" cy="3358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Access to near real-time streaming analytics</a:t>
            </a:r>
            <a:endParaRPr b="1"/>
          </a:p>
          <a:p>
            <a:pPr indent="0" lvl="0" marL="0" rtl="0" algn="l">
              <a:lnSpc>
                <a:spcPct val="100000"/>
              </a:lnSpc>
              <a:spcBef>
                <a:spcPts val="0"/>
              </a:spcBef>
              <a:spcAft>
                <a:spcPts val="0"/>
              </a:spcAft>
              <a:buSzPts val="1000"/>
              <a:buNone/>
            </a:pPr>
            <a:r>
              <a:rPr lang="en"/>
              <a:t>Raw event stream is available and users can go in and build tables on top of it.</a:t>
            </a:r>
            <a:endParaRPr/>
          </a:p>
          <a:p>
            <a:pPr indent="0" lvl="0" marL="0" rtl="0" algn="l">
              <a:lnSpc>
                <a:spcPct val="100000"/>
              </a:lnSpc>
              <a:spcBef>
                <a:spcPts val="800"/>
              </a:spcBef>
              <a:spcAft>
                <a:spcPts val="0"/>
              </a:spcAft>
              <a:buSzPts val="1000"/>
              <a:buNone/>
            </a:pPr>
            <a:r>
              <a:rPr b="1" lang="en"/>
              <a:t>Improve the gaming experience</a:t>
            </a:r>
            <a:endParaRPr b="1"/>
          </a:p>
          <a:p>
            <a:pPr indent="0" lvl="0" marL="0" rtl="0" algn="l">
              <a:lnSpc>
                <a:spcPct val="100000"/>
              </a:lnSpc>
              <a:spcBef>
                <a:spcPts val="0"/>
              </a:spcBef>
              <a:spcAft>
                <a:spcPts val="0"/>
              </a:spcAft>
              <a:buSzPts val="1000"/>
              <a:buNone/>
            </a:pPr>
            <a:r>
              <a:rPr lang="en"/>
              <a:t>Get feedback within hours to fine tune in-game missions and create a great gaming experience.</a:t>
            </a:r>
            <a:endParaRPr/>
          </a:p>
          <a:p>
            <a:pPr indent="0" lvl="0" marL="0" rtl="0" algn="l">
              <a:lnSpc>
                <a:spcPct val="115000"/>
              </a:lnSpc>
              <a:spcBef>
                <a:spcPts val="800"/>
              </a:spcBef>
              <a:spcAft>
                <a:spcPts val="0"/>
              </a:spcAft>
              <a:buSzPts val="1000"/>
              <a:buNone/>
            </a:pPr>
            <a:r>
              <a:rPr b="1" lang="en">
                <a:solidFill>
                  <a:srgbClr val="000000"/>
                </a:solidFill>
              </a:rPr>
              <a:t>Quickly activate new games</a:t>
            </a:r>
            <a:endParaRPr b="1">
              <a:solidFill>
                <a:srgbClr val="000000"/>
              </a:solidFill>
            </a:endParaRPr>
          </a:p>
          <a:p>
            <a:pPr indent="0" lvl="0" marL="0" rtl="0" algn="l">
              <a:lnSpc>
                <a:spcPct val="115000"/>
              </a:lnSpc>
              <a:spcBef>
                <a:spcPts val="0"/>
              </a:spcBef>
              <a:spcAft>
                <a:spcPts val="0"/>
              </a:spcAft>
              <a:buSzPts val="1000"/>
              <a:buNone/>
            </a:pPr>
            <a:r>
              <a:rPr lang="en">
                <a:solidFill>
                  <a:srgbClr val="000000"/>
                </a:solidFill>
              </a:rPr>
              <a:t>Standard set of reports through Snowflake allows them to turn on new games in days vs weeks.</a:t>
            </a:r>
            <a:endParaRPr>
              <a:solidFill>
                <a:srgbClr val="000000"/>
              </a:solidFill>
            </a:endParaRPr>
          </a:p>
          <a:p>
            <a:pPr indent="0" lvl="0" marL="0" rtl="0" algn="l">
              <a:lnSpc>
                <a:spcPct val="115000"/>
              </a:lnSpc>
              <a:spcBef>
                <a:spcPts val="0"/>
              </a:spcBef>
              <a:spcAft>
                <a:spcPts val="500"/>
              </a:spcAft>
              <a:buSzPts val="1000"/>
              <a:buNone/>
            </a:pPr>
            <a:r>
              <a:t/>
            </a:r>
            <a:endParaRPr/>
          </a:p>
        </p:txBody>
      </p:sp>
      <p:sp>
        <p:nvSpPr>
          <p:cNvPr id="1250" name="Google Shape;1250;p72"/>
          <p:cNvSpPr txBox="1"/>
          <p:nvPr>
            <p:ph idx="6" type="body"/>
          </p:nvPr>
        </p:nvSpPr>
        <p:spPr>
          <a:xfrm>
            <a:off x="237500" y="4471650"/>
            <a:ext cx="1790100" cy="146100"/>
          </a:xfrm>
          <a:prstGeom prst="rect">
            <a:avLst/>
          </a:prstGeom>
          <a:noFill/>
          <a:ln>
            <a:noFill/>
          </a:ln>
        </p:spPr>
        <p:txBody>
          <a:bodyPr anchorCtr="0" anchor="t" bIns="0" lIns="0" spcFirstLastPara="1" rIns="91425" wrap="square" tIns="0">
            <a:noAutofit/>
          </a:bodyPr>
          <a:lstStyle/>
          <a:p>
            <a:pPr indent="0" lvl="0" marL="0" rtl="0" algn="l">
              <a:lnSpc>
                <a:spcPct val="100000"/>
              </a:lnSpc>
              <a:spcBef>
                <a:spcPts val="0"/>
              </a:spcBef>
              <a:spcAft>
                <a:spcPts val="0"/>
              </a:spcAft>
              <a:buSzPts val="1800"/>
              <a:buNone/>
            </a:pPr>
            <a:r>
              <a:rPr lang="en" u="sng">
                <a:solidFill>
                  <a:schemeClr val="hlink"/>
                </a:solidFill>
                <a:hlinkClick r:id="rId4"/>
              </a:rPr>
              <a:t>Read Case Study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73"/>
          <p:cNvSpPr txBox="1"/>
          <p:nvPr>
            <p:ph type="title"/>
          </p:nvPr>
        </p:nvSpPr>
        <p:spPr>
          <a:xfrm>
            <a:off x="2613600" y="152750"/>
            <a:ext cx="5121300" cy="626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SzPts val="2600"/>
              <a:buNone/>
            </a:pPr>
            <a:r>
              <a:rPr lang="en"/>
              <a:t>Bumble Scales Up While Keeping Costs Down</a:t>
            </a:r>
            <a:endParaRPr/>
          </a:p>
        </p:txBody>
      </p:sp>
      <p:sp>
        <p:nvSpPr>
          <p:cNvPr id="1256" name="Google Shape;1256;p73"/>
          <p:cNvSpPr txBox="1"/>
          <p:nvPr>
            <p:ph idx="1" type="body"/>
          </p:nvPr>
        </p:nvSpPr>
        <p:spPr>
          <a:xfrm>
            <a:off x="2690425" y="1630891"/>
            <a:ext cx="2057400" cy="3358800"/>
          </a:xfrm>
          <a:prstGeom prst="rect">
            <a:avLst/>
          </a:prstGeom>
          <a:noFill/>
          <a:ln>
            <a:noFill/>
          </a:ln>
        </p:spPr>
        <p:txBody>
          <a:bodyPr anchorCtr="0" anchor="t" bIns="0" lIns="0" spcFirstLastPara="1" rIns="0" wrap="square" tIns="0">
            <a:noAutofit/>
          </a:bodyPr>
          <a:lstStyle/>
          <a:p>
            <a:pPr indent="-109220" lvl="0" marL="137160" marR="0" rtl="0" algn="l">
              <a:lnSpc>
                <a:spcPct val="100000"/>
              </a:lnSpc>
              <a:spcBef>
                <a:spcPts val="800"/>
              </a:spcBef>
              <a:spcAft>
                <a:spcPts val="0"/>
              </a:spcAft>
              <a:buClr>
                <a:schemeClr val="accent1"/>
              </a:buClr>
              <a:buSzPts val="1000"/>
              <a:buChar char="●"/>
            </a:pPr>
            <a:r>
              <a:rPr lang="en"/>
              <a:t>Bumble’s reporting needs were growing, and its legacy on-premises system couldn’t deliver consistent and timely insights. This was making it difficult to scale.</a:t>
            </a:r>
            <a:endParaRPr/>
          </a:p>
          <a:p>
            <a:pPr indent="-109220" lvl="0" marL="137160" marR="0" rtl="0" algn="l">
              <a:lnSpc>
                <a:spcPct val="100000"/>
              </a:lnSpc>
              <a:spcBef>
                <a:spcPts val="800"/>
              </a:spcBef>
              <a:spcAft>
                <a:spcPts val="0"/>
              </a:spcAft>
              <a:buClr>
                <a:schemeClr val="accent1"/>
              </a:buClr>
              <a:buSzPts val="1000"/>
              <a:buChar char="●"/>
            </a:pPr>
            <a:r>
              <a:rPr lang="en"/>
              <a:t>Limited compute resources also meant the company sometimes had to shut down internal user queries so they wouldn’t interfere with other processes.</a:t>
            </a:r>
            <a:endParaRPr/>
          </a:p>
          <a:p>
            <a:pPr indent="-109220" lvl="0" marL="137160" marR="0" rtl="0" algn="l">
              <a:lnSpc>
                <a:spcPct val="100000"/>
              </a:lnSpc>
              <a:spcBef>
                <a:spcPts val="800"/>
              </a:spcBef>
              <a:spcAft>
                <a:spcPts val="0"/>
              </a:spcAft>
              <a:buClr>
                <a:schemeClr val="accent1"/>
              </a:buClr>
              <a:buSzPts val="1000"/>
              <a:buChar char="●"/>
            </a:pPr>
            <a:r>
              <a:rPr lang="en"/>
              <a:t>As a GCP based company, Bumble initially evaluated Google BigQuery but found it didn’t support all queries and required significant pipeline adaptation.</a:t>
            </a:r>
            <a:endParaRPr/>
          </a:p>
          <a:p>
            <a:pPr indent="0" lvl="0" marL="0" marR="0" rtl="0" algn="l">
              <a:lnSpc>
                <a:spcPct val="100000"/>
              </a:lnSpc>
              <a:spcBef>
                <a:spcPts val="800"/>
              </a:spcBef>
              <a:spcAft>
                <a:spcPts val="0"/>
              </a:spcAft>
              <a:buSzPts val="1000"/>
              <a:buNone/>
            </a:pPr>
            <a:r>
              <a:t/>
            </a:r>
            <a:endParaRPr/>
          </a:p>
        </p:txBody>
      </p:sp>
      <p:sp>
        <p:nvSpPr>
          <p:cNvPr id="1257" name="Google Shape;1257;p73"/>
          <p:cNvSpPr txBox="1"/>
          <p:nvPr>
            <p:ph idx="3" type="body"/>
          </p:nvPr>
        </p:nvSpPr>
        <p:spPr>
          <a:xfrm>
            <a:off x="237525" y="1630900"/>
            <a:ext cx="2164800" cy="2441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800"/>
              <a:buNone/>
            </a:pPr>
            <a:r>
              <a:rPr lang="en"/>
              <a:t>In the past, we had to run a series of optimizations on our on-premises systems to re-size clusters and reduce storage requirements. With Snowflake, it just works. </a:t>
            </a:r>
            <a:endParaRPr/>
          </a:p>
          <a:p>
            <a:pPr indent="0" lvl="0" marL="0" rtl="0" algn="l">
              <a:lnSpc>
                <a:spcPct val="100000"/>
              </a:lnSpc>
              <a:spcBef>
                <a:spcPts val="0"/>
              </a:spcBef>
              <a:spcAft>
                <a:spcPts val="0"/>
              </a:spcAft>
              <a:buSzPts val="2800"/>
              <a:buNone/>
            </a:pPr>
            <a:r>
              <a:t/>
            </a:r>
            <a:endParaRPr/>
          </a:p>
          <a:p>
            <a:pPr indent="0" lvl="0" marL="0" rtl="0" algn="l">
              <a:lnSpc>
                <a:spcPct val="100000"/>
              </a:lnSpc>
              <a:spcBef>
                <a:spcPts val="600"/>
              </a:spcBef>
              <a:spcAft>
                <a:spcPts val="0"/>
              </a:spcAft>
              <a:buSzPts val="2800"/>
              <a:buNone/>
            </a:pPr>
            <a:r>
              <a:rPr b="1" lang="en"/>
              <a:t>— ALEX TOLMACHYOV,</a:t>
            </a:r>
            <a:endParaRPr b="1"/>
          </a:p>
          <a:p>
            <a:pPr indent="0" lvl="0" marL="0" rtl="0" algn="l">
              <a:lnSpc>
                <a:spcPct val="100000"/>
              </a:lnSpc>
              <a:spcBef>
                <a:spcPts val="0"/>
              </a:spcBef>
              <a:spcAft>
                <a:spcPts val="0"/>
              </a:spcAft>
              <a:buSzPts val="2800"/>
              <a:buNone/>
            </a:pPr>
            <a:r>
              <a:rPr b="1" lang="en"/>
              <a:t>Head Of ETL Team</a:t>
            </a:r>
            <a:endParaRPr b="1"/>
          </a:p>
          <a:p>
            <a:pPr indent="0" lvl="0" marL="0" rtl="0" algn="l">
              <a:lnSpc>
                <a:spcPct val="115000"/>
              </a:lnSpc>
              <a:spcBef>
                <a:spcPts val="0"/>
              </a:spcBef>
              <a:spcAft>
                <a:spcPts val="500"/>
              </a:spcAft>
              <a:buSzPts val="2800"/>
              <a:buNone/>
            </a:pPr>
            <a:r>
              <a:t/>
            </a:r>
            <a:endParaRPr b="1"/>
          </a:p>
        </p:txBody>
      </p:sp>
      <p:sp>
        <p:nvSpPr>
          <p:cNvPr id="1258" name="Google Shape;1258;p73"/>
          <p:cNvSpPr txBox="1"/>
          <p:nvPr>
            <p:ph idx="4" type="body"/>
          </p:nvPr>
        </p:nvSpPr>
        <p:spPr>
          <a:xfrm>
            <a:off x="4854400" y="1630891"/>
            <a:ext cx="2057400" cy="3358800"/>
          </a:xfrm>
          <a:prstGeom prst="rect">
            <a:avLst/>
          </a:prstGeom>
          <a:noFill/>
          <a:ln>
            <a:noFill/>
          </a:ln>
        </p:spPr>
        <p:txBody>
          <a:bodyPr anchorCtr="0" anchor="t" bIns="0" lIns="0" spcFirstLastPara="1" rIns="0" wrap="square" tIns="0">
            <a:noAutofit/>
          </a:bodyPr>
          <a:lstStyle/>
          <a:p>
            <a:pPr indent="-109220" lvl="0" marL="137160" marR="0" rtl="0" algn="l">
              <a:lnSpc>
                <a:spcPct val="100000"/>
              </a:lnSpc>
              <a:spcBef>
                <a:spcPts val="800"/>
              </a:spcBef>
              <a:spcAft>
                <a:spcPts val="0"/>
              </a:spcAft>
              <a:buClr>
                <a:schemeClr val="accent1"/>
              </a:buClr>
              <a:buSzPts val="1000"/>
              <a:buChar char="●"/>
            </a:pPr>
            <a:r>
              <a:rPr lang="en"/>
              <a:t>Bumble adopted Snowflake as it seamlessly integrates with the company’s Google Cloud environment and supports SQL.</a:t>
            </a:r>
            <a:endParaRPr/>
          </a:p>
          <a:p>
            <a:pPr indent="-109220" lvl="0" marL="137160" marR="0" rtl="0" algn="l">
              <a:lnSpc>
                <a:spcPct val="100000"/>
              </a:lnSpc>
              <a:spcBef>
                <a:spcPts val="800"/>
              </a:spcBef>
              <a:spcAft>
                <a:spcPts val="0"/>
              </a:spcAft>
              <a:buClr>
                <a:schemeClr val="accent1"/>
              </a:buClr>
              <a:buSzPts val="1000"/>
              <a:buChar char="●"/>
            </a:pPr>
            <a:r>
              <a:rPr lang="en"/>
              <a:t>It now has a single, scalable platform for its Data Warehouse, BI, and Data Lake and can easily bring in data from external sources.</a:t>
            </a:r>
            <a:endParaRPr/>
          </a:p>
          <a:p>
            <a:pPr indent="0" lvl="0" marL="457200" marR="0" rtl="0" algn="l">
              <a:lnSpc>
                <a:spcPct val="100000"/>
              </a:lnSpc>
              <a:spcBef>
                <a:spcPts val="800"/>
              </a:spcBef>
              <a:spcAft>
                <a:spcPts val="0"/>
              </a:spcAft>
              <a:buSzPts val="1000"/>
              <a:buNone/>
            </a:pPr>
            <a:r>
              <a:t/>
            </a:r>
            <a:endParaRPr/>
          </a:p>
        </p:txBody>
      </p:sp>
      <p:sp>
        <p:nvSpPr>
          <p:cNvPr id="1259" name="Google Shape;1259;p73"/>
          <p:cNvSpPr txBox="1"/>
          <p:nvPr>
            <p:ph idx="5" type="body"/>
          </p:nvPr>
        </p:nvSpPr>
        <p:spPr>
          <a:xfrm>
            <a:off x="7018375" y="1630891"/>
            <a:ext cx="2057400" cy="3358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A single source of truth</a:t>
            </a:r>
            <a:endParaRPr b="1"/>
          </a:p>
          <a:p>
            <a:pPr indent="0" lvl="0" marL="0" rtl="0" algn="l">
              <a:lnSpc>
                <a:spcPct val="100000"/>
              </a:lnSpc>
              <a:spcBef>
                <a:spcPts val="0"/>
              </a:spcBef>
              <a:spcAft>
                <a:spcPts val="0"/>
              </a:spcAft>
              <a:buSzPts val="1000"/>
              <a:buNone/>
            </a:pPr>
            <a:r>
              <a:rPr lang="en"/>
              <a:t>The company can run 15 internal products on a single platform with Snowflake.</a:t>
            </a:r>
            <a:endParaRPr/>
          </a:p>
          <a:p>
            <a:pPr indent="0" lvl="0" marL="0" rtl="0" algn="l">
              <a:lnSpc>
                <a:spcPct val="100000"/>
              </a:lnSpc>
              <a:spcBef>
                <a:spcPts val="0"/>
              </a:spcBef>
              <a:spcAft>
                <a:spcPts val="0"/>
              </a:spcAft>
              <a:buSzPts val="1000"/>
              <a:buNone/>
            </a:pPr>
            <a:r>
              <a:t/>
            </a:r>
            <a:endParaRPr/>
          </a:p>
          <a:p>
            <a:pPr indent="0" lvl="0" marL="0" rtl="0" algn="l">
              <a:lnSpc>
                <a:spcPct val="100000"/>
              </a:lnSpc>
              <a:spcBef>
                <a:spcPts val="0"/>
              </a:spcBef>
              <a:spcAft>
                <a:spcPts val="0"/>
              </a:spcAft>
              <a:buSzPts val="1000"/>
              <a:buNone/>
            </a:pPr>
            <a:r>
              <a:rPr b="1" lang="en"/>
              <a:t>Better data collaboration</a:t>
            </a:r>
            <a:endParaRPr b="1"/>
          </a:p>
          <a:p>
            <a:pPr indent="0" lvl="0" marL="0" rtl="0" algn="l">
              <a:lnSpc>
                <a:spcPct val="100000"/>
              </a:lnSpc>
              <a:spcBef>
                <a:spcPts val="0"/>
              </a:spcBef>
              <a:spcAft>
                <a:spcPts val="0"/>
              </a:spcAft>
              <a:buSzPts val="1000"/>
              <a:buNone/>
            </a:pPr>
            <a:r>
              <a:rPr lang="en"/>
              <a:t>Snowflake’s Collaboration features have given Bumble new, secure ways to share and use its data.</a:t>
            </a:r>
            <a:endParaRPr/>
          </a:p>
          <a:p>
            <a:pPr indent="0" lvl="0" marL="0" rtl="0" algn="l">
              <a:lnSpc>
                <a:spcPct val="100000"/>
              </a:lnSpc>
              <a:spcBef>
                <a:spcPts val="0"/>
              </a:spcBef>
              <a:spcAft>
                <a:spcPts val="0"/>
              </a:spcAft>
              <a:buSzPts val="1000"/>
              <a:buNone/>
            </a:pPr>
            <a:r>
              <a:t/>
            </a:r>
            <a:endParaRPr/>
          </a:p>
          <a:p>
            <a:pPr indent="0" lvl="0" marL="0" rtl="0" algn="l">
              <a:lnSpc>
                <a:spcPct val="100000"/>
              </a:lnSpc>
              <a:spcBef>
                <a:spcPts val="0"/>
              </a:spcBef>
              <a:spcAft>
                <a:spcPts val="0"/>
              </a:spcAft>
              <a:buSzPts val="1000"/>
              <a:buNone/>
            </a:pPr>
            <a:r>
              <a:rPr b="1" lang="en"/>
              <a:t>Scalability without bottlenecks</a:t>
            </a:r>
            <a:endParaRPr b="1"/>
          </a:p>
          <a:p>
            <a:pPr indent="0" lvl="0" marL="0" rtl="0" algn="l">
              <a:lnSpc>
                <a:spcPct val="100000"/>
              </a:lnSpc>
              <a:spcBef>
                <a:spcPts val="0"/>
              </a:spcBef>
              <a:spcAft>
                <a:spcPts val="0"/>
              </a:spcAft>
              <a:buSzPts val="1000"/>
              <a:buNone/>
            </a:pPr>
            <a:r>
              <a:rPr lang="en"/>
              <a:t>The company can now support 200+ users working on data with no impact on query performance.</a:t>
            </a:r>
            <a:endParaRPr/>
          </a:p>
          <a:p>
            <a:pPr indent="0" lvl="0" marL="0" rtl="0" algn="l">
              <a:lnSpc>
                <a:spcPct val="100000"/>
              </a:lnSpc>
              <a:spcBef>
                <a:spcPts val="0"/>
              </a:spcBef>
              <a:spcAft>
                <a:spcPts val="0"/>
              </a:spcAft>
              <a:buSzPts val="1000"/>
              <a:buNone/>
            </a:pPr>
            <a:r>
              <a:t/>
            </a:r>
            <a:endParaRPr/>
          </a:p>
          <a:p>
            <a:pPr indent="0" lvl="0" marL="0" rtl="0" algn="l">
              <a:lnSpc>
                <a:spcPct val="115000"/>
              </a:lnSpc>
              <a:spcBef>
                <a:spcPts val="0"/>
              </a:spcBef>
              <a:spcAft>
                <a:spcPts val="500"/>
              </a:spcAft>
              <a:buSzPts val="1000"/>
              <a:buNone/>
            </a:pPr>
            <a:r>
              <a:t/>
            </a:r>
            <a:endParaRPr/>
          </a:p>
        </p:txBody>
      </p:sp>
      <p:sp>
        <p:nvSpPr>
          <p:cNvPr id="1260" name="Google Shape;1260;p73"/>
          <p:cNvSpPr txBox="1"/>
          <p:nvPr>
            <p:ph idx="6" type="body"/>
          </p:nvPr>
        </p:nvSpPr>
        <p:spPr>
          <a:xfrm>
            <a:off x="237500" y="4471650"/>
            <a:ext cx="1790100" cy="146100"/>
          </a:xfrm>
          <a:prstGeom prst="rect">
            <a:avLst/>
          </a:prstGeom>
          <a:noFill/>
          <a:ln>
            <a:noFill/>
          </a:ln>
        </p:spPr>
        <p:txBody>
          <a:bodyPr anchorCtr="0" anchor="t" bIns="0" lIns="0" spcFirstLastPara="1" rIns="91425" wrap="square" tIns="0">
            <a:noAutofit/>
          </a:bodyPr>
          <a:lstStyle/>
          <a:p>
            <a:pPr indent="0" lvl="0" marL="0" rtl="0" algn="l">
              <a:lnSpc>
                <a:spcPct val="100000"/>
              </a:lnSpc>
              <a:spcBef>
                <a:spcPts val="0"/>
              </a:spcBef>
              <a:spcAft>
                <a:spcPts val="0"/>
              </a:spcAft>
              <a:buSzPts val="1800"/>
              <a:buNone/>
            </a:pPr>
            <a:r>
              <a:rPr lang="en" u="sng">
                <a:solidFill>
                  <a:schemeClr val="hlink"/>
                </a:solidFill>
                <a:hlinkClick r:id="rId3"/>
              </a:rPr>
              <a:t>View Full Case Study Here</a:t>
            </a:r>
            <a:endParaRPr/>
          </a:p>
          <a:p>
            <a:pPr indent="0" lvl="0" marL="0" rtl="0" algn="l">
              <a:lnSpc>
                <a:spcPct val="100000"/>
              </a:lnSpc>
              <a:spcBef>
                <a:spcPts val="0"/>
              </a:spcBef>
              <a:spcAft>
                <a:spcPts val="0"/>
              </a:spcAft>
              <a:buSzPts val="1800"/>
              <a:buNone/>
            </a:pPr>
            <a:r>
              <a:t/>
            </a:r>
            <a:endParaRPr/>
          </a:p>
        </p:txBody>
      </p:sp>
      <p:pic>
        <p:nvPicPr>
          <p:cNvPr id="1261" name="Google Shape;1261;p73"/>
          <p:cNvPicPr preferRelativeResize="0"/>
          <p:nvPr/>
        </p:nvPicPr>
        <p:blipFill rotWithShape="1">
          <a:blip r:embed="rId4">
            <a:alphaModFix/>
          </a:blip>
          <a:srcRect b="0" l="0" r="0" t="0"/>
          <a:stretch/>
        </p:blipFill>
        <p:spPr>
          <a:xfrm>
            <a:off x="457199" y="359326"/>
            <a:ext cx="1385400" cy="2360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74"/>
          <p:cNvSpPr txBox="1"/>
          <p:nvPr>
            <p:ph type="title"/>
          </p:nvPr>
        </p:nvSpPr>
        <p:spPr>
          <a:xfrm>
            <a:off x="1842800" y="30625"/>
            <a:ext cx="5427000" cy="83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Bumble Scales Up</a:t>
            </a:r>
            <a:endParaRPr/>
          </a:p>
          <a:p>
            <a:pPr indent="0" lvl="0" marL="0" rtl="0" algn="ctr">
              <a:spcBef>
                <a:spcPts val="0"/>
              </a:spcBef>
              <a:spcAft>
                <a:spcPts val="0"/>
              </a:spcAft>
              <a:buNone/>
            </a:pPr>
            <a:r>
              <a:rPr lang="en"/>
              <a:t>While Keeping Costs Down</a:t>
            </a:r>
            <a:endParaRPr/>
          </a:p>
        </p:txBody>
      </p:sp>
      <p:sp>
        <p:nvSpPr>
          <p:cNvPr id="1267" name="Google Shape;1267;p74"/>
          <p:cNvSpPr txBox="1"/>
          <p:nvPr>
            <p:ph idx="1" type="body"/>
          </p:nvPr>
        </p:nvSpPr>
        <p:spPr>
          <a:xfrm>
            <a:off x="3153100" y="2241150"/>
            <a:ext cx="2834700" cy="2520000"/>
          </a:xfrm>
          <a:prstGeom prst="rect">
            <a:avLst/>
          </a:prstGeom>
        </p:spPr>
        <p:txBody>
          <a:bodyPr anchorCtr="0" anchor="t" bIns="0" lIns="0" spcFirstLastPara="1" rIns="0" wrap="square" tIns="91425">
            <a:noAutofit/>
          </a:bodyPr>
          <a:lstStyle/>
          <a:p>
            <a:pPr indent="-109220" lvl="0" marL="137160" rtl="0" algn="l">
              <a:lnSpc>
                <a:spcPct val="100000"/>
              </a:lnSpc>
              <a:spcBef>
                <a:spcPts val="800"/>
              </a:spcBef>
              <a:spcAft>
                <a:spcPts val="0"/>
              </a:spcAft>
              <a:buClr>
                <a:schemeClr val="accent1"/>
              </a:buClr>
              <a:buSzPts val="1000"/>
              <a:buChar char="●"/>
            </a:pPr>
            <a:r>
              <a:rPr lang="en"/>
              <a:t>Bumble adopted Snowflake as it seamlessly integrates with the company’s Google Cloud environment and supports SQL.</a:t>
            </a:r>
            <a:endParaRPr/>
          </a:p>
          <a:p>
            <a:pPr indent="-109220" lvl="0" marL="137160" rtl="0" algn="l">
              <a:lnSpc>
                <a:spcPct val="100000"/>
              </a:lnSpc>
              <a:spcBef>
                <a:spcPts val="800"/>
              </a:spcBef>
              <a:spcAft>
                <a:spcPts val="0"/>
              </a:spcAft>
              <a:buClr>
                <a:schemeClr val="accent1"/>
              </a:buClr>
              <a:buSzPts val="1000"/>
              <a:buChar char="●"/>
            </a:pPr>
            <a:r>
              <a:rPr lang="en"/>
              <a:t>It now has a single, scalable platform for its Data Warehouse, BI, and Data Lake and can easily bring in data from external sources.</a:t>
            </a:r>
            <a:endParaRPr/>
          </a:p>
        </p:txBody>
      </p:sp>
      <p:sp>
        <p:nvSpPr>
          <p:cNvPr id="1268" name="Google Shape;1268;p74"/>
          <p:cNvSpPr txBox="1"/>
          <p:nvPr>
            <p:ph idx="3" type="body"/>
          </p:nvPr>
        </p:nvSpPr>
        <p:spPr>
          <a:xfrm>
            <a:off x="419214" y="946708"/>
            <a:ext cx="8287200" cy="7518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In the past, we had to run a series of optimizations on our on-premises systems to re-size clusters and reduce storage requirements. With Snowflake, it just works.  </a:t>
            </a:r>
            <a:endParaRPr/>
          </a:p>
          <a:p>
            <a:pPr indent="457200" lvl="0" marL="4572000" rtl="0" algn="l">
              <a:spcBef>
                <a:spcPts val="0"/>
              </a:spcBef>
              <a:spcAft>
                <a:spcPts val="0"/>
              </a:spcAft>
              <a:buNone/>
            </a:pPr>
            <a:r>
              <a:rPr lang="en"/>
              <a:t>- ALEX TOLMACHYOV, Head Of ETL Team</a:t>
            </a:r>
            <a:endParaRPr/>
          </a:p>
        </p:txBody>
      </p:sp>
      <p:sp>
        <p:nvSpPr>
          <p:cNvPr id="1269" name="Google Shape;1269;p74"/>
          <p:cNvSpPr txBox="1"/>
          <p:nvPr>
            <p:ph idx="2" type="body"/>
          </p:nvPr>
        </p:nvSpPr>
        <p:spPr>
          <a:xfrm>
            <a:off x="6081375" y="2241150"/>
            <a:ext cx="2834700" cy="2520000"/>
          </a:xfrm>
          <a:prstGeom prst="rect">
            <a:avLst/>
          </a:prstGeom>
        </p:spPr>
        <p:txBody>
          <a:bodyPr anchorCtr="0" anchor="t" bIns="0" lIns="0" spcFirstLastPara="1" rIns="0" wrap="square" tIns="91425">
            <a:noAutofit/>
          </a:bodyPr>
          <a:lstStyle/>
          <a:p>
            <a:pPr indent="-109220" lvl="0" marL="137160" rtl="0" algn="l">
              <a:lnSpc>
                <a:spcPct val="100000"/>
              </a:lnSpc>
              <a:spcBef>
                <a:spcPts val="800"/>
              </a:spcBef>
              <a:spcAft>
                <a:spcPts val="0"/>
              </a:spcAft>
              <a:buClr>
                <a:schemeClr val="accent1"/>
              </a:buClr>
              <a:buSzPts val="1000"/>
              <a:buChar char="●"/>
            </a:pPr>
            <a:r>
              <a:rPr b="1" lang="en"/>
              <a:t>A single source of truth</a:t>
            </a:r>
            <a:br>
              <a:rPr lang="en"/>
            </a:br>
            <a:r>
              <a:rPr lang="en"/>
              <a:t>The company can run 15 internal products on a single platform with Snowflake.</a:t>
            </a:r>
            <a:endParaRPr/>
          </a:p>
          <a:p>
            <a:pPr indent="-109220" lvl="0" marL="137160" rtl="0" algn="l">
              <a:lnSpc>
                <a:spcPct val="100000"/>
              </a:lnSpc>
              <a:spcBef>
                <a:spcPts val="800"/>
              </a:spcBef>
              <a:spcAft>
                <a:spcPts val="0"/>
              </a:spcAft>
              <a:buClr>
                <a:schemeClr val="accent1"/>
              </a:buClr>
              <a:buSzPts val="1000"/>
              <a:buChar char="●"/>
            </a:pPr>
            <a:r>
              <a:rPr b="1" lang="en"/>
              <a:t>Better data collaboration</a:t>
            </a:r>
            <a:br>
              <a:rPr lang="en"/>
            </a:br>
            <a:r>
              <a:rPr lang="en"/>
              <a:t>Snowflake’s Collaboration features have given Bumble new, secure ways to share and use its data.</a:t>
            </a:r>
            <a:endParaRPr/>
          </a:p>
          <a:p>
            <a:pPr indent="-109220" lvl="0" marL="137160" rtl="0" algn="l">
              <a:lnSpc>
                <a:spcPct val="100000"/>
              </a:lnSpc>
              <a:spcBef>
                <a:spcPts val="800"/>
              </a:spcBef>
              <a:spcAft>
                <a:spcPts val="0"/>
              </a:spcAft>
              <a:buClr>
                <a:schemeClr val="accent1"/>
              </a:buClr>
              <a:buSzPts val="1000"/>
              <a:buChar char="●"/>
            </a:pPr>
            <a:r>
              <a:rPr b="1" lang="en"/>
              <a:t>Scalability without bottlenecks</a:t>
            </a:r>
            <a:br>
              <a:rPr lang="en"/>
            </a:br>
            <a:r>
              <a:rPr lang="en"/>
              <a:t>The company can now support 200+ users working on data with no impact on query performance.</a:t>
            </a:r>
            <a:endParaRPr/>
          </a:p>
          <a:p>
            <a:pPr indent="0" lvl="0" marL="0" rtl="0" algn="l">
              <a:spcBef>
                <a:spcPts val="0"/>
              </a:spcBef>
              <a:spcAft>
                <a:spcPts val="0"/>
              </a:spcAft>
              <a:buNone/>
            </a:pPr>
            <a:r>
              <a:t/>
            </a:r>
            <a:endParaRPr/>
          </a:p>
        </p:txBody>
      </p:sp>
      <p:sp>
        <p:nvSpPr>
          <p:cNvPr id="1270" name="Google Shape;1270;p74"/>
          <p:cNvSpPr txBox="1"/>
          <p:nvPr>
            <p:ph idx="4" type="body"/>
          </p:nvPr>
        </p:nvSpPr>
        <p:spPr>
          <a:xfrm>
            <a:off x="224825" y="2255825"/>
            <a:ext cx="2834700" cy="2520000"/>
          </a:xfrm>
          <a:prstGeom prst="rect">
            <a:avLst/>
          </a:prstGeom>
        </p:spPr>
        <p:txBody>
          <a:bodyPr anchorCtr="0" anchor="t" bIns="0" lIns="0" spcFirstLastPara="1" rIns="0" wrap="square" tIns="91425">
            <a:noAutofit/>
          </a:bodyPr>
          <a:lstStyle/>
          <a:p>
            <a:pPr indent="-109220" lvl="0" marL="137160" rtl="0" algn="l">
              <a:lnSpc>
                <a:spcPct val="100000"/>
              </a:lnSpc>
              <a:spcBef>
                <a:spcPts val="800"/>
              </a:spcBef>
              <a:spcAft>
                <a:spcPts val="0"/>
              </a:spcAft>
              <a:buClr>
                <a:schemeClr val="accent1"/>
              </a:buClr>
              <a:buSzPts val="1000"/>
              <a:buChar char="●"/>
            </a:pPr>
            <a:r>
              <a:rPr lang="en"/>
              <a:t>Bumble’s reporting needs were growing, and its legacy on-premises system couldn’t deliver consistent and timely insights. This was making it difficult to scale.</a:t>
            </a:r>
            <a:endParaRPr/>
          </a:p>
          <a:p>
            <a:pPr indent="-109220" lvl="0" marL="137160" rtl="0" algn="l">
              <a:lnSpc>
                <a:spcPct val="100000"/>
              </a:lnSpc>
              <a:spcBef>
                <a:spcPts val="800"/>
              </a:spcBef>
              <a:spcAft>
                <a:spcPts val="0"/>
              </a:spcAft>
              <a:buClr>
                <a:schemeClr val="accent1"/>
              </a:buClr>
              <a:buSzPts val="1000"/>
              <a:buChar char="●"/>
            </a:pPr>
            <a:r>
              <a:rPr lang="en"/>
              <a:t>Limited compute resources also meant the company sometimes had to shut down internal user queries so they wouldn’t interfere with other processes.</a:t>
            </a:r>
            <a:endParaRPr/>
          </a:p>
          <a:p>
            <a:pPr indent="-109220" lvl="0" marL="137160" rtl="0" algn="l">
              <a:lnSpc>
                <a:spcPct val="100000"/>
              </a:lnSpc>
              <a:spcBef>
                <a:spcPts val="800"/>
              </a:spcBef>
              <a:spcAft>
                <a:spcPts val="0"/>
              </a:spcAft>
              <a:buClr>
                <a:schemeClr val="accent1"/>
              </a:buClr>
              <a:buSzPts val="1000"/>
              <a:buChar char="●"/>
            </a:pPr>
            <a:r>
              <a:rPr lang="en"/>
              <a:t>As a GCP based company, Bumble initially evaluated Google BigQuery but found it didn’t support all queries and required significant pipeline adaptation.</a:t>
            </a:r>
            <a:endParaRPr/>
          </a:p>
        </p:txBody>
      </p:sp>
      <p:pic>
        <p:nvPicPr>
          <p:cNvPr id="1271" name="Google Shape;1271;p74"/>
          <p:cNvPicPr preferRelativeResize="0"/>
          <p:nvPr/>
        </p:nvPicPr>
        <p:blipFill rotWithShape="1">
          <a:blip r:embed="rId3">
            <a:alphaModFix/>
          </a:blip>
          <a:srcRect b="0" l="0" r="0" t="0"/>
          <a:stretch/>
        </p:blipFill>
        <p:spPr>
          <a:xfrm>
            <a:off x="305499" y="260701"/>
            <a:ext cx="1385400" cy="2360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75"/>
          <p:cNvSpPr txBox="1"/>
          <p:nvPr>
            <p:ph type="title"/>
          </p:nvPr>
        </p:nvSpPr>
        <p:spPr>
          <a:xfrm>
            <a:off x="2613600" y="152750"/>
            <a:ext cx="51213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Bumble Scales Up While Keeping Costs Down</a:t>
            </a:r>
            <a:endParaRPr sz="1900"/>
          </a:p>
          <a:p>
            <a:pPr indent="0" lvl="0" marL="0" rtl="0" algn="l">
              <a:spcBef>
                <a:spcPts val="0"/>
              </a:spcBef>
              <a:spcAft>
                <a:spcPts val="0"/>
              </a:spcAft>
              <a:buNone/>
            </a:pPr>
            <a:r>
              <a:t/>
            </a:r>
            <a:endParaRPr sz="1900"/>
          </a:p>
        </p:txBody>
      </p:sp>
      <p:sp>
        <p:nvSpPr>
          <p:cNvPr id="1277" name="Google Shape;1277;p75"/>
          <p:cNvSpPr txBox="1"/>
          <p:nvPr>
            <p:ph idx="1" type="body"/>
          </p:nvPr>
        </p:nvSpPr>
        <p:spPr>
          <a:xfrm>
            <a:off x="2537300" y="1154225"/>
            <a:ext cx="2093100" cy="3812100"/>
          </a:xfrm>
          <a:prstGeom prst="rect">
            <a:avLst/>
          </a:prstGeom>
        </p:spPr>
        <p:txBody>
          <a:bodyPr anchorCtr="0" anchor="t" bIns="0" lIns="0" spcFirstLastPara="1" rIns="0" wrap="square" tIns="274300">
            <a:noAutofit/>
          </a:bodyPr>
          <a:lstStyle/>
          <a:p>
            <a:pPr indent="-109220" lvl="0" marL="137160" marR="0" rtl="0" algn="l">
              <a:lnSpc>
                <a:spcPct val="100000"/>
              </a:lnSpc>
              <a:spcBef>
                <a:spcPts val="800"/>
              </a:spcBef>
              <a:spcAft>
                <a:spcPts val="0"/>
              </a:spcAft>
              <a:buClr>
                <a:schemeClr val="accent1"/>
              </a:buClr>
              <a:buSzPts val="1000"/>
              <a:buChar char="●"/>
            </a:pPr>
            <a:r>
              <a:rPr lang="en"/>
              <a:t>Bumble’s reporting needs were growing, and its legacy on-premises system couldn’t deliver consistent and timely insights. This was making it difficult to scale.</a:t>
            </a:r>
            <a:endParaRPr/>
          </a:p>
          <a:p>
            <a:pPr indent="-109220" lvl="0" marL="137160" marR="0" rtl="0" algn="l">
              <a:lnSpc>
                <a:spcPct val="100000"/>
              </a:lnSpc>
              <a:spcBef>
                <a:spcPts val="800"/>
              </a:spcBef>
              <a:spcAft>
                <a:spcPts val="0"/>
              </a:spcAft>
              <a:buClr>
                <a:schemeClr val="accent1"/>
              </a:buClr>
              <a:buSzPts val="1000"/>
              <a:buChar char="●"/>
            </a:pPr>
            <a:r>
              <a:rPr lang="en"/>
              <a:t>Limited compute resources also meant the company sometimes had to shut down internal user queries so they wouldn’t interfere with other processes.</a:t>
            </a:r>
            <a:endParaRPr/>
          </a:p>
          <a:p>
            <a:pPr indent="-109220" lvl="0" marL="137160" marR="0" rtl="0" algn="l">
              <a:lnSpc>
                <a:spcPct val="100000"/>
              </a:lnSpc>
              <a:spcBef>
                <a:spcPts val="800"/>
              </a:spcBef>
              <a:spcAft>
                <a:spcPts val="0"/>
              </a:spcAft>
              <a:buClr>
                <a:schemeClr val="accent1"/>
              </a:buClr>
              <a:buSzPts val="1000"/>
              <a:buChar char="●"/>
            </a:pPr>
            <a:r>
              <a:rPr lang="en"/>
              <a:t>As a GCP based company, Bumble initially evaluated Google BigQuery but found it didn’t support all queries and required significant pipeline adaptation.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78" name="Google Shape;1278;p75"/>
          <p:cNvSpPr txBox="1"/>
          <p:nvPr>
            <p:ph idx="2" type="body"/>
          </p:nvPr>
        </p:nvSpPr>
        <p:spPr>
          <a:xfrm>
            <a:off x="237525" y="1630900"/>
            <a:ext cx="2164800" cy="3055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0" lang="en"/>
              <a:t>In the past, we had to run a series of optimizations on our on-premises systems to re-size clusters and reduce storage requirements. With Snowflake, it just works. </a:t>
            </a:r>
            <a:endParaRPr b="0"/>
          </a:p>
          <a:p>
            <a:pPr indent="0" lvl="0" marL="0" rtl="0" algn="l">
              <a:lnSpc>
                <a:spcPct val="115000"/>
              </a:lnSpc>
              <a:spcBef>
                <a:spcPts val="0"/>
              </a:spcBef>
              <a:spcAft>
                <a:spcPts val="0"/>
              </a:spcAft>
              <a:buNone/>
            </a:pPr>
            <a:r>
              <a:t/>
            </a:r>
            <a:endParaRPr b="0"/>
          </a:p>
          <a:p>
            <a:pPr indent="0" lvl="0" marL="0" rtl="0" algn="l">
              <a:lnSpc>
                <a:spcPct val="115000"/>
              </a:lnSpc>
              <a:spcBef>
                <a:spcPts val="0"/>
              </a:spcBef>
              <a:spcAft>
                <a:spcPts val="0"/>
              </a:spcAft>
              <a:buNone/>
            </a:pPr>
            <a:r>
              <a:rPr b="0" lang="en"/>
              <a:t>— ALEX TOLMACHYOV,</a:t>
            </a:r>
            <a:endParaRPr b="0"/>
          </a:p>
          <a:p>
            <a:pPr indent="0" lvl="0" marL="0" rtl="0" algn="l">
              <a:lnSpc>
                <a:spcPct val="115000"/>
              </a:lnSpc>
              <a:spcBef>
                <a:spcPts val="0"/>
              </a:spcBef>
              <a:spcAft>
                <a:spcPts val="0"/>
              </a:spcAft>
              <a:buNone/>
            </a:pPr>
            <a:r>
              <a:rPr b="0" lang="en"/>
              <a:t>Head Of ETL Team</a:t>
            </a:r>
            <a:endParaRPr b="0"/>
          </a:p>
          <a:p>
            <a:pPr indent="0" lvl="0" marL="0" rtl="0" algn="l">
              <a:lnSpc>
                <a:spcPct val="115000"/>
              </a:lnSpc>
              <a:spcBef>
                <a:spcPts val="0"/>
              </a:spcBef>
              <a:spcAft>
                <a:spcPts val="0"/>
              </a:spcAft>
              <a:buNone/>
            </a:pPr>
            <a:r>
              <a:t/>
            </a:r>
            <a:endParaRPr b="0"/>
          </a:p>
          <a:p>
            <a:pPr indent="0" lvl="0" marL="0" rtl="0" algn="l">
              <a:lnSpc>
                <a:spcPct val="115000"/>
              </a:lnSpc>
              <a:spcBef>
                <a:spcPts val="0"/>
              </a:spcBef>
              <a:spcAft>
                <a:spcPts val="0"/>
              </a:spcAft>
              <a:buNone/>
            </a:pPr>
            <a:r>
              <a:t/>
            </a:r>
            <a:endParaRPr b="0"/>
          </a:p>
        </p:txBody>
      </p:sp>
      <p:sp>
        <p:nvSpPr>
          <p:cNvPr id="1279" name="Google Shape;1279;p75"/>
          <p:cNvSpPr txBox="1"/>
          <p:nvPr>
            <p:ph idx="3" type="body"/>
          </p:nvPr>
        </p:nvSpPr>
        <p:spPr>
          <a:xfrm>
            <a:off x="4739454" y="1154225"/>
            <a:ext cx="2103000" cy="3812100"/>
          </a:xfrm>
          <a:prstGeom prst="rect">
            <a:avLst/>
          </a:prstGeom>
        </p:spPr>
        <p:txBody>
          <a:bodyPr anchorCtr="0" anchor="t" bIns="0" lIns="0" spcFirstLastPara="1" rIns="0" wrap="square" tIns="274300">
            <a:noAutofit/>
          </a:bodyPr>
          <a:lstStyle/>
          <a:p>
            <a:pPr indent="-109220" lvl="0" marL="137160" rtl="0" algn="l">
              <a:lnSpc>
                <a:spcPct val="100000"/>
              </a:lnSpc>
              <a:spcBef>
                <a:spcPts val="800"/>
              </a:spcBef>
              <a:spcAft>
                <a:spcPts val="0"/>
              </a:spcAft>
              <a:buClr>
                <a:schemeClr val="accent1"/>
              </a:buClr>
              <a:buSzPts val="1000"/>
              <a:buChar char="•"/>
            </a:pPr>
            <a:r>
              <a:rPr lang="en"/>
              <a:t>Bumble adopted Snowflake as it seamlessly integrates with the company’s Google Cloud environment and supports SQL.</a:t>
            </a:r>
            <a:endParaRPr/>
          </a:p>
          <a:p>
            <a:pPr indent="-109220" lvl="0" marL="137160" rtl="0" algn="l">
              <a:lnSpc>
                <a:spcPct val="100000"/>
              </a:lnSpc>
              <a:spcBef>
                <a:spcPts val="800"/>
              </a:spcBef>
              <a:spcAft>
                <a:spcPts val="0"/>
              </a:spcAft>
              <a:buClr>
                <a:schemeClr val="accent1"/>
              </a:buClr>
              <a:buSzPts val="1000"/>
              <a:buChar char="•"/>
            </a:pPr>
            <a:r>
              <a:rPr lang="en"/>
              <a:t>It now has a single, scalable platform for its Data Warehouse, BI, and Data Lake and can easily bring in data from external sources.</a:t>
            </a:r>
            <a:endParaRPr/>
          </a:p>
          <a:p>
            <a:pPr indent="0" lvl="0" marL="457200" rtl="0" algn="l">
              <a:lnSpc>
                <a:spcPct val="100000"/>
              </a:lnSpc>
              <a:spcBef>
                <a:spcPts val="800"/>
              </a:spcBef>
              <a:spcAft>
                <a:spcPts val="0"/>
              </a:spcAft>
              <a:buClr>
                <a:srgbClr val="000000"/>
              </a:buClr>
              <a:buSzPts val="1000"/>
              <a:buFont typeface="Arial"/>
              <a:buNone/>
            </a:pPr>
            <a:r>
              <a:t/>
            </a:r>
            <a:endParaRPr/>
          </a:p>
          <a:p>
            <a:pPr indent="0" lvl="0" marL="0" rtl="0" algn="l">
              <a:spcBef>
                <a:spcPts val="0"/>
              </a:spcBef>
              <a:spcAft>
                <a:spcPts val="0"/>
              </a:spcAft>
              <a:buNone/>
            </a:pPr>
            <a:r>
              <a:t/>
            </a:r>
            <a:endParaRPr/>
          </a:p>
        </p:txBody>
      </p:sp>
      <p:sp>
        <p:nvSpPr>
          <p:cNvPr id="1280" name="Google Shape;1280;p75"/>
          <p:cNvSpPr txBox="1"/>
          <p:nvPr>
            <p:ph idx="4" type="body"/>
          </p:nvPr>
        </p:nvSpPr>
        <p:spPr>
          <a:xfrm>
            <a:off x="6942269" y="1154175"/>
            <a:ext cx="2103000" cy="3812100"/>
          </a:xfrm>
          <a:prstGeom prst="rect">
            <a:avLst/>
          </a:prstGeom>
        </p:spPr>
        <p:txBody>
          <a:bodyPr anchorCtr="0" anchor="t" bIns="0" lIns="0" spcFirstLastPara="1" rIns="0" wrap="square" tIns="274300">
            <a:noAutofit/>
          </a:bodyPr>
          <a:lstStyle/>
          <a:p>
            <a:pPr indent="-109220" lvl="0" marL="137160" marR="0" rtl="0" algn="l">
              <a:lnSpc>
                <a:spcPct val="100000"/>
              </a:lnSpc>
              <a:spcBef>
                <a:spcPts val="800"/>
              </a:spcBef>
              <a:spcAft>
                <a:spcPts val="0"/>
              </a:spcAft>
              <a:buClr>
                <a:schemeClr val="accent1"/>
              </a:buClr>
              <a:buSzPts val="1000"/>
              <a:buChar char="●"/>
            </a:pPr>
            <a:r>
              <a:rPr b="1" lang="en"/>
              <a:t>A single source of truth</a:t>
            </a:r>
            <a:br>
              <a:rPr lang="en"/>
            </a:br>
            <a:r>
              <a:rPr lang="en"/>
              <a:t>The company can run 15 internal products on a single platform with Snowflake.</a:t>
            </a:r>
            <a:endParaRPr/>
          </a:p>
          <a:p>
            <a:pPr indent="-109220" lvl="0" marL="137160" marR="0" rtl="0" algn="l">
              <a:lnSpc>
                <a:spcPct val="100000"/>
              </a:lnSpc>
              <a:spcBef>
                <a:spcPts val="800"/>
              </a:spcBef>
              <a:spcAft>
                <a:spcPts val="0"/>
              </a:spcAft>
              <a:buClr>
                <a:schemeClr val="accent1"/>
              </a:buClr>
              <a:buSzPts val="1000"/>
              <a:buChar char="●"/>
            </a:pPr>
            <a:r>
              <a:rPr b="1" lang="en"/>
              <a:t>Better data collaboration</a:t>
            </a:r>
            <a:br>
              <a:rPr lang="en"/>
            </a:br>
            <a:r>
              <a:rPr lang="en"/>
              <a:t>Snowflake’s Collaboration features have given Bumble new, secure ways to share and use its data.</a:t>
            </a:r>
            <a:endParaRPr/>
          </a:p>
          <a:p>
            <a:pPr indent="-109220" lvl="0" marL="137160" marR="0" rtl="0" algn="l">
              <a:lnSpc>
                <a:spcPct val="100000"/>
              </a:lnSpc>
              <a:spcBef>
                <a:spcPts val="800"/>
              </a:spcBef>
              <a:spcAft>
                <a:spcPts val="0"/>
              </a:spcAft>
              <a:buClr>
                <a:schemeClr val="accent1"/>
              </a:buClr>
              <a:buSzPts val="1000"/>
              <a:buChar char="●"/>
            </a:pPr>
            <a:r>
              <a:rPr b="1" lang="en"/>
              <a:t>Scalability without bottlenecks</a:t>
            </a:r>
            <a:br>
              <a:rPr lang="en"/>
            </a:br>
            <a:r>
              <a:rPr lang="en"/>
              <a:t>The company can now support 200+ users working on data with no impact on query performance.</a:t>
            </a:r>
            <a:endParaRPr/>
          </a:p>
          <a:p>
            <a:pPr indent="0" lvl="0" marL="0" rtl="0" algn="l">
              <a:spcBef>
                <a:spcPts val="0"/>
              </a:spcBef>
              <a:spcAft>
                <a:spcPts val="0"/>
              </a:spcAft>
              <a:buClr>
                <a:srgbClr val="000000"/>
              </a:buClr>
              <a:buSzPts val="1000"/>
              <a:buFont typeface="Arial"/>
              <a:buNone/>
            </a:pPr>
            <a:r>
              <a:t/>
            </a:r>
            <a:endParaRPr/>
          </a:p>
          <a:p>
            <a:pPr indent="0" lvl="0" marL="0" rtl="0" algn="l">
              <a:spcBef>
                <a:spcPts val="500"/>
              </a:spcBef>
              <a:spcAft>
                <a:spcPts val="0"/>
              </a:spcAft>
              <a:buNone/>
            </a:pPr>
            <a:r>
              <a:t/>
            </a:r>
            <a:endParaRPr/>
          </a:p>
        </p:txBody>
      </p:sp>
      <p:pic>
        <p:nvPicPr>
          <p:cNvPr id="1281" name="Google Shape;1281;p75"/>
          <p:cNvPicPr preferRelativeResize="0"/>
          <p:nvPr/>
        </p:nvPicPr>
        <p:blipFill rotWithShape="1">
          <a:blip r:embed="rId3">
            <a:alphaModFix/>
          </a:blip>
          <a:srcRect b="0" l="0" r="0" t="0"/>
          <a:stretch/>
        </p:blipFill>
        <p:spPr>
          <a:xfrm>
            <a:off x="457199" y="359326"/>
            <a:ext cx="1385400" cy="2360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76"/>
          <p:cNvSpPr txBox="1"/>
          <p:nvPr>
            <p:ph idx="1" type="subTitle"/>
          </p:nvPr>
        </p:nvSpPr>
        <p:spPr>
          <a:xfrm>
            <a:off x="410975" y="3020625"/>
            <a:ext cx="7305000" cy="6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Attachment (in progress slides)</a:t>
            </a:r>
            <a:endParaRPr/>
          </a:p>
        </p:txBody>
      </p:sp>
      <p:sp>
        <p:nvSpPr>
          <p:cNvPr id="1287" name="Google Shape;1287;p76"/>
          <p:cNvSpPr txBox="1"/>
          <p:nvPr>
            <p:ph type="title"/>
          </p:nvPr>
        </p:nvSpPr>
        <p:spPr>
          <a:xfrm>
            <a:off x="410975" y="2283876"/>
            <a:ext cx="7305000" cy="7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77"/>
          <p:cNvSpPr/>
          <p:nvPr/>
        </p:nvSpPr>
        <p:spPr>
          <a:xfrm>
            <a:off x="291825" y="2622150"/>
            <a:ext cx="8557800" cy="6528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1294" name="Google Shape;1294;p77"/>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Cortex AI Ecosystem</a:t>
            </a:r>
            <a:endParaRPr/>
          </a:p>
        </p:txBody>
      </p:sp>
      <p:sp>
        <p:nvSpPr>
          <p:cNvPr id="1295" name="Google Shape;1295;p77"/>
          <p:cNvSpPr/>
          <p:nvPr/>
        </p:nvSpPr>
        <p:spPr>
          <a:xfrm>
            <a:off x="291950" y="843500"/>
            <a:ext cx="8557800" cy="6528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1296" name="Google Shape;1296;p77"/>
          <p:cNvSpPr/>
          <p:nvPr/>
        </p:nvSpPr>
        <p:spPr>
          <a:xfrm>
            <a:off x="291725" y="1742725"/>
            <a:ext cx="8557800" cy="712800"/>
          </a:xfrm>
          <a:prstGeom prst="roundRect">
            <a:avLst>
              <a:gd fmla="val 6368" name="adj"/>
            </a:avLst>
          </a:prstGeom>
          <a:solidFill>
            <a:srgbClr val="D4F0FA"/>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1297" name="Google Shape;1297;p77"/>
          <p:cNvSpPr/>
          <p:nvPr/>
        </p:nvSpPr>
        <p:spPr>
          <a:xfrm>
            <a:off x="6676313" y="4177075"/>
            <a:ext cx="1635692" cy="793248"/>
          </a:xfrm>
          <a:custGeom>
            <a:rect b="b" l="l" r="r" t="t"/>
            <a:pathLst>
              <a:path extrusionOk="0" h="973310" w="7607871">
                <a:moveTo>
                  <a:pt x="7493619" y="0"/>
                </a:moveTo>
                <a:cubicBezTo>
                  <a:pt x="7556719" y="0"/>
                  <a:pt x="7607871" y="51141"/>
                  <a:pt x="7607871" y="114227"/>
                </a:cubicBezTo>
                <a:lnTo>
                  <a:pt x="7607871" y="859083"/>
                </a:lnTo>
                <a:cubicBezTo>
                  <a:pt x="7607871" y="922169"/>
                  <a:pt x="7556719" y="973311"/>
                  <a:pt x="7493619" y="973311"/>
                </a:cubicBezTo>
                <a:lnTo>
                  <a:pt x="114252" y="973311"/>
                </a:lnTo>
                <a:cubicBezTo>
                  <a:pt x="51152" y="973311"/>
                  <a:pt x="0" y="922170"/>
                  <a:pt x="0" y="859084"/>
                </a:cubicBezTo>
                <a:lnTo>
                  <a:pt x="0" y="114227"/>
                </a:lnTo>
                <a:cubicBezTo>
                  <a:pt x="0" y="51141"/>
                  <a:pt x="51152" y="0"/>
                  <a:pt x="114252" y="0"/>
                </a:cubicBezTo>
                <a:close/>
              </a:path>
            </a:pathLst>
          </a:custGeom>
          <a:solidFill>
            <a:srgbClr val="D4F0FA"/>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t/>
            </a:r>
            <a:endParaRPr b="1" sz="1000">
              <a:solidFill>
                <a:srgbClr val="11567F"/>
              </a:solidFill>
            </a:endParaRPr>
          </a:p>
        </p:txBody>
      </p:sp>
      <p:sp>
        <p:nvSpPr>
          <p:cNvPr id="1298" name="Google Shape;1298;p77"/>
          <p:cNvSpPr/>
          <p:nvPr/>
        </p:nvSpPr>
        <p:spPr>
          <a:xfrm>
            <a:off x="6536944" y="4277684"/>
            <a:ext cx="19533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UNSTRUCTURED DATA</a:t>
            </a:r>
            <a:endParaRPr b="1" sz="900">
              <a:solidFill>
                <a:srgbClr val="434343"/>
              </a:solidFill>
            </a:endParaRPr>
          </a:p>
        </p:txBody>
      </p:sp>
      <p:sp>
        <p:nvSpPr>
          <p:cNvPr id="1299" name="Google Shape;1299;p77"/>
          <p:cNvSpPr/>
          <p:nvPr/>
        </p:nvSpPr>
        <p:spPr>
          <a:xfrm>
            <a:off x="310735" y="1780134"/>
            <a:ext cx="16125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l">
              <a:lnSpc>
                <a:spcPct val="100000"/>
              </a:lnSpc>
              <a:spcBef>
                <a:spcPts val="0"/>
              </a:spcBef>
              <a:spcAft>
                <a:spcPts val="0"/>
              </a:spcAft>
              <a:buNone/>
            </a:pPr>
            <a:r>
              <a:rPr b="1" lang="en" sz="900">
                <a:solidFill>
                  <a:srgbClr val="11567F"/>
                </a:solidFill>
              </a:rPr>
              <a:t>ORCHESTRATION LAYER</a:t>
            </a:r>
            <a:endParaRPr b="1" sz="900">
              <a:solidFill>
                <a:srgbClr val="11567F"/>
              </a:solidFill>
            </a:endParaRPr>
          </a:p>
        </p:txBody>
      </p:sp>
      <p:sp>
        <p:nvSpPr>
          <p:cNvPr id="1300" name="Google Shape;1300;p77"/>
          <p:cNvSpPr/>
          <p:nvPr/>
        </p:nvSpPr>
        <p:spPr>
          <a:xfrm>
            <a:off x="295836" y="868671"/>
            <a:ext cx="25614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l">
              <a:lnSpc>
                <a:spcPct val="100000"/>
              </a:lnSpc>
              <a:spcBef>
                <a:spcPts val="0"/>
              </a:spcBef>
              <a:spcAft>
                <a:spcPts val="0"/>
              </a:spcAft>
              <a:buNone/>
            </a:pPr>
            <a:r>
              <a:rPr b="1" lang="en" sz="900">
                <a:solidFill>
                  <a:srgbClr val="11567F"/>
                </a:solidFill>
              </a:rPr>
              <a:t>FRONTEND LAYER</a:t>
            </a:r>
            <a:endParaRPr b="1" sz="900">
              <a:solidFill>
                <a:srgbClr val="434343"/>
              </a:solidFill>
            </a:endParaRPr>
          </a:p>
        </p:txBody>
      </p:sp>
      <p:sp>
        <p:nvSpPr>
          <p:cNvPr id="1301" name="Google Shape;1301;p77"/>
          <p:cNvSpPr/>
          <p:nvPr/>
        </p:nvSpPr>
        <p:spPr>
          <a:xfrm>
            <a:off x="3815900" y="1894237"/>
            <a:ext cx="1511700" cy="3300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800"/>
              <a:t>Cortex Agents API</a:t>
            </a:r>
            <a:endParaRPr b="1" sz="800"/>
          </a:p>
          <a:p>
            <a:pPr indent="0" lvl="0" marL="0" rtl="0" algn="ctr">
              <a:spcBef>
                <a:spcPts val="0"/>
              </a:spcBef>
              <a:spcAft>
                <a:spcPts val="0"/>
              </a:spcAft>
              <a:buNone/>
            </a:pPr>
            <a:r>
              <a:rPr lang="en" sz="700"/>
              <a:t>Agent APIs</a:t>
            </a:r>
            <a:endParaRPr b="1" sz="800"/>
          </a:p>
        </p:txBody>
      </p:sp>
      <p:sp>
        <p:nvSpPr>
          <p:cNvPr id="1302" name="Google Shape;1302;p77"/>
          <p:cNvSpPr/>
          <p:nvPr/>
        </p:nvSpPr>
        <p:spPr>
          <a:xfrm>
            <a:off x="6697663" y="3647530"/>
            <a:ext cx="1513200" cy="3807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lnSpc>
                <a:spcPct val="115000"/>
              </a:lnSpc>
              <a:spcBef>
                <a:spcPts val="0"/>
              </a:spcBef>
              <a:spcAft>
                <a:spcPts val="0"/>
              </a:spcAft>
              <a:buNone/>
            </a:pPr>
            <a:r>
              <a:rPr lang="en" sz="700">
                <a:solidFill>
                  <a:srgbClr val="434343"/>
                </a:solidFill>
              </a:rPr>
              <a:t>Document Processing </a:t>
            </a:r>
            <a:endParaRPr sz="700">
              <a:solidFill>
                <a:srgbClr val="434343"/>
              </a:solidFill>
            </a:endParaRPr>
          </a:p>
          <a:p>
            <a:pPr indent="0" lvl="0" marL="0" rtl="0" algn="ctr">
              <a:spcBef>
                <a:spcPts val="0"/>
              </a:spcBef>
              <a:spcAft>
                <a:spcPts val="0"/>
              </a:spcAft>
              <a:buNone/>
            </a:pPr>
            <a:r>
              <a:rPr b="1" lang="en" sz="800"/>
              <a:t>Document AI, Parse, Embed</a:t>
            </a:r>
            <a:endParaRPr b="1" baseline="30000" sz="800">
              <a:solidFill>
                <a:srgbClr val="595959"/>
              </a:solidFill>
            </a:endParaRPr>
          </a:p>
        </p:txBody>
      </p:sp>
      <p:grpSp>
        <p:nvGrpSpPr>
          <p:cNvPr id="1303" name="Google Shape;1303;p77"/>
          <p:cNvGrpSpPr/>
          <p:nvPr/>
        </p:nvGrpSpPr>
        <p:grpSpPr>
          <a:xfrm>
            <a:off x="6906942" y="4539617"/>
            <a:ext cx="282105" cy="292141"/>
            <a:chOff x="4834290" y="3825432"/>
            <a:chExt cx="179811" cy="186220"/>
          </a:xfrm>
        </p:grpSpPr>
        <p:sp>
          <p:nvSpPr>
            <p:cNvPr id="1304" name="Google Shape;1304;p77"/>
            <p:cNvSpPr/>
            <p:nvPr/>
          </p:nvSpPr>
          <p:spPr>
            <a:xfrm>
              <a:off x="4873266" y="3825432"/>
              <a:ext cx="140835" cy="18622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726"/>
                <a:buFont typeface="Arial"/>
                <a:buNone/>
              </a:pPr>
              <a:r>
                <a:t/>
              </a:r>
              <a:endParaRPr sz="1726">
                <a:solidFill>
                  <a:srgbClr val="252525"/>
                </a:solidFill>
                <a:latin typeface="Arial"/>
                <a:ea typeface="Arial"/>
                <a:cs typeface="Arial"/>
                <a:sym typeface="Arial"/>
              </a:endParaRPr>
            </a:p>
          </p:txBody>
        </p:sp>
        <p:sp>
          <p:nvSpPr>
            <p:cNvPr id="1305" name="Google Shape;1305;p77"/>
            <p:cNvSpPr/>
            <p:nvPr/>
          </p:nvSpPr>
          <p:spPr>
            <a:xfrm>
              <a:off x="4834290" y="3914297"/>
              <a:ext cx="145165" cy="64961"/>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84"/>
                <a:buFont typeface="Arial"/>
                <a:buNone/>
              </a:pPr>
              <a:r>
                <a:rPr b="1" lang="en" sz="471">
                  <a:solidFill>
                    <a:srgbClr val="FFFFFF"/>
                  </a:solidFill>
                </a:rPr>
                <a:t>PDF</a:t>
              </a:r>
              <a:endParaRPr sz="471">
                <a:solidFill>
                  <a:srgbClr val="252525"/>
                </a:solidFill>
                <a:latin typeface="Arial"/>
                <a:ea typeface="Arial"/>
                <a:cs typeface="Arial"/>
                <a:sym typeface="Arial"/>
              </a:endParaRPr>
            </a:p>
          </p:txBody>
        </p:sp>
      </p:grpSp>
      <p:grpSp>
        <p:nvGrpSpPr>
          <p:cNvPr id="1306" name="Google Shape;1306;p77"/>
          <p:cNvGrpSpPr/>
          <p:nvPr/>
        </p:nvGrpSpPr>
        <p:grpSpPr>
          <a:xfrm>
            <a:off x="7331134" y="4539622"/>
            <a:ext cx="282125" cy="292180"/>
            <a:chOff x="1714900" y="552700"/>
            <a:chExt cx="4353775" cy="4508950"/>
          </a:xfrm>
        </p:grpSpPr>
        <p:sp>
          <p:nvSpPr>
            <p:cNvPr id="1307" name="Google Shape;1307;p77"/>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726"/>
                <a:buFont typeface="Arial"/>
                <a:buNone/>
              </a:pPr>
              <a:r>
                <a:t/>
              </a:r>
              <a:endParaRPr sz="1726">
                <a:solidFill>
                  <a:srgbClr val="252525"/>
                </a:solidFill>
                <a:latin typeface="Arial"/>
                <a:ea typeface="Arial"/>
                <a:cs typeface="Arial"/>
                <a:sym typeface="Arial"/>
              </a:endParaRPr>
            </a:p>
          </p:txBody>
        </p:sp>
        <p:sp>
          <p:nvSpPr>
            <p:cNvPr id="1308" name="Google Shape;1308;p77"/>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84"/>
                <a:buFont typeface="Arial"/>
                <a:buNone/>
              </a:pPr>
              <a:r>
                <a:rPr b="1" lang="en" sz="471">
                  <a:solidFill>
                    <a:srgbClr val="FFFFFF"/>
                  </a:solidFill>
                </a:rPr>
                <a:t>AUDIO</a:t>
              </a:r>
              <a:endParaRPr sz="471">
                <a:solidFill>
                  <a:srgbClr val="252525"/>
                </a:solidFill>
                <a:latin typeface="Arial"/>
                <a:ea typeface="Arial"/>
                <a:cs typeface="Arial"/>
                <a:sym typeface="Arial"/>
              </a:endParaRPr>
            </a:p>
          </p:txBody>
        </p:sp>
      </p:grpSp>
      <p:grpSp>
        <p:nvGrpSpPr>
          <p:cNvPr id="1309" name="Google Shape;1309;p77"/>
          <p:cNvGrpSpPr/>
          <p:nvPr/>
        </p:nvGrpSpPr>
        <p:grpSpPr>
          <a:xfrm>
            <a:off x="7755319" y="4539622"/>
            <a:ext cx="282125" cy="292180"/>
            <a:chOff x="1714900" y="552700"/>
            <a:chExt cx="4353775" cy="4508950"/>
          </a:xfrm>
        </p:grpSpPr>
        <p:sp>
          <p:nvSpPr>
            <p:cNvPr id="1310" name="Google Shape;1310;p77"/>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726"/>
                <a:buFont typeface="Arial"/>
                <a:buNone/>
              </a:pPr>
              <a:r>
                <a:t/>
              </a:r>
              <a:endParaRPr sz="1726">
                <a:solidFill>
                  <a:srgbClr val="252525"/>
                </a:solidFill>
                <a:latin typeface="Arial"/>
                <a:ea typeface="Arial"/>
                <a:cs typeface="Arial"/>
                <a:sym typeface="Arial"/>
              </a:endParaRPr>
            </a:p>
          </p:txBody>
        </p:sp>
        <p:sp>
          <p:nvSpPr>
            <p:cNvPr id="1311" name="Google Shape;1311;p77"/>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84"/>
                <a:buFont typeface="Arial"/>
                <a:buNone/>
              </a:pPr>
              <a:r>
                <a:rPr b="1" lang="en" sz="471">
                  <a:solidFill>
                    <a:srgbClr val="FFFFFF"/>
                  </a:solidFill>
                </a:rPr>
                <a:t>IMAGE</a:t>
              </a:r>
              <a:endParaRPr sz="1412">
                <a:solidFill>
                  <a:srgbClr val="252525"/>
                </a:solidFill>
                <a:latin typeface="Arial"/>
                <a:ea typeface="Arial"/>
                <a:cs typeface="Arial"/>
                <a:sym typeface="Arial"/>
              </a:endParaRPr>
            </a:p>
          </p:txBody>
        </p:sp>
      </p:grpSp>
      <p:sp>
        <p:nvSpPr>
          <p:cNvPr id="1312" name="Google Shape;1312;p77"/>
          <p:cNvSpPr/>
          <p:nvPr/>
        </p:nvSpPr>
        <p:spPr>
          <a:xfrm>
            <a:off x="533800" y="1065850"/>
            <a:ext cx="1511700" cy="3300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800"/>
              <a:t>Snowflake Intelligence</a:t>
            </a:r>
            <a:endParaRPr b="1" sz="800"/>
          </a:p>
          <a:p>
            <a:pPr indent="0" lvl="0" marL="0" rtl="0" algn="ctr">
              <a:spcBef>
                <a:spcPts val="0"/>
              </a:spcBef>
              <a:spcAft>
                <a:spcPts val="0"/>
              </a:spcAft>
              <a:buNone/>
            </a:pPr>
            <a:r>
              <a:rPr lang="en" sz="700"/>
              <a:t>Usually Internal-Facing</a:t>
            </a:r>
            <a:endParaRPr b="1" sz="800"/>
          </a:p>
        </p:txBody>
      </p:sp>
      <p:sp>
        <p:nvSpPr>
          <p:cNvPr id="1313" name="Google Shape;1313;p77"/>
          <p:cNvSpPr/>
          <p:nvPr/>
        </p:nvSpPr>
        <p:spPr>
          <a:xfrm>
            <a:off x="3814000" y="1069950"/>
            <a:ext cx="1511700" cy="3300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800"/>
              <a:t>Custom Portals</a:t>
            </a:r>
            <a:endParaRPr b="1" sz="800"/>
          </a:p>
          <a:p>
            <a:pPr indent="0" lvl="0" marL="0" rtl="0" algn="ctr">
              <a:spcBef>
                <a:spcPts val="0"/>
              </a:spcBef>
              <a:spcAft>
                <a:spcPts val="0"/>
              </a:spcAft>
              <a:buNone/>
            </a:pPr>
            <a:r>
              <a:rPr lang="en" sz="700"/>
              <a:t>Usually External-Facing</a:t>
            </a:r>
            <a:endParaRPr sz="700"/>
          </a:p>
        </p:txBody>
      </p:sp>
      <p:sp>
        <p:nvSpPr>
          <p:cNvPr id="1314" name="Google Shape;1314;p77"/>
          <p:cNvSpPr/>
          <p:nvPr/>
        </p:nvSpPr>
        <p:spPr>
          <a:xfrm>
            <a:off x="4774400" y="2836961"/>
            <a:ext cx="1513200" cy="330000"/>
          </a:xfrm>
          <a:prstGeom prst="roundRect">
            <a:avLst>
              <a:gd fmla="val 1528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800"/>
              <a:t>Cortex </a:t>
            </a:r>
            <a:r>
              <a:rPr b="1" lang="en" sz="800"/>
              <a:t>Search</a:t>
            </a:r>
            <a:endParaRPr b="1" sz="800"/>
          </a:p>
          <a:p>
            <a:pPr indent="0" lvl="0" marL="0" rtl="0" algn="ctr">
              <a:spcBef>
                <a:spcPts val="0"/>
              </a:spcBef>
              <a:spcAft>
                <a:spcPts val="0"/>
              </a:spcAft>
              <a:buNone/>
            </a:pPr>
            <a:r>
              <a:rPr lang="en" sz="700">
                <a:solidFill>
                  <a:srgbClr val="434343"/>
                </a:solidFill>
              </a:rPr>
              <a:t>Unstructured Data Retrieval</a:t>
            </a:r>
            <a:endParaRPr b="1" sz="800"/>
          </a:p>
        </p:txBody>
      </p:sp>
      <p:sp>
        <p:nvSpPr>
          <p:cNvPr id="1315" name="Google Shape;1315;p77"/>
          <p:cNvSpPr/>
          <p:nvPr/>
        </p:nvSpPr>
        <p:spPr>
          <a:xfrm>
            <a:off x="2776672" y="3431025"/>
            <a:ext cx="1635692" cy="812714"/>
          </a:xfrm>
          <a:custGeom>
            <a:rect b="b" l="l" r="r" t="t"/>
            <a:pathLst>
              <a:path extrusionOk="0" h="973310" w="7607871">
                <a:moveTo>
                  <a:pt x="7493619" y="0"/>
                </a:moveTo>
                <a:cubicBezTo>
                  <a:pt x="7556719" y="0"/>
                  <a:pt x="7607871" y="51141"/>
                  <a:pt x="7607871" y="114227"/>
                </a:cubicBezTo>
                <a:lnTo>
                  <a:pt x="7607871" y="859083"/>
                </a:lnTo>
                <a:cubicBezTo>
                  <a:pt x="7607871" y="922169"/>
                  <a:pt x="7556719" y="973311"/>
                  <a:pt x="7493619" y="973311"/>
                </a:cubicBezTo>
                <a:lnTo>
                  <a:pt x="114252" y="973311"/>
                </a:lnTo>
                <a:cubicBezTo>
                  <a:pt x="51152" y="973311"/>
                  <a:pt x="0" y="922170"/>
                  <a:pt x="0" y="859084"/>
                </a:cubicBezTo>
                <a:lnTo>
                  <a:pt x="0" y="114227"/>
                </a:lnTo>
                <a:cubicBezTo>
                  <a:pt x="0" y="51141"/>
                  <a:pt x="51152" y="0"/>
                  <a:pt x="114252" y="0"/>
                </a:cubicBezTo>
                <a:close/>
              </a:path>
            </a:pathLst>
          </a:custGeom>
          <a:solidFill>
            <a:srgbClr val="D4F0FA"/>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t/>
            </a:r>
            <a:endParaRPr b="1" sz="1000">
              <a:solidFill>
                <a:srgbClr val="11567F"/>
              </a:solidFill>
            </a:endParaRPr>
          </a:p>
        </p:txBody>
      </p:sp>
      <p:sp>
        <p:nvSpPr>
          <p:cNvPr id="1316" name="Google Shape;1316;p77"/>
          <p:cNvSpPr/>
          <p:nvPr/>
        </p:nvSpPr>
        <p:spPr>
          <a:xfrm>
            <a:off x="2617877" y="3511047"/>
            <a:ext cx="19533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STRUCTURED DATA</a:t>
            </a:r>
            <a:endParaRPr b="1" sz="900">
              <a:solidFill>
                <a:srgbClr val="434343"/>
              </a:solidFill>
            </a:endParaRPr>
          </a:p>
        </p:txBody>
      </p:sp>
      <p:grpSp>
        <p:nvGrpSpPr>
          <p:cNvPr id="1317" name="Google Shape;1317;p77"/>
          <p:cNvGrpSpPr/>
          <p:nvPr/>
        </p:nvGrpSpPr>
        <p:grpSpPr>
          <a:xfrm>
            <a:off x="3289287" y="3774826"/>
            <a:ext cx="241526" cy="267778"/>
            <a:chOff x="4266174" y="2401351"/>
            <a:chExt cx="241526" cy="267778"/>
          </a:xfrm>
        </p:grpSpPr>
        <p:sp>
          <p:nvSpPr>
            <p:cNvPr id="1318" name="Google Shape;1318;p77"/>
            <p:cNvSpPr/>
            <p:nvPr/>
          </p:nvSpPr>
          <p:spPr>
            <a:xfrm>
              <a:off x="4266174" y="2452981"/>
              <a:ext cx="241526" cy="216148"/>
            </a:xfrm>
            <a:custGeom>
              <a:rect b="b" l="l" r="r" t="t"/>
              <a:pathLst>
                <a:path extrusionOk="0" h="68" w="76">
                  <a:moveTo>
                    <a:pt x="0" y="0"/>
                  </a:moveTo>
                  <a:cubicBezTo>
                    <a:pt x="0" y="52"/>
                    <a:pt x="0" y="52"/>
                    <a:pt x="0" y="52"/>
                  </a:cubicBezTo>
                  <a:cubicBezTo>
                    <a:pt x="0" y="61"/>
                    <a:pt x="17" y="68"/>
                    <a:pt x="38" y="68"/>
                  </a:cubicBezTo>
                  <a:cubicBezTo>
                    <a:pt x="59" y="68"/>
                    <a:pt x="76" y="61"/>
                    <a:pt x="76" y="52"/>
                  </a:cubicBezTo>
                  <a:cubicBezTo>
                    <a:pt x="76" y="0"/>
                    <a:pt x="76" y="0"/>
                    <a:pt x="76"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19" name="Google Shape;1319;p77"/>
            <p:cNvSpPr/>
            <p:nvPr/>
          </p:nvSpPr>
          <p:spPr>
            <a:xfrm>
              <a:off x="4266174" y="2560618"/>
              <a:ext cx="241526" cy="51630"/>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20" name="Google Shape;1320;p77"/>
            <p:cNvSpPr/>
            <p:nvPr/>
          </p:nvSpPr>
          <p:spPr>
            <a:xfrm>
              <a:off x="4266174" y="2503737"/>
              <a:ext cx="241526" cy="50755"/>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21" name="Google Shape;1321;p77"/>
            <p:cNvSpPr/>
            <p:nvPr/>
          </p:nvSpPr>
          <p:spPr>
            <a:xfrm>
              <a:off x="4266174" y="2401351"/>
              <a:ext cx="241500" cy="102300"/>
            </a:xfrm>
            <a:prstGeom prst="ellipse">
              <a:avLst/>
            </a:pr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22" name="Google Shape;1322;p77"/>
            <p:cNvSpPr/>
            <p:nvPr/>
          </p:nvSpPr>
          <p:spPr>
            <a:xfrm>
              <a:off x="4324360" y="2423096"/>
              <a:ext cx="136054" cy="68025"/>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7CD2F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Times New Roman"/>
                <a:buNone/>
              </a:pPr>
              <a:r>
                <a:t/>
              </a:r>
              <a:endParaRPr b="0" i="0" sz="2800" u="none" cap="none" strike="noStrike">
                <a:solidFill>
                  <a:srgbClr val="FFFFFF"/>
                </a:solidFill>
                <a:latin typeface="Arial"/>
                <a:ea typeface="Arial"/>
                <a:cs typeface="Arial"/>
                <a:sym typeface="Arial"/>
              </a:endParaRPr>
            </a:p>
          </p:txBody>
        </p:sp>
      </p:grpSp>
      <p:grpSp>
        <p:nvGrpSpPr>
          <p:cNvPr id="1323" name="Google Shape;1323;p77"/>
          <p:cNvGrpSpPr/>
          <p:nvPr/>
        </p:nvGrpSpPr>
        <p:grpSpPr>
          <a:xfrm>
            <a:off x="3658243" y="3774826"/>
            <a:ext cx="241526" cy="267778"/>
            <a:chOff x="4635130" y="2401351"/>
            <a:chExt cx="241526" cy="267778"/>
          </a:xfrm>
        </p:grpSpPr>
        <p:sp>
          <p:nvSpPr>
            <p:cNvPr id="1324" name="Google Shape;1324;p77"/>
            <p:cNvSpPr/>
            <p:nvPr/>
          </p:nvSpPr>
          <p:spPr>
            <a:xfrm>
              <a:off x="4635130" y="2452981"/>
              <a:ext cx="241526" cy="216148"/>
            </a:xfrm>
            <a:custGeom>
              <a:rect b="b" l="l" r="r" t="t"/>
              <a:pathLst>
                <a:path extrusionOk="0" h="68" w="76">
                  <a:moveTo>
                    <a:pt x="0" y="0"/>
                  </a:moveTo>
                  <a:cubicBezTo>
                    <a:pt x="0" y="52"/>
                    <a:pt x="0" y="52"/>
                    <a:pt x="0" y="52"/>
                  </a:cubicBezTo>
                  <a:cubicBezTo>
                    <a:pt x="0" y="61"/>
                    <a:pt x="17" y="68"/>
                    <a:pt x="38" y="68"/>
                  </a:cubicBezTo>
                  <a:cubicBezTo>
                    <a:pt x="59" y="68"/>
                    <a:pt x="76" y="61"/>
                    <a:pt x="76" y="52"/>
                  </a:cubicBezTo>
                  <a:cubicBezTo>
                    <a:pt x="76" y="0"/>
                    <a:pt x="76" y="0"/>
                    <a:pt x="76"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25" name="Google Shape;1325;p77"/>
            <p:cNvSpPr/>
            <p:nvPr/>
          </p:nvSpPr>
          <p:spPr>
            <a:xfrm>
              <a:off x="4635130" y="2560618"/>
              <a:ext cx="241526" cy="51630"/>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26" name="Google Shape;1326;p77"/>
            <p:cNvSpPr/>
            <p:nvPr/>
          </p:nvSpPr>
          <p:spPr>
            <a:xfrm>
              <a:off x="4635130" y="2503737"/>
              <a:ext cx="241526" cy="50755"/>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27" name="Google Shape;1327;p77"/>
            <p:cNvSpPr/>
            <p:nvPr/>
          </p:nvSpPr>
          <p:spPr>
            <a:xfrm>
              <a:off x="4635130" y="2401351"/>
              <a:ext cx="241500" cy="102300"/>
            </a:xfrm>
            <a:prstGeom prst="ellipse">
              <a:avLst/>
            </a:prstGeom>
            <a:solidFill>
              <a:srgbClr val="FFFFFF"/>
            </a:solidFill>
            <a:ln cap="rnd" cmpd="sng" w="12700">
              <a:solidFill>
                <a:srgbClr val="7CD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28" name="Google Shape;1328;p77"/>
            <p:cNvSpPr/>
            <p:nvPr/>
          </p:nvSpPr>
          <p:spPr>
            <a:xfrm>
              <a:off x="4693316" y="2423096"/>
              <a:ext cx="136054" cy="68025"/>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7CD2F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Times New Roman"/>
                <a:buNone/>
              </a:pPr>
              <a:r>
                <a:t/>
              </a:r>
              <a:endParaRPr b="0" i="0" sz="2800" u="none" cap="none" strike="noStrike">
                <a:solidFill>
                  <a:srgbClr val="FFFFFF"/>
                </a:solidFill>
                <a:latin typeface="Arial"/>
                <a:ea typeface="Arial"/>
                <a:cs typeface="Arial"/>
                <a:sym typeface="Arial"/>
              </a:endParaRPr>
            </a:p>
          </p:txBody>
        </p:sp>
      </p:grpSp>
      <p:grpSp>
        <p:nvGrpSpPr>
          <p:cNvPr id="1329" name="Google Shape;1329;p77"/>
          <p:cNvGrpSpPr/>
          <p:nvPr/>
        </p:nvGrpSpPr>
        <p:grpSpPr>
          <a:xfrm>
            <a:off x="3426073" y="3773893"/>
            <a:ext cx="337500" cy="374109"/>
            <a:chOff x="4402960" y="2400418"/>
            <a:chExt cx="337500" cy="374109"/>
          </a:xfrm>
        </p:grpSpPr>
        <p:sp>
          <p:nvSpPr>
            <p:cNvPr id="1330" name="Google Shape;1330;p77"/>
            <p:cNvSpPr/>
            <p:nvPr/>
          </p:nvSpPr>
          <p:spPr>
            <a:xfrm>
              <a:off x="4402960" y="2472550"/>
              <a:ext cx="337433" cy="301977"/>
            </a:xfrm>
            <a:custGeom>
              <a:rect b="b" l="l" r="r" t="t"/>
              <a:pathLst>
                <a:path extrusionOk="0" h="68" w="76">
                  <a:moveTo>
                    <a:pt x="0" y="0"/>
                  </a:moveTo>
                  <a:cubicBezTo>
                    <a:pt x="0" y="52"/>
                    <a:pt x="0" y="52"/>
                    <a:pt x="0" y="52"/>
                  </a:cubicBezTo>
                  <a:cubicBezTo>
                    <a:pt x="0" y="61"/>
                    <a:pt x="17" y="68"/>
                    <a:pt x="38" y="68"/>
                  </a:cubicBezTo>
                  <a:cubicBezTo>
                    <a:pt x="59" y="68"/>
                    <a:pt x="76" y="61"/>
                    <a:pt x="76" y="52"/>
                  </a:cubicBezTo>
                  <a:cubicBezTo>
                    <a:pt x="76" y="0"/>
                    <a:pt x="76" y="0"/>
                    <a:pt x="76" y="0"/>
                  </a:cubicBezTo>
                </a:path>
              </a:pathLst>
            </a:custGeom>
            <a:solidFill>
              <a:srgbClr val="FFFFFF"/>
            </a:solidFill>
            <a:ln cap="rnd" cmpd="sng" w="22225">
              <a:solidFill>
                <a:srgbClr val="29B5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31" name="Google Shape;1331;p77"/>
            <p:cNvSpPr/>
            <p:nvPr/>
          </p:nvSpPr>
          <p:spPr>
            <a:xfrm>
              <a:off x="4402960" y="2622928"/>
              <a:ext cx="337433" cy="72132"/>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22225">
              <a:solidFill>
                <a:srgbClr val="29B5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32" name="Google Shape;1332;p77"/>
            <p:cNvSpPr/>
            <p:nvPr/>
          </p:nvSpPr>
          <p:spPr>
            <a:xfrm>
              <a:off x="4402960" y="2543460"/>
              <a:ext cx="337433" cy="70910"/>
            </a:xfrm>
            <a:custGeom>
              <a:rect b="b" l="l" r="r" t="t"/>
              <a:pathLst>
                <a:path extrusionOk="0" h="16" w="76">
                  <a:moveTo>
                    <a:pt x="76" y="0"/>
                  </a:moveTo>
                  <a:cubicBezTo>
                    <a:pt x="76" y="9"/>
                    <a:pt x="59" y="16"/>
                    <a:pt x="38" y="16"/>
                  </a:cubicBezTo>
                  <a:cubicBezTo>
                    <a:pt x="17" y="16"/>
                    <a:pt x="0" y="9"/>
                    <a:pt x="0" y="0"/>
                  </a:cubicBezTo>
                </a:path>
              </a:pathLst>
            </a:custGeom>
            <a:solidFill>
              <a:srgbClr val="FFFFFF"/>
            </a:solidFill>
            <a:ln cap="rnd" cmpd="sng" w="22225">
              <a:solidFill>
                <a:srgbClr val="29B5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33" name="Google Shape;1333;p77"/>
            <p:cNvSpPr/>
            <p:nvPr/>
          </p:nvSpPr>
          <p:spPr>
            <a:xfrm>
              <a:off x="4402960" y="2400418"/>
              <a:ext cx="337500" cy="143100"/>
            </a:xfrm>
            <a:prstGeom prst="ellipse">
              <a:avLst/>
            </a:prstGeom>
            <a:solidFill>
              <a:srgbClr val="FFFFFF"/>
            </a:solidFill>
            <a:ln cap="rnd" cmpd="sng" w="22225">
              <a:solidFill>
                <a:srgbClr val="29B5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34" name="Google Shape;1334;p77"/>
            <p:cNvSpPr/>
            <p:nvPr/>
          </p:nvSpPr>
          <p:spPr>
            <a:xfrm>
              <a:off x="4580831" y="2484162"/>
              <a:ext cx="60797" cy="33666"/>
            </a:xfrm>
            <a:custGeom>
              <a:rect b="b" l="l" r="r" t="t"/>
              <a:pathLst>
                <a:path extrusionOk="0" h="31835" w="57491">
                  <a:moveTo>
                    <a:pt x="52153" y="11430"/>
                  </a:moveTo>
                  <a:lnTo>
                    <a:pt x="15913" y="750"/>
                  </a:lnTo>
                  <a:cubicBezTo>
                    <a:pt x="13953" y="152"/>
                    <a:pt x="11901" y="-92"/>
                    <a:pt x="9856" y="31"/>
                  </a:cubicBezTo>
                  <a:cubicBezTo>
                    <a:pt x="4312" y="236"/>
                    <a:pt x="0" y="2598"/>
                    <a:pt x="0" y="5473"/>
                  </a:cubicBezTo>
                  <a:lnTo>
                    <a:pt x="0" y="26731"/>
                  </a:lnTo>
                  <a:cubicBezTo>
                    <a:pt x="0" y="29812"/>
                    <a:pt x="4825" y="32174"/>
                    <a:pt x="10780" y="32174"/>
                  </a:cubicBezTo>
                  <a:cubicBezTo>
                    <a:pt x="16734" y="32174"/>
                    <a:pt x="21354" y="29709"/>
                    <a:pt x="21354" y="26731"/>
                  </a:cubicBezTo>
                  <a:lnTo>
                    <a:pt x="21354" y="14819"/>
                  </a:lnTo>
                  <a:lnTo>
                    <a:pt x="41681" y="20775"/>
                  </a:lnTo>
                  <a:cubicBezTo>
                    <a:pt x="46609" y="22315"/>
                    <a:pt x="53282" y="21391"/>
                    <a:pt x="56157" y="18824"/>
                  </a:cubicBezTo>
                  <a:cubicBezTo>
                    <a:pt x="59032" y="16256"/>
                    <a:pt x="57286" y="12867"/>
                    <a:pt x="52153" y="1143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35" name="Google Shape;1335;p77"/>
            <p:cNvSpPr/>
            <p:nvPr/>
          </p:nvSpPr>
          <p:spPr>
            <a:xfrm>
              <a:off x="4501873" y="2484165"/>
              <a:ext cx="60797" cy="33666"/>
            </a:xfrm>
            <a:custGeom>
              <a:rect b="b" l="l" r="r" t="t"/>
              <a:pathLst>
                <a:path extrusionOk="0" h="31835" w="57491">
                  <a:moveTo>
                    <a:pt x="47651" y="29"/>
                  </a:moveTo>
                  <a:cubicBezTo>
                    <a:pt x="45579" y="-82"/>
                    <a:pt x="43501" y="126"/>
                    <a:pt x="41491" y="645"/>
                  </a:cubicBezTo>
                  <a:lnTo>
                    <a:pt x="5354" y="11325"/>
                  </a:lnTo>
                  <a:cubicBezTo>
                    <a:pt x="221" y="12763"/>
                    <a:pt x="-1525" y="16152"/>
                    <a:pt x="1453" y="18719"/>
                  </a:cubicBezTo>
                  <a:cubicBezTo>
                    <a:pt x="4430" y="21286"/>
                    <a:pt x="10795" y="22211"/>
                    <a:pt x="15928" y="20670"/>
                  </a:cubicBezTo>
                  <a:lnTo>
                    <a:pt x="36256" y="14714"/>
                  </a:lnTo>
                  <a:lnTo>
                    <a:pt x="36256" y="26626"/>
                  </a:lnTo>
                  <a:cubicBezTo>
                    <a:pt x="36256" y="29605"/>
                    <a:pt x="41081" y="32069"/>
                    <a:pt x="46933" y="32069"/>
                  </a:cubicBezTo>
                  <a:cubicBezTo>
                    <a:pt x="52784" y="32069"/>
                    <a:pt x="57610" y="29605"/>
                    <a:pt x="57610" y="26626"/>
                  </a:cubicBezTo>
                  <a:lnTo>
                    <a:pt x="57610" y="5266"/>
                  </a:lnTo>
                  <a:cubicBezTo>
                    <a:pt x="57404" y="2596"/>
                    <a:pt x="53092" y="131"/>
                    <a:pt x="47651" y="2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36" name="Google Shape;1336;p77"/>
            <p:cNvSpPr/>
            <p:nvPr/>
          </p:nvSpPr>
          <p:spPr>
            <a:xfrm>
              <a:off x="4481595" y="2454922"/>
              <a:ext cx="60797" cy="33666"/>
            </a:xfrm>
            <a:custGeom>
              <a:rect b="b" l="l" r="r" t="t"/>
              <a:pathLst>
                <a:path extrusionOk="0" h="31835" w="57491">
                  <a:moveTo>
                    <a:pt x="1453" y="29557"/>
                  </a:moveTo>
                  <a:cubicBezTo>
                    <a:pt x="4430" y="32124"/>
                    <a:pt x="11000" y="32946"/>
                    <a:pt x="16133" y="31611"/>
                  </a:cubicBezTo>
                  <a:lnTo>
                    <a:pt x="52271" y="20828"/>
                  </a:lnTo>
                  <a:cubicBezTo>
                    <a:pt x="54632" y="20006"/>
                    <a:pt x="56378" y="18980"/>
                    <a:pt x="56994" y="17644"/>
                  </a:cubicBezTo>
                  <a:cubicBezTo>
                    <a:pt x="57364" y="17141"/>
                    <a:pt x="57545" y="16523"/>
                    <a:pt x="57507" y="15899"/>
                  </a:cubicBezTo>
                  <a:cubicBezTo>
                    <a:pt x="57514" y="15468"/>
                    <a:pt x="57408" y="15043"/>
                    <a:pt x="57199" y="14666"/>
                  </a:cubicBezTo>
                  <a:cubicBezTo>
                    <a:pt x="56015" y="13003"/>
                    <a:pt x="54261" y="11834"/>
                    <a:pt x="52271" y="11380"/>
                  </a:cubicBezTo>
                  <a:lnTo>
                    <a:pt x="16133" y="700"/>
                  </a:lnTo>
                  <a:cubicBezTo>
                    <a:pt x="11000" y="-738"/>
                    <a:pt x="4430" y="84"/>
                    <a:pt x="1453" y="2754"/>
                  </a:cubicBezTo>
                  <a:cubicBezTo>
                    <a:pt x="-1525" y="5424"/>
                    <a:pt x="221" y="8607"/>
                    <a:pt x="5354" y="10148"/>
                  </a:cubicBezTo>
                  <a:lnTo>
                    <a:pt x="25681" y="16104"/>
                  </a:lnTo>
                  <a:lnTo>
                    <a:pt x="5354" y="22163"/>
                  </a:lnTo>
                  <a:cubicBezTo>
                    <a:pt x="221" y="23601"/>
                    <a:pt x="-1422" y="26990"/>
                    <a:pt x="1453" y="29557"/>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37" name="Google Shape;1337;p77"/>
            <p:cNvSpPr/>
            <p:nvPr/>
          </p:nvSpPr>
          <p:spPr>
            <a:xfrm>
              <a:off x="4501662" y="2425718"/>
              <a:ext cx="60797" cy="33666"/>
            </a:xfrm>
            <a:custGeom>
              <a:rect b="b" l="l" r="r" t="t"/>
              <a:pathLst>
                <a:path extrusionOk="0" h="31835" w="57491">
                  <a:moveTo>
                    <a:pt x="5554" y="20744"/>
                  </a:moveTo>
                  <a:lnTo>
                    <a:pt x="41691" y="31424"/>
                  </a:lnTo>
                  <a:cubicBezTo>
                    <a:pt x="43693" y="31989"/>
                    <a:pt x="45778" y="32197"/>
                    <a:pt x="47851" y="32040"/>
                  </a:cubicBezTo>
                  <a:cubicBezTo>
                    <a:pt x="53292" y="31938"/>
                    <a:pt x="57604" y="29473"/>
                    <a:pt x="57604" y="26700"/>
                  </a:cubicBezTo>
                  <a:lnTo>
                    <a:pt x="57604" y="5340"/>
                  </a:lnTo>
                  <a:cubicBezTo>
                    <a:pt x="57604" y="2362"/>
                    <a:pt x="52882" y="0"/>
                    <a:pt x="47030" y="0"/>
                  </a:cubicBezTo>
                  <a:cubicBezTo>
                    <a:pt x="41178" y="0"/>
                    <a:pt x="36250" y="2465"/>
                    <a:pt x="36250" y="5340"/>
                  </a:cubicBezTo>
                  <a:lnTo>
                    <a:pt x="36250" y="17355"/>
                  </a:lnTo>
                  <a:lnTo>
                    <a:pt x="16128" y="11399"/>
                  </a:lnTo>
                  <a:cubicBezTo>
                    <a:pt x="10995" y="9859"/>
                    <a:pt x="4527" y="10680"/>
                    <a:pt x="1447" y="13350"/>
                  </a:cubicBezTo>
                  <a:cubicBezTo>
                    <a:pt x="-1633" y="16020"/>
                    <a:pt x="420" y="19306"/>
                    <a:pt x="5554" y="2074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38" name="Google Shape;1338;p77"/>
            <p:cNvSpPr/>
            <p:nvPr/>
          </p:nvSpPr>
          <p:spPr>
            <a:xfrm>
              <a:off x="4580831" y="2425718"/>
              <a:ext cx="60797" cy="33666"/>
            </a:xfrm>
            <a:custGeom>
              <a:rect b="b" l="l" r="r" t="t"/>
              <a:pathLst>
                <a:path extrusionOk="0" h="31835" w="57491">
                  <a:moveTo>
                    <a:pt x="9856" y="32143"/>
                  </a:moveTo>
                  <a:cubicBezTo>
                    <a:pt x="11894" y="32249"/>
                    <a:pt x="13937" y="32042"/>
                    <a:pt x="15913" y="31527"/>
                  </a:cubicBezTo>
                  <a:lnTo>
                    <a:pt x="52153" y="20847"/>
                  </a:lnTo>
                  <a:cubicBezTo>
                    <a:pt x="57286" y="19306"/>
                    <a:pt x="59032" y="16020"/>
                    <a:pt x="56157" y="13453"/>
                  </a:cubicBezTo>
                  <a:cubicBezTo>
                    <a:pt x="53282" y="10886"/>
                    <a:pt x="46609" y="9961"/>
                    <a:pt x="41476" y="11399"/>
                  </a:cubicBezTo>
                  <a:lnTo>
                    <a:pt x="21251" y="17355"/>
                  </a:lnTo>
                  <a:lnTo>
                    <a:pt x="21251" y="5443"/>
                  </a:lnTo>
                  <a:cubicBezTo>
                    <a:pt x="21251" y="2465"/>
                    <a:pt x="16426" y="0"/>
                    <a:pt x="10574" y="0"/>
                  </a:cubicBezTo>
                  <a:cubicBezTo>
                    <a:pt x="4723" y="0"/>
                    <a:pt x="0" y="2465"/>
                    <a:pt x="0" y="5443"/>
                  </a:cubicBezTo>
                  <a:lnTo>
                    <a:pt x="0" y="26803"/>
                  </a:lnTo>
                  <a:cubicBezTo>
                    <a:pt x="0" y="29576"/>
                    <a:pt x="4312" y="31938"/>
                    <a:pt x="9856" y="3214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39" name="Google Shape;1339;p77"/>
            <p:cNvSpPr/>
            <p:nvPr/>
          </p:nvSpPr>
          <p:spPr>
            <a:xfrm>
              <a:off x="4550794" y="2461193"/>
              <a:ext cx="41255" cy="20633"/>
            </a:xfrm>
            <a:custGeom>
              <a:rect b="b" l="l" r="r" t="t"/>
              <a:pathLst>
                <a:path extrusionOk="0" h="19511" w="39012">
                  <a:moveTo>
                    <a:pt x="0" y="9039"/>
                  </a:moveTo>
                  <a:lnTo>
                    <a:pt x="0" y="11298"/>
                  </a:lnTo>
                  <a:cubicBezTo>
                    <a:pt x="23" y="11726"/>
                    <a:pt x="310" y="12095"/>
                    <a:pt x="719" y="12223"/>
                  </a:cubicBezTo>
                  <a:lnTo>
                    <a:pt x="15810" y="19925"/>
                  </a:lnTo>
                  <a:cubicBezTo>
                    <a:pt x="16390" y="20191"/>
                    <a:pt x="17020" y="20331"/>
                    <a:pt x="17658" y="20335"/>
                  </a:cubicBezTo>
                  <a:lnTo>
                    <a:pt x="22073" y="20335"/>
                  </a:lnTo>
                  <a:cubicBezTo>
                    <a:pt x="22708" y="20308"/>
                    <a:pt x="23333" y="20169"/>
                    <a:pt x="23921" y="19925"/>
                  </a:cubicBezTo>
                  <a:lnTo>
                    <a:pt x="38910" y="12223"/>
                  </a:lnTo>
                  <a:cubicBezTo>
                    <a:pt x="39318" y="12095"/>
                    <a:pt x="39605" y="11726"/>
                    <a:pt x="39628" y="11298"/>
                  </a:cubicBezTo>
                  <a:lnTo>
                    <a:pt x="39628" y="9039"/>
                  </a:lnTo>
                  <a:cubicBezTo>
                    <a:pt x="39628" y="8731"/>
                    <a:pt x="39218" y="8320"/>
                    <a:pt x="38910" y="8115"/>
                  </a:cubicBezTo>
                  <a:lnTo>
                    <a:pt x="23921" y="413"/>
                  </a:lnTo>
                  <a:cubicBezTo>
                    <a:pt x="23337" y="158"/>
                    <a:pt x="22709" y="18"/>
                    <a:pt x="22073" y="2"/>
                  </a:cubicBezTo>
                  <a:lnTo>
                    <a:pt x="17658" y="2"/>
                  </a:lnTo>
                  <a:cubicBezTo>
                    <a:pt x="17017" y="-19"/>
                    <a:pt x="16382" y="122"/>
                    <a:pt x="15810" y="413"/>
                  </a:cubicBezTo>
                  <a:lnTo>
                    <a:pt x="719" y="8115"/>
                  </a:lnTo>
                  <a:cubicBezTo>
                    <a:pt x="339" y="8282"/>
                    <a:pt x="69" y="8630"/>
                    <a:pt x="0" y="9039"/>
                  </a:cubicBezTo>
                  <a:close/>
                  <a:moveTo>
                    <a:pt x="12730" y="10066"/>
                  </a:moveTo>
                  <a:cubicBezTo>
                    <a:pt x="12767" y="9609"/>
                    <a:pt x="13102" y="9232"/>
                    <a:pt x="13552" y="9142"/>
                  </a:cubicBezTo>
                  <a:lnTo>
                    <a:pt x="17863" y="6985"/>
                  </a:lnTo>
                  <a:cubicBezTo>
                    <a:pt x="18447" y="6730"/>
                    <a:pt x="19075" y="6591"/>
                    <a:pt x="19711" y="6574"/>
                  </a:cubicBezTo>
                  <a:lnTo>
                    <a:pt x="19814" y="6574"/>
                  </a:lnTo>
                  <a:cubicBezTo>
                    <a:pt x="20483" y="6601"/>
                    <a:pt x="21142" y="6740"/>
                    <a:pt x="21765" y="6985"/>
                  </a:cubicBezTo>
                  <a:lnTo>
                    <a:pt x="26077" y="9142"/>
                  </a:lnTo>
                  <a:cubicBezTo>
                    <a:pt x="26487" y="9347"/>
                    <a:pt x="26898" y="9758"/>
                    <a:pt x="26898" y="10066"/>
                  </a:cubicBezTo>
                  <a:lnTo>
                    <a:pt x="26898" y="10066"/>
                  </a:lnTo>
                  <a:cubicBezTo>
                    <a:pt x="26898" y="10374"/>
                    <a:pt x="26385" y="10785"/>
                    <a:pt x="26077" y="10990"/>
                  </a:cubicBezTo>
                  <a:lnTo>
                    <a:pt x="21765" y="13250"/>
                  </a:lnTo>
                  <a:lnTo>
                    <a:pt x="19814" y="13558"/>
                  </a:lnTo>
                  <a:lnTo>
                    <a:pt x="19711" y="13558"/>
                  </a:lnTo>
                  <a:cubicBezTo>
                    <a:pt x="19086" y="13522"/>
                    <a:pt x="18466" y="13419"/>
                    <a:pt x="17863" y="13250"/>
                  </a:cubicBezTo>
                  <a:lnTo>
                    <a:pt x="13552" y="10990"/>
                  </a:lnTo>
                  <a:cubicBezTo>
                    <a:pt x="13132" y="10852"/>
                    <a:pt x="12819" y="10499"/>
                    <a:pt x="12730" y="1006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340" name="Google Shape;1340;p77"/>
            <p:cNvSpPr/>
            <p:nvPr/>
          </p:nvSpPr>
          <p:spPr>
            <a:xfrm>
              <a:off x="4601109" y="2455050"/>
              <a:ext cx="60797" cy="33666"/>
            </a:xfrm>
            <a:custGeom>
              <a:rect b="b" l="l" r="r" t="t"/>
              <a:pathLst>
                <a:path extrusionOk="0" h="31835" w="57491">
                  <a:moveTo>
                    <a:pt x="308" y="14546"/>
                  </a:moveTo>
                  <a:cubicBezTo>
                    <a:pt x="100" y="14960"/>
                    <a:pt x="-6" y="15418"/>
                    <a:pt x="0" y="15881"/>
                  </a:cubicBezTo>
                  <a:cubicBezTo>
                    <a:pt x="0" y="16487"/>
                    <a:pt x="140" y="17085"/>
                    <a:pt x="411" y="17627"/>
                  </a:cubicBezTo>
                  <a:cubicBezTo>
                    <a:pt x="1610" y="19186"/>
                    <a:pt x="3317" y="20276"/>
                    <a:pt x="5236" y="20708"/>
                  </a:cubicBezTo>
                  <a:lnTo>
                    <a:pt x="41476" y="31388"/>
                  </a:lnTo>
                  <a:cubicBezTo>
                    <a:pt x="46610" y="32825"/>
                    <a:pt x="53077" y="31901"/>
                    <a:pt x="56055" y="29334"/>
                  </a:cubicBezTo>
                  <a:cubicBezTo>
                    <a:pt x="59032" y="26767"/>
                    <a:pt x="57287" y="23480"/>
                    <a:pt x="52051" y="21940"/>
                  </a:cubicBezTo>
                  <a:lnTo>
                    <a:pt x="31826" y="15984"/>
                  </a:lnTo>
                  <a:lnTo>
                    <a:pt x="52051" y="10027"/>
                  </a:lnTo>
                  <a:cubicBezTo>
                    <a:pt x="57287" y="8487"/>
                    <a:pt x="58929" y="5098"/>
                    <a:pt x="56055" y="2736"/>
                  </a:cubicBezTo>
                  <a:cubicBezTo>
                    <a:pt x="53180" y="374"/>
                    <a:pt x="46404" y="-858"/>
                    <a:pt x="41476" y="682"/>
                  </a:cubicBezTo>
                  <a:lnTo>
                    <a:pt x="5236" y="11362"/>
                  </a:lnTo>
                  <a:cubicBezTo>
                    <a:pt x="3275" y="11823"/>
                    <a:pt x="1534" y="12948"/>
                    <a:pt x="308" y="1454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cxnSp>
        <p:nvCxnSpPr>
          <p:cNvPr id="1341" name="Google Shape;1341;p77"/>
          <p:cNvCxnSpPr/>
          <p:nvPr/>
        </p:nvCxnSpPr>
        <p:spPr>
          <a:xfrm flipH="1" rot="10800000">
            <a:off x="7455813" y="3950230"/>
            <a:ext cx="3000" cy="234900"/>
          </a:xfrm>
          <a:prstGeom prst="straightConnector1">
            <a:avLst/>
          </a:prstGeom>
          <a:noFill/>
          <a:ln cap="flat" cmpd="sng" w="9525">
            <a:solidFill>
              <a:schemeClr val="dk2"/>
            </a:solidFill>
            <a:prstDash val="solid"/>
            <a:round/>
            <a:headEnd len="med" w="med" type="none"/>
            <a:tailEnd len="med" w="med" type="triangle"/>
          </a:ln>
        </p:spPr>
      </p:cxnSp>
      <p:cxnSp>
        <p:nvCxnSpPr>
          <p:cNvPr id="1342" name="Google Shape;1342;p77"/>
          <p:cNvCxnSpPr/>
          <p:nvPr/>
        </p:nvCxnSpPr>
        <p:spPr>
          <a:xfrm rot="10800000">
            <a:off x="6327100" y="3767850"/>
            <a:ext cx="679500" cy="3300"/>
          </a:xfrm>
          <a:prstGeom prst="straightConnector1">
            <a:avLst/>
          </a:prstGeom>
          <a:noFill/>
          <a:ln cap="flat" cmpd="sng" w="9525">
            <a:solidFill>
              <a:schemeClr val="dk2"/>
            </a:solidFill>
            <a:prstDash val="solid"/>
            <a:round/>
            <a:headEnd len="med" w="med" type="none"/>
            <a:tailEnd len="med" w="med" type="triangle"/>
          </a:ln>
        </p:spPr>
      </p:cxnSp>
      <p:sp>
        <p:nvSpPr>
          <p:cNvPr id="1343" name="Google Shape;1343;p77"/>
          <p:cNvSpPr/>
          <p:nvPr/>
        </p:nvSpPr>
        <p:spPr>
          <a:xfrm>
            <a:off x="2173900" y="1065850"/>
            <a:ext cx="1511700" cy="3300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800"/>
              <a:t>Slack/Teams</a:t>
            </a:r>
            <a:endParaRPr b="1" sz="800"/>
          </a:p>
          <a:p>
            <a:pPr indent="0" lvl="0" marL="0" rtl="0" algn="ctr">
              <a:spcBef>
                <a:spcPts val="0"/>
              </a:spcBef>
              <a:spcAft>
                <a:spcPts val="0"/>
              </a:spcAft>
              <a:buNone/>
            </a:pPr>
            <a:r>
              <a:rPr lang="en" sz="700"/>
              <a:t>Usually Internal-Facing</a:t>
            </a:r>
            <a:endParaRPr b="1" sz="800"/>
          </a:p>
        </p:txBody>
      </p:sp>
      <p:sp>
        <p:nvSpPr>
          <p:cNvPr id="1344" name="Google Shape;1344;p77"/>
          <p:cNvSpPr/>
          <p:nvPr/>
        </p:nvSpPr>
        <p:spPr>
          <a:xfrm>
            <a:off x="311960" y="2662344"/>
            <a:ext cx="13914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l">
              <a:lnSpc>
                <a:spcPct val="100000"/>
              </a:lnSpc>
              <a:spcBef>
                <a:spcPts val="0"/>
              </a:spcBef>
              <a:spcAft>
                <a:spcPts val="0"/>
              </a:spcAft>
              <a:buNone/>
            </a:pPr>
            <a:r>
              <a:rPr b="1" lang="en" sz="900">
                <a:solidFill>
                  <a:srgbClr val="11567F"/>
                </a:solidFill>
              </a:rPr>
              <a:t>SEMANTIC LAYER</a:t>
            </a:r>
            <a:endParaRPr b="1" sz="900">
              <a:solidFill>
                <a:srgbClr val="11567F"/>
              </a:solidFill>
            </a:endParaRPr>
          </a:p>
        </p:txBody>
      </p:sp>
      <p:cxnSp>
        <p:nvCxnSpPr>
          <p:cNvPr id="1345" name="Google Shape;1345;p77"/>
          <p:cNvCxnSpPr>
            <a:stCxn id="1312" idx="2"/>
            <a:endCxn id="1301" idx="0"/>
          </p:cNvCxnSpPr>
          <p:nvPr/>
        </p:nvCxnSpPr>
        <p:spPr>
          <a:xfrm flipH="1" rot="-5400000">
            <a:off x="2681500" y="4000"/>
            <a:ext cx="498300" cy="3282000"/>
          </a:xfrm>
          <a:prstGeom prst="bentConnector3">
            <a:avLst>
              <a:gd fmla="val 50009" name="adj1"/>
            </a:avLst>
          </a:prstGeom>
          <a:noFill/>
          <a:ln cap="flat" cmpd="sng" w="9525">
            <a:solidFill>
              <a:schemeClr val="dk2"/>
            </a:solidFill>
            <a:prstDash val="solid"/>
            <a:round/>
            <a:headEnd len="med" w="med" type="none"/>
            <a:tailEnd len="med" w="med" type="triangle"/>
          </a:ln>
        </p:spPr>
      </p:cxnSp>
      <p:cxnSp>
        <p:nvCxnSpPr>
          <p:cNvPr id="1346" name="Google Shape;1346;p77"/>
          <p:cNvCxnSpPr>
            <a:stCxn id="1343" idx="2"/>
            <a:endCxn id="1301" idx="0"/>
          </p:cNvCxnSpPr>
          <p:nvPr/>
        </p:nvCxnSpPr>
        <p:spPr>
          <a:xfrm flipH="1" rot="-5400000">
            <a:off x="3501550" y="824050"/>
            <a:ext cx="498300" cy="1641900"/>
          </a:xfrm>
          <a:prstGeom prst="bentConnector3">
            <a:avLst>
              <a:gd fmla="val 50009" name="adj1"/>
            </a:avLst>
          </a:prstGeom>
          <a:noFill/>
          <a:ln cap="flat" cmpd="sng" w="9525">
            <a:solidFill>
              <a:schemeClr val="dk2"/>
            </a:solidFill>
            <a:prstDash val="solid"/>
            <a:round/>
            <a:headEnd len="med" w="med" type="none"/>
            <a:tailEnd len="med" w="med" type="triangle"/>
          </a:ln>
        </p:spPr>
      </p:cxnSp>
      <p:cxnSp>
        <p:nvCxnSpPr>
          <p:cNvPr id="1347" name="Google Shape;1347;p77"/>
          <p:cNvCxnSpPr>
            <a:stCxn id="1313" idx="2"/>
            <a:endCxn id="1301" idx="0"/>
          </p:cNvCxnSpPr>
          <p:nvPr/>
        </p:nvCxnSpPr>
        <p:spPr>
          <a:xfrm>
            <a:off x="4569850" y="1399950"/>
            <a:ext cx="1800" cy="494400"/>
          </a:xfrm>
          <a:prstGeom prst="straightConnector1">
            <a:avLst/>
          </a:prstGeom>
          <a:noFill/>
          <a:ln cap="flat" cmpd="sng" w="9525">
            <a:solidFill>
              <a:schemeClr val="dk2"/>
            </a:solidFill>
            <a:prstDash val="solid"/>
            <a:round/>
            <a:headEnd len="med" w="med" type="none"/>
            <a:tailEnd len="med" w="med" type="triangle"/>
          </a:ln>
        </p:spPr>
      </p:cxnSp>
      <p:sp>
        <p:nvSpPr>
          <p:cNvPr id="1348" name="Google Shape;1348;p77"/>
          <p:cNvSpPr/>
          <p:nvPr/>
        </p:nvSpPr>
        <p:spPr>
          <a:xfrm>
            <a:off x="5454088" y="1077800"/>
            <a:ext cx="1511700" cy="3300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800"/>
              <a:t>Higher-Level Agents</a:t>
            </a:r>
            <a:endParaRPr b="1" sz="800"/>
          </a:p>
          <a:p>
            <a:pPr indent="0" lvl="0" marL="0" rtl="0" algn="ctr">
              <a:spcBef>
                <a:spcPts val="0"/>
              </a:spcBef>
              <a:spcAft>
                <a:spcPts val="0"/>
              </a:spcAft>
              <a:buNone/>
            </a:pPr>
            <a:r>
              <a:rPr lang="en" sz="700"/>
              <a:t>ChatGPT Desktop/MS Copilot/etc</a:t>
            </a:r>
            <a:endParaRPr sz="700"/>
          </a:p>
        </p:txBody>
      </p:sp>
      <p:sp>
        <p:nvSpPr>
          <p:cNvPr id="1349" name="Google Shape;1349;p77"/>
          <p:cNvSpPr/>
          <p:nvPr/>
        </p:nvSpPr>
        <p:spPr>
          <a:xfrm>
            <a:off x="7094200" y="1065850"/>
            <a:ext cx="1511700" cy="330000"/>
          </a:xfrm>
          <a:prstGeom prst="roundRect">
            <a:avLst>
              <a:gd fmla="val 16667"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800"/>
              <a:t>Agentic Workflows</a:t>
            </a:r>
            <a:endParaRPr b="1" sz="800"/>
          </a:p>
          <a:p>
            <a:pPr indent="0" lvl="0" marL="0" rtl="0" algn="ctr">
              <a:spcBef>
                <a:spcPts val="0"/>
              </a:spcBef>
              <a:spcAft>
                <a:spcPts val="0"/>
              </a:spcAft>
              <a:buNone/>
            </a:pPr>
            <a:r>
              <a:rPr lang="en" sz="700"/>
              <a:t>E.g. Investigate and send an email</a:t>
            </a:r>
            <a:endParaRPr sz="700"/>
          </a:p>
        </p:txBody>
      </p:sp>
      <p:cxnSp>
        <p:nvCxnSpPr>
          <p:cNvPr id="1350" name="Google Shape;1350;p77"/>
          <p:cNvCxnSpPr>
            <a:stCxn id="1348" idx="2"/>
            <a:endCxn id="1301" idx="0"/>
          </p:cNvCxnSpPr>
          <p:nvPr/>
        </p:nvCxnSpPr>
        <p:spPr>
          <a:xfrm rot="5400000">
            <a:off x="5147638" y="831800"/>
            <a:ext cx="486300" cy="1638300"/>
          </a:xfrm>
          <a:prstGeom prst="bentConnector3">
            <a:avLst>
              <a:gd fmla="val 50014" name="adj1"/>
            </a:avLst>
          </a:prstGeom>
          <a:noFill/>
          <a:ln cap="flat" cmpd="sng" w="9525">
            <a:solidFill>
              <a:schemeClr val="dk2"/>
            </a:solidFill>
            <a:prstDash val="solid"/>
            <a:round/>
            <a:headEnd len="med" w="med" type="none"/>
            <a:tailEnd len="med" w="med" type="triangle"/>
          </a:ln>
        </p:spPr>
      </p:cxnSp>
      <p:cxnSp>
        <p:nvCxnSpPr>
          <p:cNvPr id="1351" name="Google Shape;1351;p77"/>
          <p:cNvCxnSpPr>
            <a:stCxn id="1349" idx="2"/>
            <a:endCxn id="1301" idx="0"/>
          </p:cNvCxnSpPr>
          <p:nvPr/>
        </p:nvCxnSpPr>
        <p:spPr>
          <a:xfrm rot="5400000">
            <a:off x="5961700" y="5800"/>
            <a:ext cx="498300" cy="3278400"/>
          </a:xfrm>
          <a:prstGeom prst="bentConnector3">
            <a:avLst>
              <a:gd fmla="val 50009" name="adj1"/>
            </a:avLst>
          </a:prstGeom>
          <a:noFill/>
          <a:ln cap="flat" cmpd="sng" w="9525">
            <a:solidFill>
              <a:schemeClr val="dk2"/>
            </a:solidFill>
            <a:prstDash val="solid"/>
            <a:round/>
            <a:headEnd len="med" w="med" type="none"/>
            <a:tailEnd len="med" w="med" type="triangle"/>
          </a:ln>
        </p:spPr>
      </p:cxnSp>
      <p:sp>
        <p:nvSpPr>
          <p:cNvPr id="1352" name="Google Shape;1352;p77"/>
          <p:cNvSpPr/>
          <p:nvPr/>
        </p:nvSpPr>
        <p:spPr>
          <a:xfrm>
            <a:off x="5968823" y="2119406"/>
            <a:ext cx="30948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l">
              <a:lnSpc>
                <a:spcPct val="100000"/>
              </a:lnSpc>
              <a:spcBef>
                <a:spcPts val="0"/>
              </a:spcBef>
              <a:spcAft>
                <a:spcPts val="0"/>
              </a:spcAft>
              <a:buNone/>
            </a:pPr>
            <a:r>
              <a:rPr b="1" lang="en" sz="900">
                <a:solidFill>
                  <a:srgbClr val="11567F"/>
                </a:solidFill>
              </a:rPr>
              <a:t>Output: Directed Questions (Broken Down in Steps)</a:t>
            </a:r>
            <a:endParaRPr b="1" sz="900">
              <a:solidFill>
                <a:srgbClr val="11567F"/>
              </a:solidFill>
            </a:endParaRPr>
          </a:p>
        </p:txBody>
      </p:sp>
      <p:sp>
        <p:nvSpPr>
          <p:cNvPr id="1353" name="Google Shape;1353;p77"/>
          <p:cNvSpPr/>
          <p:nvPr/>
        </p:nvSpPr>
        <p:spPr>
          <a:xfrm>
            <a:off x="6362746" y="3055575"/>
            <a:ext cx="25017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l">
              <a:lnSpc>
                <a:spcPct val="100000"/>
              </a:lnSpc>
              <a:spcBef>
                <a:spcPts val="0"/>
              </a:spcBef>
              <a:spcAft>
                <a:spcPts val="0"/>
              </a:spcAft>
              <a:buNone/>
            </a:pPr>
            <a:r>
              <a:rPr b="1" lang="en" sz="900">
                <a:solidFill>
                  <a:srgbClr val="11567F"/>
                </a:solidFill>
              </a:rPr>
              <a:t>Output: SQL Results or Text Search Results</a:t>
            </a:r>
            <a:endParaRPr b="1" sz="900">
              <a:solidFill>
                <a:srgbClr val="11567F"/>
              </a:solidFill>
            </a:endParaRPr>
          </a:p>
        </p:txBody>
      </p:sp>
      <p:sp>
        <p:nvSpPr>
          <p:cNvPr id="1354" name="Google Shape;1354;p77"/>
          <p:cNvSpPr/>
          <p:nvPr/>
        </p:nvSpPr>
        <p:spPr>
          <a:xfrm>
            <a:off x="4683000" y="3431013"/>
            <a:ext cx="1635692" cy="798114"/>
          </a:xfrm>
          <a:custGeom>
            <a:rect b="b" l="l" r="r" t="t"/>
            <a:pathLst>
              <a:path extrusionOk="0" h="973310" w="7607871">
                <a:moveTo>
                  <a:pt x="7493619" y="0"/>
                </a:moveTo>
                <a:cubicBezTo>
                  <a:pt x="7556719" y="0"/>
                  <a:pt x="7607871" y="51141"/>
                  <a:pt x="7607871" y="114227"/>
                </a:cubicBezTo>
                <a:lnTo>
                  <a:pt x="7607871" y="859083"/>
                </a:lnTo>
                <a:cubicBezTo>
                  <a:pt x="7607871" y="922169"/>
                  <a:pt x="7556719" y="973311"/>
                  <a:pt x="7493619" y="973311"/>
                </a:cubicBezTo>
                <a:lnTo>
                  <a:pt x="114252" y="973311"/>
                </a:lnTo>
                <a:cubicBezTo>
                  <a:pt x="51152" y="973311"/>
                  <a:pt x="0" y="922170"/>
                  <a:pt x="0" y="859084"/>
                </a:cubicBezTo>
                <a:lnTo>
                  <a:pt x="0" y="114227"/>
                </a:lnTo>
                <a:cubicBezTo>
                  <a:pt x="0" y="51141"/>
                  <a:pt x="51152" y="0"/>
                  <a:pt x="114252" y="0"/>
                </a:cubicBezTo>
                <a:close/>
              </a:path>
            </a:pathLst>
          </a:custGeom>
          <a:solidFill>
            <a:srgbClr val="D4F0FA"/>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None/>
            </a:pPr>
            <a:r>
              <a:t/>
            </a:r>
            <a:endParaRPr b="1" sz="1000">
              <a:solidFill>
                <a:srgbClr val="11567F"/>
              </a:solidFill>
            </a:endParaRPr>
          </a:p>
        </p:txBody>
      </p:sp>
      <p:sp>
        <p:nvSpPr>
          <p:cNvPr id="1355" name="Google Shape;1355;p77"/>
          <p:cNvSpPr/>
          <p:nvPr/>
        </p:nvSpPr>
        <p:spPr>
          <a:xfrm>
            <a:off x="2868825" y="2832100"/>
            <a:ext cx="1511700" cy="3300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800"/>
              <a:t>Cortex Analyst</a:t>
            </a:r>
            <a:endParaRPr b="1" sz="800"/>
          </a:p>
          <a:p>
            <a:pPr indent="0" lvl="0" marL="0" rtl="0" algn="ctr">
              <a:spcBef>
                <a:spcPts val="0"/>
              </a:spcBef>
              <a:spcAft>
                <a:spcPts val="0"/>
              </a:spcAft>
              <a:buNone/>
            </a:pPr>
            <a:r>
              <a:rPr lang="en" sz="700">
                <a:solidFill>
                  <a:srgbClr val="434343"/>
                </a:solidFill>
              </a:rPr>
              <a:t>Structured Data Retrieval</a:t>
            </a:r>
            <a:endParaRPr b="1" sz="800"/>
          </a:p>
        </p:txBody>
      </p:sp>
      <p:cxnSp>
        <p:nvCxnSpPr>
          <p:cNvPr id="1356" name="Google Shape;1356;p77"/>
          <p:cNvCxnSpPr>
            <a:stCxn id="1301" idx="2"/>
            <a:endCxn id="1355" idx="0"/>
          </p:cNvCxnSpPr>
          <p:nvPr/>
        </p:nvCxnSpPr>
        <p:spPr>
          <a:xfrm rot="5400000">
            <a:off x="3794300" y="2054587"/>
            <a:ext cx="607800" cy="947100"/>
          </a:xfrm>
          <a:prstGeom prst="bentConnector3">
            <a:avLst>
              <a:gd fmla="val 50005" name="adj1"/>
            </a:avLst>
          </a:prstGeom>
          <a:noFill/>
          <a:ln cap="flat" cmpd="sng" w="9525">
            <a:solidFill>
              <a:schemeClr val="dk2"/>
            </a:solidFill>
            <a:prstDash val="solid"/>
            <a:round/>
            <a:headEnd len="med" w="med" type="none"/>
            <a:tailEnd len="med" w="med" type="triangle"/>
          </a:ln>
        </p:spPr>
      </p:cxnSp>
      <p:cxnSp>
        <p:nvCxnSpPr>
          <p:cNvPr id="1357" name="Google Shape;1357;p77"/>
          <p:cNvCxnSpPr>
            <a:stCxn id="1301" idx="2"/>
            <a:endCxn id="1314" idx="0"/>
          </p:cNvCxnSpPr>
          <p:nvPr/>
        </p:nvCxnSpPr>
        <p:spPr>
          <a:xfrm flipH="1" rot="-5400000">
            <a:off x="4745150" y="2050837"/>
            <a:ext cx="612600" cy="959400"/>
          </a:xfrm>
          <a:prstGeom prst="bentConnector3">
            <a:avLst>
              <a:gd fmla="val 50010" name="adj1"/>
            </a:avLst>
          </a:prstGeom>
          <a:noFill/>
          <a:ln cap="flat" cmpd="sng" w="9525">
            <a:solidFill>
              <a:schemeClr val="dk2"/>
            </a:solidFill>
            <a:prstDash val="solid"/>
            <a:round/>
            <a:headEnd len="med" w="med" type="none"/>
            <a:tailEnd len="med" w="med" type="triangle"/>
          </a:ln>
        </p:spPr>
      </p:cxnSp>
      <p:grpSp>
        <p:nvGrpSpPr>
          <p:cNvPr id="1358" name="Google Shape;1358;p77"/>
          <p:cNvGrpSpPr/>
          <p:nvPr/>
        </p:nvGrpSpPr>
        <p:grpSpPr>
          <a:xfrm>
            <a:off x="5278406" y="3757875"/>
            <a:ext cx="429857" cy="380695"/>
            <a:chOff x="1919900" y="4009418"/>
            <a:chExt cx="210240" cy="186205"/>
          </a:xfrm>
        </p:grpSpPr>
        <p:sp>
          <p:nvSpPr>
            <p:cNvPr id="1359" name="Google Shape;1359;p77"/>
            <p:cNvSpPr/>
            <p:nvPr/>
          </p:nvSpPr>
          <p:spPr>
            <a:xfrm>
              <a:off x="1950401" y="4009418"/>
              <a:ext cx="179739" cy="186205"/>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93450" lIns="186900" spcFirstLastPara="1" rIns="186900" wrap="square" tIns="93450">
              <a:noAutofit/>
            </a:bodyPr>
            <a:lstStyle/>
            <a:p>
              <a:pPr indent="0" lvl="0" marL="0" marR="0" rtl="0" algn="l">
                <a:spcBef>
                  <a:spcPts val="0"/>
                </a:spcBef>
                <a:spcAft>
                  <a:spcPts val="0"/>
                </a:spcAft>
                <a:buNone/>
              </a:pPr>
              <a:r>
                <a:t/>
              </a:r>
              <a:endParaRPr sz="2862">
                <a:solidFill>
                  <a:srgbClr val="262626"/>
                </a:solidFill>
                <a:latin typeface="Arial"/>
                <a:ea typeface="Arial"/>
                <a:cs typeface="Arial"/>
                <a:sym typeface="Arial"/>
              </a:endParaRPr>
            </a:p>
          </p:txBody>
        </p:sp>
        <p:sp>
          <p:nvSpPr>
            <p:cNvPr id="1360" name="Google Shape;1360;p77"/>
            <p:cNvSpPr/>
            <p:nvPr/>
          </p:nvSpPr>
          <p:spPr>
            <a:xfrm>
              <a:off x="1919900" y="4118623"/>
              <a:ext cx="145165" cy="64961"/>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22"/>
                <a:buFont typeface="Arial"/>
                <a:buNone/>
              </a:pPr>
              <a:r>
                <a:rPr b="1" lang="en" sz="613">
                  <a:solidFill>
                    <a:srgbClr val="FFFFFF"/>
                  </a:solidFill>
                </a:rPr>
                <a:t>TXT</a:t>
              </a:r>
              <a:endParaRPr sz="613">
                <a:solidFill>
                  <a:srgbClr val="252525"/>
                </a:solidFill>
                <a:latin typeface="Arial"/>
                <a:ea typeface="Arial"/>
                <a:cs typeface="Arial"/>
                <a:sym typeface="Arial"/>
              </a:endParaRPr>
            </a:p>
          </p:txBody>
        </p:sp>
      </p:grpSp>
      <p:sp>
        <p:nvSpPr>
          <p:cNvPr id="1361" name="Google Shape;1361;p77"/>
          <p:cNvSpPr/>
          <p:nvPr/>
        </p:nvSpPr>
        <p:spPr>
          <a:xfrm>
            <a:off x="4524207" y="3518730"/>
            <a:ext cx="19533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TEXT DATA</a:t>
            </a:r>
            <a:endParaRPr b="1" sz="900">
              <a:solidFill>
                <a:srgbClr val="434343"/>
              </a:solidFill>
            </a:endParaRPr>
          </a:p>
        </p:txBody>
      </p:sp>
      <p:cxnSp>
        <p:nvCxnSpPr>
          <p:cNvPr id="1362" name="Google Shape;1362;p77"/>
          <p:cNvCxnSpPr>
            <a:stCxn id="1355" idx="2"/>
          </p:cNvCxnSpPr>
          <p:nvPr/>
        </p:nvCxnSpPr>
        <p:spPr>
          <a:xfrm>
            <a:off x="3624675" y="3162100"/>
            <a:ext cx="2100" cy="269100"/>
          </a:xfrm>
          <a:prstGeom prst="straightConnector1">
            <a:avLst/>
          </a:prstGeom>
          <a:noFill/>
          <a:ln cap="flat" cmpd="sng" w="9525">
            <a:solidFill>
              <a:schemeClr val="dk2"/>
            </a:solidFill>
            <a:prstDash val="solid"/>
            <a:round/>
            <a:headEnd len="med" w="med" type="none"/>
            <a:tailEnd len="med" w="med" type="triangle"/>
          </a:ln>
        </p:spPr>
      </p:cxnSp>
      <p:cxnSp>
        <p:nvCxnSpPr>
          <p:cNvPr id="1363" name="Google Shape;1363;p77"/>
          <p:cNvCxnSpPr>
            <a:stCxn id="1314" idx="2"/>
          </p:cNvCxnSpPr>
          <p:nvPr/>
        </p:nvCxnSpPr>
        <p:spPr>
          <a:xfrm>
            <a:off x="5531000" y="3166961"/>
            <a:ext cx="0" cy="264300"/>
          </a:xfrm>
          <a:prstGeom prst="straightConnector1">
            <a:avLst/>
          </a:prstGeom>
          <a:noFill/>
          <a:ln cap="flat" cmpd="sng" w="9525">
            <a:solidFill>
              <a:schemeClr val="dk2"/>
            </a:solidFill>
            <a:prstDash val="solid"/>
            <a:round/>
            <a:headEnd len="med" w="med" type="none"/>
            <a:tailEnd len="med" w="med" type="triangle"/>
          </a:ln>
        </p:spPr>
      </p:cxnSp>
      <p:sp>
        <p:nvSpPr>
          <p:cNvPr id="1364" name="Google Shape;1364;p77"/>
          <p:cNvSpPr txBox="1"/>
          <p:nvPr/>
        </p:nvSpPr>
        <p:spPr>
          <a:xfrm>
            <a:off x="6540688" y="1675550"/>
            <a:ext cx="2711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rPr>
              <a:t>Input: Complicated Business Questions</a:t>
            </a:r>
            <a:endParaRPr b="1" sz="900">
              <a:solidFill>
                <a:schemeClr val="dk2"/>
              </a:solidFill>
            </a:endParaRPr>
          </a:p>
        </p:txBody>
      </p:sp>
      <p:sp>
        <p:nvSpPr>
          <p:cNvPr id="1365" name="Google Shape;1365;p77"/>
          <p:cNvSpPr txBox="1"/>
          <p:nvPr/>
        </p:nvSpPr>
        <p:spPr>
          <a:xfrm>
            <a:off x="7342973" y="2564403"/>
            <a:ext cx="1635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rPr>
              <a:t>Input: English Questions</a:t>
            </a:r>
            <a:endParaRPr b="1" sz="900">
              <a:solidFill>
                <a:schemeClr val="dk2"/>
              </a:solidFill>
            </a:endParaRPr>
          </a:p>
        </p:txBody>
      </p:sp>
      <p:pic>
        <p:nvPicPr>
          <p:cNvPr id="1366" name="Google Shape;1366;p77" title="confluence_logo-freelogovectors.net_.png"/>
          <p:cNvPicPr preferRelativeResize="0"/>
          <p:nvPr/>
        </p:nvPicPr>
        <p:blipFill rotWithShape="1">
          <a:blip r:embed="rId3">
            <a:alphaModFix/>
          </a:blip>
          <a:srcRect b="0" l="14583" r="14590" t="0"/>
          <a:stretch/>
        </p:blipFill>
        <p:spPr>
          <a:xfrm>
            <a:off x="4287274" y="4847447"/>
            <a:ext cx="131786" cy="139583"/>
          </a:xfrm>
          <a:prstGeom prst="rect">
            <a:avLst/>
          </a:prstGeom>
          <a:noFill/>
          <a:ln>
            <a:noFill/>
          </a:ln>
        </p:spPr>
      </p:pic>
      <p:sp>
        <p:nvSpPr>
          <p:cNvPr id="1367" name="Google Shape;1367;p77"/>
          <p:cNvSpPr txBox="1"/>
          <p:nvPr/>
        </p:nvSpPr>
        <p:spPr>
          <a:xfrm>
            <a:off x="4144475" y="4505675"/>
            <a:ext cx="852300" cy="274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700">
                <a:solidFill>
                  <a:srgbClr val="434343"/>
                </a:solidFill>
              </a:rPr>
              <a:t>Data Connectors</a:t>
            </a:r>
            <a:endParaRPr sz="700">
              <a:solidFill>
                <a:srgbClr val="434343"/>
              </a:solidFill>
            </a:endParaRPr>
          </a:p>
          <a:p>
            <a:pPr indent="0" lvl="0" marL="0" rtl="0" algn="ctr">
              <a:spcBef>
                <a:spcPts val="0"/>
              </a:spcBef>
              <a:spcAft>
                <a:spcPts val="0"/>
              </a:spcAft>
              <a:buNone/>
            </a:pPr>
            <a:r>
              <a:rPr b="1" lang="en" sz="800"/>
              <a:t>Openflow</a:t>
            </a:r>
            <a:endParaRPr sz="1300"/>
          </a:p>
        </p:txBody>
      </p:sp>
      <p:pic>
        <p:nvPicPr>
          <p:cNvPr id="1368" name="Google Shape;1368;p77"/>
          <p:cNvPicPr preferRelativeResize="0"/>
          <p:nvPr/>
        </p:nvPicPr>
        <p:blipFill>
          <a:blip r:embed="rId4">
            <a:alphaModFix/>
          </a:blip>
          <a:stretch>
            <a:fillRect/>
          </a:stretch>
        </p:blipFill>
        <p:spPr>
          <a:xfrm>
            <a:off x="4489655" y="4839062"/>
            <a:ext cx="156320" cy="156353"/>
          </a:xfrm>
          <a:prstGeom prst="rect">
            <a:avLst/>
          </a:prstGeom>
          <a:noFill/>
          <a:ln>
            <a:noFill/>
          </a:ln>
        </p:spPr>
      </p:pic>
      <p:pic>
        <p:nvPicPr>
          <p:cNvPr id="1369" name="Google Shape;1369;p77"/>
          <p:cNvPicPr preferRelativeResize="0"/>
          <p:nvPr/>
        </p:nvPicPr>
        <p:blipFill rotWithShape="1">
          <a:blip r:embed="rId5">
            <a:alphaModFix/>
          </a:blip>
          <a:srcRect b="10475" l="10467" r="10475" t="10467"/>
          <a:stretch/>
        </p:blipFill>
        <p:spPr>
          <a:xfrm>
            <a:off x="4935392" y="4843094"/>
            <a:ext cx="148265" cy="148290"/>
          </a:xfrm>
          <a:prstGeom prst="rect">
            <a:avLst/>
          </a:prstGeom>
          <a:noFill/>
          <a:ln>
            <a:noFill/>
          </a:ln>
        </p:spPr>
      </p:pic>
      <p:pic>
        <p:nvPicPr>
          <p:cNvPr id="1370" name="Google Shape;1370;p77"/>
          <p:cNvPicPr preferRelativeResize="0"/>
          <p:nvPr/>
        </p:nvPicPr>
        <p:blipFill>
          <a:blip r:embed="rId6">
            <a:alphaModFix/>
          </a:blip>
          <a:stretch>
            <a:fillRect/>
          </a:stretch>
        </p:blipFill>
        <p:spPr>
          <a:xfrm>
            <a:off x="4060358" y="4839070"/>
            <a:ext cx="156320" cy="156338"/>
          </a:xfrm>
          <a:prstGeom prst="rect">
            <a:avLst/>
          </a:prstGeom>
          <a:noFill/>
          <a:ln>
            <a:noFill/>
          </a:ln>
        </p:spPr>
      </p:pic>
      <p:pic>
        <p:nvPicPr>
          <p:cNvPr id="1371" name="Google Shape;1371;p77" title="Wfw2p9DY_400x400.png"/>
          <p:cNvPicPr preferRelativeResize="0"/>
          <p:nvPr/>
        </p:nvPicPr>
        <p:blipFill>
          <a:blip r:embed="rId7">
            <a:alphaModFix/>
          </a:blip>
          <a:stretch>
            <a:fillRect/>
          </a:stretch>
        </p:blipFill>
        <p:spPr>
          <a:xfrm>
            <a:off x="4716571" y="4843138"/>
            <a:ext cx="148200" cy="148200"/>
          </a:xfrm>
          <a:prstGeom prst="roundRect">
            <a:avLst>
              <a:gd fmla="val 16667" name="adj"/>
            </a:avLst>
          </a:prstGeom>
          <a:noFill/>
          <a:ln>
            <a:noFill/>
          </a:ln>
        </p:spPr>
      </p:pic>
      <p:cxnSp>
        <p:nvCxnSpPr>
          <p:cNvPr id="1372" name="Google Shape;1372;p77"/>
          <p:cNvCxnSpPr>
            <a:stCxn id="1367" idx="3"/>
          </p:cNvCxnSpPr>
          <p:nvPr/>
        </p:nvCxnSpPr>
        <p:spPr>
          <a:xfrm>
            <a:off x="4996775" y="4642925"/>
            <a:ext cx="1688400" cy="0"/>
          </a:xfrm>
          <a:prstGeom prst="straightConnector1">
            <a:avLst/>
          </a:prstGeom>
          <a:noFill/>
          <a:ln cap="flat" cmpd="sng" w="9525">
            <a:solidFill>
              <a:schemeClr val="dk2"/>
            </a:solidFill>
            <a:prstDash val="solid"/>
            <a:round/>
            <a:headEnd len="med" w="med" type="none"/>
            <a:tailEnd len="med" w="med" type="triangle"/>
          </a:ln>
        </p:spPr>
      </p:cxnSp>
      <p:cxnSp>
        <p:nvCxnSpPr>
          <p:cNvPr id="1373" name="Google Shape;1373;p77"/>
          <p:cNvCxnSpPr>
            <a:stCxn id="1367" idx="1"/>
          </p:cNvCxnSpPr>
          <p:nvPr/>
        </p:nvCxnSpPr>
        <p:spPr>
          <a:xfrm rot="10800000">
            <a:off x="3617375" y="4260125"/>
            <a:ext cx="527100" cy="382800"/>
          </a:xfrm>
          <a:prstGeom prst="bentConnector3">
            <a:avLst>
              <a:gd fmla="val 98942" name="adj1"/>
            </a:avLst>
          </a:prstGeom>
          <a:noFill/>
          <a:ln cap="flat" cmpd="sng" w="9525">
            <a:solidFill>
              <a:schemeClr val="dk2"/>
            </a:solidFill>
            <a:prstDash val="solid"/>
            <a:round/>
            <a:headEnd len="med" w="med" type="none"/>
            <a:tailEnd len="med" w="med" type="triangle"/>
          </a:ln>
        </p:spPr>
      </p:cxnSp>
      <p:sp>
        <p:nvSpPr>
          <p:cNvPr id="1374" name="Google Shape;1374;p77"/>
          <p:cNvSpPr txBox="1"/>
          <p:nvPr/>
        </p:nvSpPr>
        <p:spPr>
          <a:xfrm>
            <a:off x="6209950" y="1813057"/>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rPr>
              <a:t>E.g. What are the sales of my latest products?</a:t>
            </a:r>
            <a:endParaRPr b="1" sz="900">
              <a:solidFill>
                <a:schemeClr val="dk2"/>
              </a:solidFill>
            </a:endParaRPr>
          </a:p>
        </p:txBody>
      </p:sp>
      <p:sp>
        <p:nvSpPr>
          <p:cNvPr id="1375" name="Google Shape;1375;p77"/>
          <p:cNvSpPr txBox="1"/>
          <p:nvPr/>
        </p:nvSpPr>
        <p:spPr>
          <a:xfrm>
            <a:off x="5600006" y="2192896"/>
            <a:ext cx="3428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rPr>
              <a:t>E.g. What are my latest products? + What are their sales?</a:t>
            </a:r>
            <a:endParaRPr b="1" sz="9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78"/>
          <p:cNvSpPr/>
          <p:nvPr/>
        </p:nvSpPr>
        <p:spPr>
          <a:xfrm>
            <a:off x="2215675" y="613015"/>
            <a:ext cx="1978200" cy="2844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381" name="Google Shape;1381;p78"/>
          <p:cNvSpPr/>
          <p:nvPr/>
        </p:nvSpPr>
        <p:spPr>
          <a:xfrm>
            <a:off x="6229327" y="612988"/>
            <a:ext cx="2738400" cy="26403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382" name="Google Shape;1382;p78"/>
          <p:cNvSpPr/>
          <p:nvPr/>
        </p:nvSpPr>
        <p:spPr>
          <a:xfrm>
            <a:off x="4353627" y="612913"/>
            <a:ext cx="1730700" cy="26403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grpSp>
        <p:nvGrpSpPr>
          <p:cNvPr id="1383" name="Google Shape;1383;p78"/>
          <p:cNvGrpSpPr/>
          <p:nvPr/>
        </p:nvGrpSpPr>
        <p:grpSpPr>
          <a:xfrm>
            <a:off x="2451220" y="1125708"/>
            <a:ext cx="1017300" cy="651816"/>
            <a:chOff x="1548833" y="2114554"/>
            <a:chExt cx="1017300" cy="651816"/>
          </a:xfrm>
        </p:grpSpPr>
        <p:pic>
          <p:nvPicPr>
            <p:cNvPr id="1384" name="Google Shape;1384;p78"/>
            <p:cNvPicPr preferRelativeResize="0"/>
            <p:nvPr/>
          </p:nvPicPr>
          <p:blipFill rotWithShape="1">
            <a:blip r:embed="rId3">
              <a:alphaModFix/>
            </a:blip>
            <a:srcRect b="0" l="0" r="0" t="0"/>
            <a:stretch/>
          </p:blipFill>
          <p:spPr>
            <a:xfrm>
              <a:off x="1828870" y="2114554"/>
              <a:ext cx="457200" cy="457200"/>
            </a:xfrm>
            <a:prstGeom prst="rect">
              <a:avLst/>
            </a:prstGeom>
            <a:noFill/>
            <a:ln>
              <a:noFill/>
            </a:ln>
          </p:spPr>
        </p:pic>
        <p:sp>
          <p:nvSpPr>
            <p:cNvPr id="1385" name="Google Shape;1385;p78"/>
            <p:cNvSpPr txBox="1"/>
            <p:nvPr/>
          </p:nvSpPr>
          <p:spPr>
            <a:xfrm>
              <a:off x="1548833" y="2627770"/>
              <a:ext cx="1017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1000" u="none" cap="none" strike="noStrike">
                  <a:solidFill>
                    <a:srgbClr val="105780"/>
                  </a:solidFill>
                  <a:latin typeface="Arial"/>
                  <a:ea typeface="Arial"/>
                  <a:cs typeface="Arial"/>
                  <a:sym typeface="Arial"/>
                </a:rPr>
                <a:t>Horizon Catalog</a:t>
              </a:r>
              <a:endParaRPr b="0" i="0" sz="1000" u="none" cap="none" strike="noStrike">
                <a:solidFill>
                  <a:srgbClr val="105780"/>
                </a:solidFill>
                <a:latin typeface="Arial"/>
                <a:ea typeface="Arial"/>
                <a:cs typeface="Arial"/>
                <a:sym typeface="Arial"/>
              </a:endParaRPr>
            </a:p>
          </p:txBody>
        </p:sp>
      </p:grpSp>
      <p:sp>
        <p:nvSpPr>
          <p:cNvPr id="1386" name="Google Shape;1386;p78"/>
          <p:cNvSpPr/>
          <p:nvPr/>
        </p:nvSpPr>
        <p:spPr>
          <a:xfrm>
            <a:off x="3680628" y="1276724"/>
            <a:ext cx="353094" cy="346516"/>
          </a:xfrm>
          <a:custGeom>
            <a:rect b="b" l="l" r="r" t="t"/>
            <a:pathLst>
              <a:path extrusionOk="0" h="8448" w="7350">
                <a:moveTo>
                  <a:pt x="3674" y="708"/>
                </a:moveTo>
                <a:cubicBezTo>
                  <a:pt x="5594" y="708"/>
                  <a:pt x="6641" y="1317"/>
                  <a:pt x="6641" y="1629"/>
                </a:cubicBezTo>
                <a:cubicBezTo>
                  <a:pt x="6641" y="1941"/>
                  <a:pt x="5594" y="2550"/>
                  <a:pt x="3674" y="2550"/>
                </a:cubicBezTo>
                <a:cubicBezTo>
                  <a:pt x="1756" y="2550"/>
                  <a:pt x="709" y="1941"/>
                  <a:pt x="709" y="1629"/>
                </a:cubicBezTo>
                <a:cubicBezTo>
                  <a:pt x="709" y="1317"/>
                  <a:pt x="1756" y="708"/>
                  <a:pt x="3674" y="708"/>
                </a:cubicBezTo>
                <a:close/>
                <a:moveTo>
                  <a:pt x="6641" y="2628"/>
                </a:moveTo>
                <a:lnTo>
                  <a:pt x="6641" y="3360"/>
                </a:lnTo>
                <a:cubicBezTo>
                  <a:pt x="6641" y="3672"/>
                  <a:pt x="5594" y="4281"/>
                  <a:pt x="3674" y="4281"/>
                </a:cubicBezTo>
                <a:cubicBezTo>
                  <a:pt x="1756" y="4281"/>
                  <a:pt x="709" y="3672"/>
                  <a:pt x="709" y="3360"/>
                </a:cubicBezTo>
                <a:lnTo>
                  <a:pt x="709" y="2628"/>
                </a:lnTo>
                <a:cubicBezTo>
                  <a:pt x="1411" y="3044"/>
                  <a:pt x="2547" y="3258"/>
                  <a:pt x="3674" y="3258"/>
                </a:cubicBezTo>
                <a:cubicBezTo>
                  <a:pt x="4802" y="3258"/>
                  <a:pt x="5937" y="3044"/>
                  <a:pt x="6641" y="2628"/>
                </a:cubicBezTo>
                <a:close/>
                <a:moveTo>
                  <a:pt x="6641" y="4361"/>
                </a:moveTo>
                <a:lnTo>
                  <a:pt x="6641" y="5086"/>
                </a:lnTo>
                <a:cubicBezTo>
                  <a:pt x="6641" y="5398"/>
                  <a:pt x="5594" y="6007"/>
                  <a:pt x="3674" y="6007"/>
                </a:cubicBezTo>
                <a:cubicBezTo>
                  <a:pt x="1756" y="6007"/>
                  <a:pt x="709" y="5398"/>
                  <a:pt x="709" y="5086"/>
                </a:cubicBezTo>
                <a:lnTo>
                  <a:pt x="709" y="4361"/>
                </a:lnTo>
                <a:cubicBezTo>
                  <a:pt x="1411" y="4777"/>
                  <a:pt x="2547" y="4989"/>
                  <a:pt x="3674" y="4989"/>
                </a:cubicBezTo>
                <a:cubicBezTo>
                  <a:pt x="4802" y="4989"/>
                  <a:pt x="5937" y="4777"/>
                  <a:pt x="6641" y="4361"/>
                </a:cubicBezTo>
                <a:close/>
                <a:moveTo>
                  <a:pt x="6641" y="6087"/>
                </a:moveTo>
                <a:lnTo>
                  <a:pt x="6641" y="6819"/>
                </a:lnTo>
                <a:cubicBezTo>
                  <a:pt x="6641" y="7131"/>
                  <a:pt x="5594" y="7740"/>
                  <a:pt x="3674" y="7740"/>
                </a:cubicBezTo>
                <a:cubicBezTo>
                  <a:pt x="1756" y="7740"/>
                  <a:pt x="709" y="7131"/>
                  <a:pt x="709" y="6819"/>
                </a:cubicBezTo>
                <a:lnTo>
                  <a:pt x="709" y="6087"/>
                </a:lnTo>
                <a:cubicBezTo>
                  <a:pt x="1411" y="6503"/>
                  <a:pt x="2547" y="6716"/>
                  <a:pt x="3674" y="6716"/>
                </a:cubicBezTo>
                <a:cubicBezTo>
                  <a:pt x="4802" y="6716"/>
                  <a:pt x="5937" y="6503"/>
                  <a:pt x="6641" y="6087"/>
                </a:cubicBezTo>
                <a:close/>
                <a:moveTo>
                  <a:pt x="3674" y="0"/>
                </a:moveTo>
                <a:cubicBezTo>
                  <a:pt x="1848" y="0"/>
                  <a:pt x="1" y="560"/>
                  <a:pt x="1" y="1630"/>
                </a:cubicBezTo>
                <a:lnTo>
                  <a:pt x="1" y="6819"/>
                </a:lnTo>
                <a:cubicBezTo>
                  <a:pt x="1" y="7888"/>
                  <a:pt x="1849" y="8448"/>
                  <a:pt x="3674" y="8448"/>
                </a:cubicBezTo>
                <a:cubicBezTo>
                  <a:pt x="5499" y="8448"/>
                  <a:pt x="7348" y="7890"/>
                  <a:pt x="7348" y="6819"/>
                </a:cubicBezTo>
                <a:lnTo>
                  <a:pt x="7348" y="1629"/>
                </a:lnTo>
                <a:cubicBezTo>
                  <a:pt x="7350" y="560"/>
                  <a:pt x="5501" y="0"/>
                  <a:pt x="3674" y="0"/>
                </a:cubicBezTo>
                <a:close/>
              </a:path>
            </a:pathLst>
          </a:custGeom>
          <a:solidFill>
            <a:srgbClr val="2AB5E8"/>
          </a:solidFill>
          <a:ln>
            <a:noFill/>
          </a:ln>
        </p:spPr>
        <p:txBody>
          <a:bodyPr anchorCtr="0" anchor="ctr" bIns="152650" lIns="152650" spcFirstLastPara="1" rIns="152650" wrap="square" tIns="152650">
            <a:noAutofit/>
          </a:bodyPr>
          <a:lstStyle/>
          <a:p>
            <a:pPr indent="0" lvl="0" marL="0" marR="0" rtl="0" algn="l">
              <a:lnSpc>
                <a:spcPct val="100000"/>
              </a:lnSpc>
              <a:spcBef>
                <a:spcPts val="0"/>
              </a:spcBef>
              <a:spcAft>
                <a:spcPts val="0"/>
              </a:spcAft>
              <a:buClr>
                <a:srgbClr val="252525"/>
              </a:buClr>
              <a:buSzPts val="3005"/>
              <a:buFont typeface="Arial"/>
              <a:buNone/>
            </a:pPr>
            <a:r>
              <a:t/>
            </a:r>
            <a:endParaRPr b="0" i="0" sz="3005" u="none" cap="none" strike="noStrike">
              <a:solidFill>
                <a:srgbClr val="252525"/>
              </a:solidFill>
              <a:latin typeface="Arial"/>
              <a:ea typeface="Arial"/>
              <a:cs typeface="Arial"/>
              <a:sym typeface="Arial"/>
            </a:endParaRPr>
          </a:p>
        </p:txBody>
      </p:sp>
      <p:sp>
        <p:nvSpPr>
          <p:cNvPr id="1387" name="Google Shape;1387;p78"/>
          <p:cNvSpPr txBox="1"/>
          <p:nvPr/>
        </p:nvSpPr>
        <p:spPr>
          <a:xfrm>
            <a:off x="3540825" y="1633300"/>
            <a:ext cx="6678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rgbClr val="105780"/>
                </a:solidFill>
              </a:rPr>
              <a:t>CLD</a:t>
            </a:r>
            <a:endParaRPr b="0" i="0" sz="1000" u="none" cap="none" strike="noStrike">
              <a:solidFill>
                <a:srgbClr val="105780"/>
              </a:solidFill>
              <a:latin typeface="Arial"/>
              <a:ea typeface="Arial"/>
              <a:cs typeface="Arial"/>
              <a:sym typeface="Arial"/>
            </a:endParaRPr>
          </a:p>
        </p:txBody>
      </p:sp>
      <p:grpSp>
        <p:nvGrpSpPr>
          <p:cNvPr id="1388" name="Google Shape;1388;p78"/>
          <p:cNvGrpSpPr/>
          <p:nvPr/>
        </p:nvGrpSpPr>
        <p:grpSpPr>
          <a:xfrm>
            <a:off x="4861565" y="1168895"/>
            <a:ext cx="913800" cy="789337"/>
            <a:chOff x="4150600" y="949063"/>
            <a:chExt cx="913800" cy="789337"/>
          </a:xfrm>
        </p:grpSpPr>
        <p:pic>
          <p:nvPicPr>
            <p:cNvPr descr="Apache Polaris | JB Onofré" id="1389" name="Google Shape;1389;p78"/>
            <p:cNvPicPr preferRelativeResize="0"/>
            <p:nvPr/>
          </p:nvPicPr>
          <p:blipFill rotWithShape="1">
            <a:blip r:embed="rId4">
              <a:alphaModFix/>
            </a:blip>
            <a:srcRect b="0" l="0" r="0" t="0"/>
            <a:stretch/>
          </p:blipFill>
          <p:spPr>
            <a:xfrm>
              <a:off x="4343399" y="949063"/>
              <a:ext cx="457200" cy="457200"/>
            </a:xfrm>
            <a:prstGeom prst="rect">
              <a:avLst/>
            </a:prstGeom>
            <a:noFill/>
            <a:ln>
              <a:noFill/>
            </a:ln>
          </p:spPr>
        </p:pic>
        <p:sp>
          <p:nvSpPr>
            <p:cNvPr id="1390" name="Google Shape;1390;p78"/>
            <p:cNvSpPr txBox="1"/>
            <p:nvPr/>
          </p:nvSpPr>
          <p:spPr>
            <a:xfrm>
              <a:off x="4150600" y="1461200"/>
              <a:ext cx="913800" cy="277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b="0" i="0" lang="en" sz="1000" u="none" cap="none" strike="noStrike">
                  <a:solidFill>
                    <a:srgbClr val="105780"/>
                  </a:solidFill>
                  <a:latin typeface="Arial"/>
                  <a:ea typeface="Arial"/>
                  <a:cs typeface="Arial"/>
                  <a:sym typeface="Arial"/>
                </a:rPr>
                <a:t>Polaris</a:t>
              </a:r>
              <a:br>
                <a:rPr b="0" i="0" lang="en" sz="1000" u="none" cap="none" strike="noStrike">
                  <a:solidFill>
                    <a:srgbClr val="105780"/>
                  </a:solidFill>
                  <a:latin typeface="Arial"/>
                  <a:ea typeface="Arial"/>
                  <a:cs typeface="Arial"/>
                  <a:sym typeface="Arial"/>
                </a:rPr>
              </a:br>
              <a:r>
                <a:rPr b="0" i="0" lang="en" sz="1000" u="none" cap="none" strike="noStrike">
                  <a:solidFill>
                    <a:srgbClr val="105780"/>
                  </a:solidFill>
                  <a:latin typeface="Arial"/>
                  <a:ea typeface="Arial"/>
                  <a:cs typeface="Arial"/>
                  <a:sym typeface="Arial"/>
                </a:rPr>
                <a:t>Open Catalog</a:t>
              </a:r>
              <a:endParaRPr b="0" i="0" sz="1000" u="none" cap="none" strike="noStrike">
                <a:solidFill>
                  <a:srgbClr val="000000"/>
                </a:solidFill>
                <a:latin typeface="Arial"/>
                <a:ea typeface="Arial"/>
                <a:cs typeface="Arial"/>
                <a:sym typeface="Arial"/>
              </a:endParaRPr>
            </a:p>
          </p:txBody>
        </p:sp>
      </p:grpSp>
      <p:grpSp>
        <p:nvGrpSpPr>
          <p:cNvPr id="1391" name="Google Shape;1391;p78"/>
          <p:cNvGrpSpPr/>
          <p:nvPr/>
        </p:nvGrpSpPr>
        <p:grpSpPr>
          <a:xfrm>
            <a:off x="6818199" y="1866290"/>
            <a:ext cx="879300" cy="620487"/>
            <a:chOff x="1233014" y="1825863"/>
            <a:chExt cx="879300" cy="620487"/>
          </a:xfrm>
        </p:grpSpPr>
        <p:sp>
          <p:nvSpPr>
            <p:cNvPr id="1392" name="Google Shape;1392;p78"/>
            <p:cNvSpPr txBox="1"/>
            <p:nvPr/>
          </p:nvSpPr>
          <p:spPr>
            <a:xfrm>
              <a:off x="1233014" y="2292450"/>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Big Query</a:t>
              </a:r>
              <a:endParaRPr sz="1000">
                <a:solidFill>
                  <a:schemeClr val="dk1"/>
                </a:solidFill>
              </a:endParaRPr>
            </a:p>
          </p:txBody>
        </p:sp>
        <p:pic>
          <p:nvPicPr>
            <p:cNvPr id="1393" name="Google Shape;1393;p78" title="BigQuery-512-color.png"/>
            <p:cNvPicPr preferRelativeResize="0"/>
            <p:nvPr/>
          </p:nvPicPr>
          <p:blipFill>
            <a:blip r:embed="rId5">
              <a:alphaModFix/>
            </a:blip>
            <a:stretch>
              <a:fillRect/>
            </a:stretch>
          </p:blipFill>
          <p:spPr>
            <a:xfrm>
              <a:off x="1444063" y="1825863"/>
              <a:ext cx="457201" cy="457201"/>
            </a:xfrm>
            <a:prstGeom prst="rect">
              <a:avLst/>
            </a:prstGeom>
            <a:noFill/>
            <a:ln>
              <a:noFill/>
            </a:ln>
          </p:spPr>
        </p:pic>
      </p:grpSp>
      <p:sp>
        <p:nvSpPr>
          <p:cNvPr id="1394" name="Google Shape;1394;p78"/>
          <p:cNvSpPr txBox="1"/>
          <p:nvPr/>
        </p:nvSpPr>
        <p:spPr>
          <a:xfrm>
            <a:off x="4388794" y="608927"/>
            <a:ext cx="16602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GCS (</a:t>
            </a:r>
            <a:r>
              <a:rPr lang="en" sz="1000">
                <a:solidFill>
                  <a:srgbClr val="FFFFFF"/>
                </a:solidFill>
              </a:rPr>
              <a:t>Snowflake-Manage</a:t>
            </a:r>
            <a:r>
              <a:rPr lang="en" sz="1200">
                <a:solidFill>
                  <a:srgbClr val="FFFFFF"/>
                </a:solidFill>
              </a:rPr>
              <a:t>d)</a:t>
            </a:r>
            <a:endParaRPr sz="1200">
              <a:solidFill>
                <a:srgbClr val="FFFFFF"/>
              </a:solidFill>
            </a:endParaRPr>
          </a:p>
        </p:txBody>
      </p:sp>
      <p:sp>
        <p:nvSpPr>
          <p:cNvPr id="1395" name="Google Shape;1395;p78"/>
          <p:cNvSpPr txBox="1"/>
          <p:nvPr/>
        </p:nvSpPr>
        <p:spPr>
          <a:xfrm>
            <a:off x="2566080" y="609079"/>
            <a:ext cx="12816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Snowflake</a:t>
            </a:r>
            <a:endParaRPr sz="1200">
              <a:solidFill>
                <a:srgbClr val="FFFFFF"/>
              </a:solidFill>
            </a:endParaRPr>
          </a:p>
        </p:txBody>
      </p:sp>
      <p:sp>
        <p:nvSpPr>
          <p:cNvPr id="1396" name="Google Shape;1396;p78"/>
          <p:cNvSpPr txBox="1"/>
          <p:nvPr/>
        </p:nvSpPr>
        <p:spPr>
          <a:xfrm>
            <a:off x="7011873" y="609094"/>
            <a:ext cx="11733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GCP Services</a:t>
            </a:r>
            <a:endParaRPr sz="1200">
              <a:solidFill>
                <a:srgbClr val="FFFFFF"/>
              </a:solidFill>
            </a:endParaRPr>
          </a:p>
        </p:txBody>
      </p:sp>
      <p:grpSp>
        <p:nvGrpSpPr>
          <p:cNvPr id="1397" name="Google Shape;1397;p78"/>
          <p:cNvGrpSpPr/>
          <p:nvPr/>
        </p:nvGrpSpPr>
        <p:grpSpPr>
          <a:xfrm>
            <a:off x="2686621" y="2339129"/>
            <a:ext cx="771600" cy="734404"/>
            <a:chOff x="1697475" y="987946"/>
            <a:chExt cx="771600" cy="734404"/>
          </a:xfrm>
        </p:grpSpPr>
        <p:sp>
          <p:nvSpPr>
            <p:cNvPr id="1398" name="Google Shape;1398;p78"/>
            <p:cNvSpPr txBox="1"/>
            <p:nvPr/>
          </p:nvSpPr>
          <p:spPr>
            <a:xfrm>
              <a:off x="1697475" y="1445150"/>
              <a:ext cx="771600" cy="277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latin typeface="Arial"/>
                  <a:ea typeface="Arial"/>
                  <a:cs typeface="Arial"/>
                  <a:sym typeface="Arial"/>
                </a:rPr>
                <a:t>Native App</a:t>
              </a:r>
              <a:br>
                <a:rPr lang="en" sz="1000">
                  <a:solidFill>
                    <a:srgbClr val="105780"/>
                  </a:solidFill>
                  <a:latin typeface="Arial"/>
                  <a:ea typeface="Arial"/>
                  <a:cs typeface="Arial"/>
                  <a:sym typeface="Arial"/>
                </a:rPr>
              </a:br>
              <a:r>
                <a:rPr lang="en" sz="1000">
                  <a:solidFill>
                    <a:srgbClr val="105780"/>
                  </a:solidFill>
                  <a:latin typeface="Arial"/>
                  <a:ea typeface="Arial"/>
                  <a:cs typeface="Arial"/>
                  <a:sym typeface="Arial"/>
                </a:rPr>
                <a:t>/ SPCS</a:t>
              </a:r>
              <a:endParaRPr sz="1000">
                <a:solidFill>
                  <a:srgbClr val="105780"/>
                </a:solidFill>
                <a:latin typeface="Arial"/>
                <a:ea typeface="Arial"/>
                <a:cs typeface="Arial"/>
                <a:sym typeface="Arial"/>
              </a:endParaRPr>
            </a:p>
          </p:txBody>
        </p:sp>
        <p:pic>
          <p:nvPicPr>
            <p:cNvPr id="1399" name="Google Shape;1399;p78"/>
            <p:cNvPicPr preferRelativeResize="0"/>
            <p:nvPr/>
          </p:nvPicPr>
          <p:blipFill rotWithShape="1">
            <a:blip r:embed="rId6">
              <a:alphaModFix/>
            </a:blip>
            <a:srcRect b="0" l="0" r="0" t="0"/>
            <a:stretch/>
          </p:blipFill>
          <p:spPr>
            <a:xfrm>
              <a:off x="1854667" y="987946"/>
              <a:ext cx="457200" cy="457200"/>
            </a:xfrm>
            <a:prstGeom prst="rect">
              <a:avLst/>
            </a:prstGeom>
            <a:noFill/>
            <a:ln>
              <a:noFill/>
            </a:ln>
          </p:spPr>
        </p:pic>
      </p:grpSp>
      <p:grpSp>
        <p:nvGrpSpPr>
          <p:cNvPr id="1400" name="Google Shape;1400;p78"/>
          <p:cNvGrpSpPr/>
          <p:nvPr/>
        </p:nvGrpSpPr>
        <p:grpSpPr>
          <a:xfrm>
            <a:off x="4943426" y="2495573"/>
            <a:ext cx="879300" cy="621515"/>
            <a:chOff x="5033899" y="2444455"/>
            <a:chExt cx="879300" cy="621515"/>
          </a:xfrm>
        </p:grpSpPr>
        <p:grpSp>
          <p:nvGrpSpPr>
            <p:cNvPr id="1401" name="Google Shape;1401;p78"/>
            <p:cNvGrpSpPr/>
            <p:nvPr/>
          </p:nvGrpSpPr>
          <p:grpSpPr>
            <a:xfrm>
              <a:off x="5417333" y="2444455"/>
              <a:ext cx="486292" cy="457206"/>
              <a:chOff x="345049" y="1086515"/>
              <a:chExt cx="3135348" cy="2970796"/>
            </a:xfrm>
          </p:grpSpPr>
          <p:sp>
            <p:nvSpPr>
              <p:cNvPr id="1402" name="Google Shape;1402;p78"/>
              <p:cNvSpPr/>
              <p:nvPr/>
            </p:nvSpPr>
            <p:spPr>
              <a:xfrm>
                <a:off x="345049" y="1086515"/>
                <a:ext cx="2431159" cy="2431159"/>
              </a:xfrm>
              <a:custGeom>
                <a:rect b="b" l="l" r="r" t="t"/>
                <a:pathLst>
                  <a:path extrusionOk="0" h="2431159" w="2431159">
                    <a:moveTo>
                      <a:pt x="1370278" y="2431160"/>
                    </a:moveTo>
                    <a:lnTo>
                      <a:pt x="302499" y="2431160"/>
                    </a:lnTo>
                    <a:cubicBezTo>
                      <a:pt x="135648" y="2431160"/>
                      <a:pt x="0" y="2295511"/>
                      <a:pt x="0" y="2128660"/>
                    </a:cubicBezTo>
                    <a:lnTo>
                      <a:pt x="0" y="302499"/>
                    </a:lnTo>
                    <a:cubicBezTo>
                      <a:pt x="0" y="135648"/>
                      <a:pt x="135648" y="0"/>
                      <a:pt x="302499" y="0"/>
                    </a:cubicBezTo>
                    <a:lnTo>
                      <a:pt x="2128661" y="0"/>
                    </a:lnTo>
                    <a:cubicBezTo>
                      <a:pt x="2295511" y="0"/>
                      <a:pt x="2431160" y="135648"/>
                      <a:pt x="2431160" y="302499"/>
                    </a:cubicBezTo>
                    <a:lnTo>
                      <a:pt x="2431160" y="973843"/>
                    </a:lnTo>
                    <a:cubicBezTo>
                      <a:pt x="2431160" y="1018184"/>
                      <a:pt x="2395359" y="1054313"/>
                      <a:pt x="2350690" y="1054313"/>
                    </a:cubicBezTo>
                    <a:cubicBezTo>
                      <a:pt x="2306350" y="1054313"/>
                      <a:pt x="2270221" y="1018184"/>
                      <a:pt x="2270221" y="973843"/>
                    </a:cubicBezTo>
                    <a:lnTo>
                      <a:pt x="2270221" y="302171"/>
                    </a:lnTo>
                    <a:cubicBezTo>
                      <a:pt x="2270221" y="224000"/>
                      <a:pt x="2206502" y="160282"/>
                      <a:pt x="2128332" y="160282"/>
                    </a:cubicBezTo>
                    <a:lnTo>
                      <a:pt x="302171" y="160282"/>
                    </a:lnTo>
                    <a:cubicBezTo>
                      <a:pt x="224000" y="160282"/>
                      <a:pt x="160282" y="224000"/>
                      <a:pt x="160282" y="302171"/>
                    </a:cubicBezTo>
                    <a:lnTo>
                      <a:pt x="160282" y="2128332"/>
                    </a:lnTo>
                    <a:cubicBezTo>
                      <a:pt x="160282" y="2206502"/>
                      <a:pt x="224000" y="2270221"/>
                      <a:pt x="302171" y="2270221"/>
                    </a:cubicBezTo>
                    <a:lnTo>
                      <a:pt x="1369950" y="2270221"/>
                    </a:lnTo>
                    <a:cubicBezTo>
                      <a:pt x="1414290" y="2270221"/>
                      <a:pt x="1450419" y="2306350"/>
                      <a:pt x="1450419" y="2350690"/>
                    </a:cubicBezTo>
                    <a:cubicBezTo>
                      <a:pt x="1450747" y="2395030"/>
                      <a:pt x="1414618" y="2431160"/>
                      <a:pt x="1370278" y="2431160"/>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03" name="Google Shape;1403;p78"/>
              <p:cNvSpPr/>
              <p:nvPr/>
            </p:nvSpPr>
            <p:spPr>
              <a:xfrm>
                <a:off x="1507092" y="2952090"/>
                <a:ext cx="1973305" cy="107073"/>
              </a:xfrm>
              <a:custGeom>
                <a:rect b="b" l="l" r="r" t="t"/>
                <a:pathLst>
                  <a:path extrusionOk="0" h="107073" w="1973305">
                    <a:moveTo>
                      <a:pt x="1919769" y="107073"/>
                    </a:moveTo>
                    <a:lnTo>
                      <a:pt x="53537" y="107073"/>
                    </a:lnTo>
                    <a:cubicBezTo>
                      <a:pt x="23977" y="107073"/>
                      <a:pt x="0" y="83097"/>
                      <a:pt x="0" y="53537"/>
                    </a:cubicBezTo>
                    <a:cubicBezTo>
                      <a:pt x="0" y="23977"/>
                      <a:pt x="23977" y="0"/>
                      <a:pt x="53537" y="0"/>
                    </a:cubicBezTo>
                    <a:lnTo>
                      <a:pt x="1919769" y="0"/>
                    </a:lnTo>
                    <a:cubicBezTo>
                      <a:pt x="1949329" y="0"/>
                      <a:pt x="1973305" y="23977"/>
                      <a:pt x="1973305" y="53537"/>
                    </a:cubicBezTo>
                    <a:cubicBezTo>
                      <a:pt x="1973305" y="83097"/>
                      <a:pt x="1949329" y="107073"/>
                      <a:pt x="1919769" y="107073"/>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04" name="Google Shape;1404;p78"/>
              <p:cNvSpPr/>
              <p:nvPr/>
            </p:nvSpPr>
            <p:spPr>
              <a:xfrm>
                <a:off x="1802422" y="2188406"/>
                <a:ext cx="1396425" cy="833072"/>
              </a:xfrm>
              <a:custGeom>
                <a:rect b="b" l="l" r="r" t="t"/>
                <a:pathLst>
                  <a:path extrusionOk="0" h="833072" w="1396425">
                    <a:moveTo>
                      <a:pt x="1342631" y="832985"/>
                    </a:moveTo>
                    <a:cubicBezTo>
                      <a:pt x="1324238" y="832985"/>
                      <a:pt x="1306174" y="823461"/>
                      <a:pt x="1296321" y="806053"/>
                    </a:cubicBezTo>
                    <a:lnTo>
                      <a:pt x="1113705" y="490088"/>
                    </a:lnTo>
                    <a:lnTo>
                      <a:pt x="958349" y="469724"/>
                    </a:lnTo>
                    <a:cubicBezTo>
                      <a:pt x="942912" y="467753"/>
                      <a:pt x="928789" y="458885"/>
                      <a:pt x="920250" y="445747"/>
                    </a:cubicBezTo>
                    <a:lnTo>
                      <a:pt x="722196" y="138650"/>
                    </a:lnTo>
                    <a:lnTo>
                      <a:pt x="558302" y="302545"/>
                    </a:lnTo>
                    <a:lnTo>
                      <a:pt x="476519" y="539026"/>
                    </a:lnTo>
                    <a:cubicBezTo>
                      <a:pt x="470935" y="554792"/>
                      <a:pt x="458454" y="567272"/>
                      <a:pt x="442360" y="572528"/>
                    </a:cubicBezTo>
                    <a:lnTo>
                      <a:pt x="206864" y="648070"/>
                    </a:lnTo>
                    <a:lnTo>
                      <a:pt x="97820" y="809337"/>
                    </a:lnTo>
                    <a:cubicBezTo>
                      <a:pt x="81398" y="833971"/>
                      <a:pt x="47896" y="840540"/>
                      <a:pt x="23591" y="823789"/>
                    </a:cubicBezTo>
                    <a:cubicBezTo>
                      <a:pt x="-1042" y="807367"/>
                      <a:pt x="-7283" y="773865"/>
                      <a:pt x="9139" y="749560"/>
                    </a:cubicBezTo>
                    <a:lnTo>
                      <a:pt x="128365" y="572856"/>
                    </a:lnTo>
                    <a:cubicBezTo>
                      <a:pt x="134934" y="563003"/>
                      <a:pt x="145116" y="555448"/>
                      <a:pt x="156283" y="551836"/>
                    </a:cubicBezTo>
                    <a:lnTo>
                      <a:pt x="383897" y="478920"/>
                    </a:lnTo>
                    <a:lnTo>
                      <a:pt x="461082" y="255905"/>
                    </a:lnTo>
                    <a:cubicBezTo>
                      <a:pt x="463709" y="248351"/>
                      <a:pt x="467979" y="241454"/>
                      <a:pt x="473891" y="235542"/>
                    </a:cubicBezTo>
                    <a:lnTo>
                      <a:pt x="693622" y="15811"/>
                    </a:lnTo>
                    <a:cubicBezTo>
                      <a:pt x="705117" y="4315"/>
                      <a:pt x="721211" y="-1597"/>
                      <a:pt x="737305" y="374"/>
                    </a:cubicBezTo>
                    <a:cubicBezTo>
                      <a:pt x="753399" y="2016"/>
                      <a:pt x="767850" y="10884"/>
                      <a:pt x="776719" y="24679"/>
                    </a:cubicBezTo>
                    <a:lnTo>
                      <a:pt x="997106" y="366592"/>
                    </a:lnTo>
                    <a:lnTo>
                      <a:pt x="1154103" y="387284"/>
                    </a:lnTo>
                    <a:cubicBezTo>
                      <a:pt x="1170526" y="389583"/>
                      <a:pt x="1185306" y="399108"/>
                      <a:pt x="1193517" y="413560"/>
                    </a:cubicBezTo>
                    <a:lnTo>
                      <a:pt x="1389271" y="752516"/>
                    </a:lnTo>
                    <a:cubicBezTo>
                      <a:pt x="1404051" y="778135"/>
                      <a:pt x="1395183" y="810980"/>
                      <a:pt x="1369564" y="825760"/>
                    </a:cubicBezTo>
                    <a:cubicBezTo>
                      <a:pt x="1361025" y="830686"/>
                      <a:pt x="1351828" y="832985"/>
                      <a:pt x="1342631" y="83298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05" name="Google Shape;1405;p78"/>
              <p:cNvSpPr/>
              <p:nvPr/>
            </p:nvSpPr>
            <p:spPr>
              <a:xfrm>
                <a:off x="1840945" y="3095959"/>
                <a:ext cx="1291611" cy="961352"/>
              </a:xfrm>
              <a:custGeom>
                <a:rect b="b" l="l" r="r" t="t"/>
                <a:pathLst>
                  <a:path extrusionOk="0" h="961352" w="1291611">
                    <a:moveTo>
                      <a:pt x="769398" y="961352"/>
                    </a:moveTo>
                    <a:cubicBezTo>
                      <a:pt x="758560" y="961352"/>
                      <a:pt x="748049" y="958068"/>
                      <a:pt x="739181" y="951827"/>
                    </a:cubicBezTo>
                    <a:lnTo>
                      <a:pt x="447849" y="751475"/>
                    </a:lnTo>
                    <a:cubicBezTo>
                      <a:pt x="438324" y="744906"/>
                      <a:pt x="431098" y="735710"/>
                      <a:pt x="427486" y="724542"/>
                    </a:cubicBezTo>
                    <a:lnTo>
                      <a:pt x="309902" y="380659"/>
                    </a:lnTo>
                    <a:lnTo>
                      <a:pt x="98054" y="257163"/>
                    </a:lnTo>
                    <a:cubicBezTo>
                      <a:pt x="88529" y="251580"/>
                      <a:pt x="80975" y="243040"/>
                      <a:pt x="76376" y="233187"/>
                    </a:cubicBezTo>
                    <a:lnTo>
                      <a:pt x="4775" y="75861"/>
                    </a:lnTo>
                    <a:cubicBezTo>
                      <a:pt x="-7377" y="48928"/>
                      <a:pt x="4447" y="17069"/>
                      <a:pt x="31379" y="4917"/>
                    </a:cubicBezTo>
                    <a:cubicBezTo>
                      <a:pt x="58312" y="-7564"/>
                      <a:pt x="90171" y="4588"/>
                      <a:pt x="102324" y="31521"/>
                    </a:cubicBezTo>
                    <a:lnTo>
                      <a:pt x="167028" y="173409"/>
                    </a:lnTo>
                    <a:lnTo>
                      <a:pt x="381503" y="298548"/>
                    </a:lnTo>
                    <a:cubicBezTo>
                      <a:pt x="392670" y="305116"/>
                      <a:pt x="400881" y="315298"/>
                      <a:pt x="405151" y="327451"/>
                    </a:cubicBezTo>
                    <a:lnTo>
                      <a:pt x="523392" y="673633"/>
                    </a:lnTo>
                    <a:lnTo>
                      <a:pt x="745422" y="826689"/>
                    </a:lnTo>
                    <a:lnTo>
                      <a:pt x="896835" y="460800"/>
                    </a:lnTo>
                    <a:cubicBezTo>
                      <a:pt x="905047" y="440765"/>
                      <a:pt x="924753" y="427627"/>
                      <a:pt x="946431" y="427627"/>
                    </a:cubicBezTo>
                    <a:lnTo>
                      <a:pt x="1003252" y="427627"/>
                    </a:lnTo>
                    <a:lnTo>
                      <a:pt x="1189481" y="31192"/>
                    </a:lnTo>
                    <a:cubicBezTo>
                      <a:pt x="1201962" y="4259"/>
                      <a:pt x="1233821" y="-7236"/>
                      <a:pt x="1260754" y="5573"/>
                    </a:cubicBezTo>
                    <a:cubicBezTo>
                      <a:pt x="1287686" y="18054"/>
                      <a:pt x="1299182" y="49914"/>
                      <a:pt x="1286373" y="76846"/>
                    </a:cubicBezTo>
                    <a:lnTo>
                      <a:pt x="1085692" y="504155"/>
                    </a:lnTo>
                    <a:cubicBezTo>
                      <a:pt x="1076824" y="522876"/>
                      <a:pt x="1058102" y="535029"/>
                      <a:pt x="1037082" y="535029"/>
                    </a:cubicBezTo>
                    <a:lnTo>
                      <a:pt x="982231" y="535029"/>
                    </a:lnTo>
                    <a:lnTo>
                      <a:pt x="819322" y="929164"/>
                    </a:lnTo>
                    <a:cubicBezTo>
                      <a:pt x="813082" y="944273"/>
                      <a:pt x="800601" y="955440"/>
                      <a:pt x="785164" y="960038"/>
                    </a:cubicBezTo>
                    <a:cubicBezTo>
                      <a:pt x="779580" y="960695"/>
                      <a:pt x="774653" y="961352"/>
                      <a:pt x="769398" y="961352"/>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06" name="Google Shape;1406;p78"/>
              <p:cNvSpPr/>
              <p:nvPr/>
            </p:nvSpPr>
            <p:spPr>
              <a:xfrm>
                <a:off x="2453555" y="2246797"/>
                <a:ext cx="388683" cy="774595"/>
              </a:xfrm>
              <a:custGeom>
                <a:rect b="b" l="l" r="r" t="t"/>
                <a:pathLst>
                  <a:path extrusionOk="0" h="774595" w="388683">
                    <a:moveTo>
                      <a:pt x="334806" y="774595"/>
                    </a:moveTo>
                    <a:cubicBezTo>
                      <a:pt x="316413" y="774595"/>
                      <a:pt x="298349" y="765070"/>
                      <a:pt x="288495" y="747991"/>
                    </a:cubicBezTo>
                    <a:lnTo>
                      <a:pt x="216565" y="624495"/>
                    </a:lnTo>
                    <a:lnTo>
                      <a:pt x="56284" y="321011"/>
                    </a:lnTo>
                    <a:cubicBezTo>
                      <a:pt x="53985" y="316413"/>
                      <a:pt x="52342" y="311814"/>
                      <a:pt x="51357" y="306888"/>
                    </a:cubicBezTo>
                    <a:lnTo>
                      <a:pt x="1105" y="64494"/>
                    </a:lnTo>
                    <a:cubicBezTo>
                      <a:pt x="-4807" y="35591"/>
                      <a:pt x="13586" y="7345"/>
                      <a:pt x="42489" y="1104"/>
                    </a:cubicBezTo>
                    <a:cubicBezTo>
                      <a:pt x="71392" y="-4808"/>
                      <a:pt x="99639" y="13585"/>
                      <a:pt x="105879" y="42817"/>
                    </a:cubicBezTo>
                    <a:lnTo>
                      <a:pt x="154818" y="277984"/>
                    </a:lnTo>
                    <a:lnTo>
                      <a:pt x="310501" y="572601"/>
                    </a:lnTo>
                    <a:lnTo>
                      <a:pt x="381446" y="694126"/>
                    </a:lnTo>
                    <a:cubicBezTo>
                      <a:pt x="396226" y="719745"/>
                      <a:pt x="387686" y="752261"/>
                      <a:pt x="362067" y="767369"/>
                    </a:cubicBezTo>
                    <a:cubicBezTo>
                      <a:pt x="353199" y="771968"/>
                      <a:pt x="344003" y="774595"/>
                      <a:pt x="334806" y="77459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07" name="Google Shape;1407;p78"/>
              <p:cNvSpPr/>
              <p:nvPr/>
            </p:nvSpPr>
            <p:spPr>
              <a:xfrm>
                <a:off x="1303127"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942" y="106745"/>
                    </a:moveTo>
                    <a:cubicBezTo>
                      <a:pt x="111015" y="106745"/>
                      <a:pt x="107074" y="110686"/>
                      <a:pt x="107074" y="115613"/>
                    </a:cubicBezTo>
                    <a:lnTo>
                      <a:pt x="107074" y="398734"/>
                    </a:lnTo>
                    <a:cubicBezTo>
                      <a:pt x="107074" y="403661"/>
                      <a:pt x="111015" y="407602"/>
                      <a:pt x="115942" y="407602"/>
                    </a:cubicBezTo>
                    <a:lnTo>
                      <a:pt x="399062" y="407602"/>
                    </a:lnTo>
                    <a:cubicBezTo>
                      <a:pt x="403989" y="407602"/>
                      <a:pt x="407930" y="403661"/>
                      <a:pt x="407930" y="398734"/>
                    </a:cubicBezTo>
                    <a:lnTo>
                      <a:pt x="407930" y="115613"/>
                    </a:lnTo>
                    <a:cubicBezTo>
                      <a:pt x="407930" y="110686"/>
                      <a:pt x="403989" y="106745"/>
                      <a:pt x="399062" y="106745"/>
                    </a:cubicBezTo>
                    <a:lnTo>
                      <a:pt x="115942"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08" name="Google Shape;1408;p78"/>
              <p:cNvSpPr/>
              <p:nvPr/>
            </p:nvSpPr>
            <p:spPr>
              <a:xfrm>
                <a:off x="1303127"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942" y="107073"/>
                    </a:moveTo>
                    <a:cubicBezTo>
                      <a:pt x="111015" y="107073"/>
                      <a:pt x="107074" y="111015"/>
                      <a:pt x="107074" y="115942"/>
                    </a:cubicBezTo>
                    <a:lnTo>
                      <a:pt x="107074" y="399062"/>
                    </a:lnTo>
                    <a:cubicBezTo>
                      <a:pt x="107074" y="403989"/>
                      <a:pt x="111015" y="407930"/>
                      <a:pt x="115942" y="407930"/>
                    </a:cubicBezTo>
                    <a:lnTo>
                      <a:pt x="399062" y="407930"/>
                    </a:lnTo>
                    <a:cubicBezTo>
                      <a:pt x="403989" y="407930"/>
                      <a:pt x="407930" y="403989"/>
                      <a:pt x="407930" y="399062"/>
                    </a:cubicBezTo>
                    <a:lnTo>
                      <a:pt x="407930" y="115942"/>
                    </a:lnTo>
                    <a:cubicBezTo>
                      <a:pt x="407930" y="111015"/>
                      <a:pt x="403989" y="107073"/>
                      <a:pt x="399062" y="107073"/>
                    </a:cubicBezTo>
                    <a:lnTo>
                      <a:pt x="115942"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09" name="Google Shape;1409;p78"/>
              <p:cNvSpPr/>
              <p:nvPr/>
            </p:nvSpPr>
            <p:spPr>
              <a:xfrm>
                <a:off x="1920934"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2781"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10" name="Google Shape;1410;p78"/>
              <p:cNvSpPr/>
              <p:nvPr/>
            </p:nvSpPr>
            <p:spPr>
              <a:xfrm>
                <a:off x="685648"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11" name="Google Shape;1411;p78"/>
              <p:cNvSpPr/>
              <p:nvPr/>
            </p:nvSpPr>
            <p:spPr>
              <a:xfrm>
                <a:off x="685648"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12" name="Google Shape;1412;p78"/>
              <p:cNvSpPr/>
              <p:nvPr/>
            </p:nvSpPr>
            <p:spPr>
              <a:xfrm>
                <a:off x="685648" y="2659773"/>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grpSp>
        <p:sp>
          <p:nvSpPr>
            <p:cNvPr id="1413" name="Google Shape;1413;p78"/>
            <p:cNvSpPr txBox="1"/>
            <p:nvPr/>
          </p:nvSpPr>
          <p:spPr>
            <a:xfrm>
              <a:off x="5033899" y="2927370"/>
              <a:ext cx="879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latin typeface="Arial"/>
                  <a:ea typeface="Arial"/>
                  <a:cs typeface="Arial"/>
                  <a:sym typeface="Arial"/>
                </a:rPr>
                <a:t>Iceberg Tables</a:t>
              </a:r>
              <a:endParaRPr sz="1000">
                <a:solidFill>
                  <a:srgbClr val="105780"/>
                </a:solidFill>
                <a:latin typeface="Arial"/>
                <a:ea typeface="Arial"/>
                <a:cs typeface="Arial"/>
                <a:sym typeface="Arial"/>
              </a:endParaRPr>
            </a:p>
          </p:txBody>
        </p:sp>
      </p:grpSp>
      <p:grpSp>
        <p:nvGrpSpPr>
          <p:cNvPr id="1414" name="Google Shape;1414;p78"/>
          <p:cNvGrpSpPr/>
          <p:nvPr/>
        </p:nvGrpSpPr>
        <p:grpSpPr>
          <a:xfrm>
            <a:off x="8013968" y="1023640"/>
            <a:ext cx="879300" cy="620475"/>
            <a:chOff x="3394243" y="1825875"/>
            <a:chExt cx="879300" cy="620475"/>
          </a:xfrm>
        </p:grpSpPr>
        <p:sp>
          <p:nvSpPr>
            <p:cNvPr id="1415" name="Google Shape;1415;p78"/>
            <p:cNvSpPr txBox="1"/>
            <p:nvPr/>
          </p:nvSpPr>
          <p:spPr>
            <a:xfrm>
              <a:off x="3394243" y="2292450"/>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Vertex AI </a:t>
              </a:r>
              <a:endParaRPr sz="1000">
                <a:solidFill>
                  <a:schemeClr val="dk1"/>
                </a:solidFill>
              </a:endParaRPr>
            </a:p>
          </p:txBody>
        </p:sp>
        <p:pic>
          <p:nvPicPr>
            <p:cNvPr id="1416" name="Google Shape;1416;p78" title="VertexAI-512-color.png"/>
            <p:cNvPicPr preferRelativeResize="0"/>
            <p:nvPr/>
          </p:nvPicPr>
          <p:blipFill>
            <a:blip r:embed="rId7">
              <a:alphaModFix/>
            </a:blip>
            <a:stretch>
              <a:fillRect/>
            </a:stretch>
          </p:blipFill>
          <p:spPr>
            <a:xfrm>
              <a:off x="3605288" y="1825875"/>
              <a:ext cx="457201" cy="457201"/>
            </a:xfrm>
            <a:prstGeom prst="rect">
              <a:avLst/>
            </a:prstGeom>
            <a:noFill/>
            <a:ln>
              <a:noFill/>
            </a:ln>
          </p:spPr>
        </p:pic>
      </p:grpSp>
      <p:grpSp>
        <p:nvGrpSpPr>
          <p:cNvPr id="1417" name="Google Shape;1417;p78"/>
          <p:cNvGrpSpPr/>
          <p:nvPr/>
        </p:nvGrpSpPr>
        <p:grpSpPr>
          <a:xfrm>
            <a:off x="8013968" y="2486799"/>
            <a:ext cx="879300" cy="596150"/>
            <a:chOff x="152400" y="1637725"/>
            <a:chExt cx="879300" cy="596150"/>
          </a:xfrm>
        </p:grpSpPr>
        <p:pic>
          <p:nvPicPr>
            <p:cNvPr id="1418" name="Google Shape;1418;p78" title="CloudRun-512-color-rgb.png"/>
            <p:cNvPicPr preferRelativeResize="0"/>
            <p:nvPr/>
          </p:nvPicPr>
          <p:blipFill>
            <a:blip r:embed="rId8">
              <a:alphaModFix/>
            </a:blip>
            <a:stretch>
              <a:fillRect/>
            </a:stretch>
          </p:blipFill>
          <p:spPr>
            <a:xfrm>
              <a:off x="363450" y="1637725"/>
              <a:ext cx="457199" cy="457199"/>
            </a:xfrm>
            <a:prstGeom prst="rect">
              <a:avLst/>
            </a:prstGeom>
            <a:noFill/>
            <a:ln>
              <a:noFill/>
            </a:ln>
          </p:spPr>
        </p:pic>
        <p:sp>
          <p:nvSpPr>
            <p:cNvPr id="1419" name="Google Shape;1419;p78"/>
            <p:cNvSpPr txBox="1"/>
            <p:nvPr/>
          </p:nvSpPr>
          <p:spPr>
            <a:xfrm>
              <a:off x="152400" y="2079975"/>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Cloud Run</a:t>
              </a:r>
              <a:endParaRPr sz="1000">
                <a:solidFill>
                  <a:schemeClr val="dk1"/>
                </a:solidFill>
              </a:endParaRPr>
            </a:p>
          </p:txBody>
        </p:sp>
      </p:grpSp>
      <p:cxnSp>
        <p:nvCxnSpPr>
          <p:cNvPr id="1420" name="Google Shape;1420;p78"/>
          <p:cNvCxnSpPr>
            <a:stCxn id="1393" idx="3"/>
            <a:endCxn id="1416" idx="1"/>
          </p:cNvCxnSpPr>
          <p:nvPr/>
        </p:nvCxnSpPr>
        <p:spPr>
          <a:xfrm flipH="1" rot="10800000">
            <a:off x="7486447" y="1252190"/>
            <a:ext cx="738600" cy="842700"/>
          </a:xfrm>
          <a:prstGeom prst="bentConnector3">
            <a:avLst>
              <a:gd fmla="val 49998" name="adj1"/>
            </a:avLst>
          </a:prstGeom>
          <a:noFill/>
          <a:ln cap="flat" cmpd="sng" w="9525">
            <a:solidFill>
              <a:schemeClr val="dk2"/>
            </a:solidFill>
            <a:prstDash val="solid"/>
            <a:round/>
            <a:headEnd len="med" w="med" type="none"/>
            <a:tailEnd len="med" w="med" type="triangle"/>
          </a:ln>
        </p:spPr>
      </p:cxnSp>
      <p:cxnSp>
        <p:nvCxnSpPr>
          <p:cNvPr id="1421" name="Google Shape;1421;p78"/>
          <p:cNvCxnSpPr>
            <a:stCxn id="1393" idx="3"/>
            <a:endCxn id="1418" idx="1"/>
          </p:cNvCxnSpPr>
          <p:nvPr/>
        </p:nvCxnSpPr>
        <p:spPr>
          <a:xfrm>
            <a:off x="7486447" y="2094890"/>
            <a:ext cx="738600" cy="620400"/>
          </a:xfrm>
          <a:prstGeom prst="bentConnector3">
            <a:avLst>
              <a:gd fmla="val 49998" name="adj1"/>
            </a:avLst>
          </a:prstGeom>
          <a:noFill/>
          <a:ln cap="flat" cmpd="sng" w="9525">
            <a:solidFill>
              <a:schemeClr val="dk2"/>
            </a:solidFill>
            <a:prstDash val="solid"/>
            <a:round/>
            <a:headEnd len="med" w="med" type="none"/>
            <a:tailEnd len="med" w="med" type="triangle"/>
          </a:ln>
        </p:spPr>
      </p:cxnSp>
      <p:cxnSp>
        <p:nvCxnSpPr>
          <p:cNvPr id="1422" name="Google Shape;1422;p78"/>
          <p:cNvCxnSpPr>
            <a:stCxn id="1389" idx="3"/>
            <a:endCxn id="1393" idx="1"/>
          </p:cNvCxnSpPr>
          <p:nvPr/>
        </p:nvCxnSpPr>
        <p:spPr>
          <a:xfrm>
            <a:off x="5511564" y="1397495"/>
            <a:ext cx="1517700" cy="697500"/>
          </a:xfrm>
          <a:prstGeom prst="bentConnector3">
            <a:avLst>
              <a:gd fmla="val 26149" name="adj1"/>
            </a:avLst>
          </a:prstGeom>
          <a:noFill/>
          <a:ln cap="flat" cmpd="sng" w="9525">
            <a:solidFill>
              <a:schemeClr val="dk2"/>
            </a:solidFill>
            <a:prstDash val="solid"/>
            <a:round/>
            <a:headEnd len="med" w="med" type="none"/>
            <a:tailEnd len="med" w="med" type="triangle"/>
          </a:ln>
        </p:spPr>
      </p:cxnSp>
      <p:grpSp>
        <p:nvGrpSpPr>
          <p:cNvPr id="1423" name="Google Shape;1423;p78"/>
          <p:cNvGrpSpPr/>
          <p:nvPr/>
        </p:nvGrpSpPr>
        <p:grpSpPr>
          <a:xfrm>
            <a:off x="4897995" y="2486777"/>
            <a:ext cx="368765" cy="381908"/>
            <a:chOff x="1714900" y="552700"/>
            <a:chExt cx="4353775" cy="4508950"/>
          </a:xfrm>
        </p:grpSpPr>
        <p:sp>
          <p:nvSpPr>
            <p:cNvPr id="1424" name="Google Shape;1424;p78"/>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1425" name="Google Shape;1425;p78"/>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
                <a:buFont typeface="Arial"/>
                <a:buNone/>
              </a:pPr>
              <a:r>
                <a:rPr b="1" lang="en" sz="400">
                  <a:solidFill>
                    <a:srgbClr val="FFFFFF"/>
                  </a:solidFill>
                  <a:latin typeface="Arial"/>
                  <a:ea typeface="Arial"/>
                  <a:cs typeface="Arial"/>
                  <a:sym typeface="Arial"/>
                </a:rPr>
                <a:t>PARQUET</a:t>
              </a:r>
              <a:endParaRPr sz="1000">
                <a:solidFill>
                  <a:srgbClr val="252525"/>
                </a:solidFill>
                <a:latin typeface="Arial"/>
                <a:ea typeface="Arial"/>
                <a:cs typeface="Arial"/>
                <a:sym typeface="Arial"/>
              </a:endParaRPr>
            </a:p>
          </p:txBody>
        </p:sp>
      </p:grpSp>
      <p:cxnSp>
        <p:nvCxnSpPr>
          <p:cNvPr id="1426" name="Google Shape;1426;p78"/>
          <p:cNvCxnSpPr>
            <a:endCxn id="1393" idx="1"/>
          </p:cNvCxnSpPr>
          <p:nvPr/>
        </p:nvCxnSpPr>
        <p:spPr>
          <a:xfrm flipH="1" rot="10800000">
            <a:off x="5723947" y="2094890"/>
            <a:ext cx="1305300" cy="578100"/>
          </a:xfrm>
          <a:prstGeom prst="bentConnector3">
            <a:avLst>
              <a:gd fmla="val 13459" name="adj1"/>
            </a:avLst>
          </a:prstGeom>
          <a:noFill/>
          <a:ln cap="flat" cmpd="sng" w="9525">
            <a:solidFill>
              <a:schemeClr val="dk2"/>
            </a:solidFill>
            <a:prstDash val="solid"/>
            <a:round/>
            <a:headEnd len="med" w="med" type="none"/>
            <a:tailEnd len="med" w="med" type="triangle"/>
          </a:ln>
        </p:spPr>
      </p:cxnSp>
      <p:grpSp>
        <p:nvGrpSpPr>
          <p:cNvPr id="1427" name="Google Shape;1427;p78"/>
          <p:cNvGrpSpPr/>
          <p:nvPr/>
        </p:nvGrpSpPr>
        <p:grpSpPr>
          <a:xfrm>
            <a:off x="6229646" y="1593769"/>
            <a:ext cx="667793" cy="457047"/>
            <a:chOff x="5834002" y="3598367"/>
            <a:chExt cx="667793" cy="457047"/>
          </a:xfrm>
        </p:grpSpPr>
        <p:sp>
          <p:nvSpPr>
            <p:cNvPr id="1428" name="Google Shape;1428;p78"/>
            <p:cNvSpPr/>
            <p:nvPr/>
          </p:nvSpPr>
          <p:spPr>
            <a:xfrm>
              <a:off x="5834002" y="3922190"/>
              <a:ext cx="667793" cy="133225"/>
            </a:xfrm>
            <a:custGeom>
              <a:rect b="b" l="l" r="r" t="t"/>
              <a:pathLst>
                <a:path extrusionOk="0" h="62916" w="16140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lang="en" sz="1000">
                  <a:solidFill>
                    <a:schemeClr val="dk1"/>
                  </a:solidFill>
                </a:rPr>
                <a:t>BigLake</a:t>
              </a:r>
              <a:endParaRPr sz="1000">
                <a:solidFill>
                  <a:schemeClr val="dk1"/>
                </a:solidFill>
              </a:endParaRPr>
            </a:p>
          </p:txBody>
        </p:sp>
        <p:sp>
          <p:nvSpPr>
            <p:cNvPr id="1429" name="Google Shape;1429;p78"/>
            <p:cNvSpPr/>
            <p:nvPr/>
          </p:nvSpPr>
          <p:spPr>
            <a:xfrm>
              <a:off x="5977742" y="3598367"/>
              <a:ext cx="322936" cy="270712"/>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cxnSp>
        <p:nvCxnSpPr>
          <p:cNvPr id="1430" name="Google Shape;1430;p78"/>
          <p:cNvCxnSpPr>
            <a:endCxn id="1389" idx="1"/>
          </p:cNvCxnSpPr>
          <p:nvPr/>
        </p:nvCxnSpPr>
        <p:spPr>
          <a:xfrm flipH="1" rot="10800000">
            <a:off x="4055064" y="1397495"/>
            <a:ext cx="999300" cy="46800"/>
          </a:xfrm>
          <a:prstGeom prst="bentConnector3">
            <a:avLst>
              <a:gd fmla="val 50000" name="adj1"/>
            </a:avLst>
          </a:prstGeom>
          <a:noFill/>
          <a:ln cap="flat" cmpd="sng" w="9525">
            <a:solidFill>
              <a:schemeClr val="dk2"/>
            </a:solidFill>
            <a:prstDash val="solid"/>
            <a:round/>
            <a:headEnd len="med" w="med" type="triangle"/>
            <a:tailEnd len="med" w="med" type="triangle"/>
          </a:ln>
        </p:spPr>
      </p:cxnSp>
      <p:cxnSp>
        <p:nvCxnSpPr>
          <p:cNvPr id="1431" name="Google Shape;1431;p78"/>
          <p:cNvCxnSpPr>
            <a:stCxn id="1399" idx="3"/>
          </p:cNvCxnSpPr>
          <p:nvPr/>
        </p:nvCxnSpPr>
        <p:spPr>
          <a:xfrm>
            <a:off x="3301013" y="2567729"/>
            <a:ext cx="1472700" cy="52500"/>
          </a:xfrm>
          <a:prstGeom prst="bentConnector3">
            <a:avLst>
              <a:gd fmla="val 50000" name="adj1"/>
            </a:avLst>
          </a:prstGeom>
          <a:noFill/>
          <a:ln cap="flat" cmpd="sng" w="9525">
            <a:solidFill>
              <a:schemeClr val="dk2"/>
            </a:solidFill>
            <a:prstDash val="solid"/>
            <a:round/>
            <a:headEnd len="med" w="med" type="triangle"/>
            <a:tailEnd len="med" w="med" type="triangle"/>
          </a:ln>
        </p:spPr>
      </p:cxnSp>
      <p:cxnSp>
        <p:nvCxnSpPr>
          <p:cNvPr id="1432" name="Google Shape;1432;p78"/>
          <p:cNvCxnSpPr>
            <a:stCxn id="1385" idx="2"/>
            <a:endCxn id="1399" idx="0"/>
          </p:cNvCxnSpPr>
          <p:nvPr/>
        </p:nvCxnSpPr>
        <p:spPr>
          <a:xfrm>
            <a:off x="2959870" y="1777524"/>
            <a:ext cx="112500" cy="561600"/>
          </a:xfrm>
          <a:prstGeom prst="straightConnector1">
            <a:avLst/>
          </a:prstGeom>
          <a:noFill/>
          <a:ln cap="flat" cmpd="sng" w="9525">
            <a:solidFill>
              <a:schemeClr val="dk2"/>
            </a:solidFill>
            <a:prstDash val="solid"/>
            <a:round/>
            <a:headEnd len="med" w="med" type="triangle"/>
            <a:tailEnd len="med" w="med" type="triangle"/>
          </a:ln>
        </p:spPr>
      </p:cxnSp>
      <p:sp>
        <p:nvSpPr>
          <p:cNvPr id="1433" name="Google Shape;1433;p78"/>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000"/>
              <a:t>Snowflake-Managed Iceberg on GCS</a:t>
            </a:r>
            <a:endParaRPr sz="2000"/>
          </a:p>
        </p:txBody>
      </p:sp>
      <p:sp>
        <p:nvSpPr>
          <p:cNvPr id="1434" name="Google Shape;1434;p78"/>
          <p:cNvSpPr txBox="1"/>
          <p:nvPr/>
        </p:nvSpPr>
        <p:spPr>
          <a:xfrm>
            <a:off x="311350" y="3345348"/>
            <a:ext cx="8656500" cy="12003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1- Native App or SPCS executes standard DML against tables defined within the Catalog Linked Database (CLD) schema. Horizon manages RDBC and Iceberg.</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2- CLD acts as the abstraction layer, enabling Snowflake to atomically manage the Iceberg format and sync metadata with the Polaris.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3- BigLake serves as the unified access layer, connecting BigQuery securely to the Polaris-managed Iceberg metadata and the data files in GCS.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4- GCP analytics and AI services (e.g., Vertex AI) consume the Iceberg tables by querying the integrated BigQuery/BigLake tables.</a:t>
            </a:r>
            <a:endParaRPr sz="900">
              <a:solidFill>
                <a:schemeClr val="dk1"/>
              </a:solidFill>
              <a:latin typeface="Roboto"/>
              <a:ea typeface="Roboto"/>
              <a:cs typeface="Roboto"/>
              <a:sym typeface="Roboto"/>
            </a:endParaRPr>
          </a:p>
        </p:txBody>
      </p:sp>
      <p:sp>
        <p:nvSpPr>
          <p:cNvPr id="1435" name="Google Shape;1435;p78"/>
          <p:cNvSpPr/>
          <p:nvPr/>
        </p:nvSpPr>
        <p:spPr>
          <a:xfrm>
            <a:off x="3300568" y="2229613"/>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1</a:t>
            </a:r>
            <a:endParaRPr sz="1100"/>
          </a:p>
        </p:txBody>
      </p:sp>
      <p:sp>
        <p:nvSpPr>
          <p:cNvPr id="1436" name="Google Shape;1436;p78"/>
          <p:cNvSpPr/>
          <p:nvPr/>
        </p:nvSpPr>
        <p:spPr>
          <a:xfrm>
            <a:off x="3773918" y="178196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2</a:t>
            </a:r>
            <a:endParaRPr sz="1100"/>
          </a:p>
        </p:txBody>
      </p:sp>
      <p:sp>
        <p:nvSpPr>
          <p:cNvPr id="1437" name="Google Shape;1437;p78"/>
          <p:cNvSpPr/>
          <p:nvPr/>
        </p:nvSpPr>
        <p:spPr>
          <a:xfrm>
            <a:off x="6054918" y="182801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3</a:t>
            </a:r>
            <a:endParaRPr sz="1100"/>
          </a:p>
        </p:txBody>
      </p:sp>
      <p:sp>
        <p:nvSpPr>
          <p:cNvPr id="1438" name="Google Shape;1438;p78"/>
          <p:cNvSpPr/>
          <p:nvPr/>
        </p:nvSpPr>
        <p:spPr>
          <a:xfrm>
            <a:off x="7573193" y="182801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4</a:t>
            </a:r>
            <a:endParaRPr sz="1100"/>
          </a:p>
        </p:txBody>
      </p:sp>
      <p:sp>
        <p:nvSpPr>
          <p:cNvPr id="1439" name="Google Shape;1439;p78"/>
          <p:cNvSpPr txBox="1"/>
          <p:nvPr/>
        </p:nvSpPr>
        <p:spPr>
          <a:xfrm>
            <a:off x="311350" y="614000"/>
            <a:ext cx="1868100" cy="26403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 CLD is in Public Preview (PuPr); planned GA 10/31/25.</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BigLake write to Polaris IRC is currently in development.</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For Looker, GCP web apps, and Vertex AI Serving, use Snowflake connectors (Rec).</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For Vertex AI Training and Feature Store (large reads), connect via BigLake and Iceberg.</a:t>
            </a:r>
            <a:endParaRPr sz="900">
              <a:solidFill>
                <a:schemeClr val="dk1"/>
              </a:solidFill>
              <a:latin typeface="Roboto"/>
              <a:ea typeface="Roboto"/>
              <a:cs typeface="Roboto"/>
              <a:sym typeface="Roboto"/>
            </a:endParaRPr>
          </a:p>
        </p:txBody>
      </p:sp>
      <p:cxnSp>
        <p:nvCxnSpPr>
          <p:cNvPr id="1440" name="Google Shape;1440;p78"/>
          <p:cNvCxnSpPr/>
          <p:nvPr/>
        </p:nvCxnSpPr>
        <p:spPr>
          <a:xfrm>
            <a:off x="3134814" y="1339183"/>
            <a:ext cx="533100" cy="115500"/>
          </a:xfrm>
          <a:prstGeom prst="bentConnector3">
            <a:avLst>
              <a:gd fmla="val 50000" name="adj1"/>
            </a:avLst>
          </a:prstGeom>
          <a:noFill/>
          <a:ln cap="flat" cmpd="sng" w="9525">
            <a:solidFill>
              <a:schemeClr val="dk2"/>
            </a:solidFill>
            <a:prstDash val="solid"/>
            <a:round/>
            <a:headEnd len="med" w="med" type="triangl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79"/>
          <p:cNvSpPr/>
          <p:nvPr/>
        </p:nvSpPr>
        <p:spPr>
          <a:xfrm>
            <a:off x="2215675" y="613015"/>
            <a:ext cx="1978200" cy="2844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446" name="Google Shape;1446;p79"/>
          <p:cNvSpPr/>
          <p:nvPr/>
        </p:nvSpPr>
        <p:spPr>
          <a:xfrm>
            <a:off x="6229327" y="612988"/>
            <a:ext cx="2738400" cy="26403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447" name="Google Shape;1447;p79"/>
          <p:cNvSpPr/>
          <p:nvPr/>
        </p:nvSpPr>
        <p:spPr>
          <a:xfrm>
            <a:off x="4353627" y="612913"/>
            <a:ext cx="1730700" cy="26403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grpSp>
        <p:nvGrpSpPr>
          <p:cNvPr id="1448" name="Google Shape;1448;p79"/>
          <p:cNvGrpSpPr/>
          <p:nvPr/>
        </p:nvGrpSpPr>
        <p:grpSpPr>
          <a:xfrm>
            <a:off x="2702370" y="1165946"/>
            <a:ext cx="1017300" cy="651816"/>
            <a:chOff x="1548833" y="2114554"/>
            <a:chExt cx="1017300" cy="651816"/>
          </a:xfrm>
        </p:grpSpPr>
        <p:pic>
          <p:nvPicPr>
            <p:cNvPr id="1449" name="Google Shape;1449;p79"/>
            <p:cNvPicPr preferRelativeResize="0"/>
            <p:nvPr/>
          </p:nvPicPr>
          <p:blipFill rotWithShape="1">
            <a:blip r:embed="rId3">
              <a:alphaModFix/>
            </a:blip>
            <a:srcRect b="0" l="0" r="0" t="0"/>
            <a:stretch/>
          </p:blipFill>
          <p:spPr>
            <a:xfrm>
              <a:off x="1828870" y="2114554"/>
              <a:ext cx="457200" cy="457200"/>
            </a:xfrm>
            <a:prstGeom prst="rect">
              <a:avLst/>
            </a:prstGeom>
            <a:noFill/>
            <a:ln>
              <a:noFill/>
            </a:ln>
          </p:spPr>
        </p:pic>
        <p:sp>
          <p:nvSpPr>
            <p:cNvPr id="1450" name="Google Shape;1450;p79"/>
            <p:cNvSpPr txBox="1"/>
            <p:nvPr/>
          </p:nvSpPr>
          <p:spPr>
            <a:xfrm>
              <a:off x="1548833" y="2627770"/>
              <a:ext cx="1017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1000" u="none" cap="none" strike="noStrike">
                  <a:solidFill>
                    <a:srgbClr val="105780"/>
                  </a:solidFill>
                  <a:latin typeface="Arial"/>
                  <a:ea typeface="Arial"/>
                  <a:cs typeface="Arial"/>
                  <a:sym typeface="Arial"/>
                </a:rPr>
                <a:t>Horizon Catalog</a:t>
              </a:r>
              <a:endParaRPr b="0" i="0" sz="1000" u="none" cap="none" strike="noStrike">
                <a:solidFill>
                  <a:srgbClr val="105780"/>
                </a:solidFill>
                <a:latin typeface="Arial"/>
                <a:ea typeface="Arial"/>
                <a:cs typeface="Arial"/>
                <a:sym typeface="Arial"/>
              </a:endParaRPr>
            </a:p>
          </p:txBody>
        </p:sp>
      </p:grpSp>
      <p:sp>
        <p:nvSpPr>
          <p:cNvPr id="1451" name="Google Shape;1451;p79"/>
          <p:cNvSpPr/>
          <p:nvPr/>
        </p:nvSpPr>
        <p:spPr>
          <a:xfrm>
            <a:off x="3591467" y="2306788"/>
            <a:ext cx="507995" cy="457206"/>
          </a:xfrm>
          <a:custGeom>
            <a:rect b="b" l="l" r="r" t="t"/>
            <a:pathLst>
              <a:path extrusionOk="0" h="8448" w="7350">
                <a:moveTo>
                  <a:pt x="3674" y="708"/>
                </a:moveTo>
                <a:cubicBezTo>
                  <a:pt x="5594" y="708"/>
                  <a:pt x="6641" y="1317"/>
                  <a:pt x="6641" y="1629"/>
                </a:cubicBezTo>
                <a:cubicBezTo>
                  <a:pt x="6641" y="1941"/>
                  <a:pt x="5594" y="2550"/>
                  <a:pt x="3674" y="2550"/>
                </a:cubicBezTo>
                <a:cubicBezTo>
                  <a:pt x="1756" y="2550"/>
                  <a:pt x="709" y="1941"/>
                  <a:pt x="709" y="1629"/>
                </a:cubicBezTo>
                <a:cubicBezTo>
                  <a:pt x="709" y="1317"/>
                  <a:pt x="1756" y="708"/>
                  <a:pt x="3674" y="708"/>
                </a:cubicBezTo>
                <a:close/>
                <a:moveTo>
                  <a:pt x="6641" y="2628"/>
                </a:moveTo>
                <a:lnTo>
                  <a:pt x="6641" y="3360"/>
                </a:lnTo>
                <a:cubicBezTo>
                  <a:pt x="6641" y="3672"/>
                  <a:pt x="5594" y="4281"/>
                  <a:pt x="3674" y="4281"/>
                </a:cubicBezTo>
                <a:cubicBezTo>
                  <a:pt x="1756" y="4281"/>
                  <a:pt x="709" y="3672"/>
                  <a:pt x="709" y="3360"/>
                </a:cubicBezTo>
                <a:lnTo>
                  <a:pt x="709" y="2628"/>
                </a:lnTo>
                <a:cubicBezTo>
                  <a:pt x="1411" y="3044"/>
                  <a:pt x="2547" y="3258"/>
                  <a:pt x="3674" y="3258"/>
                </a:cubicBezTo>
                <a:cubicBezTo>
                  <a:pt x="4802" y="3258"/>
                  <a:pt x="5937" y="3044"/>
                  <a:pt x="6641" y="2628"/>
                </a:cubicBezTo>
                <a:close/>
                <a:moveTo>
                  <a:pt x="6641" y="4361"/>
                </a:moveTo>
                <a:lnTo>
                  <a:pt x="6641" y="5086"/>
                </a:lnTo>
                <a:cubicBezTo>
                  <a:pt x="6641" y="5398"/>
                  <a:pt x="5594" y="6007"/>
                  <a:pt x="3674" y="6007"/>
                </a:cubicBezTo>
                <a:cubicBezTo>
                  <a:pt x="1756" y="6007"/>
                  <a:pt x="709" y="5398"/>
                  <a:pt x="709" y="5086"/>
                </a:cubicBezTo>
                <a:lnTo>
                  <a:pt x="709" y="4361"/>
                </a:lnTo>
                <a:cubicBezTo>
                  <a:pt x="1411" y="4777"/>
                  <a:pt x="2547" y="4989"/>
                  <a:pt x="3674" y="4989"/>
                </a:cubicBezTo>
                <a:cubicBezTo>
                  <a:pt x="4802" y="4989"/>
                  <a:pt x="5937" y="4777"/>
                  <a:pt x="6641" y="4361"/>
                </a:cubicBezTo>
                <a:close/>
                <a:moveTo>
                  <a:pt x="6641" y="6087"/>
                </a:moveTo>
                <a:lnTo>
                  <a:pt x="6641" y="6819"/>
                </a:lnTo>
                <a:cubicBezTo>
                  <a:pt x="6641" y="7131"/>
                  <a:pt x="5594" y="7740"/>
                  <a:pt x="3674" y="7740"/>
                </a:cubicBezTo>
                <a:cubicBezTo>
                  <a:pt x="1756" y="7740"/>
                  <a:pt x="709" y="7131"/>
                  <a:pt x="709" y="6819"/>
                </a:cubicBezTo>
                <a:lnTo>
                  <a:pt x="709" y="6087"/>
                </a:lnTo>
                <a:cubicBezTo>
                  <a:pt x="1411" y="6503"/>
                  <a:pt x="2547" y="6716"/>
                  <a:pt x="3674" y="6716"/>
                </a:cubicBezTo>
                <a:cubicBezTo>
                  <a:pt x="4802" y="6716"/>
                  <a:pt x="5937" y="6503"/>
                  <a:pt x="6641" y="6087"/>
                </a:cubicBezTo>
                <a:close/>
                <a:moveTo>
                  <a:pt x="3674" y="0"/>
                </a:moveTo>
                <a:cubicBezTo>
                  <a:pt x="1848" y="0"/>
                  <a:pt x="1" y="560"/>
                  <a:pt x="1" y="1630"/>
                </a:cubicBezTo>
                <a:lnTo>
                  <a:pt x="1" y="6819"/>
                </a:lnTo>
                <a:cubicBezTo>
                  <a:pt x="1" y="7888"/>
                  <a:pt x="1849" y="8448"/>
                  <a:pt x="3674" y="8448"/>
                </a:cubicBezTo>
                <a:cubicBezTo>
                  <a:pt x="5499" y="8448"/>
                  <a:pt x="7348" y="7890"/>
                  <a:pt x="7348" y="6819"/>
                </a:cubicBezTo>
                <a:lnTo>
                  <a:pt x="7348" y="1629"/>
                </a:lnTo>
                <a:cubicBezTo>
                  <a:pt x="7350" y="560"/>
                  <a:pt x="5501" y="0"/>
                  <a:pt x="3674" y="0"/>
                </a:cubicBezTo>
                <a:close/>
              </a:path>
            </a:pathLst>
          </a:custGeom>
          <a:solidFill>
            <a:srgbClr val="2AB5E8"/>
          </a:solidFill>
          <a:ln>
            <a:noFill/>
          </a:ln>
        </p:spPr>
        <p:txBody>
          <a:bodyPr anchorCtr="0" anchor="ctr" bIns="152650" lIns="152650" spcFirstLastPara="1" rIns="152650" wrap="square" tIns="152650">
            <a:noAutofit/>
          </a:bodyPr>
          <a:lstStyle/>
          <a:p>
            <a:pPr indent="0" lvl="0" marL="0" marR="0" rtl="0" algn="l">
              <a:lnSpc>
                <a:spcPct val="100000"/>
              </a:lnSpc>
              <a:spcBef>
                <a:spcPts val="0"/>
              </a:spcBef>
              <a:spcAft>
                <a:spcPts val="0"/>
              </a:spcAft>
              <a:buClr>
                <a:srgbClr val="252525"/>
              </a:buClr>
              <a:buSzPts val="3005"/>
              <a:buFont typeface="Arial"/>
              <a:buNone/>
            </a:pPr>
            <a:r>
              <a:t/>
            </a:r>
            <a:endParaRPr b="0" i="0" sz="3005" u="none" cap="none" strike="noStrike">
              <a:solidFill>
                <a:srgbClr val="252525"/>
              </a:solidFill>
              <a:latin typeface="Arial"/>
              <a:ea typeface="Arial"/>
              <a:cs typeface="Arial"/>
              <a:sym typeface="Arial"/>
            </a:endParaRPr>
          </a:p>
        </p:txBody>
      </p:sp>
      <p:sp>
        <p:nvSpPr>
          <p:cNvPr id="1452" name="Google Shape;1452;p79"/>
          <p:cNvSpPr txBox="1"/>
          <p:nvPr/>
        </p:nvSpPr>
        <p:spPr>
          <a:xfrm>
            <a:off x="3388563" y="2889802"/>
            <a:ext cx="9138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rgbClr val="105780"/>
                </a:solidFill>
              </a:rPr>
              <a:t>CLD</a:t>
            </a:r>
            <a:endParaRPr b="0" i="0" sz="1000" u="none" cap="none" strike="noStrike">
              <a:solidFill>
                <a:srgbClr val="105780"/>
              </a:solidFill>
              <a:latin typeface="Arial"/>
              <a:ea typeface="Arial"/>
              <a:cs typeface="Arial"/>
              <a:sym typeface="Arial"/>
            </a:endParaRPr>
          </a:p>
        </p:txBody>
      </p:sp>
      <p:grpSp>
        <p:nvGrpSpPr>
          <p:cNvPr id="1453" name="Google Shape;1453;p79"/>
          <p:cNvGrpSpPr/>
          <p:nvPr/>
        </p:nvGrpSpPr>
        <p:grpSpPr>
          <a:xfrm>
            <a:off x="4861565" y="1168895"/>
            <a:ext cx="913800" cy="789337"/>
            <a:chOff x="4150600" y="949063"/>
            <a:chExt cx="913800" cy="789337"/>
          </a:xfrm>
        </p:grpSpPr>
        <p:pic>
          <p:nvPicPr>
            <p:cNvPr descr="Apache Polaris | JB Onofré" id="1454" name="Google Shape;1454;p79"/>
            <p:cNvPicPr preferRelativeResize="0"/>
            <p:nvPr/>
          </p:nvPicPr>
          <p:blipFill rotWithShape="1">
            <a:blip r:embed="rId4">
              <a:alphaModFix/>
            </a:blip>
            <a:srcRect b="0" l="0" r="0" t="0"/>
            <a:stretch/>
          </p:blipFill>
          <p:spPr>
            <a:xfrm>
              <a:off x="4343399" y="949063"/>
              <a:ext cx="457200" cy="457200"/>
            </a:xfrm>
            <a:prstGeom prst="rect">
              <a:avLst/>
            </a:prstGeom>
            <a:noFill/>
            <a:ln>
              <a:noFill/>
            </a:ln>
          </p:spPr>
        </p:pic>
        <p:sp>
          <p:nvSpPr>
            <p:cNvPr id="1455" name="Google Shape;1455;p79"/>
            <p:cNvSpPr txBox="1"/>
            <p:nvPr/>
          </p:nvSpPr>
          <p:spPr>
            <a:xfrm>
              <a:off x="4150600" y="1461200"/>
              <a:ext cx="913800" cy="277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b="0" i="0" lang="en" sz="1000" u="none" cap="none" strike="noStrike">
                  <a:solidFill>
                    <a:srgbClr val="105780"/>
                  </a:solidFill>
                  <a:latin typeface="Arial"/>
                  <a:ea typeface="Arial"/>
                  <a:cs typeface="Arial"/>
                  <a:sym typeface="Arial"/>
                </a:rPr>
                <a:t>Polaris</a:t>
              </a:r>
              <a:br>
                <a:rPr b="0" i="0" lang="en" sz="1000" u="none" cap="none" strike="noStrike">
                  <a:solidFill>
                    <a:srgbClr val="105780"/>
                  </a:solidFill>
                  <a:latin typeface="Arial"/>
                  <a:ea typeface="Arial"/>
                  <a:cs typeface="Arial"/>
                  <a:sym typeface="Arial"/>
                </a:rPr>
              </a:br>
              <a:r>
                <a:rPr b="0" i="0" lang="en" sz="1000" u="none" cap="none" strike="noStrike">
                  <a:solidFill>
                    <a:srgbClr val="105780"/>
                  </a:solidFill>
                  <a:latin typeface="Arial"/>
                  <a:ea typeface="Arial"/>
                  <a:cs typeface="Arial"/>
                  <a:sym typeface="Arial"/>
                </a:rPr>
                <a:t>Open Catalog</a:t>
              </a:r>
              <a:endParaRPr b="0" i="0" sz="1000" u="none" cap="none" strike="noStrike">
                <a:solidFill>
                  <a:srgbClr val="000000"/>
                </a:solidFill>
                <a:latin typeface="Arial"/>
                <a:ea typeface="Arial"/>
                <a:cs typeface="Arial"/>
                <a:sym typeface="Arial"/>
              </a:endParaRPr>
            </a:p>
          </p:txBody>
        </p:sp>
      </p:grpSp>
      <p:grpSp>
        <p:nvGrpSpPr>
          <p:cNvPr id="1456" name="Google Shape;1456;p79"/>
          <p:cNvGrpSpPr/>
          <p:nvPr/>
        </p:nvGrpSpPr>
        <p:grpSpPr>
          <a:xfrm>
            <a:off x="6818199" y="1866290"/>
            <a:ext cx="879300" cy="620487"/>
            <a:chOff x="1233014" y="1825863"/>
            <a:chExt cx="879300" cy="620487"/>
          </a:xfrm>
        </p:grpSpPr>
        <p:sp>
          <p:nvSpPr>
            <p:cNvPr id="1457" name="Google Shape;1457;p79"/>
            <p:cNvSpPr txBox="1"/>
            <p:nvPr/>
          </p:nvSpPr>
          <p:spPr>
            <a:xfrm>
              <a:off x="1233014" y="2292450"/>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Big Query</a:t>
              </a:r>
              <a:endParaRPr sz="1000">
                <a:solidFill>
                  <a:schemeClr val="dk1"/>
                </a:solidFill>
              </a:endParaRPr>
            </a:p>
          </p:txBody>
        </p:sp>
        <p:pic>
          <p:nvPicPr>
            <p:cNvPr id="1458" name="Google Shape;1458;p79" title="BigQuery-512-color.png"/>
            <p:cNvPicPr preferRelativeResize="0"/>
            <p:nvPr/>
          </p:nvPicPr>
          <p:blipFill>
            <a:blip r:embed="rId5">
              <a:alphaModFix/>
            </a:blip>
            <a:stretch>
              <a:fillRect/>
            </a:stretch>
          </p:blipFill>
          <p:spPr>
            <a:xfrm>
              <a:off x="1444063" y="1825863"/>
              <a:ext cx="457201" cy="457201"/>
            </a:xfrm>
            <a:prstGeom prst="rect">
              <a:avLst/>
            </a:prstGeom>
            <a:noFill/>
            <a:ln>
              <a:noFill/>
            </a:ln>
          </p:spPr>
        </p:pic>
      </p:grpSp>
      <p:sp>
        <p:nvSpPr>
          <p:cNvPr id="1459" name="Google Shape;1459;p79"/>
          <p:cNvSpPr txBox="1"/>
          <p:nvPr/>
        </p:nvSpPr>
        <p:spPr>
          <a:xfrm>
            <a:off x="4388794" y="608927"/>
            <a:ext cx="16602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GCS (</a:t>
            </a:r>
            <a:r>
              <a:rPr lang="en" sz="1000">
                <a:solidFill>
                  <a:srgbClr val="FFFFFF"/>
                </a:solidFill>
              </a:rPr>
              <a:t>Snowflake-Manage</a:t>
            </a:r>
            <a:r>
              <a:rPr lang="en" sz="1200">
                <a:solidFill>
                  <a:srgbClr val="FFFFFF"/>
                </a:solidFill>
              </a:rPr>
              <a:t>d)</a:t>
            </a:r>
            <a:endParaRPr sz="1200">
              <a:solidFill>
                <a:srgbClr val="FFFFFF"/>
              </a:solidFill>
            </a:endParaRPr>
          </a:p>
        </p:txBody>
      </p:sp>
      <p:sp>
        <p:nvSpPr>
          <p:cNvPr id="1460" name="Google Shape;1460;p79"/>
          <p:cNvSpPr txBox="1"/>
          <p:nvPr/>
        </p:nvSpPr>
        <p:spPr>
          <a:xfrm>
            <a:off x="2566080" y="609079"/>
            <a:ext cx="12816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Snowflake</a:t>
            </a:r>
            <a:endParaRPr sz="1200">
              <a:solidFill>
                <a:srgbClr val="FFFFFF"/>
              </a:solidFill>
            </a:endParaRPr>
          </a:p>
        </p:txBody>
      </p:sp>
      <p:sp>
        <p:nvSpPr>
          <p:cNvPr id="1461" name="Google Shape;1461;p79"/>
          <p:cNvSpPr txBox="1"/>
          <p:nvPr/>
        </p:nvSpPr>
        <p:spPr>
          <a:xfrm>
            <a:off x="7011873" y="609094"/>
            <a:ext cx="11733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GCP Services</a:t>
            </a:r>
            <a:endParaRPr sz="1200">
              <a:solidFill>
                <a:srgbClr val="FFFFFF"/>
              </a:solidFill>
            </a:endParaRPr>
          </a:p>
        </p:txBody>
      </p:sp>
      <p:grpSp>
        <p:nvGrpSpPr>
          <p:cNvPr id="1462" name="Google Shape;1462;p79"/>
          <p:cNvGrpSpPr/>
          <p:nvPr/>
        </p:nvGrpSpPr>
        <p:grpSpPr>
          <a:xfrm>
            <a:off x="2221059" y="2377529"/>
            <a:ext cx="771600" cy="734404"/>
            <a:chOff x="1697475" y="987946"/>
            <a:chExt cx="771600" cy="734404"/>
          </a:xfrm>
        </p:grpSpPr>
        <p:sp>
          <p:nvSpPr>
            <p:cNvPr id="1463" name="Google Shape;1463;p79"/>
            <p:cNvSpPr txBox="1"/>
            <p:nvPr/>
          </p:nvSpPr>
          <p:spPr>
            <a:xfrm>
              <a:off x="1697475" y="1445150"/>
              <a:ext cx="771600" cy="277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latin typeface="Arial"/>
                  <a:ea typeface="Arial"/>
                  <a:cs typeface="Arial"/>
                  <a:sym typeface="Arial"/>
                </a:rPr>
                <a:t>Native App</a:t>
              </a:r>
              <a:br>
                <a:rPr lang="en" sz="1000">
                  <a:solidFill>
                    <a:srgbClr val="105780"/>
                  </a:solidFill>
                  <a:latin typeface="Arial"/>
                  <a:ea typeface="Arial"/>
                  <a:cs typeface="Arial"/>
                  <a:sym typeface="Arial"/>
                </a:rPr>
              </a:br>
              <a:r>
                <a:rPr lang="en" sz="1000">
                  <a:solidFill>
                    <a:srgbClr val="105780"/>
                  </a:solidFill>
                  <a:latin typeface="Arial"/>
                  <a:ea typeface="Arial"/>
                  <a:cs typeface="Arial"/>
                  <a:sym typeface="Arial"/>
                </a:rPr>
                <a:t>/ SPCS</a:t>
              </a:r>
              <a:endParaRPr sz="1000">
                <a:solidFill>
                  <a:srgbClr val="105780"/>
                </a:solidFill>
                <a:latin typeface="Arial"/>
                <a:ea typeface="Arial"/>
                <a:cs typeface="Arial"/>
                <a:sym typeface="Arial"/>
              </a:endParaRPr>
            </a:p>
          </p:txBody>
        </p:sp>
        <p:pic>
          <p:nvPicPr>
            <p:cNvPr id="1464" name="Google Shape;1464;p79"/>
            <p:cNvPicPr preferRelativeResize="0"/>
            <p:nvPr/>
          </p:nvPicPr>
          <p:blipFill rotWithShape="1">
            <a:blip r:embed="rId6">
              <a:alphaModFix/>
            </a:blip>
            <a:srcRect b="0" l="0" r="0" t="0"/>
            <a:stretch/>
          </p:blipFill>
          <p:spPr>
            <a:xfrm>
              <a:off x="1854667" y="987946"/>
              <a:ext cx="457200" cy="457200"/>
            </a:xfrm>
            <a:prstGeom prst="rect">
              <a:avLst/>
            </a:prstGeom>
            <a:noFill/>
            <a:ln>
              <a:noFill/>
            </a:ln>
          </p:spPr>
        </p:pic>
      </p:grpSp>
      <p:grpSp>
        <p:nvGrpSpPr>
          <p:cNvPr id="1465" name="Google Shape;1465;p79"/>
          <p:cNvGrpSpPr/>
          <p:nvPr/>
        </p:nvGrpSpPr>
        <p:grpSpPr>
          <a:xfrm>
            <a:off x="4943426" y="2495573"/>
            <a:ext cx="879300" cy="621515"/>
            <a:chOff x="5033899" y="2444455"/>
            <a:chExt cx="879300" cy="621515"/>
          </a:xfrm>
        </p:grpSpPr>
        <p:grpSp>
          <p:nvGrpSpPr>
            <p:cNvPr id="1466" name="Google Shape;1466;p79"/>
            <p:cNvGrpSpPr/>
            <p:nvPr/>
          </p:nvGrpSpPr>
          <p:grpSpPr>
            <a:xfrm>
              <a:off x="5417333" y="2444455"/>
              <a:ext cx="486292" cy="457206"/>
              <a:chOff x="345049" y="1086515"/>
              <a:chExt cx="3135348" cy="2970796"/>
            </a:xfrm>
          </p:grpSpPr>
          <p:sp>
            <p:nvSpPr>
              <p:cNvPr id="1467" name="Google Shape;1467;p79"/>
              <p:cNvSpPr/>
              <p:nvPr/>
            </p:nvSpPr>
            <p:spPr>
              <a:xfrm>
                <a:off x="345049" y="1086515"/>
                <a:ext cx="2431159" cy="2431159"/>
              </a:xfrm>
              <a:custGeom>
                <a:rect b="b" l="l" r="r" t="t"/>
                <a:pathLst>
                  <a:path extrusionOk="0" h="2431159" w="2431159">
                    <a:moveTo>
                      <a:pt x="1370278" y="2431160"/>
                    </a:moveTo>
                    <a:lnTo>
                      <a:pt x="302499" y="2431160"/>
                    </a:lnTo>
                    <a:cubicBezTo>
                      <a:pt x="135648" y="2431160"/>
                      <a:pt x="0" y="2295511"/>
                      <a:pt x="0" y="2128660"/>
                    </a:cubicBezTo>
                    <a:lnTo>
                      <a:pt x="0" y="302499"/>
                    </a:lnTo>
                    <a:cubicBezTo>
                      <a:pt x="0" y="135648"/>
                      <a:pt x="135648" y="0"/>
                      <a:pt x="302499" y="0"/>
                    </a:cubicBezTo>
                    <a:lnTo>
                      <a:pt x="2128661" y="0"/>
                    </a:lnTo>
                    <a:cubicBezTo>
                      <a:pt x="2295511" y="0"/>
                      <a:pt x="2431160" y="135648"/>
                      <a:pt x="2431160" y="302499"/>
                    </a:cubicBezTo>
                    <a:lnTo>
                      <a:pt x="2431160" y="973843"/>
                    </a:lnTo>
                    <a:cubicBezTo>
                      <a:pt x="2431160" y="1018184"/>
                      <a:pt x="2395359" y="1054313"/>
                      <a:pt x="2350690" y="1054313"/>
                    </a:cubicBezTo>
                    <a:cubicBezTo>
                      <a:pt x="2306350" y="1054313"/>
                      <a:pt x="2270221" y="1018184"/>
                      <a:pt x="2270221" y="973843"/>
                    </a:cubicBezTo>
                    <a:lnTo>
                      <a:pt x="2270221" y="302171"/>
                    </a:lnTo>
                    <a:cubicBezTo>
                      <a:pt x="2270221" y="224000"/>
                      <a:pt x="2206502" y="160282"/>
                      <a:pt x="2128332" y="160282"/>
                    </a:cubicBezTo>
                    <a:lnTo>
                      <a:pt x="302171" y="160282"/>
                    </a:lnTo>
                    <a:cubicBezTo>
                      <a:pt x="224000" y="160282"/>
                      <a:pt x="160282" y="224000"/>
                      <a:pt x="160282" y="302171"/>
                    </a:cubicBezTo>
                    <a:lnTo>
                      <a:pt x="160282" y="2128332"/>
                    </a:lnTo>
                    <a:cubicBezTo>
                      <a:pt x="160282" y="2206502"/>
                      <a:pt x="224000" y="2270221"/>
                      <a:pt x="302171" y="2270221"/>
                    </a:cubicBezTo>
                    <a:lnTo>
                      <a:pt x="1369950" y="2270221"/>
                    </a:lnTo>
                    <a:cubicBezTo>
                      <a:pt x="1414290" y="2270221"/>
                      <a:pt x="1450419" y="2306350"/>
                      <a:pt x="1450419" y="2350690"/>
                    </a:cubicBezTo>
                    <a:cubicBezTo>
                      <a:pt x="1450747" y="2395030"/>
                      <a:pt x="1414618" y="2431160"/>
                      <a:pt x="1370278" y="2431160"/>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68" name="Google Shape;1468;p79"/>
              <p:cNvSpPr/>
              <p:nvPr/>
            </p:nvSpPr>
            <p:spPr>
              <a:xfrm>
                <a:off x="1507092" y="2952090"/>
                <a:ext cx="1973305" cy="107073"/>
              </a:xfrm>
              <a:custGeom>
                <a:rect b="b" l="l" r="r" t="t"/>
                <a:pathLst>
                  <a:path extrusionOk="0" h="107073" w="1973305">
                    <a:moveTo>
                      <a:pt x="1919769" y="107073"/>
                    </a:moveTo>
                    <a:lnTo>
                      <a:pt x="53537" y="107073"/>
                    </a:lnTo>
                    <a:cubicBezTo>
                      <a:pt x="23977" y="107073"/>
                      <a:pt x="0" y="83097"/>
                      <a:pt x="0" y="53537"/>
                    </a:cubicBezTo>
                    <a:cubicBezTo>
                      <a:pt x="0" y="23977"/>
                      <a:pt x="23977" y="0"/>
                      <a:pt x="53537" y="0"/>
                    </a:cubicBezTo>
                    <a:lnTo>
                      <a:pt x="1919769" y="0"/>
                    </a:lnTo>
                    <a:cubicBezTo>
                      <a:pt x="1949329" y="0"/>
                      <a:pt x="1973305" y="23977"/>
                      <a:pt x="1973305" y="53537"/>
                    </a:cubicBezTo>
                    <a:cubicBezTo>
                      <a:pt x="1973305" y="83097"/>
                      <a:pt x="1949329" y="107073"/>
                      <a:pt x="1919769" y="107073"/>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69" name="Google Shape;1469;p79"/>
              <p:cNvSpPr/>
              <p:nvPr/>
            </p:nvSpPr>
            <p:spPr>
              <a:xfrm>
                <a:off x="1802422" y="2188406"/>
                <a:ext cx="1396425" cy="833072"/>
              </a:xfrm>
              <a:custGeom>
                <a:rect b="b" l="l" r="r" t="t"/>
                <a:pathLst>
                  <a:path extrusionOk="0" h="833072" w="1396425">
                    <a:moveTo>
                      <a:pt x="1342631" y="832985"/>
                    </a:moveTo>
                    <a:cubicBezTo>
                      <a:pt x="1324238" y="832985"/>
                      <a:pt x="1306174" y="823461"/>
                      <a:pt x="1296321" y="806053"/>
                    </a:cubicBezTo>
                    <a:lnTo>
                      <a:pt x="1113705" y="490088"/>
                    </a:lnTo>
                    <a:lnTo>
                      <a:pt x="958349" y="469724"/>
                    </a:lnTo>
                    <a:cubicBezTo>
                      <a:pt x="942912" y="467753"/>
                      <a:pt x="928789" y="458885"/>
                      <a:pt x="920250" y="445747"/>
                    </a:cubicBezTo>
                    <a:lnTo>
                      <a:pt x="722196" y="138650"/>
                    </a:lnTo>
                    <a:lnTo>
                      <a:pt x="558302" y="302545"/>
                    </a:lnTo>
                    <a:lnTo>
                      <a:pt x="476519" y="539026"/>
                    </a:lnTo>
                    <a:cubicBezTo>
                      <a:pt x="470935" y="554792"/>
                      <a:pt x="458454" y="567272"/>
                      <a:pt x="442360" y="572528"/>
                    </a:cubicBezTo>
                    <a:lnTo>
                      <a:pt x="206864" y="648070"/>
                    </a:lnTo>
                    <a:lnTo>
                      <a:pt x="97820" y="809337"/>
                    </a:lnTo>
                    <a:cubicBezTo>
                      <a:pt x="81398" y="833971"/>
                      <a:pt x="47896" y="840540"/>
                      <a:pt x="23591" y="823789"/>
                    </a:cubicBezTo>
                    <a:cubicBezTo>
                      <a:pt x="-1042" y="807367"/>
                      <a:pt x="-7283" y="773865"/>
                      <a:pt x="9139" y="749560"/>
                    </a:cubicBezTo>
                    <a:lnTo>
                      <a:pt x="128365" y="572856"/>
                    </a:lnTo>
                    <a:cubicBezTo>
                      <a:pt x="134934" y="563003"/>
                      <a:pt x="145116" y="555448"/>
                      <a:pt x="156283" y="551836"/>
                    </a:cubicBezTo>
                    <a:lnTo>
                      <a:pt x="383897" y="478920"/>
                    </a:lnTo>
                    <a:lnTo>
                      <a:pt x="461082" y="255905"/>
                    </a:lnTo>
                    <a:cubicBezTo>
                      <a:pt x="463709" y="248351"/>
                      <a:pt x="467979" y="241454"/>
                      <a:pt x="473891" y="235542"/>
                    </a:cubicBezTo>
                    <a:lnTo>
                      <a:pt x="693622" y="15811"/>
                    </a:lnTo>
                    <a:cubicBezTo>
                      <a:pt x="705117" y="4315"/>
                      <a:pt x="721211" y="-1597"/>
                      <a:pt x="737305" y="374"/>
                    </a:cubicBezTo>
                    <a:cubicBezTo>
                      <a:pt x="753399" y="2016"/>
                      <a:pt x="767850" y="10884"/>
                      <a:pt x="776719" y="24679"/>
                    </a:cubicBezTo>
                    <a:lnTo>
                      <a:pt x="997106" y="366592"/>
                    </a:lnTo>
                    <a:lnTo>
                      <a:pt x="1154103" y="387284"/>
                    </a:lnTo>
                    <a:cubicBezTo>
                      <a:pt x="1170526" y="389583"/>
                      <a:pt x="1185306" y="399108"/>
                      <a:pt x="1193517" y="413560"/>
                    </a:cubicBezTo>
                    <a:lnTo>
                      <a:pt x="1389271" y="752516"/>
                    </a:lnTo>
                    <a:cubicBezTo>
                      <a:pt x="1404051" y="778135"/>
                      <a:pt x="1395183" y="810980"/>
                      <a:pt x="1369564" y="825760"/>
                    </a:cubicBezTo>
                    <a:cubicBezTo>
                      <a:pt x="1361025" y="830686"/>
                      <a:pt x="1351828" y="832985"/>
                      <a:pt x="1342631" y="83298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70" name="Google Shape;1470;p79"/>
              <p:cNvSpPr/>
              <p:nvPr/>
            </p:nvSpPr>
            <p:spPr>
              <a:xfrm>
                <a:off x="1840945" y="3095959"/>
                <a:ext cx="1291611" cy="961352"/>
              </a:xfrm>
              <a:custGeom>
                <a:rect b="b" l="l" r="r" t="t"/>
                <a:pathLst>
                  <a:path extrusionOk="0" h="961352" w="1291611">
                    <a:moveTo>
                      <a:pt x="769398" y="961352"/>
                    </a:moveTo>
                    <a:cubicBezTo>
                      <a:pt x="758560" y="961352"/>
                      <a:pt x="748049" y="958068"/>
                      <a:pt x="739181" y="951827"/>
                    </a:cubicBezTo>
                    <a:lnTo>
                      <a:pt x="447849" y="751475"/>
                    </a:lnTo>
                    <a:cubicBezTo>
                      <a:pt x="438324" y="744906"/>
                      <a:pt x="431098" y="735710"/>
                      <a:pt x="427486" y="724542"/>
                    </a:cubicBezTo>
                    <a:lnTo>
                      <a:pt x="309902" y="380659"/>
                    </a:lnTo>
                    <a:lnTo>
                      <a:pt x="98054" y="257163"/>
                    </a:lnTo>
                    <a:cubicBezTo>
                      <a:pt x="88529" y="251580"/>
                      <a:pt x="80975" y="243040"/>
                      <a:pt x="76376" y="233187"/>
                    </a:cubicBezTo>
                    <a:lnTo>
                      <a:pt x="4775" y="75861"/>
                    </a:lnTo>
                    <a:cubicBezTo>
                      <a:pt x="-7377" y="48928"/>
                      <a:pt x="4447" y="17069"/>
                      <a:pt x="31379" y="4917"/>
                    </a:cubicBezTo>
                    <a:cubicBezTo>
                      <a:pt x="58312" y="-7564"/>
                      <a:pt x="90171" y="4588"/>
                      <a:pt x="102324" y="31521"/>
                    </a:cubicBezTo>
                    <a:lnTo>
                      <a:pt x="167028" y="173409"/>
                    </a:lnTo>
                    <a:lnTo>
                      <a:pt x="381503" y="298548"/>
                    </a:lnTo>
                    <a:cubicBezTo>
                      <a:pt x="392670" y="305116"/>
                      <a:pt x="400881" y="315298"/>
                      <a:pt x="405151" y="327451"/>
                    </a:cubicBezTo>
                    <a:lnTo>
                      <a:pt x="523392" y="673633"/>
                    </a:lnTo>
                    <a:lnTo>
                      <a:pt x="745422" y="826689"/>
                    </a:lnTo>
                    <a:lnTo>
                      <a:pt x="896835" y="460800"/>
                    </a:lnTo>
                    <a:cubicBezTo>
                      <a:pt x="905047" y="440765"/>
                      <a:pt x="924753" y="427627"/>
                      <a:pt x="946431" y="427627"/>
                    </a:cubicBezTo>
                    <a:lnTo>
                      <a:pt x="1003252" y="427627"/>
                    </a:lnTo>
                    <a:lnTo>
                      <a:pt x="1189481" y="31192"/>
                    </a:lnTo>
                    <a:cubicBezTo>
                      <a:pt x="1201962" y="4259"/>
                      <a:pt x="1233821" y="-7236"/>
                      <a:pt x="1260754" y="5573"/>
                    </a:cubicBezTo>
                    <a:cubicBezTo>
                      <a:pt x="1287686" y="18054"/>
                      <a:pt x="1299182" y="49914"/>
                      <a:pt x="1286373" y="76846"/>
                    </a:cubicBezTo>
                    <a:lnTo>
                      <a:pt x="1085692" y="504155"/>
                    </a:lnTo>
                    <a:cubicBezTo>
                      <a:pt x="1076824" y="522876"/>
                      <a:pt x="1058102" y="535029"/>
                      <a:pt x="1037082" y="535029"/>
                    </a:cubicBezTo>
                    <a:lnTo>
                      <a:pt x="982231" y="535029"/>
                    </a:lnTo>
                    <a:lnTo>
                      <a:pt x="819322" y="929164"/>
                    </a:lnTo>
                    <a:cubicBezTo>
                      <a:pt x="813082" y="944273"/>
                      <a:pt x="800601" y="955440"/>
                      <a:pt x="785164" y="960038"/>
                    </a:cubicBezTo>
                    <a:cubicBezTo>
                      <a:pt x="779580" y="960695"/>
                      <a:pt x="774653" y="961352"/>
                      <a:pt x="769398" y="961352"/>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71" name="Google Shape;1471;p79"/>
              <p:cNvSpPr/>
              <p:nvPr/>
            </p:nvSpPr>
            <p:spPr>
              <a:xfrm>
                <a:off x="2453555" y="2246797"/>
                <a:ext cx="388683" cy="774595"/>
              </a:xfrm>
              <a:custGeom>
                <a:rect b="b" l="l" r="r" t="t"/>
                <a:pathLst>
                  <a:path extrusionOk="0" h="774595" w="388683">
                    <a:moveTo>
                      <a:pt x="334806" y="774595"/>
                    </a:moveTo>
                    <a:cubicBezTo>
                      <a:pt x="316413" y="774595"/>
                      <a:pt x="298349" y="765070"/>
                      <a:pt x="288495" y="747991"/>
                    </a:cubicBezTo>
                    <a:lnTo>
                      <a:pt x="216565" y="624495"/>
                    </a:lnTo>
                    <a:lnTo>
                      <a:pt x="56284" y="321011"/>
                    </a:lnTo>
                    <a:cubicBezTo>
                      <a:pt x="53985" y="316413"/>
                      <a:pt x="52342" y="311814"/>
                      <a:pt x="51357" y="306888"/>
                    </a:cubicBezTo>
                    <a:lnTo>
                      <a:pt x="1105" y="64494"/>
                    </a:lnTo>
                    <a:cubicBezTo>
                      <a:pt x="-4807" y="35591"/>
                      <a:pt x="13586" y="7345"/>
                      <a:pt x="42489" y="1104"/>
                    </a:cubicBezTo>
                    <a:cubicBezTo>
                      <a:pt x="71392" y="-4808"/>
                      <a:pt x="99639" y="13585"/>
                      <a:pt x="105879" y="42817"/>
                    </a:cubicBezTo>
                    <a:lnTo>
                      <a:pt x="154818" y="277984"/>
                    </a:lnTo>
                    <a:lnTo>
                      <a:pt x="310501" y="572601"/>
                    </a:lnTo>
                    <a:lnTo>
                      <a:pt x="381446" y="694126"/>
                    </a:lnTo>
                    <a:cubicBezTo>
                      <a:pt x="396226" y="719745"/>
                      <a:pt x="387686" y="752261"/>
                      <a:pt x="362067" y="767369"/>
                    </a:cubicBezTo>
                    <a:cubicBezTo>
                      <a:pt x="353199" y="771968"/>
                      <a:pt x="344003" y="774595"/>
                      <a:pt x="334806" y="77459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72" name="Google Shape;1472;p79"/>
              <p:cNvSpPr/>
              <p:nvPr/>
            </p:nvSpPr>
            <p:spPr>
              <a:xfrm>
                <a:off x="1303127"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942" y="106745"/>
                    </a:moveTo>
                    <a:cubicBezTo>
                      <a:pt x="111015" y="106745"/>
                      <a:pt x="107074" y="110686"/>
                      <a:pt x="107074" y="115613"/>
                    </a:cubicBezTo>
                    <a:lnTo>
                      <a:pt x="107074" y="398734"/>
                    </a:lnTo>
                    <a:cubicBezTo>
                      <a:pt x="107074" y="403661"/>
                      <a:pt x="111015" y="407602"/>
                      <a:pt x="115942" y="407602"/>
                    </a:cubicBezTo>
                    <a:lnTo>
                      <a:pt x="399062" y="407602"/>
                    </a:lnTo>
                    <a:cubicBezTo>
                      <a:pt x="403989" y="407602"/>
                      <a:pt x="407930" y="403661"/>
                      <a:pt x="407930" y="398734"/>
                    </a:cubicBezTo>
                    <a:lnTo>
                      <a:pt x="407930" y="115613"/>
                    </a:lnTo>
                    <a:cubicBezTo>
                      <a:pt x="407930" y="110686"/>
                      <a:pt x="403989" y="106745"/>
                      <a:pt x="399062" y="106745"/>
                    </a:cubicBezTo>
                    <a:lnTo>
                      <a:pt x="115942"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73" name="Google Shape;1473;p79"/>
              <p:cNvSpPr/>
              <p:nvPr/>
            </p:nvSpPr>
            <p:spPr>
              <a:xfrm>
                <a:off x="1303127"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942" y="107073"/>
                    </a:moveTo>
                    <a:cubicBezTo>
                      <a:pt x="111015" y="107073"/>
                      <a:pt x="107074" y="111015"/>
                      <a:pt x="107074" y="115942"/>
                    </a:cubicBezTo>
                    <a:lnTo>
                      <a:pt x="107074" y="399062"/>
                    </a:lnTo>
                    <a:cubicBezTo>
                      <a:pt x="107074" y="403989"/>
                      <a:pt x="111015" y="407930"/>
                      <a:pt x="115942" y="407930"/>
                    </a:cubicBezTo>
                    <a:lnTo>
                      <a:pt x="399062" y="407930"/>
                    </a:lnTo>
                    <a:cubicBezTo>
                      <a:pt x="403989" y="407930"/>
                      <a:pt x="407930" y="403989"/>
                      <a:pt x="407930" y="399062"/>
                    </a:cubicBezTo>
                    <a:lnTo>
                      <a:pt x="407930" y="115942"/>
                    </a:lnTo>
                    <a:cubicBezTo>
                      <a:pt x="407930" y="111015"/>
                      <a:pt x="403989" y="107073"/>
                      <a:pt x="399062" y="107073"/>
                    </a:cubicBezTo>
                    <a:lnTo>
                      <a:pt x="115942"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74" name="Google Shape;1474;p79"/>
              <p:cNvSpPr/>
              <p:nvPr/>
            </p:nvSpPr>
            <p:spPr>
              <a:xfrm>
                <a:off x="1920934"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2781"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75" name="Google Shape;1475;p79"/>
              <p:cNvSpPr/>
              <p:nvPr/>
            </p:nvSpPr>
            <p:spPr>
              <a:xfrm>
                <a:off x="685648"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76" name="Google Shape;1476;p79"/>
              <p:cNvSpPr/>
              <p:nvPr/>
            </p:nvSpPr>
            <p:spPr>
              <a:xfrm>
                <a:off x="685648"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477" name="Google Shape;1477;p79"/>
              <p:cNvSpPr/>
              <p:nvPr/>
            </p:nvSpPr>
            <p:spPr>
              <a:xfrm>
                <a:off x="685648" y="2659773"/>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grpSp>
        <p:sp>
          <p:nvSpPr>
            <p:cNvPr id="1478" name="Google Shape;1478;p79"/>
            <p:cNvSpPr txBox="1"/>
            <p:nvPr/>
          </p:nvSpPr>
          <p:spPr>
            <a:xfrm>
              <a:off x="5033899" y="2927370"/>
              <a:ext cx="879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latin typeface="Arial"/>
                  <a:ea typeface="Arial"/>
                  <a:cs typeface="Arial"/>
                  <a:sym typeface="Arial"/>
                </a:rPr>
                <a:t>Iceberg Tables</a:t>
              </a:r>
              <a:endParaRPr sz="1000">
                <a:solidFill>
                  <a:srgbClr val="105780"/>
                </a:solidFill>
                <a:latin typeface="Arial"/>
                <a:ea typeface="Arial"/>
                <a:cs typeface="Arial"/>
                <a:sym typeface="Arial"/>
              </a:endParaRPr>
            </a:p>
          </p:txBody>
        </p:sp>
      </p:grpSp>
      <p:grpSp>
        <p:nvGrpSpPr>
          <p:cNvPr id="1479" name="Google Shape;1479;p79"/>
          <p:cNvGrpSpPr/>
          <p:nvPr/>
        </p:nvGrpSpPr>
        <p:grpSpPr>
          <a:xfrm>
            <a:off x="8013968" y="1023640"/>
            <a:ext cx="879300" cy="620475"/>
            <a:chOff x="3394243" y="1825875"/>
            <a:chExt cx="879300" cy="620475"/>
          </a:xfrm>
        </p:grpSpPr>
        <p:sp>
          <p:nvSpPr>
            <p:cNvPr id="1480" name="Google Shape;1480;p79"/>
            <p:cNvSpPr txBox="1"/>
            <p:nvPr/>
          </p:nvSpPr>
          <p:spPr>
            <a:xfrm>
              <a:off x="3394243" y="2292450"/>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Vertex AI </a:t>
              </a:r>
              <a:endParaRPr sz="1000">
                <a:solidFill>
                  <a:schemeClr val="dk1"/>
                </a:solidFill>
              </a:endParaRPr>
            </a:p>
          </p:txBody>
        </p:sp>
        <p:pic>
          <p:nvPicPr>
            <p:cNvPr id="1481" name="Google Shape;1481;p79" title="VertexAI-512-color.png"/>
            <p:cNvPicPr preferRelativeResize="0"/>
            <p:nvPr/>
          </p:nvPicPr>
          <p:blipFill>
            <a:blip r:embed="rId7">
              <a:alphaModFix/>
            </a:blip>
            <a:stretch>
              <a:fillRect/>
            </a:stretch>
          </p:blipFill>
          <p:spPr>
            <a:xfrm>
              <a:off x="3605288" y="1825875"/>
              <a:ext cx="457201" cy="457201"/>
            </a:xfrm>
            <a:prstGeom prst="rect">
              <a:avLst/>
            </a:prstGeom>
            <a:noFill/>
            <a:ln>
              <a:noFill/>
            </a:ln>
          </p:spPr>
        </p:pic>
      </p:grpSp>
      <p:grpSp>
        <p:nvGrpSpPr>
          <p:cNvPr id="1482" name="Google Shape;1482;p79"/>
          <p:cNvGrpSpPr/>
          <p:nvPr/>
        </p:nvGrpSpPr>
        <p:grpSpPr>
          <a:xfrm>
            <a:off x="8013968" y="2486799"/>
            <a:ext cx="879300" cy="596150"/>
            <a:chOff x="152400" y="1637725"/>
            <a:chExt cx="879300" cy="596150"/>
          </a:xfrm>
        </p:grpSpPr>
        <p:pic>
          <p:nvPicPr>
            <p:cNvPr id="1483" name="Google Shape;1483;p79" title="CloudRun-512-color-rgb.png"/>
            <p:cNvPicPr preferRelativeResize="0"/>
            <p:nvPr/>
          </p:nvPicPr>
          <p:blipFill>
            <a:blip r:embed="rId8">
              <a:alphaModFix/>
            </a:blip>
            <a:stretch>
              <a:fillRect/>
            </a:stretch>
          </p:blipFill>
          <p:spPr>
            <a:xfrm>
              <a:off x="363450" y="1637725"/>
              <a:ext cx="457199" cy="457199"/>
            </a:xfrm>
            <a:prstGeom prst="rect">
              <a:avLst/>
            </a:prstGeom>
            <a:noFill/>
            <a:ln>
              <a:noFill/>
            </a:ln>
          </p:spPr>
        </p:pic>
        <p:sp>
          <p:nvSpPr>
            <p:cNvPr id="1484" name="Google Shape;1484;p79"/>
            <p:cNvSpPr txBox="1"/>
            <p:nvPr/>
          </p:nvSpPr>
          <p:spPr>
            <a:xfrm>
              <a:off x="152400" y="2079975"/>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Cloud Run</a:t>
              </a:r>
              <a:endParaRPr sz="1000">
                <a:solidFill>
                  <a:schemeClr val="dk1"/>
                </a:solidFill>
              </a:endParaRPr>
            </a:p>
          </p:txBody>
        </p:sp>
      </p:grpSp>
      <p:cxnSp>
        <p:nvCxnSpPr>
          <p:cNvPr id="1485" name="Google Shape;1485;p79"/>
          <p:cNvCxnSpPr>
            <a:stCxn id="1458" idx="3"/>
            <a:endCxn id="1481" idx="1"/>
          </p:cNvCxnSpPr>
          <p:nvPr/>
        </p:nvCxnSpPr>
        <p:spPr>
          <a:xfrm flipH="1" rot="10800000">
            <a:off x="7486447" y="1252190"/>
            <a:ext cx="738600" cy="842700"/>
          </a:xfrm>
          <a:prstGeom prst="bentConnector3">
            <a:avLst>
              <a:gd fmla="val 49998" name="adj1"/>
            </a:avLst>
          </a:prstGeom>
          <a:noFill/>
          <a:ln cap="flat" cmpd="sng" w="9525">
            <a:solidFill>
              <a:schemeClr val="dk2"/>
            </a:solidFill>
            <a:prstDash val="solid"/>
            <a:round/>
            <a:headEnd len="med" w="med" type="none"/>
            <a:tailEnd len="med" w="med" type="triangle"/>
          </a:ln>
        </p:spPr>
      </p:cxnSp>
      <p:cxnSp>
        <p:nvCxnSpPr>
          <p:cNvPr id="1486" name="Google Shape;1486;p79"/>
          <p:cNvCxnSpPr>
            <a:stCxn id="1458" idx="3"/>
            <a:endCxn id="1483" idx="1"/>
          </p:cNvCxnSpPr>
          <p:nvPr/>
        </p:nvCxnSpPr>
        <p:spPr>
          <a:xfrm>
            <a:off x="7486447" y="2094890"/>
            <a:ext cx="738600" cy="620400"/>
          </a:xfrm>
          <a:prstGeom prst="bentConnector3">
            <a:avLst>
              <a:gd fmla="val 49998" name="adj1"/>
            </a:avLst>
          </a:prstGeom>
          <a:noFill/>
          <a:ln cap="flat" cmpd="sng" w="9525">
            <a:solidFill>
              <a:schemeClr val="dk2"/>
            </a:solidFill>
            <a:prstDash val="solid"/>
            <a:round/>
            <a:headEnd len="med" w="med" type="none"/>
            <a:tailEnd len="med" w="med" type="triangle"/>
          </a:ln>
        </p:spPr>
      </p:cxnSp>
      <p:cxnSp>
        <p:nvCxnSpPr>
          <p:cNvPr id="1487" name="Google Shape;1487;p79"/>
          <p:cNvCxnSpPr>
            <a:stCxn id="1454" idx="3"/>
            <a:endCxn id="1458" idx="1"/>
          </p:cNvCxnSpPr>
          <p:nvPr/>
        </p:nvCxnSpPr>
        <p:spPr>
          <a:xfrm>
            <a:off x="5511564" y="1397495"/>
            <a:ext cx="1517700" cy="697500"/>
          </a:xfrm>
          <a:prstGeom prst="bentConnector3">
            <a:avLst>
              <a:gd fmla="val 26149" name="adj1"/>
            </a:avLst>
          </a:prstGeom>
          <a:noFill/>
          <a:ln cap="flat" cmpd="sng" w="9525">
            <a:solidFill>
              <a:schemeClr val="dk2"/>
            </a:solidFill>
            <a:prstDash val="solid"/>
            <a:round/>
            <a:headEnd len="med" w="med" type="none"/>
            <a:tailEnd len="med" w="med" type="triangle"/>
          </a:ln>
        </p:spPr>
      </p:cxnSp>
      <p:grpSp>
        <p:nvGrpSpPr>
          <p:cNvPr id="1488" name="Google Shape;1488;p79"/>
          <p:cNvGrpSpPr/>
          <p:nvPr/>
        </p:nvGrpSpPr>
        <p:grpSpPr>
          <a:xfrm>
            <a:off x="4897995" y="2486777"/>
            <a:ext cx="368765" cy="381908"/>
            <a:chOff x="1714900" y="552700"/>
            <a:chExt cx="4353775" cy="4508950"/>
          </a:xfrm>
        </p:grpSpPr>
        <p:sp>
          <p:nvSpPr>
            <p:cNvPr id="1489" name="Google Shape;1489;p79"/>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1490" name="Google Shape;1490;p79"/>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
                <a:buFont typeface="Arial"/>
                <a:buNone/>
              </a:pPr>
              <a:r>
                <a:rPr b="1" lang="en" sz="400">
                  <a:solidFill>
                    <a:srgbClr val="FFFFFF"/>
                  </a:solidFill>
                  <a:latin typeface="Arial"/>
                  <a:ea typeface="Arial"/>
                  <a:cs typeface="Arial"/>
                  <a:sym typeface="Arial"/>
                </a:rPr>
                <a:t>PARQUET</a:t>
              </a:r>
              <a:endParaRPr sz="1000">
                <a:solidFill>
                  <a:srgbClr val="252525"/>
                </a:solidFill>
                <a:latin typeface="Arial"/>
                <a:ea typeface="Arial"/>
                <a:cs typeface="Arial"/>
                <a:sym typeface="Arial"/>
              </a:endParaRPr>
            </a:p>
          </p:txBody>
        </p:sp>
      </p:grpSp>
      <p:cxnSp>
        <p:nvCxnSpPr>
          <p:cNvPr id="1491" name="Google Shape;1491;p79"/>
          <p:cNvCxnSpPr>
            <a:endCxn id="1458" idx="1"/>
          </p:cNvCxnSpPr>
          <p:nvPr/>
        </p:nvCxnSpPr>
        <p:spPr>
          <a:xfrm flipH="1" rot="10800000">
            <a:off x="5723947" y="2094890"/>
            <a:ext cx="1305300" cy="578100"/>
          </a:xfrm>
          <a:prstGeom prst="bentConnector3">
            <a:avLst>
              <a:gd fmla="val 13459" name="adj1"/>
            </a:avLst>
          </a:prstGeom>
          <a:noFill/>
          <a:ln cap="flat" cmpd="sng" w="9525">
            <a:solidFill>
              <a:schemeClr val="dk2"/>
            </a:solidFill>
            <a:prstDash val="solid"/>
            <a:round/>
            <a:headEnd len="med" w="med" type="none"/>
            <a:tailEnd len="med" w="med" type="triangle"/>
          </a:ln>
        </p:spPr>
      </p:cxnSp>
      <p:grpSp>
        <p:nvGrpSpPr>
          <p:cNvPr id="1492" name="Google Shape;1492;p79"/>
          <p:cNvGrpSpPr/>
          <p:nvPr/>
        </p:nvGrpSpPr>
        <p:grpSpPr>
          <a:xfrm>
            <a:off x="6229646" y="1593769"/>
            <a:ext cx="667705" cy="457047"/>
            <a:chOff x="5834002" y="3598367"/>
            <a:chExt cx="667705" cy="457047"/>
          </a:xfrm>
        </p:grpSpPr>
        <p:sp>
          <p:nvSpPr>
            <p:cNvPr id="1493" name="Google Shape;1493;p79"/>
            <p:cNvSpPr/>
            <p:nvPr/>
          </p:nvSpPr>
          <p:spPr>
            <a:xfrm>
              <a:off x="5834002" y="3922190"/>
              <a:ext cx="667705" cy="133225"/>
            </a:xfrm>
            <a:custGeom>
              <a:rect b="b" l="l" r="r" t="t"/>
              <a:pathLst>
                <a:path extrusionOk="0" h="62916" w="16140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lang="en" sz="1000">
                  <a:solidFill>
                    <a:schemeClr val="dk1"/>
                  </a:solidFill>
                </a:rPr>
                <a:t>BigLake</a:t>
              </a:r>
              <a:endParaRPr sz="1000">
                <a:solidFill>
                  <a:schemeClr val="dk1"/>
                </a:solidFill>
              </a:endParaRPr>
            </a:p>
          </p:txBody>
        </p:sp>
        <p:sp>
          <p:nvSpPr>
            <p:cNvPr id="1494" name="Google Shape;1494;p79"/>
            <p:cNvSpPr/>
            <p:nvPr/>
          </p:nvSpPr>
          <p:spPr>
            <a:xfrm>
              <a:off x="5977742" y="3598367"/>
              <a:ext cx="322936" cy="270712"/>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cxnSp>
        <p:nvCxnSpPr>
          <p:cNvPr id="1495" name="Google Shape;1495;p79"/>
          <p:cNvCxnSpPr>
            <a:stCxn id="1449" idx="3"/>
            <a:endCxn id="1454" idx="1"/>
          </p:cNvCxnSpPr>
          <p:nvPr/>
        </p:nvCxnSpPr>
        <p:spPr>
          <a:xfrm>
            <a:off x="3439607" y="1394546"/>
            <a:ext cx="1614900" cy="3000"/>
          </a:xfrm>
          <a:prstGeom prst="bentConnector3">
            <a:avLst>
              <a:gd fmla="val 49996" name="adj1"/>
            </a:avLst>
          </a:prstGeom>
          <a:noFill/>
          <a:ln cap="flat" cmpd="sng" w="9525">
            <a:solidFill>
              <a:schemeClr val="dk2"/>
            </a:solidFill>
            <a:prstDash val="solid"/>
            <a:round/>
            <a:headEnd len="med" w="med" type="triangle"/>
            <a:tailEnd len="med" w="med" type="triangle"/>
          </a:ln>
        </p:spPr>
      </p:cxnSp>
      <p:cxnSp>
        <p:nvCxnSpPr>
          <p:cNvPr id="1496" name="Google Shape;1496;p79"/>
          <p:cNvCxnSpPr/>
          <p:nvPr/>
        </p:nvCxnSpPr>
        <p:spPr>
          <a:xfrm>
            <a:off x="4088425" y="2611325"/>
            <a:ext cx="879300" cy="8700"/>
          </a:xfrm>
          <a:prstGeom prst="bentConnector3">
            <a:avLst>
              <a:gd fmla="val 50000" name="adj1"/>
            </a:avLst>
          </a:prstGeom>
          <a:noFill/>
          <a:ln cap="flat" cmpd="sng" w="9525">
            <a:solidFill>
              <a:schemeClr val="dk2"/>
            </a:solidFill>
            <a:prstDash val="solid"/>
            <a:round/>
            <a:headEnd len="med" w="med" type="triangle"/>
            <a:tailEnd len="med" w="med" type="triangle"/>
          </a:ln>
        </p:spPr>
      </p:cxnSp>
      <p:cxnSp>
        <p:nvCxnSpPr>
          <p:cNvPr id="1497" name="Google Shape;1497;p79"/>
          <p:cNvCxnSpPr>
            <a:stCxn id="1450" idx="2"/>
          </p:cNvCxnSpPr>
          <p:nvPr/>
        </p:nvCxnSpPr>
        <p:spPr>
          <a:xfrm>
            <a:off x="3211020" y="1817762"/>
            <a:ext cx="666300" cy="512100"/>
          </a:xfrm>
          <a:prstGeom prst="straightConnector1">
            <a:avLst/>
          </a:prstGeom>
          <a:noFill/>
          <a:ln cap="flat" cmpd="sng" w="9525">
            <a:solidFill>
              <a:schemeClr val="dk2"/>
            </a:solidFill>
            <a:prstDash val="solid"/>
            <a:round/>
            <a:headEnd len="med" w="med" type="none"/>
            <a:tailEnd len="med" w="med" type="triangle"/>
          </a:ln>
        </p:spPr>
      </p:cxnSp>
      <p:cxnSp>
        <p:nvCxnSpPr>
          <p:cNvPr id="1498" name="Google Shape;1498;p79"/>
          <p:cNvCxnSpPr>
            <a:stCxn id="1450" idx="2"/>
            <a:endCxn id="1464" idx="0"/>
          </p:cNvCxnSpPr>
          <p:nvPr/>
        </p:nvCxnSpPr>
        <p:spPr>
          <a:xfrm flipH="1">
            <a:off x="2606820" y="1817762"/>
            <a:ext cx="604200" cy="559800"/>
          </a:xfrm>
          <a:prstGeom prst="straightConnector1">
            <a:avLst/>
          </a:prstGeom>
          <a:noFill/>
          <a:ln cap="flat" cmpd="sng" w="9525">
            <a:solidFill>
              <a:schemeClr val="dk2"/>
            </a:solidFill>
            <a:prstDash val="solid"/>
            <a:round/>
            <a:headEnd len="med" w="med" type="none"/>
            <a:tailEnd len="med" w="med" type="triangle"/>
          </a:ln>
        </p:spPr>
      </p:cxnSp>
      <p:cxnSp>
        <p:nvCxnSpPr>
          <p:cNvPr id="1499" name="Google Shape;1499;p79"/>
          <p:cNvCxnSpPr>
            <a:stCxn id="1464" idx="3"/>
          </p:cNvCxnSpPr>
          <p:nvPr/>
        </p:nvCxnSpPr>
        <p:spPr>
          <a:xfrm flipH="1" rot="10800000">
            <a:off x="2835451" y="2602529"/>
            <a:ext cx="690300" cy="3600"/>
          </a:xfrm>
          <a:prstGeom prst="straightConnector1">
            <a:avLst/>
          </a:prstGeom>
          <a:noFill/>
          <a:ln cap="flat" cmpd="sng" w="9525">
            <a:solidFill>
              <a:schemeClr val="dk2"/>
            </a:solidFill>
            <a:prstDash val="solid"/>
            <a:round/>
            <a:headEnd len="med" w="med" type="none"/>
            <a:tailEnd len="med" w="med" type="triangle"/>
          </a:ln>
        </p:spPr>
      </p:cxnSp>
      <p:sp>
        <p:nvSpPr>
          <p:cNvPr id="1500" name="Google Shape;1500;p79"/>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000"/>
              <a:t>Snowflake-Managed Iceberg on GCS</a:t>
            </a:r>
            <a:endParaRPr sz="2000"/>
          </a:p>
        </p:txBody>
      </p:sp>
      <p:sp>
        <p:nvSpPr>
          <p:cNvPr id="1501" name="Google Shape;1501;p79"/>
          <p:cNvSpPr txBox="1"/>
          <p:nvPr/>
        </p:nvSpPr>
        <p:spPr>
          <a:xfrm>
            <a:off x="311350" y="3316532"/>
            <a:ext cx="8656500" cy="12435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1- Native App or SPCS executes standard DML against tables defined within the Catalog Linked Database (CLD) schema. Horizon manages RDBC and Iceberg.</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2- CLD acts as the abstraction layer, enabling Snowflake to atomically manage the Iceberg format and sync metadata with the Polaris.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3- BigLake serves as the unified access layer, connecting BigQuery securely to the Polaris-managed Iceberg metadata and the data files in GCS.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4- GCP analytics and AI services (e.g., Vertex AI) consume the Iceberg tables by querying the integrated BigQuery/BigLake tables.</a:t>
            </a:r>
            <a:endParaRPr sz="900">
              <a:solidFill>
                <a:schemeClr val="dk1"/>
              </a:solidFill>
              <a:latin typeface="Roboto"/>
              <a:ea typeface="Roboto"/>
              <a:cs typeface="Roboto"/>
              <a:sym typeface="Roboto"/>
            </a:endParaRPr>
          </a:p>
        </p:txBody>
      </p:sp>
      <p:sp>
        <p:nvSpPr>
          <p:cNvPr id="1502" name="Google Shape;1502;p79"/>
          <p:cNvSpPr/>
          <p:nvPr/>
        </p:nvSpPr>
        <p:spPr>
          <a:xfrm>
            <a:off x="3103968" y="2109351"/>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1</a:t>
            </a:r>
            <a:endParaRPr sz="1100"/>
          </a:p>
        </p:txBody>
      </p:sp>
      <p:sp>
        <p:nvSpPr>
          <p:cNvPr id="1503" name="Google Shape;1503;p79"/>
          <p:cNvSpPr/>
          <p:nvPr/>
        </p:nvSpPr>
        <p:spPr>
          <a:xfrm>
            <a:off x="4397918" y="237756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2</a:t>
            </a:r>
            <a:endParaRPr sz="1100"/>
          </a:p>
        </p:txBody>
      </p:sp>
      <p:sp>
        <p:nvSpPr>
          <p:cNvPr id="1504" name="Google Shape;1504;p79"/>
          <p:cNvSpPr/>
          <p:nvPr/>
        </p:nvSpPr>
        <p:spPr>
          <a:xfrm>
            <a:off x="6054918" y="182801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3</a:t>
            </a:r>
            <a:endParaRPr sz="1100"/>
          </a:p>
        </p:txBody>
      </p:sp>
      <p:sp>
        <p:nvSpPr>
          <p:cNvPr id="1505" name="Google Shape;1505;p79"/>
          <p:cNvSpPr/>
          <p:nvPr/>
        </p:nvSpPr>
        <p:spPr>
          <a:xfrm>
            <a:off x="7573193" y="182801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4</a:t>
            </a:r>
            <a:endParaRPr sz="1100"/>
          </a:p>
        </p:txBody>
      </p:sp>
      <p:sp>
        <p:nvSpPr>
          <p:cNvPr id="1506" name="Google Shape;1506;p79"/>
          <p:cNvSpPr txBox="1"/>
          <p:nvPr/>
        </p:nvSpPr>
        <p:spPr>
          <a:xfrm>
            <a:off x="311350" y="614000"/>
            <a:ext cx="1868100" cy="26403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 </a:t>
            </a:r>
            <a:r>
              <a:rPr lang="en" sz="900">
                <a:latin typeface="Roboto"/>
                <a:ea typeface="Roboto"/>
                <a:cs typeface="Roboto"/>
                <a:sym typeface="Roboto"/>
              </a:rPr>
              <a:t>CLD is in Public Preview (PuPr); planned GA 10/31/25.</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a:t>
            </a:r>
            <a:r>
              <a:rPr lang="en" sz="900">
                <a:latin typeface="Roboto"/>
                <a:ea typeface="Roboto"/>
                <a:cs typeface="Roboto"/>
                <a:sym typeface="Roboto"/>
              </a:rPr>
              <a:t>BigLake write to Polaris IRC is currently in development.</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a:t>
            </a:r>
            <a:r>
              <a:rPr lang="en" sz="900">
                <a:latin typeface="Roboto"/>
                <a:ea typeface="Roboto"/>
                <a:cs typeface="Roboto"/>
                <a:sym typeface="Roboto"/>
              </a:rPr>
              <a:t>For Looker, GCP web apps, and Vertex AI Serving, use Snowflake connectors (Rec).</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a:t>
            </a:r>
            <a:r>
              <a:rPr lang="en" sz="900">
                <a:latin typeface="Roboto"/>
                <a:ea typeface="Roboto"/>
                <a:cs typeface="Roboto"/>
                <a:sym typeface="Roboto"/>
              </a:rPr>
              <a:t>For Vertex AI Training and Feature Store (large reads), connect via BigLake and Iceberg.</a:t>
            </a:r>
            <a:endParaRPr sz="900">
              <a:solidFill>
                <a:schemeClr val="dk1"/>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80"/>
          <p:cNvSpPr/>
          <p:nvPr/>
        </p:nvSpPr>
        <p:spPr>
          <a:xfrm>
            <a:off x="2215675" y="613015"/>
            <a:ext cx="1978200" cy="2844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512" name="Google Shape;1512;p80"/>
          <p:cNvSpPr/>
          <p:nvPr/>
        </p:nvSpPr>
        <p:spPr>
          <a:xfrm>
            <a:off x="6229327" y="612988"/>
            <a:ext cx="2738400" cy="26403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513" name="Google Shape;1513;p80"/>
          <p:cNvSpPr/>
          <p:nvPr/>
        </p:nvSpPr>
        <p:spPr>
          <a:xfrm>
            <a:off x="4353627" y="612913"/>
            <a:ext cx="1730700" cy="26403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grpSp>
        <p:nvGrpSpPr>
          <p:cNvPr id="1514" name="Google Shape;1514;p80"/>
          <p:cNvGrpSpPr/>
          <p:nvPr/>
        </p:nvGrpSpPr>
        <p:grpSpPr>
          <a:xfrm>
            <a:off x="2702370" y="1165946"/>
            <a:ext cx="1017300" cy="651816"/>
            <a:chOff x="1548833" y="2114554"/>
            <a:chExt cx="1017300" cy="651816"/>
          </a:xfrm>
        </p:grpSpPr>
        <p:pic>
          <p:nvPicPr>
            <p:cNvPr id="1515" name="Google Shape;1515;p80"/>
            <p:cNvPicPr preferRelativeResize="0"/>
            <p:nvPr/>
          </p:nvPicPr>
          <p:blipFill rotWithShape="1">
            <a:blip r:embed="rId3">
              <a:alphaModFix/>
            </a:blip>
            <a:srcRect b="0" l="0" r="0" t="0"/>
            <a:stretch/>
          </p:blipFill>
          <p:spPr>
            <a:xfrm>
              <a:off x="1828870" y="2114554"/>
              <a:ext cx="457200" cy="457200"/>
            </a:xfrm>
            <a:prstGeom prst="rect">
              <a:avLst/>
            </a:prstGeom>
            <a:noFill/>
            <a:ln>
              <a:noFill/>
            </a:ln>
          </p:spPr>
        </p:pic>
        <p:sp>
          <p:nvSpPr>
            <p:cNvPr id="1516" name="Google Shape;1516;p80"/>
            <p:cNvSpPr txBox="1"/>
            <p:nvPr/>
          </p:nvSpPr>
          <p:spPr>
            <a:xfrm>
              <a:off x="1548833" y="2627770"/>
              <a:ext cx="1017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b="0" i="0" lang="en" sz="1000" u="none" cap="none" strike="noStrike">
                  <a:solidFill>
                    <a:srgbClr val="105780"/>
                  </a:solidFill>
                  <a:latin typeface="Arial"/>
                  <a:ea typeface="Arial"/>
                  <a:cs typeface="Arial"/>
                  <a:sym typeface="Arial"/>
                </a:rPr>
                <a:t>Horizon Catalog</a:t>
              </a:r>
              <a:endParaRPr b="0" i="0" sz="1000" u="none" cap="none" strike="noStrike">
                <a:solidFill>
                  <a:srgbClr val="105780"/>
                </a:solidFill>
                <a:latin typeface="Arial"/>
                <a:ea typeface="Arial"/>
                <a:cs typeface="Arial"/>
                <a:sym typeface="Arial"/>
              </a:endParaRPr>
            </a:p>
          </p:txBody>
        </p:sp>
      </p:grpSp>
      <p:sp>
        <p:nvSpPr>
          <p:cNvPr id="1517" name="Google Shape;1517;p80"/>
          <p:cNvSpPr/>
          <p:nvPr/>
        </p:nvSpPr>
        <p:spPr>
          <a:xfrm>
            <a:off x="3591467" y="2306788"/>
            <a:ext cx="507995" cy="457206"/>
          </a:xfrm>
          <a:custGeom>
            <a:rect b="b" l="l" r="r" t="t"/>
            <a:pathLst>
              <a:path extrusionOk="0" h="8448" w="7350">
                <a:moveTo>
                  <a:pt x="3674" y="708"/>
                </a:moveTo>
                <a:cubicBezTo>
                  <a:pt x="5594" y="708"/>
                  <a:pt x="6641" y="1317"/>
                  <a:pt x="6641" y="1629"/>
                </a:cubicBezTo>
                <a:cubicBezTo>
                  <a:pt x="6641" y="1941"/>
                  <a:pt x="5594" y="2550"/>
                  <a:pt x="3674" y="2550"/>
                </a:cubicBezTo>
                <a:cubicBezTo>
                  <a:pt x="1756" y="2550"/>
                  <a:pt x="709" y="1941"/>
                  <a:pt x="709" y="1629"/>
                </a:cubicBezTo>
                <a:cubicBezTo>
                  <a:pt x="709" y="1317"/>
                  <a:pt x="1756" y="708"/>
                  <a:pt x="3674" y="708"/>
                </a:cubicBezTo>
                <a:close/>
                <a:moveTo>
                  <a:pt x="6641" y="2628"/>
                </a:moveTo>
                <a:lnTo>
                  <a:pt x="6641" y="3360"/>
                </a:lnTo>
                <a:cubicBezTo>
                  <a:pt x="6641" y="3672"/>
                  <a:pt x="5594" y="4281"/>
                  <a:pt x="3674" y="4281"/>
                </a:cubicBezTo>
                <a:cubicBezTo>
                  <a:pt x="1756" y="4281"/>
                  <a:pt x="709" y="3672"/>
                  <a:pt x="709" y="3360"/>
                </a:cubicBezTo>
                <a:lnTo>
                  <a:pt x="709" y="2628"/>
                </a:lnTo>
                <a:cubicBezTo>
                  <a:pt x="1411" y="3044"/>
                  <a:pt x="2547" y="3258"/>
                  <a:pt x="3674" y="3258"/>
                </a:cubicBezTo>
                <a:cubicBezTo>
                  <a:pt x="4802" y="3258"/>
                  <a:pt x="5937" y="3044"/>
                  <a:pt x="6641" y="2628"/>
                </a:cubicBezTo>
                <a:close/>
                <a:moveTo>
                  <a:pt x="6641" y="4361"/>
                </a:moveTo>
                <a:lnTo>
                  <a:pt x="6641" y="5086"/>
                </a:lnTo>
                <a:cubicBezTo>
                  <a:pt x="6641" y="5398"/>
                  <a:pt x="5594" y="6007"/>
                  <a:pt x="3674" y="6007"/>
                </a:cubicBezTo>
                <a:cubicBezTo>
                  <a:pt x="1756" y="6007"/>
                  <a:pt x="709" y="5398"/>
                  <a:pt x="709" y="5086"/>
                </a:cubicBezTo>
                <a:lnTo>
                  <a:pt x="709" y="4361"/>
                </a:lnTo>
                <a:cubicBezTo>
                  <a:pt x="1411" y="4777"/>
                  <a:pt x="2547" y="4989"/>
                  <a:pt x="3674" y="4989"/>
                </a:cubicBezTo>
                <a:cubicBezTo>
                  <a:pt x="4802" y="4989"/>
                  <a:pt x="5937" y="4777"/>
                  <a:pt x="6641" y="4361"/>
                </a:cubicBezTo>
                <a:close/>
                <a:moveTo>
                  <a:pt x="6641" y="6087"/>
                </a:moveTo>
                <a:lnTo>
                  <a:pt x="6641" y="6819"/>
                </a:lnTo>
                <a:cubicBezTo>
                  <a:pt x="6641" y="7131"/>
                  <a:pt x="5594" y="7740"/>
                  <a:pt x="3674" y="7740"/>
                </a:cubicBezTo>
                <a:cubicBezTo>
                  <a:pt x="1756" y="7740"/>
                  <a:pt x="709" y="7131"/>
                  <a:pt x="709" y="6819"/>
                </a:cubicBezTo>
                <a:lnTo>
                  <a:pt x="709" y="6087"/>
                </a:lnTo>
                <a:cubicBezTo>
                  <a:pt x="1411" y="6503"/>
                  <a:pt x="2547" y="6716"/>
                  <a:pt x="3674" y="6716"/>
                </a:cubicBezTo>
                <a:cubicBezTo>
                  <a:pt x="4802" y="6716"/>
                  <a:pt x="5937" y="6503"/>
                  <a:pt x="6641" y="6087"/>
                </a:cubicBezTo>
                <a:close/>
                <a:moveTo>
                  <a:pt x="3674" y="0"/>
                </a:moveTo>
                <a:cubicBezTo>
                  <a:pt x="1848" y="0"/>
                  <a:pt x="1" y="560"/>
                  <a:pt x="1" y="1630"/>
                </a:cubicBezTo>
                <a:lnTo>
                  <a:pt x="1" y="6819"/>
                </a:lnTo>
                <a:cubicBezTo>
                  <a:pt x="1" y="7888"/>
                  <a:pt x="1849" y="8448"/>
                  <a:pt x="3674" y="8448"/>
                </a:cubicBezTo>
                <a:cubicBezTo>
                  <a:pt x="5499" y="8448"/>
                  <a:pt x="7348" y="7890"/>
                  <a:pt x="7348" y="6819"/>
                </a:cubicBezTo>
                <a:lnTo>
                  <a:pt x="7348" y="1629"/>
                </a:lnTo>
                <a:cubicBezTo>
                  <a:pt x="7350" y="560"/>
                  <a:pt x="5501" y="0"/>
                  <a:pt x="3674" y="0"/>
                </a:cubicBezTo>
                <a:close/>
              </a:path>
            </a:pathLst>
          </a:custGeom>
          <a:solidFill>
            <a:srgbClr val="2AB5E8"/>
          </a:solidFill>
          <a:ln>
            <a:noFill/>
          </a:ln>
        </p:spPr>
        <p:txBody>
          <a:bodyPr anchorCtr="0" anchor="ctr" bIns="152650" lIns="152650" spcFirstLastPara="1" rIns="152650" wrap="square" tIns="152650">
            <a:noAutofit/>
          </a:bodyPr>
          <a:lstStyle/>
          <a:p>
            <a:pPr indent="0" lvl="0" marL="0" marR="0" rtl="0" algn="l">
              <a:lnSpc>
                <a:spcPct val="100000"/>
              </a:lnSpc>
              <a:spcBef>
                <a:spcPts val="0"/>
              </a:spcBef>
              <a:spcAft>
                <a:spcPts val="0"/>
              </a:spcAft>
              <a:buClr>
                <a:srgbClr val="252525"/>
              </a:buClr>
              <a:buSzPts val="3005"/>
              <a:buFont typeface="Arial"/>
              <a:buNone/>
            </a:pPr>
            <a:r>
              <a:t/>
            </a:r>
            <a:endParaRPr b="0" i="0" sz="3005" u="none" cap="none" strike="noStrike">
              <a:solidFill>
                <a:srgbClr val="252525"/>
              </a:solidFill>
              <a:latin typeface="Arial"/>
              <a:ea typeface="Arial"/>
              <a:cs typeface="Arial"/>
              <a:sym typeface="Arial"/>
            </a:endParaRPr>
          </a:p>
        </p:txBody>
      </p:sp>
      <p:sp>
        <p:nvSpPr>
          <p:cNvPr id="1518" name="Google Shape;1518;p80"/>
          <p:cNvSpPr txBox="1"/>
          <p:nvPr/>
        </p:nvSpPr>
        <p:spPr>
          <a:xfrm>
            <a:off x="3388563" y="2889802"/>
            <a:ext cx="9138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lang="en" sz="1000">
                <a:solidFill>
                  <a:srgbClr val="105780"/>
                </a:solidFill>
              </a:rPr>
              <a:t>CLD</a:t>
            </a:r>
            <a:endParaRPr b="0" i="0" sz="1000" u="none" cap="none" strike="noStrike">
              <a:solidFill>
                <a:srgbClr val="105780"/>
              </a:solidFill>
              <a:latin typeface="Arial"/>
              <a:ea typeface="Arial"/>
              <a:cs typeface="Arial"/>
              <a:sym typeface="Arial"/>
            </a:endParaRPr>
          </a:p>
        </p:txBody>
      </p:sp>
      <p:grpSp>
        <p:nvGrpSpPr>
          <p:cNvPr id="1519" name="Google Shape;1519;p80"/>
          <p:cNvGrpSpPr/>
          <p:nvPr/>
        </p:nvGrpSpPr>
        <p:grpSpPr>
          <a:xfrm>
            <a:off x="4861565" y="1168895"/>
            <a:ext cx="913800" cy="789337"/>
            <a:chOff x="4150600" y="949063"/>
            <a:chExt cx="913800" cy="789337"/>
          </a:xfrm>
        </p:grpSpPr>
        <p:pic>
          <p:nvPicPr>
            <p:cNvPr descr="Apache Polaris | JB Onofré" id="1520" name="Google Shape;1520;p80"/>
            <p:cNvPicPr preferRelativeResize="0"/>
            <p:nvPr/>
          </p:nvPicPr>
          <p:blipFill rotWithShape="1">
            <a:blip r:embed="rId4">
              <a:alphaModFix/>
            </a:blip>
            <a:srcRect b="0" l="0" r="0" t="0"/>
            <a:stretch/>
          </p:blipFill>
          <p:spPr>
            <a:xfrm>
              <a:off x="4343399" y="949063"/>
              <a:ext cx="457200" cy="457200"/>
            </a:xfrm>
            <a:prstGeom prst="rect">
              <a:avLst/>
            </a:prstGeom>
            <a:noFill/>
            <a:ln>
              <a:noFill/>
            </a:ln>
          </p:spPr>
        </p:pic>
        <p:sp>
          <p:nvSpPr>
            <p:cNvPr id="1521" name="Google Shape;1521;p80"/>
            <p:cNvSpPr txBox="1"/>
            <p:nvPr/>
          </p:nvSpPr>
          <p:spPr>
            <a:xfrm>
              <a:off x="4150600" y="1461200"/>
              <a:ext cx="913800" cy="277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1000"/>
                <a:buFont typeface="Arial"/>
                <a:buNone/>
              </a:pPr>
              <a:r>
                <a:rPr b="0" i="0" lang="en" sz="1000" u="none" cap="none" strike="noStrike">
                  <a:solidFill>
                    <a:srgbClr val="105780"/>
                  </a:solidFill>
                  <a:latin typeface="Arial"/>
                  <a:ea typeface="Arial"/>
                  <a:cs typeface="Arial"/>
                  <a:sym typeface="Arial"/>
                </a:rPr>
                <a:t>Polaris</a:t>
              </a:r>
              <a:br>
                <a:rPr b="0" i="0" lang="en" sz="1000" u="none" cap="none" strike="noStrike">
                  <a:solidFill>
                    <a:srgbClr val="105780"/>
                  </a:solidFill>
                  <a:latin typeface="Arial"/>
                  <a:ea typeface="Arial"/>
                  <a:cs typeface="Arial"/>
                  <a:sym typeface="Arial"/>
                </a:rPr>
              </a:br>
              <a:r>
                <a:rPr b="0" i="0" lang="en" sz="1000" u="none" cap="none" strike="noStrike">
                  <a:solidFill>
                    <a:srgbClr val="105780"/>
                  </a:solidFill>
                  <a:latin typeface="Arial"/>
                  <a:ea typeface="Arial"/>
                  <a:cs typeface="Arial"/>
                  <a:sym typeface="Arial"/>
                </a:rPr>
                <a:t>Open Catalog</a:t>
              </a:r>
              <a:endParaRPr b="0" i="0" sz="1000" u="none" cap="none" strike="noStrike">
                <a:solidFill>
                  <a:srgbClr val="000000"/>
                </a:solidFill>
                <a:latin typeface="Arial"/>
                <a:ea typeface="Arial"/>
                <a:cs typeface="Arial"/>
                <a:sym typeface="Arial"/>
              </a:endParaRPr>
            </a:p>
          </p:txBody>
        </p:sp>
      </p:grpSp>
      <p:grpSp>
        <p:nvGrpSpPr>
          <p:cNvPr id="1522" name="Google Shape;1522;p80"/>
          <p:cNvGrpSpPr/>
          <p:nvPr/>
        </p:nvGrpSpPr>
        <p:grpSpPr>
          <a:xfrm>
            <a:off x="6818199" y="1866290"/>
            <a:ext cx="879300" cy="620487"/>
            <a:chOff x="1233014" y="1825863"/>
            <a:chExt cx="879300" cy="620487"/>
          </a:xfrm>
        </p:grpSpPr>
        <p:sp>
          <p:nvSpPr>
            <p:cNvPr id="1523" name="Google Shape;1523;p80"/>
            <p:cNvSpPr txBox="1"/>
            <p:nvPr/>
          </p:nvSpPr>
          <p:spPr>
            <a:xfrm>
              <a:off x="1233014" y="2292450"/>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Big Query</a:t>
              </a:r>
              <a:endParaRPr sz="1000">
                <a:solidFill>
                  <a:schemeClr val="dk1"/>
                </a:solidFill>
              </a:endParaRPr>
            </a:p>
          </p:txBody>
        </p:sp>
        <p:pic>
          <p:nvPicPr>
            <p:cNvPr id="1524" name="Google Shape;1524;p80" title="BigQuery-512-color.png"/>
            <p:cNvPicPr preferRelativeResize="0"/>
            <p:nvPr/>
          </p:nvPicPr>
          <p:blipFill>
            <a:blip r:embed="rId5">
              <a:alphaModFix/>
            </a:blip>
            <a:stretch>
              <a:fillRect/>
            </a:stretch>
          </p:blipFill>
          <p:spPr>
            <a:xfrm>
              <a:off x="1444063" y="1825863"/>
              <a:ext cx="457201" cy="457201"/>
            </a:xfrm>
            <a:prstGeom prst="rect">
              <a:avLst/>
            </a:prstGeom>
            <a:noFill/>
            <a:ln>
              <a:noFill/>
            </a:ln>
          </p:spPr>
        </p:pic>
      </p:grpSp>
      <p:sp>
        <p:nvSpPr>
          <p:cNvPr id="1525" name="Google Shape;1525;p80"/>
          <p:cNvSpPr txBox="1"/>
          <p:nvPr/>
        </p:nvSpPr>
        <p:spPr>
          <a:xfrm>
            <a:off x="4388794" y="608927"/>
            <a:ext cx="16602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GCS (</a:t>
            </a:r>
            <a:r>
              <a:rPr lang="en" sz="1000">
                <a:solidFill>
                  <a:srgbClr val="FFFFFF"/>
                </a:solidFill>
              </a:rPr>
              <a:t>Snowflake-Manage</a:t>
            </a:r>
            <a:r>
              <a:rPr lang="en" sz="1200">
                <a:solidFill>
                  <a:srgbClr val="FFFFFF"/>
                </a:solidFill>
              </a:rPr>
              <a:t>d)</a:t>
            </a:r>
            <a:endParaRPr sz="1200">
              <a:solidFill>
                <a:srgbClr val="FFFFFF"/>
              </a:solidFill>
            </a:endParaRPr>
          </a:p>
        </p:txBody>
      </p:sp>
      <p:sp>
        <p:nvSpPr>
          <p:cNvPr id="1526" name="Google Shape;1526;p80"/>
          <p:cNvSpPr txBox="1"/>
          <p:nvPr/>
        </p:nvSpPr>
        <p:spPr>
          <a:xfrm>
            <a:off x="2566080" y="609079"/>
            <a:ext cx="12816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Snowflake</a:t>
            </a:r>
            <a:endParaRPr sz="1200">
              <a:solidFill>
                <a:srgbClr val="FFFFFF"/>
              </a:solidFill>
            </a:endParaRPr>
          </a:p>
        </p:txBody>
      </p:sp>
      <p:sp>
        <p:nvSpPr>
          <p:cNvPr id="1527" name="Google Shape;1527;p80"/>
          <p:cNvSpPr txBox="1"/>
          <p:nvPr/>
        </p:nvSpPr>
        <p:spPr>
          <a:xfrm>
            <a:off x="7011873" y="609094"/>
            <a:ext cx="11733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GCP Services</a:t>
            </a:r>
            <a:endParaRPr sz="1200">
              <a:solidFill>
                <a:srgbClr val="FFFFFF"/>
              </a:solidFill>
            </a:endParaRPr>
          </a:p>
        </p:txBody>
      </p:sp>
      <p:grpSp>
        <p:nvGrpSpPr>
          <p:cNvPr id="1528" name="Google Shape;1528;p80"/>
          <p:cNvGrpSpPr/>
          <p:nvPr/>
        </p:nvGrpSpPr>
        <p:grpSpPr>
          <a:xfrm>
            <a:off x="2221059" y="2377529"/>
            <a:ext cx="771600" cy="734404"/>
            <a:chOff x="1697475" y="987946"/>
            <a:chExt cx="771600" cy="734404"/>
          </a:xfrm>
        </p:grpSpPr>
        <p:sp>
          <p:nvSpPr>
            <p:cNvPr id="1529" name="Google Shape;1529;p80"/>
            <p:cNvSpPr txBox="1"/>
            <p:nvPr/>
          </p:nvSpPr>
          <p:spPr>
            <a:xfrm>
              <a:off x="1697475" y="1445150"/>
              <a:ext cx="771600" cy="277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latin typeface="Arial"/>
                  <a:ea typeface="Arial"/>
                  <a:cs typeface="Arial"/>
                  <a:sym typeface="Arial"/>
                </a:rPr>
                <a:t>Native App</a:t>
              </a:r>
              <a:br>
                <a:rPr lang="en" sz="1000">
                  <a:solidFill>
                    <a:srgbClr val="105780"/>
                  </a:solidFill>
                  <a:latin typeface="Arial"/>
                  <a:ea typeface="Arial"/>
                  <a:cs typeface="Arial"/>
                  <a:sym typeface="Arial"/>
                </a:rPr>
              </a:br>
              <a:r>
                <a:rPr lang="en" sz="1000">
                  <a:solidFill>
                    <a:srgbClr val="105780"/>
                  </a:solidFill>
                  <a:latin typeface="Arial"/>
                  <a:ea typeface="Arial"/>
                  <a:cs typeface="Arial"/>
                  <a:sym typeface="Arial"/>
                </a:rPr>
                <a:t>/ SPCS</a:t>
              </a:r>
              <a:endParaRPr sz="1000">
                <a:solidFill>
                  <a:srgbClr val="105780"/>
                </a:solidFill>
                <a:latin typeface="Arial"/>
                <a:ea typeface="Arial"/>
                <a:cs typeface="Arial"/>
                <a:sym typeface="Arial"/>
              </a:endParaRPr>
            </a:p>
          </p:txBody>
        </p:sp>
        <p:pic>
          <p:nvPicPr>
            <p:cNvPr id="1530" name="Google Shape;1530;p80"/>
            <p:cNvPicPr preferRelativeResize="0"/>
            <p:nvPr/>
          </p:nvPicPr>
          <p:blipFill rotWithShape="1">
            <a:blip r:embed="rId6">
              <a:alphaModFix/>
            </a:blip>
            <a:srcRect b="0" l="0" r="0" t="0"/>
            <a:stretch/>
          </p:blipFill>
          <p:spPr>
            <a:xfrm>
              <a:off x="1854667" y="987946"/>
              <a:ext cx="457200" cy="457200"/>
            </a:xfrm>
            <a:prstGeom prst="rect">
              <a:avLst/>
            </a:prstGeom>
            <a:noFill/>
            <a:ln>
              <a:noFill/>
            </a:ln>
          </p:spPr>
        </p:pic>
      </p:grpSp>
      <p:grpSp>
        <p:nvGrpSpPr>
          <p:cNvPr id="1531" name="Google Shape;1531;p80"/>
          <p:cNvGrpSpPr/>
          <p:nvPr/>
        </p:nvGrpSpPr>
        <p:grpSpPr>
          <a:xfrm>
            <a:off x="4943426" y="2495573"/>
            <a:ext cx="879300" cy="621515"/>
            <a:chOff x="5033899" y="2444455"/>
            <a:chExt cx="879300" cy="621515"/>
          </a:xfrm>
        </p:grpSpPr>
        <p:grpSp>
          <p:nvGrpSpPr>
            <p:cNvPr id="1532" name="Google Shape;1532;p80"/>
            <p:cNvGrpSpPr/>
            <p:nvPr/>
          </p:nvGrpSpPr>
          <p:grpSpPr>
            <a:xfrm>
              <a:off x="5417333" y="2444455"/>
              <a:ext cx="486292" cy="457206"/>
              <a:chOff x="345049" y="1086515"/>
              <a:chExt cx="3135348" cy="2970796"/>
            </a:xfrm>
          </p:grpSpPr>
          <p:sp>
            <p:nvSpPr>
              <p:cNvPr id="1533" name="Google Shape;1533;p80"/>
              <p:cNvSpPr/>
              <p:nvPr/>
            </p:nvSpPr>
            <p:spPr>
              <a:xfrm>
                <a:off x="345049" y="1086515"/>
                <a:ext cx="2431159" cy="2431159"/>
              </a:xfrm>
              <a:custGeom>
                <a:rect b="b" l="l" r="r" t="t"/>
                <a:pathLst>
                  <a:path extrusionOk="0" h="2431159" w="2431159">
                    <a:moveTo>
                      <a:pt x="1370278" y="2431160"/>
                    </a:moveTo>
                    <a:lnTo>
                      <a:pt x="302499" y="2431160"/>
                    </a:lnTo>
                    <a:cubicBezTo>
                      <a:pt x="135648" y="2431160"/>
                      <a:pt x="0" y="2295511"/>
                      <a:pt x="0" y="2128660"/>
                    </a:cubicBezTo>
                    <a:lnTo>
                      <a:pt x="0" y="302499"/>
                    </a:lnTo>
                    <a:cubicBezTo>
                      <a:pt x="0" y="135648"/>
                      <a:pt x="135648" y="0"/>
                      <a:pt x="302499" y="0"/>
                    </a:cubicBezTo>
                    <a:lnTo>
                      <a:pt x="2128661" y="0"/>
                    </a:lnTo>
                    <a:cubicBezTo>
                      <a:pt x="2295511" y="0"/>
                      <a:pt x="2431160" y="135648"/>
                      <a:pt x="2431160" y="302499"/>
                    </a:cubicBezTo>
                    <a:lnTo>
                      <a:pt x="2431160" y="973843"/>
                    </a:lnTo>
                    <a:cubicBezTo>
                      <a:pt x="2431160" y="1018184"/>
                      <a:pt x="2395359" y="1054313"/>
                      <a:pt x="2350690" y="1054313"/>
                    </a:cubicBezTo>
                    <a:cubicBezTo>
                      <a:pt x="2306350" y="1054313"/>
                      <a:pt x="2270221" y="1018184"/>
                      <a:pt x="2270221" y="973843"/>
                    </a:cubicBezTo>
                    <a:lnTo>
                      <a:pt x="2270221" y="302171"/>
                    </a:lnTo>
                    <a:cubicBezTo>
                      <a:pt x="2270221" y="224000"/>
                      <a:pt x="2206502" y="160282"/>
                      <a:pt x="2128332" y="160282"/>
                    </a:cubicBezTo>
                    <a:lnTo>
                      <a:pt x="302171" y="160282"/>
                    </a:lnTo>
                    <a:cubicBezTo>
                      <a:pt x="224000" y="160282"/>
                      <a:pt x="160282" y="224000"/>
                      <a:pt x="160282" y="302171"/>
                    </a:cubicBezTo>
                    <a:lnTo>
                      <a:pt x="160282" y="2128332"/>
                    </a:lnTo>
                    <a:cubicBezTo>
                      <a:pt x="160282" y="2206502"/>
                      <a:pt x="224000" y="2270221"/>
                      <a:pt x="302171" y="2270221"/>
                    </a:cubicBezTo>
                    <a:lnTo>
                      <a:pt x="1369950" y="2270221"/>
                    </a:lnTo>
                    <a:cubicBezTo>
                      <a:pt x="1414290" y="2270221"/>
                      <a:pt x="1450419" y="2306350"/>
                      <a:pt x="1450419" y="2350690"/>
                    </a:cubicBezTo>
                    <a:cubicBezTo>
                      <a:pt x="1450747" y="2395030"/>
                      <a:pt x="1414618" y="2431160"/>
                      <a:pt x="1370278" y="2431160"/>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34" name="Google Shape;1534;p80"/>
              <p:cNvSpPr/>
              <p:nvPr/>
            </p:nvSpPr>
            <p:spPr>
              <a:xfrm>
                <a:off x="1507092" y="2952090"/>
                <a:ext cx="1973305" cy="107073"/>
              </a:xfrm>
              <a:custGeom>
                <a:rect b="b" l="l" r="r" t="t"/>
                <a:pathLst>
                  <a:path extrusionOk="0" h="107073" w="1973305">
                    <a:moveTo>
                      <a:pt x="1919769" y="107073"/>
                    </a:moveTo>
                    <a:lnTo>
                      <a:pt x="53537" y="107073"/>
                    </a:lnTo>
                    <a:cubicBezTo>
                      <a:pt x="23977" y="107073"/>
                      <a:pt x="0" y="83097"/>
                      <a:pt x="0" y="53537"/>
                    </a:cubicBezTo>
                    <a:cubicBezTo>
                      <a:pt x="0" y="23977"/>
                      <a:pt x="23977" y="0"/>
                      <a:pt x="53537" y="0"/>
                    </a:cubicBezTo>
                    <a:lnTo>
                      <a:pt x="1919769" y="0"/>
                    </a:lnTo>
                    <a:cubicBezTo>
                      <a:pt x="1949329" y="0"/>
                      <a:pt x="1973305" y="23977"/>
                      <a:pt x="1973305" y="53537"/>
                    </a:cubicBezTo>
                    <a:cubicBezTo>
                      <a:pt x="1973305" y="83097"/>
                      <a:pt x="1949329" y="107073"/>
                      <a:pt x="1919769" y="107073"/>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35" name="Google Shape;1535;p80"/>
              <p:cNvSpPr/>
              <p:nvPr/>
            </p:nvSpPr>
            <p:spPr>
              <a:xfrm>
                <a:off x="1802422" y="2188406"/>
                <a:ext cx="1396425" cy="833072"/>
              </a:xfrm>
              <a:custGeom>
                <a:rect b="b" l="l" r="r" t="t"/>
                <a:pathLst>
                  <a:path extrusionOk="0" h="833072" w="1396425">
                    <a:moveTo>
                      <a:pt x="1342631" y="832985"/>
                    </a:moveTo>
                    <a:cubicBezTo>
                      <a:pt x="1324238" y="832985"/>
                      <a:pt x="1306174" y="823461"/>
                      <a:pt x="1296321" y="806053"/>
                    </a:cubicBezTo>
                    <a:lnTo>
                      <a:pt x="1113705" y="490088"/>
                    </a:lnTo>
                    <a:lnTo>
                      <a:pt x="958349" y="469724"/>
                    </a:lnTo>
                    <a:cubicBezTo>
                      <a:pt x="942912" y="467753"/>
                      <a:pt x="928789" y="458885"/>
                      <a:pt x="920250" y="445747"/>
                    </a:cubicBezTo>
                    <a:lnTo>
                      <a:pt x="722196" y="138650"/>
                    </a:lnTo>
                    <a:lnTo>
                      <a:pt x="558302" y="302545"/>
                    </a:lnTo>
                    <a:lnTo>
                      <a:pt x="476519" y="539026"/>
                    </a:lnTo>
                    <a:cubicBezTo>
                      <a:pt x="470935" y="554792"/>
                      <a:pt x="458454" y="567272"/>
                      <a:pt x="442360" y="572528"/>
                    </a:cubicBezTo>
                    <a:lnTo>
                      <a:pt x="206864" y="648070"/>
                    </a:lnTo>
                    <a:lnTo>
                      <a:pt x="97820" y="809337"/>
                    </a:lnTo>
                    <a:cubicBezTo>
                      <a:pt x="81398" y="833971"/>
                      <a:pt x="47896" y="840540"/>
                      <a:pt x="23591" y="823789"/>
                    </a:cubicBezTo>
                    <a:cubicBezTo>
                      <a:pt x="-1042" y="807367"/>
                      <a:pt x="-7283" y="773865"/>
                      <a:pt x="9139" y="749560"/>
                    </a:cubicBezTo>
                    <a:lnTo>
                      <a:pt x="128365" y="572856"/>
                    </a:lnTo>
                    <a:cubicBezTo>
                      <a:pt x="134934" y="563003"/>
                      <a:pt x="145116" y="555448"/>
                      <a:pt x="156283" y="551836"/>
                    </a:cubicBezTo>
                    <a:lnTo>
                      <a:pt x="383897" y="478920"/>
                    </a:lnTo>
                    <a:lnTo>
                      <a:pt x="461082" y="255905"/>
                    </a:lnTo>
                    <a:cubicBezTo>
                      <a:pt x="463709" y="248351"/>
                      <a:pt x="467979" y="241454"/>
                      <a:pt x="473891" y="235542"/>
                    </a:cubicBezTo>
                    <a:lnTo>
                      <a:pt x="693622" y="15811"/>
                    </a:lnTo>
                    <a:cubicBezTo>
                      <a:pt x="705117" y="4315"/>
                      <a:pt x="721211" y="-1597"/>
                      <a:pt x="737305" y="374"/>
                    </a:cubicBezTo>
                    <a:cubicBezTo>
                      <a:pt x="753399" y="2016"/>
                      <a:pt x="767850" y="10884"/>
                      <a:pt x="776719" y="24679"/>
                    </a:cubicBezTo>
                    <a:lnTo>
                      <a:pt x="997106" y="366592"/>
                    </a:lnTo>
                    <a:lnTo>
                      <a:pt x="1154103" y="387284"/>
                    </a:lnTo>
                    <a:cubicBezTo>
                      <a:pt x="1170526" y="389583"/>
                      <a:pt x="1185306" y="399108"/>
                      <a:pt x="1193517" y="413560"/>
                    </a:cubicBezTo>
                    <a:lnTo>
                      <a:pt x="1389271" y="752516"/>
                    </a:lnTo>
                    <a:cubicBezTo>
                      <a:pt x="1404051" y="778135"/>
                      <a:pt x="1395183" y="810980"/>
                      <a:pt x="1369564" y="825760"/>
                    </a:cubicBezTo>
                    <a:cubicBezTo>
                      <a:pt x="1361025" y="830686"/>
                      <a:pt x="1351828" y="832985"/>
                      <a:pt x="1342631" y="83298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36" name="Google Shape;1536;p80"/>
              <p:cNvSpPr/>
              <p:nvPr/>
            </p:nvSpPr>
            <p:spPr>
              <a:xfrm>
                <a:off x="1840945" y="3095959"/>
                <a:ext cx="1291611" cy="961352"/>
              </a:xfrm>
              <a:custGeom>
                <a:rect b="b" l="l" r="r" t="t"/>
                <a:pathLst>
                  <a:path extrusionOk="0" h="961352" w="1291611">
                    <a:moveTo>
                      <a:pt x="769398" y="961352"/>
                    </a:moveTo>
                    <a:cubicBezTo>
                      <a:pt x="758560" y="961352"/>
                      <a:pt x="748049" y="958068"/>
                      <a:pt x="739181" y="951827"/>
                    </a:cubicBezTo>
                    <a:lnTo>
                      <a:pt x="447849" y="751475"/>
                    </a:lnTo>
                    <a:cubicBezTo>
                      <a:pt x="438324" y="744906"/>
                      <a:pt x="431098" y="735710"/>
                      <a:pt x="427486" y="724542"/>
                    </a:cubicBezTo>
                    <a:lnTo>
                      <a:pt x="309902" y="380659"/>
                    </a:lnTo>
                    <a:lnTo>
                      <a:pt x="98054" y="257163"/>
                    </a:lnTo>
                    <a:cubicBezTo>
                      <a:pt x="88529" y="251580"/>
                      <a:pt x="80975" y="243040"/>
                      <a:pt x="76376" y="233187"/>
                    </a:cubicBezTo>
                    <a:lnTo>
                      <a:pt x="4775" y="75861"/>
                    </a:lnTo>
                    <a:cubicBezTo>
                      <a:pt x="-7377" y="48928"/>
                      <a:pt x="4447" y="17069"/>
                      <a:pt x="31379" y="4917"/>
                    </a:cubicBezTo>
                    <a:cubicBezTo>
                      <a:pt x="58312" y="-7564"/>
                      <a:pt x="90171" y="4588"/>
                      <a:pt x="102324" y="31521"/>
                    </a:cubicBezTo>
                    <a:lnTo>
                      <a:pt x="167028" y="173409"/>
                    </a:lnTo>
                    <a:lnTo>
                      <a:pt x="381503" y="298548"/>
                    </a:lnTo>
                    <a:cubicBezTo>
                      <a:pt x="392670" y="305116"/>
                      <a:pt x="400881" y="315298"/>
                      <a:pt x="405151" y="327451"/>
                    </a:cubicBezTo>
                    <a:lnTo>
                      <a:pt x="523392" y="673633"/>
                    </a:lnTo>
                    <a:lnTo>
                      <a:pt x="745422" y="826689"/>
                    </a:lnTo>
                    <a:lnTo>
                      <a:pt x="896835" y="460800"/>
                    </a:lnTo>
                    <a:cubicBezTo>
                      <a:pt x="905047" y="440765"/>
                      <a:pt x="924753" y="427627"/>
                      <a:pt x="946431" y="427627"/>
                    </a:cubicBezTo>
                    <a:lnTo>
                      <a:pt x="1003252" y="427627"/>
                    </a:lnTo>
                    <a:lnTo>
                      <a:pt x="1189481" y="31192"/>
                    </a:lnTo>
                    <a:cubicBezTo>
                      <a:pt x="1201962" y="4259"/>
                      <a:pt x="1233821" y="-7236"/>
                      <a:pt x="1260754" y="5573"/>
                    </a:cubicBezTo>
                    <a:cubicBezTo>
                      <a:pt x="1287686" y="18054"/>
                      <a:pt x="1299182" y="49914"/>
                      <a:pt x="1286373" y="76846"/>
                    </a:cubicBezTo>
                    <a:lnTo>
                      <a:pt x="1085692" y="504155"/>
                    </a:lnTo>
                    <a:cubicBezTo>
                      <a:pt x="1076824" y="522876"/>
                      <a:pt x="1058102" y="535029"/>
                      <a:pt x="1037082" y="535029"/>
                    </a:cubicBezTo>
                    <a:lnTo>
                      <a:pt x="982231" y="535029"/>
                    </a:lnTo>
                    <a:lnTo>
                      <a:pt x="819322" y="929164"/>
                    </a:lnTo>
                    <a:cubicBezTo>
                      <a:pt x="813082" y="944273"/>
                      <a:pt x="800601" y="955440"/>
                      <a:pt x="785164" y="960038"/>
                    </a:cubicBezTo>
                    <a:cubicBezTo>
                      <a:pt x="779580" y="960695"/>
                      <a:pt x="774653" y="961352"/>
                      <a:pt x="769398" y="961352"/>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37" name="Google Shape;1537;p80"/>
              <p:cNvSpPr/>
              <p:nvPr/>
            </p:nvSpPr>
            <p:spPr>
              <a:xfrm>
                <a:off x="2453555" y="2246797"/>
                <a:ext cx="388683" cy="774595"/>
              </a:xfrm>
              <a:custGeom>
                <a:rect b="b" l="l" r="r" t="t"/>
                <a:pathLst>
                  <a:path extrusionOk="0" h="774595" w="388683">
                    <a:moveTo>
                      <a:pt x="334806" y="774595"/>
                    </a:moveTo>
                    <a:cubicBezTo>
                      <a:pt x="316413" y="774595"/>
                      <a:pt x="298349" y="765070"/>
                      <a:pt x="288495" y="747991"/>
                    </a:cubicBezTo>
                    <a:lnTo>
                      <a:pt x="216565" y="624495"/>
                    </a:lnTo>
                    <a:lnTo>
                      <a:pt x="56284" y="321011"/>
                    </a:lnTo>
                    <a:cubicBezTo>
                      <a:pt x="53985" y="316413"/>
                      <a:pt x="52342" y="311814"/>
                      <a:pt x="51357" y="306888"/>
                    </a:cubicBezTo>
                    <a:lnTo>
                      <a:pt x="1105" y="64494"/>
                    </a:lnTo>
                    <a:cubicBezTo>
                      <a:pt x="-4807" y="35591"/>
                      <a:pt x="13586" y="7345"/>
                      <a:pt x="42489" y="1104"/>
                    </a:cubicBezTo>
                    <a:cubicBezTo>
                      <a:pt x="71392" y="-4808"/>
                      <a:pt x="99639" y="13585"/>
                      <a:pt x="105879" y="42817"/>
                    </a:cubicBezTo>
                    <a:lnTo>
                      <a:pt x="154818" y="277984"/>
                    </a:lnTo>
                    <a:lnTo>
                      <a:pt x="310501" y="572601"/>
                    </a:lnTo>
                    <a:lnTo>
                      <a:pt x="381446" y="694126"/>
                    </a:lnTo>
                    <a:cubicBezTo>
                      <a:pt x="396226" y="719745"/>
                      <a:pt x="387686" y="752261"/>
                      <a:pt x="362067" y="767369"/>
                    </a:cubicBezTo>
                    <a:cubicBezTo>
                      <a:pt x="353199" y="771968"/>
                      <a:pt x="344003" y="774595"/>
                      <a:pt x="334806" y="77459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38" name="Google Shape;1538;p80"/>
              <p:cNvSpPr/>
              <p:nvPr/>
            </p:nvSpPr>
            <p:spPr>
              <a:xfrm>
                <a:off x="1303127"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942" y="106745"/>
                    </a:moveTo>
                    <a:cubicBezTo>
                      <a:pt x="111015" y="106745"/>
                      <a:pt x="107074" y="110686"/>
                      <a:pt x="107074" y="115613"/>
                    </a:cubicBezTo>
                    <a:lnTo>
                      <a:pt x="107074" y="398734"/>
                    </a:lnTo>
                    <a:cubicBezTo>
                      <a:pt x="107074" y="403661"/>
                      <a:pt x="111015" y="407602"/>
                      <a:pt x="115942" y="407602"/>
                    </a:cubicBezTo>
                    <a:lnTo>
                      <a:pt x="399062" y="407602"/>
                    </a:lnTo>
                    <a:cubicBezTo>
                      <a:pt x="403989" y="407602"/>
                      <a:pt x="407930" y="403661"/>
                      <a:pt x="407930" y="398734"/>
                    </a:cubicBezTo>
                    <a:lnTo>
                      <a:pt x="407930" y="115613"/>
                    </a:lnTo>
                    <a:cubicBezTo>
                      <a:pt x="407930" y="110686"/>
                      <a:pt x="403989" y="106745"/>
                      <a:pt x="399062" y="106745"/>
                    </a:cubicBezTo>
                    <a:lnTo>
                      <a:pt x="115942"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39" name="Google Shape;1539;p80"/>
              <p:cNvSpPr/>
              <p:nvPr/>
            </p:nvSpPr>
            <p:spPr>
              <a:xfrm>
                <a:off x="1303127"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942" y="107073"/>
                    </a:moveTo>
                    <a:cubicBezTo>
                      <a:pt x="111015" y="107073"/>
                      <a:pt x="107074" y="111015"/>
                      <a:pt x="107074" y="115942"/>
                    </a:cubicBezTo>
                    <a:lnTo>
                      <a:pt x="107074" y="399062"/>
                    </a:lnTo>
                    <a:cubicBezTo>
                      <a:pt x="107074" y="403989"/>
                      <a:pt x="111015" y="407930"/>
                      <a:pt x="115942" y="407930"/>
                    </a:cubicBezTo>
                    <a:lnTo>
                      <a:pt x="399062" y="407930"/>
                    </a:lnTo>
                    <a:cubicBezTo>
                      <a:pt x="403989" y="407930"/>
                      <a:pt x="407930" y="403989"/>
                      <a:pt x="407930" y="399062"/>
                    </a:cubicBezTo>
                    <a:lnTo>
                      <a:pt x="407930" y="115942"/>
                    </a:lnTo>
                    <a:cubicBezTo>
                      <a:pt x="407930" y="111015"/>
                      <a:pt x="403989" y="107073"/>
                      <a:pt x="399062" y="107073"/>
                    </a:cubicBezTo>
                    <a:lnTo>
                      <a:pt x="115942"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40" name="Google Shape;1540;p80"/>
              <p:cNvSpPr/>
              <p:nvPr/>
            </p:nvSpPr>
            <p:spPr>
              <a:xfrm>
                <a:off x="1920934"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2781"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41" name="Google Shape;1541;p80"/>
              <p:cNvSpPr/>
              <p:nvPr/>
            </p:nvSpPr>
            <p:spPr>
              <a:xfrm>
                <a:off x="685648"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42" name="Google Shape;1542;p80"/>
              <p:cNvSpPr/>
              <p:nvPr/>
            </p:nvSpPr>
            <p:spPr>
              <a:xfrm>
                <a:off x="685648"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543" name="Google Shape;1543;p80"/>
              <p:cNvSpPr/>
              <p:nvPr/>
            </p:nvSpPr>
            <p:spPr>
              <a:xfrm>
                <a:off x="685648" y="2659773"/>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grpSp>
        <p:sp>
          <p:nvSpPr>
            <p:cNvPr id="1544" name="Google Shape;1544;p80"/>
            <p:cNvSpPr txBox="1"/>
            <p:nvPr/>
          </p:nvSpPr>
          <p:spPr>
            <a:xfrm>
              <a:off x="5033899" y="2927370"/>
              <a:ext cx="879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latin typeface="Arial"/>
                  <a:ea typeface="Arial"/>
                  <a:cs typeface="Arial"/>
                  <a:sym typeface="Arial"/>
                </a:rPr>
                <a:t>Iceberg Tables</a:t>
              </a:r>
              <a:endParaRPr sz="1000">
                <a:solidFill>
                  <a:srgbClr val="105780"/>
                </a:solidFill>
                <a:latin typeface="Arial"/>
                <a:ea typeface="Arial"/>
                <a:cs typeface="Arial"/>
                <a:sym typeface="Arial"/>
              </a:endParaRPr>
            </a:p>
          </p:txBody>
        </p:sp>
      </p:grpSp>
      <p:grpSp>
        <p:nvGrpSpPr>
          <p:cNvPr id="1545" name="Google Shape;1545;p80"/>
          <p:cNvGrpSpPr/>
          <p:nvPr/>
        </p:nvGrpSpPr>
        <p:grpSpPr>
          <a:xfrm>
            <a:off x="8013968" y="1023640"/>
            <a:ext cx="879300" cy="620475"/>
            <a:chOff x="3394243" y="1825875"/>
            <a:chExt cx="879300" cy="620475"/>
          </a:xfrm>
        </p:grpSpPr>
        <p:sp>
          <p:nvSpPr>
            <p:cNvPr id="1546" name="Google Shape;1546;p80"/>
            <p:cNvSpPr txBox="1"/>
            <p:nvPr/>
          </p:nvSpPr>
          <p:spPr>
            <a:xfrm>
              <a:off x="3394243" y="2292450"/>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Vertex AI </a:t>
              </a:r>
              <a:endParaRPr sz="1000">
                <a:solidFill>
                  <a:schemeClr val="dk1"/>
                </a:solidFill>
              </a:endParaRPr>
            </a:p>
          </p:txBody>
        </p:sp>
        <p:pic>
          <p:nvPicPr>
            <p:cNvPr id="1547" name="Google Shape;1547;p80" title="VertexAI-512-color.png"/>
            <p:cNvPicPr preferRelativeResize="0"/>
            <p:nvPr/>
          </p:nvPicPr>
          <p:blipFill>
            <a:blip r:embed="rId7">
              <a:alphaModFix/>
            </a:blip>
            <a:stretch>
              <a:fillRect/>
            </a:stretch>
          </p:blipFill>
          <p:spPr>
            <a:xfrm>
              <a:off x="3605288" y="1825875"/>
              <a:ext cx="457201" cy="457201"/>
            </a:xfrm>
            <a:prstGeom prst="rect">
              <a:avLst/>
            </a:prstGeom>
            <a:noFill/>
            <a:ln>
              <a:noFill/>
            </a:ln>
          </p:spPr>
        </p:pic>
      </p:grpSp>
      <p:grpSp>
        <p:nvGrpSpPr>
          <p:cNvPr id="1548" name="Google Shape;1548;p80"/>
          <p:cNvGrpSpPr/>
          <p:nvPr/>
        </p:nvGrpSpPr>
        <p:grpSpPr>
          <a:xfrm>
            <a:off x="8013968" y="2486799"/>
            <a:ext cx="879300" cy="596150"/>
            <a:chOff x="152400" y="1637725"/>
            <a:chExt cx="879300" cy="596150"/>
          </a:xfrm>
        </p:grpSpPr>
        <p:pic>
          <p:nvPicPr>
            <p:cNvPr id="1549" name="Google Shape;1549;p80" title="CloudRun-512-color-rgb.png"/>
            <p:cNvPicPr preferRelativeResize="0"/>
            <p:nvPr/>
          </p:nvPicPr>
          <p:blipFill>
            <a:blip r:embed="rId8">
              <a:alphaModFix/>
            </a:blip>
            <a:stretch>
              <a:fillRect/>
            </a:stretch>
          </p:blipFill>
          <p:spPr>
            <a:xfrm>
              <a:off x="363450" y="1637725"/>
              <a:ext cx="457199" cy="457199"/>
            </a:xfrm>
            <a:prstGeom prst="rect">
              <a:avLst/>
            </a:prstGeom>
            <a:noFill/>
            <a:ln>
              <a:noFill/>
            </a:ln>
          </p:spPr>
        </p:pic>
        <p:sp>
          <p:nvSpPr>
            <p:cNvPr id="1550" name="Google Shape;1550;p80"/>
            <p:cNvSpPr txBox="1"/>
            <p:nvPr/>
          </p:nvSpPr>
          <p:spPr>
            <a:xfrm>
              <a:off x="152400" y="2079975"/>
              <a:ext cx="879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solidFill>
                    <a:schemeClr val="dk1"/>
                  </a:solidFill>
                </a:rPr>
                <a:t>Cloud Run</a:t>
              </a:r>
              <a:endParaRPr sz="1000">
                <a:solidFill>
                  <a:schemeClr val="dk1"/>
                </a:solidFill>
              </a:endParaRPr>
            </a:p>
          </p:txBody>
        </p:sp>
      </p:grpSp>
      <p:cxnSp>
        <p:nvCxnSpPr>
          <p:cNvPr id="1551" name="Google Shape;1551;p80"/>
          <p:cNvCxnSpPr>
            <a:stCxn id="1524" idx="3"/>
            <a:endCxn id="1547" idx="1"/>
          </p:cNvCxnSpPr>
          <p:nvPr/>
        </p:nvCxnSpPr>
        <p:spPr>
          <a:xfrm flipH="1" rot="10800000">
            <a:off x="7486447" y="1252190"/>
            <a:ext cx="738600" cy="842700"/>
          </a:xfrm>
          <a:prstGeom prst="bentConnector3">
            <a:avLst>
              <a:gd fmla="val 49998" name="adj1"/>
            </a:avLst>
          </a:prstGeom>
          <a:noFill/>
          <a:ln cap="flat" cmpd="sng" w="9525">
            <a:solidFill>
              <a:schemeClr val="dk2"/>
            </a:solidFill>
            <a:prstDash val="solid"/>
            <a:round/>
            <a:headEnd len="med" w="med" type="none"/>
            <a:tailEnd len="med" w="med" type="triangle"/>
          </a:ln>
        </p:spPr>
      </p:cxnSp>
      <p:cxnSp>
        <p:nvCxnSpPr>
          <p:cNvPr id="1552" name="Google Shape;1552;p80"/>
          <p:cNvCxnSpPr>
            <a:stCxn id="1524" idx="3"/>
            <a:endCxn id="1549" idx="1"/>
          </p:cNvCxnSpPr>
          <p:nvPr/>
        </p:nvCxnSpPr>
        <p:spPr>
          <a:xfrm>
            <a:off x="7486447" y="2094890"/>
            <a:ext cx="738600" cy="620400"/>
          </a:xfrm>
          <a:prstGeom prst="bentConnector3">
            <a:avLst>
              <a:gd fmla="val 49998" name="adj1"/>
            </a:avLst>
          </a:prstGeom>
          <a:noFill/>
          <a:ln cap="flat" cmpd="sng" w="9525">
            <a:solidFill>
              <a:schemeClr val="dk2"/>
            </a:solidFill>
            <a:prstDash val="solid"/>
            <a:round/>
            <a:headEnd len="med" w="med" type="none"/>
            <a:tailEnd len="med" w="med" type="triangle"/>
          </a:ln>
        </p:spPr>
      </p:cxnSp>
      <p:cxnSp>
        <p:nvCxnSpPr>
          <p:cNvPr id="1553" name="Google Shape;1553;p80"/>
          <p:cNvCxnSpPr>
            <a:stCxn id="1520" idx="3"/>
            <a:endCxn id="1524" idx="1"/>
          </p:cNvCxnSpPr>
          <p:nvPr/>
        </p:nvCxnSpPr>
        <p:spPr>
          <a:xfrm>
            <a:off x="5511564" y="1397495"/>
            <a:ext cx="1517700" cy="697500"/>
          </a:xfrm>
          <a:prstGeom prst="bentConnector3">
            <a:avLst>
              <a:gd fmla="val 26149" name="adj1"/>
            </a:avLst>
          </a:prstGeom>
          <a:noFill/>
          <a:ln cap="flat" cmpd="sng" w="9525">
            <a:solidFill>
              <a:schemeClr val="dk2"/>
            </a:solidFill>
            <a:prstDash val="solid"/>
            <a:round/>
            <a:headEnd len="med" w="med" type="none"/>
            <a:tailEnd len="med" w="med" type="triangle"/>
          </a:ln>
        </p:spPr>
      </p:cxnSp>
      <p:grpSp>
        <p:nvGrpSpPr>
          <p:cNvPr id="1554" name="Google Shape;1554;p80"/>
          <p:cNvGrpSpPr/>
          <p:nvPr/>
        </p:nvGrpSpPr>
        <p:grpSpPr>
          <a:xfrm>
            <a:off x="4897995" y="2486777"/>
            <a:ext cx="368765" cy="381908"/>
            <a:chOff x="1714900" y="552700"/>
            <a:chExt cx="4353775" cy="4508950"/>
          </a:xfrm>
        </p:grpSpPr>
        <p:sp>
          <p:nvSpPr>
            <p:cNvPr id="1555" name="Google Shape;1555;p80"/>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1556" name="Google Shape;1556;p80"/>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
                <a:buFont typeface="Arial"/>
                <a:buNone/>
              </a:pPr>
              <a:r>
                <a:rPr b="1" lang="en" sz="400">
                  <a:solidFill>
                    <a:srgbClr val="FFFFFF"/>
                  </a:solidFill>
                  <a:latin typeface="Arial"/>
                  <a:ea typeface="Arial"/>
                  <a:cs typeface="Arial"/>
                  <a:sym typeface="Arial"/>
                </a:rPr>
                <a:t>PARQUET</a:t>
              </a:r>
              <a:endParaRPr sz="1000">
                <a:solidFill>
                  <a:srgbClr val="252525"/>
                </a:solidFill>
                <a:latin typeface="Arial"/>
                <a:ea typeface="Arial"/>
                <a:cs typeface="Arial"/>
                <a:sym typeface="Arial"/>
              </a:endParaRPr>
            </a:p>
          </p:txBody>
        </p:sp>
      </p:grpSp>
      <p:cxnSp>
        <p:nvCxnSpPr>
          <p:cNvPr id="1557" name="Google Shape;1557;p80"/>
          <p:cNvCxnSpPr>
            <a:endCxn id="1524" idx="1"/>
          </p:cNvCxnSpPr>
          <p:nvPr/>
        </p:nvCxnSpPr>
        <p:spPr>
          <a:xfrm flipH="1" rot="10800000">
            <a:off x="5723947" y="2094890"/>
            <a:ext cx="1305300" cy="578100"/>
          </a:xfrm>
          <a:prstGeom prst="bentConnector3">
            <a:avLst>
              <a:gd fmla="val 13459" name="adj1"/>
            </a:avLst>
          </a:prstGeom>
          <a:noFill/>
          <a:ln cap="flat" cmpd="sng" w="9525">
            <a:solidFill>
              <a:schemeClr val="dk2"/>
            </a:solidFill>
            <a:prstDash val="solid"/>
            <a:round/>
            <a:headEnd len="med" w="med" type="none"/>
            <a:tailEnd len="med" w="med" type="triangle"/>
          </a:ln>
        </p:spPr>
      </p:cxnSp>
      <p:grpSp>
        <p:nvGrpSpPr>
          <p:cNvPr id="1558" name="Google Shape;1558;p80"/>
          <p:cNvGrpSpPr/>
          <p:nvPr/>
        </p:nvGrpSpPr>
        <p:grpSpPr>
          <a:xfrm>
            <a:off x="6229646" y="1593769"/>
            <a:ext cx="667793" cy="457047"/>
            <a:chOff x="5834002" y="3598367"/>
            <a:chExt cx="667793" cy="457047"/>
          </a:xfrm>
        </p:grpSpPr>
        <p:sp>
          <p:nvSpPr>
            <p:cNvPr id="1559" name="Google Shape;1559;p80"/>
            <p:cNvSpPr/>
            <p:nvPr/>
          </p:nvSpPr>
          <p:spPr>
            <a:xfrm>
              <a:off x="5834002" y="3922190"/>
              <a:ext cx="667793" cy="133225"/>
            </a:xfrm>
            <a:custGeom>
              <a:rect b="b" l="l" r="r" t="t"/>
              <a:pathLst>
                <a:path extrusionOk="0" h="62916" w="16140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lang="en" sz="1000">
                  <a:solidFill>
                    <a:schemeClr val="dk1"/>
                  </a:solidFill>
                </a:rPr>
                <a:t>BigLake</a:t>
              </a:r>
              <a:endParaRPr sz="1000">
                <a:solidFill>
                  <a:schemeClr val="dk1"/>
                </a:solidFill>
              </a:endParaRPr>
            </a:p>
          </p:txBody>
        </p:sp>
        <p:sp>
          <p:nvSpPr>
            <p:cNvPr id="1560" name="Google Shape;1560;p80"/>
            <p:cNvSpPr/>
            <p:nvPr/>
          </p:nvSpPr>
          <p:spPr>
            <a:xfrm>
              <a:off x="5977742" y="3598367"/>
              <a:ext cx="322936" cy="270712"/>
            </a:xfrm>
            <a:custGeom>
              <a:rect b="b" l="l" r="r" t="t"/>
              <a:pathLst>
                <a:path extrusionOk="0" h="127845" w="152508">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cxnSp>
        <p:nvCxnSpPr>
          <p:cNvPr id="1561" name="Google Shape;1561;p80"/>
          <p:cNvCxnSpPr>
            <a:stCxn id="1515" idx="3"/>
            <a:endCxn id="1520" idx="1"/>
          </p:cNvCxnSpPr>
          <p:nvPr/>
        </p:nvCxnSpPr>
        <p:spPr>
          <a:xfrm>
            <a:off x="3439607" y="1394546"/>
            <a:ext cx="1614900" cy="3000"/>
          </a:xfrm>
          <a:prstGeom prst="bentConnector3">
            <a:avLst>
              <a:gd fmla="val 49996" name="adj1"/>
            </a:avLst>
          </a:prstGeom>
          <a:noFill/>
          <a:ln cap="flat" cmpd="sng" w="9525">
            <a:solidFill>
              <a:schemeClr val="dk2"/>
            </a:solidFill>
            <a:prstDash val="solid"/>
            <a:round/>
            <a:headEnd len="med" w="med" type="triangle"/>
            <a:tailEnd len="med" w="med" type="triangle"/>
          </a:ln>
        </p:spPr>
      </p:cxnSp>
      <p:cxnSp>
        <p:nvCxnSpPr>
          <p:cNvPr id="1562" name="Google Shape;1562;p80"/>
          <p:cNvCxnSpPr/>
          <p:nvPr/>
        </p:nvCxnSpPr>
        <p:spPr>
          <a:xfrm>
            <a:off x="4088425" y="2611325"/>
            <a:ext cx="879300" cy="8700"/>
          </a:xfrm>
          <a:prstGeom prst="bentConnector3">
            <a:avLst>
              <a:gd fmla="val 50000" name="adj1"/>
            </a:avLst>
          </a:prstGeom>
          <a:noFill/>
          <a:ln cap="flat" cmpd="sng" w="9525">
            <a:solidFill>
              <a:schemeClr val="dk2"/>
            </a:solidFill>
            <a:prstDash val="solid"/>
            <a:round/>
            <a:headEnd len="med" w="med" type="triangle"/>
            <a:tailEnd len="med" w="med" type="triangle"/>
          </a:ln>
        </p:spPr>
      </p:cxnSp>
      <p:cxnSp>
        <p:nvCxnSpPr>
          <p:cNvPr id="1563" name="Google Shape;1563;p80"/>
          <p:cNvCxnSpPr>
            <a:stCxn id="1516" idx="2"/>
          </p:cNvCxnSpPr>
          <p:nvPr/>
        </p:nvCxnSpPr>
        <p:spPr>
          <a:xfrm>
            <a:off x="3211020" y="1817762"/>
            <a:ext cx="666300" cy="512100"/>
          </a:xfrm>
          <a:prstGeom prst="straightConnector1">
            <a:avLst/>
          </a:prstGeom>
          <a:noFill/>
          <a:ln cap="flat" cmpd="sng" w="9525">
            <a:solidFill>
              <a:schemeClr val="dk2"/>
            </a:solidFill>
            <a:prstDash val="solid"/>
            <a:round/>
            <a:headEnd len="med" w="med" type="none"/>
            <a:tailEnd len="med" w="med" type="triangle"/>
          </a:ln>
        </p:spPr>
      </p:cxnSp>
      <p:cxnSp>
        <p:nvCxnSpPr>
          <p:cNvPr id="1564" name="Google Shape;1564;p80"/>
          <p:cNvCxnSpPr>
            <a:stCxn id="1516" idx="2"/>
            <a:endCxn id="1530" idx="0"/>
          </p:cNvCxnSpPr>
          <p:nvPr/>
        </p:nvCxnSpPr>
        <p:spPr>
          <a:xfrm flipH="1">
            <a:off x="2606820" y="1817762"/>
            <a:ext cx="604200" cy="559800"/>
          </a:xfrm>
          <a:prstGeom prst="straightConnector1">
            <a:avLst/>
          </a:prstGeom>
          <a:noFill/>
          <a:ln cap="flat" cmpd="sng" w="9525">
            <a:solidFill>
              <a:schemeClr val="dk2"/>
            </a:solidFill>
            <a:prstDash val="solid"/>
            <a:round/>
            <a:headEnd len="med" w="med" type="none"/>
            <a:tailEnd len="med" w="med" type="triangle"/>
          </a:ln>
        </p:spPr>
      </p:cxnSp>
      <p:cxnSp>
        <p:nvCxnSpPr>
          <p:cNvPr id="1565" name="Google Shape;1565;p80"/>
          <p:cNvCxnSpPr>
            <a:stCxn id="1530" idx="3"/>
          </p:cNvCxnSpPr>
          <p:nvPr/>
        </p:nvCxnSpPr>
        <p:spPr>
          <a:xfrm flipH="1" rot="10800000">
            <a:off x="2835451" y="2602529"/>
            <a:ext cx="690300" cy="3600"/>
          </a:xfrm>
          <a:prstGeom prst="straightConnector1">
            <a:avLst/>
          </a:prstGeom>
          <a:noFill/>
          <a:ln cap="flat" cmpd="sng" w="9525">
            <a:solidFill>
              <a:schemeClr val="dk2"/>
            </a:solidFill>
            <a:prstDash val="solid"/>
            <a:round/>
            <a:headEnd len="med" w="med" type="none"/>
            <a:tailEnd len="med" w="med" type="triangle"/>
          </a:ln>
        </p:spPr>
      </p:cxnSp>
      <p:sp>
        <p:nvSpPr>
          <p:cNvPr id="1566" name="Google Shape;1566;p80"/>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000"/>
              <a:t>GCP</a:t>
            </a:r>
            <a:r>
              <a:rPr lang="en" sz="2000"/>
              <a:t>-Managed Iceberg on GCS (Needs changes)</a:t>
            </a:r>
            <a:endParaRPr sz="2000"/>
          </a:p>
        </p:txBody>
      </p:sp>
      <p:sp>
        <p:nvSpPr>
          <p:cNvPr id="1567" name="Google Shape;1567;p80"/>
          <p:cNvSpPr txBox="1"/>
          <p:nvPr/>
        </p:nvSpPr>
        <p:spPr>
          <a:xfrm>
            <a:off x="311350" y="3316532"/>
            <a:ext cx="8656500" cy="12435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1- Native App or SPCS executes standard DML against tables defined within the Catalog Linked Database (CLD) schema. Horizon manages RDBC and Iceberg.</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2- CLD acts as the abstraction layer, enabling Snowflake to atomically manage the Iceberg format and sync metadata with the Polaris.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3- BigLake serves as the unified access layer, connecting BigQuery securely to the Polaris-managed Iceberg metadata and the data files in GCS.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4- GCP analytics and AI services (e.g., Vertex AI) consume the Iceberg tables by querying the integrated BigQuery/BigLake tables.</a:t>
            </a:r>
            <a:endParaRPr sz="900">
              <a:solidFill>
                <a:schemeClr val="dk1"/>
              </a:solidFill>
              <a:latin typeface="Roboto"/>
              <a:ea typeface="Roboto"/>
              <a:cs typeface="Roboto"/>
              <a:sym typeface="Roboto"/>
            </a:endParaRPr>
          </a:p>
        </p:txBody>
      </p:sp>
      <p:sp>
        <p:nvSpPr>
          <p:cNvPr id="1568" name="Google Shape;1568;p80"/>
          <p:cNvSpPr/>
          <p:nvPr/>
        </p:nvSpPr>
        <p:spPr>
          <a:xfrm>
            <a:off x="3103968" y="2109351"/>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1</a:t>
            </a:r>
            <a:endParaRPr sz="1100"/>
          </a:p>
        </p:txBody>
      </p:sp>
      <p:sp>
        <p:nvSpPr>
          <p:cNvPr id="1569" name="Google Shape;1569;p80"/>
          <p:cNvSpPr/>
          <p:nvPr/>
        </p:nvSpPr>
        <p:spPr>
          <a:xfrm>
            <a:off x="4397918" y="237756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2</a:t>
            </a:r>
            <a:endParaRPr sz="1100"/>
          </a:p>
        </p:txBody>
      </p:sp>
      <p:sp>
        <p:nvSpPr>
          <p:cNvPr id="1570" name="Google Shape;1570;p80"/>
          <p:cNvSpPr/>
          <p:nvPr/>
        </p:nvSpPr>
        <p:spPr>
          <a:xfrm>
            <a:off x="6054918" y="182801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3</a:t>
            </a:r>
            <a:endParaRPr sz="1100"/>
          </a:p>
        </p:txBody>
      </p:sp>
      <p:sp>
        <p:nvSpPr>
          <p:cNvPr id="1571" name="Google Shape;1571;p80"/>
          <p:cNvSpPr/>
          <p:nvPr/>
        </p:nvSpPr>
        <p:spPr>
          <a:xfrm>
            <a:off x="7573193" y="1828010"/>
            <a:ext cx="201600" cy="201600"/>
          </a:xfrm>
          <a:prstGeom prst="ellipse">
            <a:avLst/>
          </a:prstGeom>
          <a:solidFill>
            <a:srgbClr val="D9EAD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t>4</a:t>
            </a:r>
            <a:endParaRPr sz="1100"/>
          </a:p>
        </p:txBody>
      </p:sp>
      <p:sp>
        <p:nvSpPr>
          <p:cNvPr id="1572" name="Google Shape;1572;p80"/>
          <p:cNvSpPr txBox="1"/>
          <p:nvPr/>
        </p:nvSpPr>
        <p:spPr>
          <a:xfrm>
            <a:off x="311350" y="614000"/>
            <a:ext cx="1868100" cy="26403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 CLD is in Public Preview (PuPr); planned GA 10/31/25.</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BigLake write to Polaris IRC is currently in development.</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For Looker, GCP web apps, and Vertex AI Serving, use Snowflake connectors (Rec).</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For Vertex AI Training and Feature Store (large reads), connect via BigLake and Iceberg.</a:t>
            </a:r>
            <a:endParaRPr sz="900">
              <a:solidFill>
                <a:schemeClr val="dk1"/>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81"/>
          <p:cNvSpPr/>
          <p:nvPr/>
        </p:nvSpPr>
        <p:spPr>
          <a:xfrm>
            <a:off x="334110" y="550075"/>
            <a:ext cx="8484600" cy="3758100"/>
          </a:xfrm>
          <a:prstGeom prst="roundRect">
            <a:avLst>
              <a:gd fmla="val 3800" name="adj"/>
            </a:avLst>
          </a:prstGeom>
          <a:solidFill>
            <a:schemeClr val="lt1">
              <a:alpha val="69800"/>
            </a:schemeClr>
          </a:solidFill>
          <a:ln cap="flat" cmpd="sng" w="7150">
            <a:solidFill>
              <a:srgbClr val="4A86E8"/>
            </a:solidFill>
            <a:prstDash val="solid"/>
            <a:miter lim="800000"/>
            <a:headEnd len="sm" w="sm" type="none"/>
            <a:tailEnd len="sm" w="sm" type="none"/>
          </a:ln>
        </p:spPr>
        <p:txBody>
          <a:bodyPr anchorCtr="0" anchor="t" bIns="109725" lIns="137150" spcFirstLastPara="1" rIns="137150" wrap="square" tIns="109725">
            <a:noAutofit/>
          </a:bodyPr>
          <a:lstStyle/>
          <a:p>
            <a:pPr indent="0" lvl="0" marL="0" marR="0" rtl="0" algn="l">
              <a:spcBef>
                <a:spcPts val="0"/>
              </a:spcBef>
              <a:spcAft>
                <a:spcPts val="0"/>
              </a:spcAft>
              <a:buNone/>
            </a:pPr>
            <a:r>
              <a:rPr lang="en" sz="1500">
                <a:solidFill>
                  <a:srgbClr val="FFFFFF"/>
                </a:solidFill>
              </a:rPr>
              <a:t>       </a:t>
            </a:r>
            <a:endParaRPr b="0" i="0" sz="1500" u="none" cap="none" strike="noStrike">
              <a:solidFill>
                <a:srgbClr val="FFFFFF"/>
              </a:solidFill>
              <a:latin typeface="Arial"/>
              <a:ea typeface="Arial"/>
              <a:cs typeface="Arial"/>
              <a:sym typeface="Arial"/>
            </a:endParaRPr>
          </a:p>
        </p:txBody>
      </p:sp>
      <p:sp>
        <p:nvSpPr>
          <p:cNvPr id="1579" name="Google Shape;1579;p81"/>
          <p:cNvSpPr/>
          <p:nvPr/>
        </p:nvSpPr>
        <p:spPr>
          <a:xfrm>
            <a:off x="7132825" y="2571750"/>
            <a:ext cx="1589100" cy="1683900"/>
          </a:xfrm>
          <a:prstGeom prst="roundRect">
            <a:avLst>
              <a:gd fmla="val 5400" name="adj"/>
            </a:avLst>
          </a:prstGeom>
          <a:solidFill>
            <a:srgbClr val="F2F2F2">
              <a:alpha val="69800"/>
            </a:srgbClr>
          </a:solidFill>
          <a:ln cap="flat" cmpd="sng" w="9525">
            <a:solidFill>
              <a:schemeClr val="dk1"/>
            </a:solidFill>
            <a:prstDash val="dot"/>
            <a:round/>
            <a:headEnd len="sm" w="sm" type="none"/>
            <a:tailEnd len="sm" w="sm" type="none"/>
          </a:ln>
        </p:spPr>
        <p:txBody>
          <a:bodyPr anchorCtr="0" anchor="t" bIns="109725" lIns="137150" spcFirstLastPara="1" rIns="137150" wrap="square" tIns="1097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580" name="Google Shape;1580;p81"/>
          <p:cNvSpPr/>
          <p:nvPr/>
        </p:nvSpPr>
        <p:spPr>
          <a:xfrm>
            <a:off x="449285" y="879975"/>
            <a:ext cx="1370100" cy="2204700"/>
          </a:xfrm>
          <a:prstGeom prst="roundRect">
            <a:avLst>
              <a:gd fmla="val 5400" name="adj"/>
            </a:avLst>
          </a:prstGeom>
          <a:solidFill>
            <a:srgbClr val="F2F2F2">
              <a:alpha val="69800"/>
            </a:srgbClr>
          </a:solidFill>
          <a:ln cap="flat" cmpd="sng" w="9525">
            <a:solidFill>
              <a:schemeClr val="dk1"/>
            </a:solidFill>
            <a:prstDash val="dot"/>
            <a:round/>
            <a:headEnd len="sm" w="sm" type="none"/>
            <a:tailEnd len="sm" w="sm" type="none"/>
          </a:ln>
        </p:spPr>
        <p:txBody>
          <a:bodyPr anchorCtr="0" anchor="t" bIns="109725" lIns="137150" spcFirstLastPara="1" rIns="137150" wrap="square" tIns="1097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581" name="Google Shape;1581;p81"/>
          <p:cNvSpPr/>
          <p:nvPr/>
        </p:nvSpPr>
        <p:spPr>
          <a:xfrm>
            <a:off x="7097600" y="879974"/>
            <a:ext cx="1589100" cy="1463400"/>
          </a:xfrm>
          <a:prstGeom prst="roundRect">
            <a:avLst>
              <a:gd fmla="val 5400" name="adj"/>
            </a:avLst>
          </a:prstGeom>
          <a:solidFill>
            <a:srgbClr val="F2F2F2">
              <a:alpha val="69800"/>
            </a:srgbClr>
          </a:solidFill>
          <a:ln cap="flat" cmpd="sng" w="9525">
            <a:solidFill>
              <a:schemeClr val="dk1"/>
            </a:solidFill>
            <a:prstDash val="dot"/>
            <a:round/>
            <a:headEnd len="sm" w="sm" type="none"/>
            <a:tailEnd len="sm" w="sm" type="none"/>
          </a:ln>
        </p:spPr>
        <p:txBody>
          <a:bodyPr anchorCtr="0" anchor="t" bIns="109725" lIns="137150" spcFirstLastPara="1" rIns="137150" wrap="square" tIns="1097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582" name="Google Shape;1582;p81"/>
          <p:cNvSpPr/>
          <p:nvPr/>
        </p:nvSpPr>
        <p:spPr>
          <a:xfrm>
            <a:off x="3754462" y="879975"/>
            <a:ext cx="2985900" cy="3375600"/>
          </a:xfrm>
          <a:prstGeom prst="roundRect">
            <a:avLst>
              <a:gd fmla="val 5400" name="adj"/>
            </a:avLst>
          </a:prstGeom>
          <a:solidFill>
            <a:srgbClr val="F2F2F2">
              <a:alpha val="69800"/>
            </a:srgbClr>
          </a:solidFill>
          <a:ln cap="flat" cmpd="sng" w="9525">
            <a:solidFill>
              <a:schemeClr val="dk1"/>
            </a:solidFill>
            <a:prstDash val="dot"/>
            <a:round/>
            <a:headEnd len="sm" w="sm" type="none"/>
            <a:tailEnd len="sm" w="sm" type="none"/>
          </a:ln>
        </p:spPr>
        <p:txBody>
          <a:bodyPr anchorCtr="0" anchor="t" bIns="109725" lIns="137150" spcFirstLastPara="1" rIns="137150" wrap="square" tIns="1097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583" name="Google Shape;1583;p81"/>
          <p:cNvSpPr/>
          <p:nvPr/>
        </p:nvSpPr>
        <p:spPr>
          <a:xfrm>
            <a:off x="2122185" y="879975"/>
            <a:ext cx="1370100" cy="2204700"/>
          </a:xfrm>
          <a:prstGeom prst="roundRect">
            <a:avLst>
              <a:gd fmla="val 5400" name="adj"/>
            </a:avLst>
          </a:prstGeom>
          <a:solidFill>
            <a:srgbClr val="F2F2F2">
              <a:alpha val="69800"/>
            </a:srgbClr>
          </a:solidFill>
          <a:ln cap="flat" cmpd="sng" w="9525">
            <a:solidFill>
              <a:schemeClr val="dk1"/>
            </a:solidFill>
            <a:prstDash val="dot"/>
            <a:round/>
            <a:headEnd len="sm" w="sm" type="none"/>
            <a:tailEnd len="sm" w="sm" type="none"/>
          </a:ln>
        </p:spPr>
        <p:txBody>
          <a:bodyPr anchorCtr="0" anchor="t" bIns="109725" lIns="137150" spcFirstLastPara="1" rIns="137150" wrap="square" tIns="1097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584" name="Google Shape;1584;p81"/>
          <p:cNvSpPr txBox="1"/>
          <p:nvPr>
            <p:ph type="title"/>
          </p:nvPr>
        </p:nvSpPr>
        <p:spPr>
          <a:xfrm>
            <a:off x="228600" y="88925"/>
            <a:ext cx="8686800" cy="3231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Play"/>
              <a:buNone/>
            </a:pPr>
            <a:r>
              <a:rPr b="1" lang="en" sz="2100">
                <a:latin typeface="Arial"/>
                <a:ea typeface="Arial"/>
                <a:cs typeface="Arial"/>
                <a:sym typeface="Arial"/>
              </a:rPr>
              <a:t>Iceberg Lakehouse with Snowflake and Google Cloud</a:t>
            </a:r>
            <a:endParaRPr b="1" sz="2100">
              <a:latin typeface="Arial"/>
              <a:ea typeface="Arial"/>
              <a:cs typeface="Arial"/>
              <a:sym typeface="Arial"/>
            </a:endParaRPr>
          </a:p>
        </p:txBody>
      </p:sp>
      <p:sp>
        <p:nvSpPr>
          <p:cNvPr id="1585" name="Google Shape;1585;p81"/>
          <p:cNvSpPr/>
          <p:nvPr/>
        </p:nvSpPr>
        <p:spPr>
          <a:xfrm flipH="1">
            <a:off x="8126313" y="1001728"/>
            <a:ext cx="34200" cy="34200"/>
          </a:xfrm>
          <a:prstGeom prst="rect">
            <a:avLst/>
          </a:prstGeom>
          <a:noFill/>
          <a:ln>
            <a:noFill/>
          </a:ln>
        </p:spPr>
        <p:txBody>
          <a:bodyPr anchorCtr="0" anchor="t" bIns="109725" lIns="137150" spcFirstLastPara="1" rIns="137150" wrap="square" tIns="109725">
            <a:noAutofit/>
          </a:bodyPr>
          <a:lstStyle/>
          <a:p>
            <a:pPr indent="0" lvl="0" marL="0" marR="0" rtl="0" algn="l">
              <a:spcBef>
                <a:spcPts val="0"/>
              </a:spcBef>
              <a:spcAft>
                <a:spcPts val="0"/>
              </a:spcAft>
              <a:buNone/>
            </a:pPr>
            <a:r>
              <a:t/>
            </a:r>
            <a:endParaRPr sz="1500">
              <a:solidFill>
                <a:srgbClr val="FFFFFF"/>
              </a:solidFill>
              <a:latin typeface="Arial"/>
              <a:ea typeface="Arial"/>
              <a:cs typeface="Arial"/>
              <a:sym typeface="Arial"/>
            </a:endParaRPr>
          </a:p>
        </p:txBody>
      </p:sp>
      <p:sp>
        <p:nvSpPr>
          <p:cNvPr id="1586" name="Google Shape;1586;p81"/>
          <p:cNvSpPr txBox="1"/>
          <p:nvPr/>
        </p:nvSpPr>
        <p:spPr>
          <a:xfrm>
            <a:off x="8516333" y="5069581"/>
            <a:ext cx="610500" cy="7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600"/>
              <a:buFont typeface="Arial"/>
              <a:buNone/>
            </a:pPr>
            <a:r>
              <a:rPr lang="en" sz="500">
                <a:solidFill>
                  <a:schemeClr val="dk1"/>
                </a:solidFill>
              </a:rPr>
              <a:t>Notebooks</a:t>
            </a:r>
            <a:endParaRPr sz="500">
              <a:solidFill>
                <a:schemeClr val="dk1"/>
              </a:solidFill>
            </a:endParaRPr>
          </a:p>
        </p:txBody>
      </p:sp>
      <p:sp>
        <p:nvSpPr>
          <p:cNvPr id="1587" name="Google Shape;1587;p81"/>
          <p:cNvSpPr/>
          <p:nvPr/>
        </p:nvSpPr>
        <p:spPr>
          <a:xfrm>
            <a:off x="8002030" y="1766560"/>
            <a:ext cx="411670" cy="358211"/>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rgbClr val="29B5E8"/>
          </a:solidFill>
          <a:ln>
            <a:noFill/>
          </a:ln>
        </p:spPr>
        <p:txBody>
          <a:bodyPr anchorCtr="0" anchor="ctr" bIns="139150" lIns="278375" spcFirstLastPara="1" rIns="278375" wrap="square" tIns="139150">
            <a:noAutofit/>
          </a:bodyPr>
          <a:lstStyle/>
          <a:p>
            <a:pPr indent="0" lvl="0" marL="0" marR="0" rtl="0" algn="l">
              <a:spcBef>
                <a:spcPts val="0"/>
              </a:spcBef>
              <a:spcAft>
                <a:spcPts val="0"/>
              </a:spcAft>
              <a:buNone/>
            </a:pPr>
            <a:r>
              <a:t/>
            </a:r>
            <a:endParaRPr sz="17966">
              <a:solidFill>
                <a:srgbClr val="FFFFFF"/>
              </a:solidFill>
              <a:latin typeface="Lato"/>
              <a:ea typeface="Lato"/>
              <a:cs typeface="Lato"/>
              <a:sym typeface="Lato"/>
            </a:endParaRPr>
          </a:p>
        </p:txBody>
      </p:sp>
      <p:pic>
        <p:nvPicPr>
          <p:cNvPr id="1588" name="Google Shape;1588;p81"/>
          <p:cNvPicPr preferRelativeResize="0"/>
          <p:nvPr/>
        </p:nvPicPr>
        <p:blipFill rotWithShape="1">
          <a:blip r:embed="rId3">
            <a:alphaModFix/>
          </a:blip>
          <a:srcRect b="13538" l="3943" r="6032" t="22756"/>
          <a:stretch/>
        </p:blipFill>
        <p:spPr>
          <a:xfrm>
            <a:off x="7326237" y="1112890"/>
            <a:ext cx="1033200" cy="182875"/>
          </a:xfrm>
          <a:prstGeom prst="rect">
            <a:avLst/>
          </a:prstGeom>
          <a:noFill/>
          <a:ln>
            <a:noFill/>
          </a:ln>
        </p:spPr>
      </p:pic>
      <p:pic>
        <p:nvPicPr>
          <p:cNvPr id="1589" name="Google Shape;1589;p81"/>
          <p:cNvPicPr preferRelativeResize="0"/>
          <p:nvPr/>
        </p:nvPicPr>
        <p:blipFill rotWithShape="1">
          <a:blip r:embed="rId4">
            <a:alphaModFix/>
          </a:blip>
          <a:srcRect b="0" l="0" r="0" t="0"/>
          <a:stretch/>
        </p:blipFill>
        <p:spPr>
          <a:xfrm>
            <a:off x="7359007" y="1720778"/>
            <a:ext cx="365729" cy="365760"/>
          </a:xfrm>
          <a:prstGeom prst="rect">
            <a:avLst/>
          </a:prstGeom>
          <a:noFill/>
          <a:ln>
            <a:noFill/>
          </a:ln>
        </p:spPr>
      </p:pic>
      <p:sp>
        <p:nvSpPr>
          <p:cNvPr id="1590" name="Google Shape;1590;p81"/>
          <p:cNvSpPr txBox="1"/>
          <p:nvPr/>
        </p:nvSpPr>
        <p:spPr>
          <a:xfrm>
            <a:off x="3662613" y="420711"/>
            <a:ext cx="1296600" cy="3018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chemeClr val="dk1"/>
                </a:solidFill>
              </a:rPr>
              <a:t>Google Cloud</a:t>
            </a:r>
            <a:endParaRPr sz="1000">
              <a:solidFill>
                <a:schemeClr val="dk1"/>
              </a:solidFill>
            </a:endParaRPr>
          </a:p>
        </p:txBody>
      </p:sp>
      <p:pic>
        <p:nvPicPr>
          <p:cNvPr id="1591" name="Google Shape;1591;p81" title="google-cloud.jpg"/>
          <p:cNvPicPr preferRelativeResize="0"/>
          <p:nvPr/>
        </p:nvPicPr>
        <p:blipFill>
          <a:blip r:embed="rId5">
            <a:alphaModFix/>
          </a:blip>
          <a:stretch>
            <a:fillRect/>
          </a:stretch>
        </p:blipFill>
        <p:spPr>
          <a:xfrm>
            <a:off x="3665568" y="420735"/>
            <a:ext cx="365751" cy="301752"/>
          </a:xfrm>
          <a:prstGeom prst="rect">
            <a:avLst/>
          </a:prstGeom>
          <a:noFill/>
          <a:ln>
            <a:noFill/>
          </a:ln>
        </p:spPr>
      </p:pic>
      <p:grpSp>
        <p:nvGrpSpPr>
          <p:cNvPr id="1592" name="Google Shape;1592;p81"/>
          <p:cNvGrpSpPr/>
          <p:nvPr/>
        </p:nvGrpSpPr>
        <p:grpSpPr>
          <a:xfrm>
            <a:off x="2311310" y="763254"/>
            <a:ext cx="960000" cy="274321"/>
            <a:chOff x="2408025" y="1123738"/>
            <a:chExt cx="960000" cy="274321"/>
          </a:xfrm>
        </p:grpSpPr>
        <p:sp>
          <p:nvSpPr>
            <p:cNvPr id="1593" name="Google Shape;1593;p81"/>
            <p:cNvSpPr txBox="1"/>
            <p:nvPr/>
          </p:nvSpPr>
          <p:spPr>
            <a:xfrm>
              <a:off x="2408025" y="1133288"/>
              <a:ext cx="960000" cy="248100"/>
            </a:xfrm>
            <a:prstGeom prst="rect">
              <a:avLst/>
            </a:prstGeom>
            <a:solidFill>
              <a:schemeClr val="lt1"/>
            </a:solidFill>
            <a:ln cap="flat" cmpd="sng" w="9525">
              <a:solidFill>
                <a:srgbClr val="38761D"/>
              </a:solidFill>
              <a:prstDash val="dot"/>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solidFill>
                    <a:schemeClr val="dk1"/>
                  </a:solidFill>
                </a:rPr>
                <a:t>BigLake</a:t>
              </a:r>
              <a:endParaRPr sz="1200">
                <a:solidFill>
                  <a:schemeClr val="dk1"/>
                </a:solidFill>
              </a:endParaRPr>
            </a:p>
          </p:txBody>
        </p:sp>
        <p:pic>
          <p:nvPicPr>
            <p:cNvPr id="1594" name="Google Shape;1594;p81"/>
            <p:cNvPicPr preferRelativeResize="0"/>
            <p:nvPr/>
          </p:nvPicPr>
          <p:blipFill>
            <a:blip r:embed="rId6">
              <a:alphaModFix/>
            </a:blip>
            <a:stretch>
              <a:fillRect/>
            </a:stretch>
          </p:blipFill>
          <p:spPr>
            <a:xfrm>
              <a:off x="2429425" y="1123738"/>
              <a:ext cx="274321" cy="274321"/>
            </a:xfrm>
            <a:prstGeom prst="rect">
              <a:avLst/>
            </a:prstGeom>
            <a:noFill/>
            <a:ln cap="flat" cmpd="sng" w="9525">
              <a:solidFill>
                <a:schemeClr val="dk2"/>
              </a:solidFill>
              <a:prstDash val="dot"/>
              <a:round/>
              <a:headEnd len="sm" w="sm" type="none"/>
              <a:tailEnd len="sm" w="sm" type="none"/>
            </a:ln>
          </p:spPr>
        </p:pic>
      </p:grpSp>
      <p:grpSp>
        <p:nvGrpSpPr>
          <p:cNvPr id="1595" name="Google Shape;1595;p81"/>
          <p:cNvGrpSpPr/>
          <p:nvPr/>
        </p:nvGrpSpPr>
        <p:grpSpPr>
          <a:xfrm>
            <a:off x="2307183" y="1638625"/>
            <a:ext cx="925726" cy="1057132"/>
            <a:chOff x="2625750" y="1598928"/>
            <a:chExt cx="925726" cy="1273500"/>
          </a:xfrm>
        </p:grpSpPr>
        <p:sp>
          <p:nvSpPr>
            <p:cNvPr id="1596" name="Google Shape;1596;p81"/>
            <p:cNvSpPr/>
            <p:nvPr/>
          </p:nvSpPr>
          <p:spPr>
            <a:xfrm>
              <a:off x="2637076" y="1598928"/>
              <a:ext cx="914400" cy="1273500"/>
            </a:xfrm>
            <a:prstGeom prst="roundRect">
              <a:avLst>
                <a:gd fmla="val 9900" name="adj"/>
              </a:avLst>
            </a:prstGeom>
            <a:solidFill>
              <a:srgbClr val="DDF0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700">
                <a:solidFill>
                  <a:schemeClr val="dk1"/>
                </a:solidFill>
                <a:latin typeface="Play"/>
                <a:ea typeface="Play"/>
                <a:cs typeface="Play"/>
                <a:sym typeface="Play"/>
              </a:endParaRPr>
            </a:p>
          </p:txBody>
        </p:sp>
        <p:sp>
          <p:nvSpPr>
            <p:cNvPr id="1597" name="Google Shape;1597;p81"/>
            <p:cNvSpPr/>
            <p:nvPr/>
          </p:nvSpPr>
          <p:spPr>
            <a:xfrm>
              <a:off x="2707038" y="1653225"/>
              <a:ext cx="800400" cy="204600"/>
            </a:xfrm>
            <a:prstGeom prst="roundRect">
              <a:avLst>
                <a:gd fmla="val 16900" name="adj"/>
              </a:avLst>
            </a:prstGeom>
            <a:solidFill>
              <a:srgbClr val="DAAA5E"/>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sz="1100">
                  <a:solidFill>
                    <a:schemeClr val="dk1"/>
                  </a:solidFill>
                  <a:latin typeface="Play"/>
                  <a:ea typeface="Play"/>
                  <a:cs typeface="Play"/>
                  <a:sym typeface="Play"/>
                </a:rPr>
                <a:t>  </a:t>
              </a:r>
              <a:r>
                <a:rPr lang="en" sz="1100">
                  <a:solidFill>
                    <a:schemeClr val="dk1"/>
                  </a:solidFill>
                </a:rPr>
                <a:t>Bronze</a:t>
              </a:r>
              <a:endParaRPr sz="1100"/>
            </a:p>
          </p:txBody>
        </p:sp>
        <p:pic>
          <p:nvPicPr>
            <p:cNvPr id="1598" name="Google Shape;1598;p81"/>
            <p:cNvPicPr preferRelativeResize="0"/>
            <p:nvPr/>
          </p:nvPicPr>
          <p:blipFill rotWithShape="1">
            <a:blip r:embed="rId7">
              <a:alphaModFix/>
            </a:blip>
            <a:srcRect b="0" l="0" r="0" t="0"/>
            <a:stretch/>
          </p:blipFill>
          <p:spPr>
            <a:xfrm>
              <a:off x="2876152" y="1950452"/>
              <a:ext cx="457200" cy="457200"/>
            </a:xfrm>
            <a:prstGeom prst="rect">
              <a:avLst/>
            </a:prstGeom>
            <a:noFill/>
            <a:ln>
              <a:noFill/>
            </a:ln>
          </p:spPr>
        </p:pic>
        <p:sp>
          <p:nvSpPr>
            <p:cNvPr id="1599" name="Google Shape;1599;p81"/>
            <p:cNvSpPr txBox="1"/>
            <p:nvPr/>
          </p:nvSpPr>
          <p:spPr>
            <a:xfrm>
              <a:off x="2625750" y="2550994"/>
              <a:ext cx="914400" cy="148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t>Raw Data</a:t>
              </a:r>
              <a:endParaRPr sz="800"/>
            </a:p>
          </p:txBody>
        </p:sp>
      </p:grpSp>
      <p:sp>
        <p:nvSpPr>
          <p:cNvPr id="1600" name="Google Shape;1600;p81"/>
          <p:cNvSpPr txBox="1"/>
          <p:nvPr/>
        </p:nvSpPr>
        <p:spPr>
          <a:xfrm>
            <a:off x="7392498" y="3564812"/>
            <a:ext cx="3435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500"/>
              <a:buFont typeface="Arial"/>
              <a:buNone/>
            </a:pPr>
            <a:r>
              <a:rPr lang="en" sz="800">
                <a:solidFill>
                  <a:schemeClr val="dk1"/>
                </a:solidFill>
              </a:rPr>
              <a:t>Looker</a:t>
            </a:r>
            <a:endParaRPr sz="800"/>
          </a:p>
        </p:txBody>
      </p:sp>
      <p:grpSp>
        <p:nvGrpSpPr>
          <p:cNvPr id="1601" name="Google Shape;1601;p81"/>
          <p:cNvGrpSpPr/>
          <p:nvPr/>
        </p:nvGrpSpPr>
        <p:grpSpPr>
          <a:xfrm>
            <a:off x="4695063" y="1161304"/>
            <a:ext cx="972882" cy="374456"/>
            <a:chOff x="4633517" y="1486619"/>
            <a:chExt cx="972882" cy="374456"/>
          </a:xfrm>
        </p:grpSpPr>
        <p:pic>
          <p:nvPicPr>
            <p:cNvPr id="1602" name="Google Shape;1602;p81"/>
            <p:cNvPicPr preferRelativeResize="0"/>
            <p:nvPr/>
          </p:nvPicPr>
          <p:blipFill rotWithShape="1">
            <a:blip r:embed="rId8">
              <a:alphaModFix/>
            </a:blip>
            <a:srcRect b="0" l="0" r="0" t="0"/>
            <a:stretch/>
          </p:blipFill>
          <p:spPr>
            <a:xfrm>
              <a:off x="4633517" y="1486619"/>
              <a:ext cx="365760" cy="372066"/>
            </a:xfrm>
            <a:prstGeom prst="rect">
              <a:avLst/>
            </a:prstGeom>
            <a:noFill/>
            <a:ln>
              <a:noFill/>
            </a:ln>
          </p:spPr>
        </p:pic>
        <p:sp>
          <p:nvSpPr>
            <p:cNvPr id="1603" name="Google Shape;1603;p81"/>
            <p:cNvSpPr txBox="1"/>
            <p:nvPr/>
          </p:nvSpPr>
          <p:spPr>
            <a:xfrm>
              <a:off x="4995899" y="1495375"/>
              <a:ext cx="610500" cy="365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05780"/>
                </a:buClr>
                <a:buSzPts val="600"/>
                <a:buFont typeface="Arial"/>
                <a:buNone/>
              </a:pPr>
              <a:r>
                <a:rPr b="1" lang="en" sz="1000">
                  <a:solidFill>
                    <a:srgbClr val="105780"/>
                  </a:solidFill>
                </a:rPr>
                <a:t>Horizon</a:t>
              </a:r>
              <a:endParaRPr b="1" sz="1000">
                <a:solidFill>
                  <a:srgbClr val="105780"/>
                </a:solidFill>
              </a:endParaRPr>
            </a:p>
            <a:p>
              <a:pPr indent="0" lvl="0" marL="0" marR="0" rtl="0" algn="l">
                <a:lnSpc>
                  <a:spcPct val="90000"/>
                </a:lnSpc>
                <a:spcBef>
                  <a:spcPts val="0"/>
                </a:spcBef>
                <a:spcAft>
                  <a:spcPts val="0"/>
                </a:spcAft>
                <a:buClr>
                  <a:srgbClr val="105780"/>
                </a:buClr>
                <a:buSzPts val="600"/>
                <a:buFont typeface="Arial"/>
                <a:buNone/>
              </a:pPr>
              <a:r>
                <a:rPr b="1" lang="en" sz="1000">
                  <a:solidFill>
                    <a:srgbClr val="105780"/>
                  </a:solidFill>
                </a:rPr>
                <a:t>Catalog</a:t>
              </a:r>
              <a:endParaRPr b="1" i="0" sz="1000" u="none" cap="none" strike="noStrike">
                <a:solidFill>
                  <a:srgbClr val="105780"/>
                </a:solidFill>
              </a:endParaRPr>
            </a:p>
          </p:txBody>
        </p:sp>
      </p:grpSp>
      <p:pic>
        <p:nvPicPr>
          <p:cNvPr id="1604" name="Google Shape;1604;p81"/>
          <p:cNvPicPr preferRelativeResize="0"/>
          <p:nvPr/>
        </p:nvPicPr>
        <p:blipFill>
          <a:blip r:embed="rId9">
            <a:alphaModFix/>
          </a:blip>
          <a:stretch>
            <a:fillRect/>
          </a:stretch>
        </p:blipFill>
        <p:spPr>
          <a:xfrm>
            <a:off x="544298" y="1834627"/>
            <a:ext cx="365760" cy="365757"/>
          </a:xfrm>
          <a:prstGeom prst="rect">
            <a:avLst/>
          </a:prstGeom>
          <a:noFill/>
          <a:ln>
            <a:noFill/>
          </a:ln>
        </p:spPr>
      </p:pic>
      <p:pic>
        <p:nvPicPr>
          <p:cNvPr id="1605" name="Google Shape;1605;p81"/>
          <p:cNvPicPr preferRelativeResize="0"/>
          <p:nvPr/>
        </p:nvPicPr>
        <p:blipFill>
          <a:blip r:embed="rId10">
            <a:alphaModFix/>
          </a:blip>
          <a:stretch>
            <a:fillRect/>
          </a:stretch>
        </p:blipFill>
        <p:spPr>
          <a:xfrm>
            <a:off x="1234704" y="1813278"/>
            <a:ext cx="365760" cy="365760"/>
          </a:xfrm>
          <a:prstGeom prst="rect">
            <a:avLst/>
          </a:prstGeom>
          <a:noFill/>
          <a:ln>
            <a:noFill/>
          </a:ln>
        </p:spPr>
      </p:pic>
      <p:grpSp>
        <p:nvGrpSpPr>
          <p:cNvPr id="1606" name="Google Shape;1606;p81"/>
          <p:cNvGrpSpPr/>
          <p:nvPr/>
        </p:nvGrpSpPr>
        <p:grpSpPr>
          <a:xfrm>
            <a:off x="2273862" y="1164461"/>
            <a:ext cx="1111927" cy="365760"/>
            <a:chOff x="2020125" y="4123408"/>
            <a:chExt cx="1111927" cy="365760"/>
          </a:xfrm>
        </p:grpSpPr>
        <p:sp>
          <p:nvSpPr>
            <p:cNvPr id="1607" name="Google Shape;1607;p81"/>
            <p:cNvSpPr txBox="1"/>
            <p:nvPr/>
          </p:nvSpPr>
          <p:spPr>
            <a:xfrm>
              <a:off x="2217652" y="4123438"/>
              <a:ext cx="9144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000"/>
                <a:t>MetaStore</a:t>
              </a:r>
              <a:endParaRPr sz="1000"/>
            </a:p>
            <a:p>
              <a:pPr indent="0" lvl="0" marL="0" rtl="0" algn="ctr">
                <a:spcBef>
                  <a:spcPts val="0"/>
                </a:spcBef>
                <a:spcAft>
                  <a:spcPts val="0"/>
                </a:spcAft>
                <a:buNone/>
              </a:pPr>
              <a:r>
                <a:rPr lang="en" sz="1000"/>
                <a:t>Catalog</a:t>
              </a:r>
              <a:endParaRPr sz="1000"/>
            </a:p>
          </p:txBody>
        </p:sp>
        <p:pic>
          <p:nvPicPr>
            <p:cNvPr id="1608" name="Google Shape;1608;p81"/>
            <p:cNvPicPr preferRelativeResize="0"/>
            <p:nvPr/>
          </p:nvPicPr>
          <p:blipFill>
            <a:blip r:embed="rId11">
              <a:alphaModFix/>
            </a:blip>
            <a:stretch>
              <a:fillRect/>
            </a:stretch>
          </p:blipFill>
          <p:spPr>
            <a:xfrm>
              <a:off x="2020125" y="4123408"/>
              <a:ext cx="365760" cy="365760"/>
            </a:xfrm>
            <a:prstGeom prst="rect">
              <a:avLst/>
            </a:prstGeom>
            <a:noFill/>
            <a:ln>
              <a:noFill/>
            </a:ln>
          </p:spPr>
        </p:pic>
      </p:grpSp>
      <p:grpSp>
        <p:nvGrpSpPr>
          <p:cNvPr id="1609" name="Google Shape;1609;p81"/>
          <p:cNvGrpSpPr/>
          <p:nvPr/>
        </p:nvGrpSpPr>
        <p:grpSpPr>
          <a:xfrm>
            <a:off x="3900818" y="1650909"/>
            <a:ext cx="925725" cy="1304532"/>
            <a:chOff x="2625750" y="1598925"/>
            <a:chExt cx="925725" cy="1410000"/>
          </a:xfrm>
        </p:grpSpPr>
        <p:sp>
          <p:nvSpPr>
            <p:cNvPr id="1610" name="Google Shape;1610;p81"/>
            <p:cNvSpPr/>
            <p:nvPr/>
          </p:nvSpPr>
          <p:spPr>
            <a:xfrm>
              <a:off x="2637075" y="1598925"/>
              <a:ext cx="914400" cy="1410000"/>
            </a:xfrm>
            <a:prstGeom prst="roundRect">
              <a:avLst>
                <a:gd fmla="val 9900" name="adj"/>
              </a:avLst>
            </a:prstGeom>
            <a:solidFill>
              <a:srgbClr val="DDF0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700">
                <a:solidFill>
                  <a:schemeClr val="dk1"/>
                </a:solidFill>
                <a:latin typeface="Play"/>
                <a:ea typeface="Play"/>
                <a:cs typeface="Play"/>
                <a:sym typeface="Play"/>
              </a:endParaRPr>
            </a:p>
          </p:txBody>
        </p:sp>
        <p:sp>
          <p:nvSpPr>
            <p:cNvPr id="1611" name="Google Shape;1611;p81"/>
            <p:cNvSpPr/>
            <p:nvPr/>
          </p:nvSpPr>
          <p:spPr>
            <a:xfrm>
              <a:off x="2707038" y="1653225"/>
              <a:ext cx="800400" cy="204600"/>
            </a:xfrm>
            <a:prstGeom prst="roundRect">
              <a:avLst>
                <a:gd fmla="val 16900" name="adj"/>
              </a:avLst>
            </a:prstGeom>
            <a:solidFill>
              <a:srgbClr val="CCCC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dk1"/>
                  </a:solidFill>
                </a:rPr>
                <a:t>Silver</a:t>
              </a:r>
              <a:endParaRPr sz="1100"/>
            </a:p>
          </p:txBody>
        </p:sp>
        <p:pic>
          <p:nvPicPr>
            <p:cNvPr id="1612" name="Google Shape;1612;p81"/>
            <p:cNvPicPr preferRelativeResize="0"/>
            <p:nvPr/>
          </p:nvPicPr>
          <p:blipFill rotWithShape="1">
            <a:blip r:embed="rId7">
              <a:alphaModFix/>
            </a:blip>
            <a:srcRect b="0" l="0" r="0" t="0"/>
            <a:stretch/>
          </p:blipFill>
          <p:spPr>
            <a:xfrm>
              <a:off x="2876152" y="1950452"/>
              <a:ext cx="457200" cy="457200"/>
            </a:xfrm>
            <a:prstGeom prst="rect">
              <a:avLst/>
            </a:prstGeom>
            <a:noFill/>
            <a:ln>
              <a:noFill/>
            </a:ln>
          </p:spPr>
        </p:pic>
        <p:sp>
          <p:nvSpPr>
            <p:cNvPr id="1613" name="Google Shape;1613;p81"/>
            <p:cNvSpPr txBox="1"/>
            <p:nvPr/>
          </p:nvSpPr>
          <p:spPr>
            <a:xfrm>
              <a:off x="2625750" y="2550994"/>
              <a:ext cx="914400" cy="266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t>Curated</a:t>
              </a:r>
              <a:endParaRPr sz="800"/>
            </a:p>
            <a:p>
              <a:pPr indent="0" lvl="0" marL="0" rtl="0" algn="ctr">
                <a:spcBef>
                  <a:spcPts val="0"/>
                </a:spcBef>
                <a:spcAft>
                  <a:spcPts val="0"/>
                </a:spcAft>
                <a:buNone/>
              </a:pPr>
              <a:r>
                <a:rPr lang="en" sz="800"/>
                <a:t>Data</a:t>
              </a:r>
              <a:endParaRPr sz="800"/>
            </a:p>
          </p:txBody>
        </p:sp>
      </p:grpSp>
      <p:sp>
        <p:nvSpPr>
          <p:cNvPr id="1614" name="Google Shape;1614;p81"/>
          <p:cNvSpPr txBox="1"/>
          <p:nvPr/>
        </p:nvSpPr>
        <p:spPr>
          <a:xfrm>
            <a:off x="4614023" y="779908"/>
            <a:ext cx="1129200" cy="248100"/>
          </a:xfrm>
          <a:prstGeom prst="rect">
            <a:avLst/>
          </a:prstGeom>
          <a:solidFill>
            <a:schemeClr val="lt1"/>
          </a:solidFill>
          <a:ln cap="flat" cmpd="sng" w="9525">
            <a:solidFill>
              <a:srgbClr val="38761D"/>
            </a:solidFill>
            <a:prstDash val="dot"/>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sz="1200">
                <a:solidFill>
                  <a:schemeClr val="dk1"/>
                </a:solidFill>
              </a:rPr>
              <a:t>Snowflake</a:t>
            </a:r>
            <a:endParaRPr sz="1200">
              <a:solidFill>
                <a:schemeClr val="dk1"/>
              </a:solidFill>
            </a:endParaRPr>
          </a:p>
        </p:txBody>
      </p:sp>
      <p:pic>
        <p:nvPicPr>
          <p:cNvPr id="1615" name="Google Shape;1615;p81"/>
          <p:cNvPicPr preferRelativeResize="0"/>
          <p:nvPr/>
        </p:nvPicPr>
        <p:blipFill rotWithShape="1">
          <a:blip r:embed="rId12">
            <a:alphaModFix/>
          </a:blip>
          <a:srcRect b="0" l="0" r="0" t="0"/>
          <a:stretch/>
        </p:blipFill>
        <p:spPr>
          <a:xfrm>
            <a:off x="4639531" y="769385"/>
            <a:ext cx="274320" cy="253218"/>
          </a:xfrm>
          <a:prstGeom prst="rect">
            <a:avLst/>
          </a:prstGeom>
          <a:noFill/>
          <a:ln>
            <a:noFill/>
          </a:ln>
        </p:spPr>
      </p:pic>
      <p:sp>
        <p:nvSpPr>
          <p:cNvPr id="1616" name="Google Shape;1616;p81"/>
          <p:cNvSpPr txBox="1"/>
          <p:nvPr/>
        </p:nvSpPr>
        <p:spPr>
          <a:xfrm>
            <a:off x="7316413" y="2123668"/>
            <a:ext cx="4605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500"/>
              <a:buFont typeface="Arial"/>
              <a:buNone/>
            </a:pPr>
            <a:r>
              <a:rPr lang="en" sz="800">
                <a:solidFill>
                  <a:schemeClr val="dk1"/>
                </a:solidFill>
              </a:rPr>
              <a:t>Streamlit</a:t>
            </a:r>
            <a:endParaRPr sz="800"/>
          </a:p>
        </p:txBody>
      </p:sp>
      <p:sp>
        <p:nvSpPr>
          <p:cNvPr id="1617" name="Google Shape;1617;p81"/>
          <p:cNvSpPr txBox="1"/>
          <p:nvPr/>
        </p:nvSpPr>
        <p:spPr>
          <a:xfrm>
            <a:off x="7921875" y="2138612"/>
            <a:ext cx="5283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500"/>
              <a:buFont typeface="Arial"/>
              <a:buNone/>
            </a:pPr>
            <a:r>
              <a:rPr lang="en" sz="800">
                <a:solidFill>
                  <a:schemeClr val="dk1"/>
                </a:solidFill>
              </a:rPr>
              <a:t>Cortex</a:t>
            </a:r>
            <a:endParaRPr sz="800"/>
          </a:p>
        </p:txBody>
      </p:sp>
      <p:sp>
        <p:nvSpPr>
          <p:cNvPr id="1618" name="Google Shape;1618;p81"/>
          <p:cNvSpPr txBox="1"/>
          <p:nvPr/>
        </p:nvSpPr>
        <p:spPr>
          <a:xfrm>
            <a:off x="7362525" y="2855225"/>
            <a:ext cx="1129200" cy="188100"/>
          </a:xfrm>
          <a:prstGeom prst="rect">
            <a:avLst/>
          </a:prstGeom>
          <a:solidFill>
            <a:schemeClr val="lt1"/>
          </a:solidFill>
          <a:ln>
            <a:noFill/>
          </a:ln>
        </p:spPr>
        <p:txBody>
          <a:bodyPr anchorCtr="0" anchor="ctr" bIns="91425" lIns="91425" spcFirstLastPara="1" rIns="0" wrap="square" tIns="91425">
            <a:noAutofit/>
          </a:bodyPr>
          <a:lstStyle/>
          <a:p>
            <a:pPr indent="0" lvl="0" marL="0" rtl="0" algn="r">
              <a:spcBef>
                <a:spcPts val="0"/>
              </a:spcBef>
              <a:spcAft>
                <a:spcPts val="0"/>
              </a:spcAft>
              <a:buNone/>
            </a:pPr>
            <a:r>
              <a:rPr lang="en" sz="900"/>
              <a:t>  Gemini Enterprise  </a:t>
            </a:r>
            <a:endParaRPr sz="900"/>
          </a:p>
        </p:txBody>
      </p:sp>
      <p:pic>
        <p:nvPicPr>
          <p:cNvPr id="1619" name="Google Shape;1619;p81" title="gemini-ai.png"/>
          <p:cNvPicPr preferRelativeResize="0"/>
          <p:nvPr/>
        </p:nvPicPr>
        <p:blipFill>
          <a:blip r:embed="rId13">
            <a:alphaModFix/>
          </a:blip>
          <a:stretch>
            <a:fillRect/>
          </a:stretch>
        </p:blipFill>
        <p:spPr>
          <a:xfrm>
            <a:off x="7327348" y="2808963"/>
            <a:ext cx="274319" cy="274319"/>
          </a:xfrm>
          <a:prstGeom prst="rect">
            <a:avLst/>
          </a:prstGeom>
          <a:noFill/>
          <a:ln>
            <a:noFill/>
          </a:ln>
        </p:spPr>
      </p:pic>
      <p:sp>
        <p:nvSpPr>
          <p:cNvPr id="1620" name="Google Shape;1620;p81"/>
          <p:cNvSpPr txBox="1"/>
          <p:nvPr/>
        </p:nvSpPr>
        <p:spPr>
          <a:xfrm>
            <a:off x="7284100" y="773067"/>
            <a:ext cx="1111800" cy="248100"/>
          </a:xfrm>
          <a:prstGeom prst="rect">
            <a:avLst/>
          </a:prstGeom>
          <a:solidFill>
            <a:schemeClr val="lt1"/>
          </a:solidFill>
          <a:ln cap="flat" cmpd="sng" w="9525">
            <a:solidFill>
              <a:srgbClr val="38761D"/>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Snowflake Apps</a:t>
            </a:r>
            <a:endParaRPr sz="1000">
              <a:solidFill>
                <a:schemeClr val="dk1"/>
              </a:solidFill>
            </a:endParaRPr>
          </a:p>
        </p:txBody>
      </p:sp>
      <p:cxnSp>
        <p:nvCxnSpPr>
          <p:cNvPr id="1621" name="Google Shape;1621;p81"/>
          <p:cNvCxnSpPr>
            <a:stCxn id="1607" idx="3"/>
            <a:endCxn id="1602" idx="1"/>
          </p:cNvCxnSpPr>
          <p:nvPr/>
        </p:nvCxnSpPr>
        <p:spPr>
          <a:xfrm>
            <a:off x="3385788" y="1347341"/>
            <a:ext cx="1309200" cy="0"/>
          </a:xfrm>
          <a:prstGeom prst="straightConnector1">
            <a:avLst/>
          </a:prstGeom>
          <a:noFill/>
          <a:ln cap="flat" cmpd="sng" w="19050">
            <a:solidFill>
              <a:schemeClr val="dk2"/>
            </a:solidFill>
            <a:prstDash val="solid"/>
            <a:round/>
            <a:headEnd len="med" w="med" type="none"/>
            <a:tailEnd len="med" w="med" type="triangle"/>
          </a:ln>
        </p:spPr>
      </p:cxnSp>
      <p:sp>
        <p:nvSpPr>
          <p:cNvPr id="1622" name="Google Shape;1622;p81"/>
          <p:cNvSpPr txBox="1"/>
          <p:nvPr/>
        </p:nvSpPr>
        <p:spPr>
          <a:xfrm>
            <a:off x="3376992" y="1034338"/>
            <a:ext cx="914400" cy="253200"/>
          </a:xfrm>
          <a:prstGeom prst="rect">
            <a:avLst/>
          </a:prstGeom>
          <a:solidFill>
            <a:schemeClr val="lt1"/>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t>Catalog-Linked Database</a:t>
            </a:r>
            <a:endParaRPr b="1" sz="800"/>
          </a:p>
        </p:txBody>
      </p:sp>
      <p:pic>
        <p:nvPicPr>
          <p:cNvPr id="1623" name="Google Shape;1623;p81"/>
          <p:cNvPicPr preferRelativeResize="0"/>
          <p:nvPr/>
        </p:nvPicPr>
        <p:blipFill rotWithShape="1">
          <a:blip r:embed="rId14">
            <a:alphaModFix/>
          </a:blip>
          <a:srcRect b="0" l="0" r="0" t="0"/>
          <a:stretch/>
        </p:blipFill>
        <p:spPr>
          <a:xfrm>
            <a:off x="7339743" y="1335542"/>
            <a:ext cx="1185657" cy="303496"/>
          </a:xfrm>
          <a:prstGeom prst="rect">
            <a:avLst/>
          </a:prstGeom>
          <a:noFill/>
          <a:ln>
            <a:noFill/>
          </a:ln>
        </p:spPr>
      </p:pic>
      <p:pic>
        <p:nvPicPr>
          <p:cNvPr id="1624" name="Google Shape;1624;p81"/>
          <p:cNvPicPr preferRelativeResize="0"/>
          <p:nvPr/>
        </p:nvPicPr>
        <p:blipFill>
          <a:blip r:embed="rId15">
            <a:alphaModFix/>
          </a:blip>
          <a:stretch>
            <a:fillRect/>
          </a:stretch>
        </p:blipFill>
        <p:spPr>
          <a:xfrm>
            <a:off x="1234704" y="2468375"/>
            <a:ext cx="365760" cy="365760"/>
          </a:xfrm>
          <a:prstGeom prst="rect">
            <a:avLst/>
          </a:prstGeom>
          <a:noFill/>
          <a:ln>
            <a:noFill/>
          </a:ln>
        </p:spPr>
      </p:pic>
      <p:pic>
        <p:nvPicPr>
          <p:cNvPr id="1625" name="Google Shape;1625;p81" title="Logo_PostgreSQL.png"/>
          <p:cNvPicPr preferRelativeResize="0"/>
          <p:nvPr/>
        </p:nvPicPr>
        <p:blipFill>
          <a:blip r:embed="rId16">
            <a:alphaModFix/>
          </a:blip>
          <a:stretch>
            <a:fillRect/>
          </a:stretch>
        </p:blipFill>
        <p:spPr>
          <a:xfrm>
            <a:off x="1234704" y="1131986"/>
            <a:ext cx="365760" cy="377274"/>
          </a:xfrm>
          <a:prstGeom prst="rect">
            <a:avLst/>
          </a:prstGeom>
          <a:noFill/>
          <a:ln>
            <a:noFill/>
          </a:ln>
        </p:spPr>
      </p:pic>
      <p:sp>
        <p:nvSpPr>
          <p:cNvPr id="1626" name="Google Shape;1626;p81"/>
          <p:cNvSpPr txBox="1"/>
          <p:nvPr/>
        </p:nvSpPr>
        <p:spPr>
          <a:xfrm>
            <a:off x="269978" y="1439848"/>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t>Spanner</a:t>
            </a:r>
            <a:endParaRPr sz="1000"/>
          </a:p>
        </p:txBody>
      </p:sp>
      <p:sp>
        <p:nvSpPr>
          <p:cNvPr id="1627" name="Google Shape;1627;p81"/>
          <p:cNvSpPr txBox="1"/>
          <p:nvPr/>
        </p:nvSpPr>
        <p:spPr>
          <a:xfrm>
            <a:off x="269978" y="2810263"/>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t>GCS</a:t>
            </a:r>
            <a:endParaRPr sz="1000"/>
          </a:p>
        </p:txBody>
      </p:sp>
      <p:sp>
        <p:nvSpPr>
          <p:cNvPr id="1628" name="Google Shape;1628;p81"/>
          <p:cNvSpPr txBox="1"/>
          <p:nvPr/>
        </p:nvSpPr>
        <p:spPr>
          <a:xfrm>
            <a:off x="960384" y="2821463"/>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t>Firestore</a:t>
            </a:r>
            <a:endParaRPr sz="1000"/>
          </a:p>
        </p:txBody>
      </p:sp>
      <p:sp>
        <p:nvSpPr>
          <p:cNvPr id="1629" name="Google Shape;1629;p81"/>
          <p:cNvSpPr txBox="1"/>
          <p:nvPr/>
        </p:nvSpPr>
        <p:spPr>
          <a:xfrm>
            <a:off x="960384" y="2253399"/>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t>Kafka</a:t>
            </a:r>
            <a:endParaRPr sz="1000"/>
          </a:p>
        </p:txBody>
      </p:sp>
      <p:sp>
        <p:nvSpPr>
          <p:cNvPr id="1630" name="Google Shape;1630;p81"/>
          <p:cNvSpPr txBox="1"/>
          <p:nvPr/>
        </p:nvSpPr>
        <p:spPr>
          <a:xfrm>
            <a:off x="269978" y="2196019"/>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t>Pub/Sub</a:t>
            </a:r>
            <a:endParaRPr sz="1000"/>
          </a:p>
        </p:txBody>
      </p:sp>
      <p:sp>
        <p:nvSpPr>
          <p:cNvPr id="1631" name="Google Shape;1631;p81"/>
          <p:cNvSpPr txBox="1"/>
          <p:nvPr/>
        </p:nvSpPr>
        <p:spPr>
          <a:xfrm>
            <a:off x="960384" y="1459729"/>
            <a:ext cx="914400" cy="303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00"/>
              <a:t>Snowflake</a:t>
            </a:r>
            <a:endParaRPr sz="900"/>
          </a:p>
          <a:p>
            <a:pPr indent="0" lvl="0" marL="0" rtl="0" algn="ctr">
              <a:spcBef>
                <a:spcPts val="0"/>
              </a:spcBef>
              <a:spcAft>
                <a:spcPts val="0"/>
              </a:spcAft>
              <a:buNone/>
            </a:pPr>
            <a:r>
              <a:rPr lang="en" sz="900"/>
              <a:t>PostgreSQL</a:t>
            </a:r>
            <a:endParaRPr sz="900"/>
          </a:p>
        </p:txBody>
      </p:sp>
      <p:sp>
        <p:nvSpPr>
          <p:cNvPr id="1632" name="Google Shape;1632;p81"/>
          <p:cNvSpPr txBox="1"/>
          <p:nvPr/>
        </p:nvSpPr>
        <p:spPr>
          <a:xfrm>
            <a:off x="654335" y="762123"/>
            <a:ext cx="960000" cy="248100"/>
          </a:xfrm>
          <a:prstGeom prst="rect">
            <a:avLst/>
          </a:prstGeom>
          <a:solidFill>
            <a:schemeClr val="lt1"/>
          </a:solidFill>
          <a:ln cap="flat" cmpd="sng" w="9525">
            <a:solidFill>
              <a:srgbClr val="38761D"/>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OLTP</a:t>
            </a:r>
            <a:endParaRPr sz="1200">
              <a:solidFill>
                <a:schemeClr val="dk1"/>
              </a:solidFill>
            </a:endParaRPr>
          </a:p>
        </p:txBody>
      </p:sp>
      <p:sp>
        <p:nvSpPr>
          <p:cNvPr id="1633" name="Google Shape;1633;p81"/>
          <p:cNvSpPr txBox="1"/>
          <p:nvPr/>
        </p:nvSpPr>
        <p:spPr>
          <a:xfrm>
            <a:off x="1512117" y="3396377"/>
            <a:ext cx="914400" cy="785100"/>
          </a:xfrm>
          <a:prstGeom prst="rect">
            <a:avLst/>
          </a:prstGeom>
          <a:solidFill>
            <a:srgbClr val="F3F3F3"/>
          </a:solidFill>
          <a:ln cap="flat" cmpd="sng" w="9525">
            <a:solidFill>
              <a:srgbClr val="000000"/>
            </a:solidFill>
            <a:prstDash val="dot"/>
            <a:round/>
            <a:headEnd len="sm" w="sm" type="none"/>
            <a:tailEnd len="sm" w="sm" type="none"/>
          </a:ln>
        </p:spPr>
        <p:txBody>
          <a:bodyPr anchorCtr="0" anchor="t" bIns="45700" lIns="45700" spcFirstLastPara="1" rIns="45700" wrap="square" tIns="45700">
            <a:spAutoFit/>
          </a:bodyPr>
          <a:lstStyle/>
          <a:p>
            <a:pPr indent="0" lvl="0" marL="0" rtl="0" algn="l">
              <a:spcBef>
                <a:spcPts val="0"/>
              </a:spcBef>
              <a:spcAft>
                <a:spcPts val="0"/>
              </a:spcAft>
              <a:buNone/>
            </a:pPr>
            <a:r>
              <a:rPr lang="en" sz="900"/>
              <a:t>Dataflow</a:t>
            </a:r>
            <a:endParaRPr sz="900"/>
          </a:p>
          <a:p>
            <a:pPr indent="0" lvl="0" marL="0" rtl="0" algn="l">
              <a:spcBef>
                <a:spcPts val="0"/>
              </a:spcBef>
              <a:spcAft>
                <a:spcPts val="0"/>
              </a:spcAft>
              <a:buNone/>
            </a:pPr>
            <a:r>
              <a:rPr lang="en" sz="900"/>
              <a:t>Datastream</a:t>
            </a:r>
            <a:br>
              <a:rPr lang="en" sz="900"/>
            </a:br>
            <a:r>
              <a:rPr lang="en" sz="900"/>
              <a:t>Openflow</a:t>
            </a:r>
            <a:endParaRPr sz="900"/>
          </a:p>
          <a:p>
            <a:pPr indent="0" lvl="0" marL="0" rtl="0" algn="l">
              <a:spcBef>
                <a:spcPts val="0"/>
              </a:spcBef>
              <a:spcAft>
                <a:spcPts val="0"/>
              </a:spcAft>
              <a:buNone/>
            </a:pPr>
            <a:r>
              <a:rPr lang="en" sz="900"/>
              <a:t>BQ Services</a:t>
            </a:r>
            <a:br>
              <a:rPr lang="en" sz="900"/>
            </a:br>
            <a:r>
              <a:rPr lang="en" sz="900"/>
              <a:t>Snowpipe</a:t>
            </a:r>
            <a:endParaRPr sz="900"/>
          </a:p>
        </p:txBody>
      </p:sp>
      <p:sp>
        <p:nvSpPr>
          <p:cNvPr id="1634" name="Google Shape;1634;p81"/>
          <p:cNvSpPr txBox="1"/>
          <p:nvPr/>
        </p:nvSpPr>
        <p:spPr>
          <a:xfrm>
            <a:off x="2666308" y="3401325"/>
            <a:ext cx="822900" cy="769200"/>
          </a:xfrm>
          <a:prstGeom prst="rect">
            <a:avLst/>
          </a:prstGeom>
          <a:solidFill>
            <a:srgbClr val="F3F3F3"/>
          </a:solidFill>
          <a:ln cap="flat" cmpd="sng" w="9525">
            <a:solidFill>
              <a:srgbClr val="000000"/>
            </a:solidFill>
            <a:prstDash val="dot"/>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0"/>
              </a:spcAft>
              <a:buNone/>
            </a:pPr>
            <a:r>
              <a:rPr lang="en" sz="900"/>
              <a:t>Apache Spark</a:t>
            </a:r>
            <a:endParaRPr sz="900"/>
          </a:p>
          <a:p>
            <a:pPr indent="0" lvl="0" marL="0" rtl="0" algn="l">
              <a:spcBef>
                <a:spcPts val="0"/>
              </a:spcBef>
              <a:spcAft>
                <a:spcPts val="0"/>
              </a:spcAft>
              <a:buNone/>
            </a:pPr>
            <a:r>
              <a:rPr lang="en" sz="900"/>
              <a:t>Dataproc</a:t>
            </a:r>
            <a:br>
              <a:rPr lang="en" sz="900"/>
            </a:br>
            <a:r>
              <a:rPr lang="en" sz="900"/>
              <a:t>Flink</a:t>
            </a:r>
            <a:endParaRPr sz="900"/>
          </a:p>
          <a:p>
            <a:pPr indent="0" lvl="0" marL="0" rtl="0" algn="l">
              <a:spcBef>
                <a:spcPts val="0"/>
              </a:spcBef>
              <a:spcAft>
                <a:spcPts val="0"/>
              </a:spcAft>
              <a:buNone/>
            </a:pPr>
            <a:r>
              <a:rPr lang="en" sz="900"/>
              <a:t>Trino </a:t>
            </a:r>
            <a:br>
              <a:rPr lang="en" sz="900"/>
            </a:br>
            <a:r>
              <a:rPr lang="en" sz="900"/>
              <a:t>Big Query</a:t>
            </a:r>
            <a:endParaRPr sz="900"/>
          </a:p>
        </p:txBody>
      </p:sp>
      <p:cxnSp>
        <p:nvCxnSpPr>
          <p:cNvPr id="1635" name="Google Shape;1635;p81"/>
          <p:cNvCxnSpPr>
            <a:stCxn id="1580" idx="2"/>
            <a:endCxn id="1636" idx="1"/>
          </p:cNvCxnSpPr>
          <p:nvPr/>
        </p:nvCxnSpPr>
        <p:spPr>
          <a:xfrm flipH="1" rot="-5400000">
            <a:off x="1218185" y="3000825"/>
            <a:ext cx="210000" cy="377700"/>
          </a:xfrm>
          <a:prstGeom prst="bentConnector2">
            <a:avLst/>
          </a:prstGeom>
          <a:noFill/>
          <a:ln cap="flat" cmpd="sng" w="19050">
            <a:solidFill>
              <a:schemeClr val="dk2"/>
            </a:solidFill>
            <a:prstDash val="solid"/>
            <a:round/>
            <a:headEnd len="med" w="med" type="none"/>
            <a:tailEnd len="med" w="med" type="stealth"/>
          </a:ln>
        </p:spPr>
      </p:cxnSp>
      <p:sp>
        <p:nvSpPr>
          <p:cNvPr id="1636" name="Google Shape;1636;p81"/>
          <p:cNvSpPr/>
          <p:nvPr/>
        </p:nvSpPr>
        <p:spPr>
          <a:xfrm>
            <a:off x="1512123" y="3192332"/>
            <a:ext cx="914400" cy="204600"/>
          </a:xfrm>
          <a:prstGeom prst="roundRect">
            <a:avLst>
              <a:gd fmla="val 16900" name="adj"/>
            </a:avLst>
          </a:prstGeom>
          <a:solidFill>
            <a:srgbClr val="7CD2F1"/>
          </a:solid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dk1"/>
                </a:solidFill>
                <a:latin typeface="Roboto"/>
                <a:ea typeface="Roboto"/>
                <a:cs typeface="Roboto"/>
                <a:sym typeface="Roboto"/>
              </a:rPr>
              <a:t>Ingest</a:t>
            </a:r>
            <a:endParaRPr sz="1100">
              <a:solidFill>
                <a:schemeClr val="dk1"/>
              </a:solidFill>
              <a:latin typeface="Roboto"/>
              <a:ea typeface="Roboto"/>
              <a:cs typeface="Roboto"/>
              <a:sym typeface="Roboto"/>
            </a:endParaRPr>
          </a:p>
        </p:txBody>
      </p:sp>
      <p:sp>
        <p:nvSpPr>
          <p:cNvPr id="1637" name="Google Shape;1637;p81"/>
          <p:cNvSpPr/>
          <p:nvPr/>
        </p:nvSpPr>
        <p:spPr>
          <a:xfrm>
            <a:off x="2666335" y="3209334"/>
            <a:ext cx="822900" cy="184200"/>
          </a:xfrm>
          <a:prstGeom prst="roundRect">
            <a:avLst>
              <a:gd fmla="val 16900" name="adj"/>
            </a:avLst>
          </a:prstGeom>
          <a:solidFill>
            <a:srgbClr val="7CD2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000">
                <a:solidFill>
                  <a:schemeClr val="dk1"/>
                </a:solidFill>
                <a:latin typeface="Roboto"/>
                <a:ea typeface="Roboto"/>
                <a:cs typeface="Roboto"/>
                <a:sym typeface="Roboto"/>
              </a:rPr>
              <a:t>IRC</a:t>
            </a:r>
            <a:endParaRPr sz="1000">
              <a:latin typeface="Roboto"/>
              <a:ea typeface="Roboto"/>
              <a:cs typeface="Roboto"/>
              <a:sym typeface="Roboto"/>
            </a:endParaRPr>
          </a:p>
        </p:txBody>
      </p:sp>
      <p:sp>
        <p:nvSpPr>
          <p:cNvPr id="1638" name="Google Shape;1638;p81"/>
          <p:cNvSpPr txBox="1"/>
          <p:nvPr/>
        </p:nvSpPr>
        <p:spPr>
          <a:xfrm>
            <a:off x="216732" y="4424905"/>
            <a:ext cx="8686800" cy="492600"/>
          </a:xfrm>
          <a:prstGeom prst="rect">
            <a:avLst/>
          </a:prstGeom>
          <a:noFill/>
          <a:ln>
            <a:noFill/>
          </a:ln>
        </p:spPr>
        <p:txBody>
          <a:bodyPr anchorCtr="0" anchor="t" bIns="0" lIns="0" spcFirstLastPara="1" rIns="0" wrap="square" tIns="0">
            <a:spAutoFit/>
          </a:bodyPr>
          <a:lstStyle/>
          <a:p>
            <a:pPr indent="-279400" lvl="0" marL="457200" marR="0" rtl="0" algn="l">
              <a:lnSpc>
                <a:spcPct val="100000"/>
              </a:lnSpc>
              <a:spcBef>
                <a:spcPts val="100"/>
              </a:spcBef>
              <a:spcAft>
                <a:spcPts val="0"/>
              </a:spcAft>
              <a:buClr>
                <a:schemeClr val="dk1"/>
              </a:buClr>
              <a:buSzPts val="800"/>
              <a:buFont typeface="Roboto"/>
              <a:buChar char="●"/>
            </a:pPr>
            <a:r>
              <a:rPr lang="en" sz="800">
                <a:solidFill>
                  <a:schemeClr val="dk1"/>
                </a:solidFill>
                <a:latin typeface="Roboto"/>
                <a:ea typeface="Roboto"/>
                <a:cs typeface="Roboto"/>
                <a:sym typeface="Roboto"/>
              </a:rPr>
              <a:t>Bronze layer includes historical, and unprocessed data from different data sources and OLTP apps. In simpler use cases, Snowflake Horizon, instead of BigLake, might be a better fit. </a:t>
            </a:r>
            <a:endParaRPr sz="800">
              <a:solidFill>
                <a:schemeClr val="dk1"/>
              </a:solidFill>
              <a:latin typeface="Roboto"/>
              <a:ea typeface="Roboto"/>
              <a:cs typeface="Roboto"/>
              <a:sym typeface="Roboto"/>
            </a:endParaRPr>
          </a:p>
          <a:p>
            <a:pPr indent="-279400" lvl="1" marL="914400" marR="0" rtl="0" algn="l">
              <a:lnSpc>
                <a:spcPct val="100000"/>
              </a:lnSpc>
              <a:spcBef>
                <a:spcPts val="0"/>
              </a:spcBef>
              <a:spcAft>
                <a:spcPts val="0"/>
              </a:spcAft>
              <a:buClr>
                <a:schemeClr val="dk1"/>
              </a:buClr>
              <a:buSzPts val="800"/>
              <a:buFont typeface="Roboto"/>
              <a:buChar char="○"/>
            </a:pPr>
            <a:r>
              <a:rPr lang="en" sz="800">
                <a:solidFill>
                  <a:schemeClr val="dk1"/>
                </a:solidFill>
                <a:latin typeface="Roboto"/>
                <a:ea typeface="Roboto"/>
                <a:cs typeface="Roboto"/>
                <a:sym typeface="Roboto"/>
              </a:rPr>
              <a:t>Snowflake connection to BigLake (without custom header problem) would be available in April 2026.</a:t>
            </a:r>
            <a:endParaRPr sz="800">
              <a:solidFill>
                <a:schemeClr val="dk1"/>
              </a:solidFill>
              <a:latin typeface="Roboto"/>
              <a:ea typeface="Roboto"/>
              <a:cs typeface="Roboto"/>
              <a:sym typeface="Roboto"/>
            </a:endParaRPr>
          </a:p>
          <a:p>
            <a:pPr indent="-279400" lvl="0" marL="457200" marR="0" rtl="0" algn="l">
              <a:lnSpc>
                <a:spcPct val="100000"/>
              </a:lnSpc>
              <a:spcBef>
                <a:spcPts val="0"/>
              </a:spcBef>
              <a:spcAft>
                <a:spcPts val="0"/>
              </a:spcAft>
              <a:buClr>
                <a:schemeClr val="dk1"/>
              </a:buClr>
              <a:buSzPts val="800"/>
              <a:buFont typeface="Roboto"/>
              <a:buChar char="●"/>
            </a:pPr>
            <a:r>
              <a:rPr lang="en" sz="800">
                <a:solidFill>
                  <a:schemeClr val="dk1"/>
                </a:solidFill>
                <a:latin typeface="Roboto"/>
                <a:ea typeface="Roboto"/>
                <a:cs typeface="Roboto"/>
                <a:sym typeface="Roboto"/>
              </a:rPr>
              <a:t>Silver Layer is where Iceberg is most useful because of heavy transformations that engines (spark, fink, trino, dataproc, snowflake) perform throughout data life cycle.</a:t>
            </a:r>
            <a:endParaRPr sz="800">
              <a:solidFill>
                <a:schemeClr val="dk1"/>
              </a:solidFill>
              <a:latin typeface="Roboto"/>
              <a:ea typeface="Roboto"/>
              <a:cs typeface="Roboto"/>
              <a:sym typeface="Roboto"/>
            </a:endParaRPr>
          </a:p>
          <a:p>
            <a:pPr indent="-279400" lvl="1" marL="914400" marR="0" rtl="0" algn="l">
              <a:lnSpc>
                <a:spcPct val="100000"/>
              </a:lnSpc>
              <a:spcBef>
                <a:spcPts val="0"/>
              </a:spcBef>
              <a:spcAft>
                <a:spcPts val="0"/>
              </a:spcAft>
              <a:buClr>
                <a:schemeClr val="dk1"/>
              </a:buClr>
              <a:buSzPts val="800"/>
              <a:buFont typeface="Roboto"/>
              <a:buChar char="○"/>
            </a:pPr>
            <a:r>
              <a:rPr lang="en" sz="800">
                <a:solidFill>
                  <a:schemeClr val="dk1"/>
                </a:solidFill>
                <a:latin typeface="Roboto"/>
                <a:ea typeface="Roboto"/>
                <a:cs typeface="Roboto"/>
                <a:sym typeface="Roboto"/>
              </a:rPr>
              <a:t>Snowflake does the heavy transformation through direct sql without IRC overhead while other engines (Spark, Dataproc, Flink, etc) can IRC to read/write to iceberg tables.</a:t>
            </a:r>
            <a:endParaRPr sz="800">
              <a:solidFill>
                <a:schemeClr val="dk1"/>
              </a:solidFill>
              <a:latin typeface="Roboto"/>
              <a:ea typeface="Roboto"/>
              <a:cs typeface="Roboto"/>
              <a:sym typeface="Roboto"/>
            </a:endParaRPr>
          </a:p>
        </p:txBody>
      </p:sp>
      <p:grpSp>
        <p:nvGrpSpPr>
          <p:cNvPr id="1639" name="Google Shape;1639;p81"/>
          <p:cNvGrpSpPr/>
          <p:nvPr/>
        </p:nvGrpSpPr>
        <p:grpSpPr>
          <a:xfrm>
            <a:off x="5079520" y="1650854"/>
            <a:ext cx="1534836" cy="1304532"/>
            <a:chOff x="5710139" y="3659575"/>
            <a:chExt cx="1534836" cy="1410000"/>
          </a:xfrm>
        </p:grpSpPr>
        <p:grpSp>
          <p:nvGrpSpPr>
            <p:cNvPr id="1640" name="Google Shape;1640;p81"/>
            <p:cNvGrpSpPr/>
            <p:nvPr/>
          </p:nvGrpSpPr>
          <p:grpSpPr>
            <a:xfrm>
              <a:off x="5710139" y="3659575"/>
              <a:ext cx="1534820" cy="1410000"/>
              <a:chOff x="2637075" y="1598925"/>
              <a:chExt cx="914400" cy="1410000"/>
            </a:xfrm>
          </p:grpSpPr>
          <p:sp>
            <p:nvSpPr>
              <p:cNvPr id="1641" name="Google Shape;1641;p81"/>
              <p:cNvSpPr/>
              <p:nvPr/>
            </p:nvSpPr>
            <p:spPr>
              <a:xfrm>
                <a:off x="2637075" y="1598925"/>
                <a:ext cx="914400" cy="1410000"/>
              </a:xfrm>
              <a:prstGeom prst="roundRect">
                <a:avLst>
                  <a:gd fmla="val 9900" name="adj"/>
                </a:avLst>
              </a:prstGeom>
              <a:solidFill>
                <a:srgbClr val="DDF0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700">
                  <a:solidFill>
                    <a:schemeClr val="dk1"/>
                  </a:solidFill>
                  <a:latin typeface="Play"/>
                  <a:ea typeface="Play"/>
                  <a:cs typeface="Play"/>
                  <a:sym typeface="Play"/>
                </a:endParaRPr>
              </a:p>
            </p:txBody>
          </p:sp>
          <p:sp>
            <p:nvSpPr>
              <p:cNvPr id="1642" name="Google Shape;1642;p81"/>
              <p:cNvSpPr/>
              <p:nvPr/>
            </p:nvSpPr>
            <p:spPr>
              <a:xfrm>
                <a:off x="2707038" y="1653225"/>
                <a:ext cx="800400" cy="204600"/>
              </a:xfrm>
              <a:prstGeom prst="roundRect">
                <a:avLst>
                  <a:gd fmla="val 16900" name="adj"/>
                </a:avLst>
              </a:prstGeom>
              <a:solidFill>
                <a:srgbClr val="FFE39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dk1"/>
                    </a:solidFill>
                  </a:rPr>
                  <a:t>Gold</a:t>
                </a:r>
                <a:endParaRPr sz="1100"/>
              </a:p>
            </p:txBody>
          </p:sp>
        </p:grpSp>
        <p:sp>
          <p:nvSpPr>
            <p:cNvPr id="1643" name="Google Shape;1643;p81"/>
            <p:cNvSpPr/>
            <p:nvPr/>
          </p:nvSpPr>
          <p:spPr>
            <a:xfrm>
              <a:off x="6284975" y="3952790"/>
              <a:ext cx="960000" cy="1069200"/>
            </a:xfrm>
            <a:prstGeom prst="roundRect">
              <a:avLst>
                <a:gd fmla="val 5700" name="adj"/>
              </a:avLst>
            </a:prstGeom>
            <a:solidFill>
              <a:srgbClr val="DDF0FF"/>
            </a:solidFill>
            <a:ln>
              <a:noFill/>
            </a:ln>
          </p:spPr>
          <p:txBody>
            <a:bodyPr anchorCtr="0" anchor="ctr" bIns="0" lIns="0" spcFirstLastPara="1" rIns="0" wrap="square" tIns="0">
              <a:noAutofit/>
            </a:bodyPr>
            <a:lstStyle/>
            <a:p>
              <a:pPr indent="0" lvl="0" marL="0" marR="0" rtl="0" algn="l">
                <a:spcBef>
                  <a:spcPts val="0"/>
                </a:spcBef>
                <a:spcAft>
                  <a:spcPts val="0"/>
                </a:spcAft>
                <a:buNone/>
              </a:pPr>
              <a:r>
                <a:rPr lang="en" sz="800">
                  <a:solidFill>
                    <a:schemeClr val="dk1"/>
                  </a:solidFill>
                  <a:latin typeface="Roboto"/>
                  <a:ea typeface="Roboto"/>
                  <a:cs typeface="Roboto"/>
                  <a:sym typeface="Roboto"/>
                </a:rPr>
                <a:t>Semantic Views</a:t>
              </a:r>
              <a:endParaRPr sz="800">
                <a:solidFill>
                  <a:schemeClr val="dk1"/>
                </a:solidFill>
                <a:latin typeface="Roboto"/>
                <a:ea typeface="Roboto"/>
                <a:cs typeface="Roboto"/>
                <a:sym typeface="Roboto"/>
              </a:endParaRPr>
            </a:p>
            <a:p>
              <a:pPr indent="0" lvl="0" marL="0" marR="0" rtl="0" algn="l">
                <a:spcBef>
                  <a:spcPts val="0"/>
                </a:spcBef>
                <a:spcAft>
                  <a:spcPts val="0"/>
                </a:spcAft>
                <a:buNone/>
              </a:pPr>
              <a:r>
                <a:rPr lang="en" sz="800">
                  <a:solidFill>
                    <a:schemeClr val="dk1"/>
                  </a:solidFill>
                  <a:latin typeface="Roboto"/>
                  <a:ea typeface="Roboto"/>
                  <a:cs typeface="Roboto"/>
                  <a:sym typeface="Roboto"/>
                </a:rPr>
                <a:t>Data Products</a:t>
              </a:r>
              <a:endParaRPr sz="800">
                <a:solidFill>
                  <a:schemeClr val="dk1"/>
                </a:solidFill>
                <a:latin typeface="Roboto"/>
                <a:ea typeface="Roboto"/>
                <a:cs typeface="Roboto"/>
                <a:sym typeface="Roboto"/>
              </a:endParaRPr>
            </a:p>
            <a:p>
              <a:pPr indent="0" lvl="0" marL="0" marR="0" rtl="0" algn="l">
                <a:spcBef>
                  <a:spcPts val="0"/>
                </a:spcBef>
                <a:spcAft>
                  <a:spcPts val="0"/>
                </a:spcAft>
                <a:buNone/>
              </a:pPr>
              <a:r>
                <a:rPr lang="en" sz="800">
                  <a:solidFill>
                    <a:schemeClr val="dk1"/>
                  </a:solidFill>
                  <a:latin typeface="Roboto"/>
                  <a:ea typeface="Roboto"/>
                  <a:cs typeface="Roboto"/>
                  <a:sym typeface="Roboto"/>
                </a:rPr>
                <a:t>Processed Tables</a:t>
              </a:r>
              <a:endParaRPr sz="800">
                <a:solidFill>
                  <a:schemeClr val="dk1"/>
                </a:solidFill>
                <a:latin typeface="Roboto"/>
                <a:ea typeface="Roboto"/>
                <a:cs typeface="Roboto"/>
                <a:sym typeface="Roboto"/>
              </a:endParaRPr>
            </a:p>
            <a:p>
              <a:pPr indent="0" lvl="0" marL="0" marR="0" rtl="0" algn="l">
                <a:spcBef>
                  <a:spcPts val="0"/>
                </a:spcBef>
                <a:spcAft>
                  <a:spcPts val="0"/>
                </a:spcAft>
                <a:buNone/>
              </a:pPr>
              <a:r>
                <a:t/>
              </a:r>
              <a:endParaRPr sz="800">
                <a:solidFill>
                  <a:schemeClr val="dk1"/>
                </a:solidFill>
                <a:latin typeface="Roboto"/>
                <a:ea typeface="Roboto"/>
                <a:cs typeface="Roboto"/>
                <a:sym typeface="Roboto"/>
              </a:endParaRPr>
            </a:p>
            <a:p>
              <a:pPr indent="0" lvl="0" marL="0" marR="0" rtl="0" algn="l">
                <a:spcBef>
                  <a:spcPts val="0"/>
                </a:spcBef>
                <a:spcAft>
                  <a:spcPts val="0"/>
                </a:spcAft>
                <a:buNone/>
              </a:pPr>
              <a:r>
                <a:rPr lang="en" sz="800">
                  <a:solidFill>
                    <a:schemeClr val="dk1"/>
                  </a:solidFill>
                  <a:latin typeface="Roboto"/>
                  <a:ea typeface="Roboto"/>
                  <a:cs typeface="Roboto"/>
                  <a:sym typeface="Roboto"/>
                </a:rPr>
                <a:t>RBAC</a:t>
              </a:r>
              <a:br>
                <a:rPr lang="en" sz="800">
                  <a:solidFill>
                    <a:schemeClr val="dk1"/>
                  </a:solidFill>
                  <a:latin typeface="Roboto"/>
                  <a:ea typeface="Roboto"/>
                  <a:cs typeface="Roboto"/>
                  <a:sym typeface="Roboto"/>
                </a:rPr>
              </a:br>
              <a:r>
                <a:rPr lang="en" sz="800">
                  <a:solidFill>
                    <a:schemeClr val="dk1"/>
                  </a:solidFill>
                  <a:latin typeface="Roboto"/>
                  <a:ea typeface="Roboto"/>
                  <a:cs typeface="Roboto"/>
                  <a:sym typeface="Roboto"/>
                </a:rPr>
                <a:t>Result Caching</a:t>
              </a:r>
              <a:endParaRPr sz="800">
                <a:solidFill>
                  <a:schemeClr val="dk1"/>
                </a:solidFill>
                <a:latin typeface="Roboto"/>
                <a:ea typeface="Roboto"/>
                <a:cs typeface="Roboto"/>
                <a:sym typeface="Roboto"/>
              </a:endParaRPr>
            </a:p>
            <a:p>
              <a:pPr indent="0" lvl="0" marL="0" marR="0" rtl="0" algn="l">
                <a:spcBef>
                  <a:spcPts val="0"/>
                </a:spcBef>
                <a:spcAft>
                  <a:spcPts val="0"/>
                </a:spcAft>
                <a:buNone/>
              </a:pPr>
              <a:r>
                <a:rPr lang="en" sz="800">
                  <a:solidFill>
                    <a:schemeClr val="dk1"/>
                  </a:solidFill>
                  <a:latin typeface="Roboto"/>
                  <a:ea typeface="Roboto"/>
                  <a:cs typeface="Roboto"/>
                  <a:sym typeface="Roboto"/>
                </a:rPr>
                <a:t>Materialized Views</a:t>
              </a:r>
              <a:endParaRPr sz="800">
                <a:solidFill>
                  <a:schemeClr val="dk1"/>
                </a:solidFill>
                <a:latin typeface="Roboto"/>
                <a:ea typeface="Roboto"/>
                <a:cs typeface="Roboto"/>
                <a:sym typeface="Roboto"/>
              </a:endParaRPr>
            </a:p>
            <a:p>
              <a:pPr indent="0" lvl="0" marL="0" marR="0" rtl="0" algn="l">
                <a:spcBef>
                  <a:spcPts val="0"/>
                </a:spcBef>
                <a:spcAft>
                  <a:spcPts val="0"/>
                </a:spcAft>
                <a:buNone/>
              </a:pPr>
              <a:r>
                <a:rPr lang="en" sz="800">
                  <a:solidFill>
                    <a:schemeClr val="dk1"/>
                  </a:solidFill>
                  <a:latin typeface="Roboto"/>
                  <a:ea typeface="Roboto"/>
                  <a:cs typeface="Roboto"/>
                  <a:sym typeface="Roboto"/>
                </a:rPr>
                <a:t>Optimized Search</a:t>
              </a:r>
              <a:endParaRPr sz="800">
                <a:solidFill>
                  <a:schemeClr val="dk1"/>
                </a:solidFill>
                <a:latin typeface="Roboto"/>
                <a:ea typeface="Roboto"/>
                <a:cs typeface="Roboto"/>
                <a:sym typeface="Roboto"/>
              </a:endParaRPr>
            </a:p>
          </p:txBody>
        </p:sp>
      </p:grpSp>
      <p:sp>
        <p:nvSpPr>
          <p:cNvPr id="1644" name="Google Shape;1644;p81"/>
          <p:cNvSpPr/>
          <p:nvPr/>
        </p:nvSpPr>
        <p:spPr>
          <a:xfrm>
            <a:off x="3824665" y="3340906"/>
            <a:ext cx="1097400" cy="860100"/>
          </a:xfrm>
          <a:prstGeom prst="roundRect">
            <a:avLst>
              <a:gd fmla="val 16667" name="adj"/>
            </a:avLst>
          </a:prstGeom>
          <a:solidFill>
            <a:srgbClr val="DDF0FF"/>
          </a:solidFill>
          <a:ln>
            <a:noFill/>
          </a:ln>
        </p:spPr>
        <p:txBody>
          <a:bodyPr anchorCtr="0" anchor="ctr" bIns="21000" lIns="21000" spcFirstLastPara="1" rIns="21000" wrap="square" tIns="21000">
            <a:noAutofit/>
          </a:bodyPr>
          <a:lstStyle/>
          <a:p>
            <a:pPr indent="0" lvl="0" marL="0" rtl="0" algn="l">
              <a:spcBef>
                <a:spcPts val="0"/>
              </a:spcBef>
              <a:spcAft>
                <a:spcPts val="0"/>
              </a:spcAft>
              <a:buNone/>
            </a:pPr>
            <a:r>
              <a:rPr lang="en" sz="900">
                <a:latin typeface="Roboto"/>
                <a:ea typeface="Roboto"/>
                <a:cs typeface="Roboto"/>
                <a:sym typeface="Roboto"/>
              </a:rPr>
              <a:t>Snowpark</a:t>
            </a:r>
            <a:br>
              <a:rPr lang="en" sz="900">
                <a:latin typeface="Roboto"/>
                <a:ea typeface="Roboto"/>
                <a:cs typeface="Roboto"/>
                <a:sym typeface="Roboto"/>
              </a:rPr>
            </a:br>
            <a:r>
              <a:rPr lang="en" sz="900">
                <a:latin typeface="Roboto"/>
                <a:ea typeface="Roboto"/>
                <a:cs typeface="Roboto"/>
                <a:sym typeface="Roboto"/>
              </a:rPr>
              <a:t>Notebooks</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dbt </a:t>
            </a:r>
            <a:br>
              <a:rPr lang="en" sz="900">
                <a:latin typeface="Roboto"/>
                <a:ea typeface="Roboto"/>
                <a:cs typeface="Roboto"/>
                <a:sym typeface="Roboto"/>
              </a:rPr>
            </a:br>
            <a:r>
              <a:rPr lang="en" sz="900">
                <a:latin typeface="Roboto"/>
                <a:ea typeface="Roboto"/>
                <a:cs typeface="Roboto"/>
                <a:sym typeface="Roboto"/>
              </a:rPr>
              <a:t>Snowflake ML</a:t>
            </a:r>
            <a:br>
              <a:rPr lang="en" sz="900">
                <a:latin typeface="Roboto"/>
                <a:ea typeface="Roboto"/>
                <a:cs typeface="Roboto"/>
                <a:sym typeface="Roboto"/>
              </a:rPr>
            </a:br>
            <a:r>
              <a:rPr lang="en" sz="900">
                <a:latin typeface="Roboto"/>
                <a:ea typeface="Roboto"/>
                <a:cs typeface="Roboto"/>
                <a:sym typeface="Roboto"/>
              </a:rPr>
              <a:t>Cortex</a:t>
            </a:r>
            <a:br>
              <a:rPr lang="en" sz="900">
                <a:latin typeface="Roboto"/>
                <a:ea typeface="Roboto"/>
                <a:cs typeface="Roboto"/>
                <a:sym typeface="Roboto"/>
              </a:rPr>
            </a:br>
            <a:r>
              <a:rPr lang="en" sz="900">
                <a:latin typeface="Roboto"/>
                <a:ea typeface="Roboto"/>
                <a:cs typeface="Roboto"/>
                <a:sym typeface="Roboto"/>
              </a:rPr>
              <a:t>Workspaces</a:t>
            </a:r>
            <a:endParaRPr sz="900">
              <a:latin typeface="Roboto"/>
              <a:ea typeface="Roboto"/>
              <a:cs typeface="Roboto"/>
              <a:sym typeface="Roboto"/>
            </a:endParaRPr>
          </a:p>
        </p:txBody>
      </p:sp>
      <p:pic>
        <p:nvPicPr>
          <p:cNvPr id="1645" name="Google Shape;1645;p81"/>
          <p:cNvPicPr preferRelativeResize="0"/>
          <p:nvPr/>
        </p:nvPicPr>
        <p:blipFill rotWithShape="1">
          <a:blip r:embed="rId7">
            <a:alphaModFix/>
          </a:blip>
          <a:srcRect b="0" l="0" r="0" t="0"/>
          <a:stretch/>
        </p:blipFill>
        <p:spPr>
          <a:xfrm>
            <a:off x="5170983" y="2017323"/>
            <a:ext cx="457200" cy="457200"/>
          </a:xfrm>
          <a:prstGeom prst="rect">
            <a:avLst/>
          </a:prstGeom>
          <a:noFill/>
          <a:ln>
            <a:noFill/>
          </a:ln>
        </p:spPr>
      </p:pic>
      <p:sp>
        <p:nvSpPr>
          <p:cNvPr id="1646" name="Google Shape;1646;p81"/>
          <p:cNvSpPr txBox="1"/>
          <p:nvPr/>
        </p:nvSpPr>
        <p:spPr>
          <a:xfrm>
            <a:off x="5114082" y="2588525"/>
            <a:ext cx="4812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t>Processed</a:t>
            </a:r>
            <a:endParaRPr sz="800"/>
          </a:p>
          <a:p>
            <a:pPr indent="0" lvl="0" marL="0" rtl="0" algn="ctr">
              <a:spcBef>
                <a:spcPts val="0"/>
              </a:spcBef>
              <a:spcAft>
                <a:spcPts val="0"/>
              </a:spcAft>
              <a:buNone/>
            </a:pPr>
            <a:r>
              <a:rPr lang="en" sz="800"/>
              <a:t> Data</a:t>
            </a:r>
            <a:endParaRPr sz="800"/>
          </a:p>
        </p:txBody>
      </p:sp>
      <p:sp>
        <p:nvSpPr>
          <p:cNvPr id="1647" name="Google Shape;1647;p81"/>
          <p:cNvSpPr/>
          <p:nvPr/>
        </p:nvSpPr>
        <p:spPr>
          <a:xfrm>
            <a:off x="3824664" y="3172531"/>
            <a:ext cx="1097400" cy="192900"/>
          </a:xfrm>
          <a:prstGeom prst="roundRect">
            <a:avLst>
              <a:gd fmla="val 16900" name="adj"/>
            </a:avLst>
          </a:prstGeom>
          <a:solidFill>
            <a:srgbClr val="7CD2F1"/>
          </a:solidFill>
          <a:ln>
            <a:noFill/>
          </a:ln>
        </p:spPr>
        <p:txBody>
          <a:bodyPr anchorCtr="0" anchor="ctr" bIns="34275" lIns="18275" spcFirstLastPara="1" rIns="18275" wrap="square" tIns="34275">
            <a:noAutofit/>
          </a:bodyPr>
          <a:lstStyle/>
          <a:p>
            <a:pPr indent="0" lvl="0" marL="0" marR="0" rtl="0" algn="ctr">
              <a:spcBef>
                <a:spcPts val="0"/>
              </a:spcBef>
              <a:spcAft>
                <a:spcPts val="0"/>
              </a:spcAft>
              <a:buNone/>
            </a:pPr>
            <a:r>
              <a:rPr lang="en" sz="1100">
                <a:solidFill>
                  <a:schemeClr val="dk1"/>
                </a:solidFill>
                <a:latin typeface="Roboto"/>
                <a:ea typeface="Roboto"/>
                <a:cs typeface="Roboto"/>
                <a:sym typeface="Roboto"/>
              </a:rPr>
              <a:t>Transformation</a:t>
            </a:r>
            <a:endParaRPr sz="1100">
              <a:latin typeface="Roboto"/>
              <a:ea typeface="Roboto"/>
              <a:cs typeface="Roboto"/>
              <a:sym typeface="Roboto"/>
            </a:endParaRPr>
          </a:p>
        </p:txBody>
      </p:sp>
      <p:sp>
        <p:nvSpPr>
          <p:cNvPr id="1648" name="Google Shape;1648;p81"/>
          <p:cNvSpPr/>
          <p:nvPr/>
        </p:nvSpPr>
        <p:spPr>
          <a:xfrm>
            <a:off x="5313494" y="3352065"/>
            <a:ext cx="1097400" cy="842100"/>
          </a:xfrm>
          <a:prstGeom prst="roundRect">
            <a:avLst>
              <a:gd fmla="val 16667" name="adj"/>
            </a:avLst>
          </a:prstGeom>
          <a:solidFill>
            <a:srgbClr val="DDF0FF"/>
          </a:solidFill>
          <a:ln>
            <a:noFill/>
          </a:ln>
        </p:spPr>
        <p:txBody>
          <a:bodyPr anchorCtr="0" anchor="ctr" bIns="21000" lIns="21000" spcFirstLastPara="1" rIns="21000" wrap="square" tIns="21000">
            <a:noAutofit/>
          </a:bodyPr>
          <a:lstStyle/>
          <a:p>
            <a:pPr indent="0" lvl="0" marL="0" rtl="0" algn="l">
              <a:spcBef>
                <a:spcPts val="0"/>
              </a:spcBef>
              <a:spcAft>
                <a:spcPts val="0"/>
              </a:spcAft>
              <a:buNone/>
            </a:pPr>
            <a:r>
              <a:rPr lang="en" sz="900">
                <a:latin typeface="Roboto"/>
                <a:ea typeface="Roboto"/>
                <a:cs typeface="Roboto"/>
                <a:sym typeface="Roboto"/>
              </a:rPr>
              <a:t>IRC</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Openflow</a:t>
            </a:r>
            <a:br>
              <a:rPr lang="en" sz="900">
                <a:latin typeface="Roboto"/>
                <a:ea typeface="Roboto"/>
                <a:cs typeface="Roboto"/>
                <a:sym typeface="Roboto"/>
              </a:rPr>
            </a:br>
            <a:r>
              <a:rPr lang="en" sz="900">
                <a:latin typeface="Roboto"/>
                <a:ea typeface="Roboto"/>
                <a:cs typeface="Roboto"/>
                <a:sym typeface="Roboto"/>
              </a:rPr>
              <a:t>Connectors</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Data Sharing </a:t>
            </a:r>
            <a:br>
              <a:rPr lang="en" sz="900">
                <a:latin typeface="Roboto"/>
                <a:ea typeface="Roboto"/>
                <a:cs typeface="Roboto"/>
                <a:sym typeface="Roboto"/>
              </a:rPr>
            </a:br>
            <a:r>
              <a:rPr lang="en" sz="900">
                <a:latin typeface="Roboto"/>
                <a:ea typeface="Roboto"/>
                <a:cs typeface="Roboto"/>
                <a:sym typeface="Roboto"/>
              </a:rPr>
              <a:t>SPCS</a:t>
            </a:r>
            <a:br>
              <a:rPr lang="en" sz="900">
                <a:latin typeface="Roboto"/>
                <a:ea typeface="Roboto"/>
                <a:cs typeface="Roboto"/>
                <a:sym typeface="Roboto"/>
              </a:rPr>
            </a:br>
            <a:r>
              <a:rPr lang="en" sz="900">
                <a:latin typeface="Roboto"/>
                <a:ea typeface="Roboto"/>
                <a:cs typeface="Roboto"/>
                <a:sym typeface="Roboto"/>
              </a:rPr>
              <a:t>Feature Store</a:t>
            </a:r>
            <a:endParaRPr sz="900">
              <a:latin typeface="Roboto"/>
              <a:ea typeface="Roboto"/>
              <a:cs typeface="Roboto"/>
              <a:sym typeface="Roboto"/>
            </a:endParaRPr>
          </a:p>
        </p:txBody>
      </p:sp>
      <p:sp>
        <p:nvSpPr>
          <p:cNvPr id="1649" name="Google Shape;1649;p81"/>
          <p:cNvSpPr/>
          <p:nvPr/>
        </p:nvSpPr>
        <p:spPr>
          <a:xfrm>
            <a:off x="5313502" y="3185030"/>
            <a:ext cx="1097400" cy="191400"/>
          </a:xfrm>
          <a:prstGeom prst="roundRect">
            <a:avLst>
              <a:gd fmla="val 16900" name="adj"/>
            </a:avLst>
          </a:prstGeom>
          <a:solidFill>
            <a:srgbClr val="7CD2F1"/>
          </a:solidFill>
          <a:ln>
            <a:noFill/>
          </a:ln>
        </p:spPr>
        <p:txBody>
          <a:bodyPr anchorCtr="0" anchor="ctr" bIns="34275" lIns="18275" spcFirstLastPara="1" rIns="18275" wrap="square" tIns="34275">
            <a:noAutofit/>
          </a:bodyPr>
          <a:lstStyle/>
          <a:p>
            <a:pPr indent="0" lvl="0" marL="0" marR="0" rtl="0" algn="ctr">
              <a:spcBef>
                <a:spcPts val="0"/>
              </a:spcBef>
              <a:spcAft>
                <a:spcPts val="0"/>
              </a:spcAft>
              <a:buNone/>
            </a:pPr>
            <a:r>
              <a:rPr lang="en" sz="1100">
                <a:solidFill>
                  <a:schemeClr val="dk1"/>
                </a:solidFill>
                <a:latin typeface="Roboto"/>
                <a:ea typeface="Roboto"/>
                <a:cs typeface="Roboto"/>
                <a:sym typeface="Roboto"/>
              </a:rPr>
              <a:t>Serving</a:t>
            </a:r>
            <a:endParaRPr sz="1100">
              <a:latin typeface="Roboto"/>
              <a:ea typeface="Roboto"/>
              <a:cs typeface="Roboto"/>
              <a:sym typeface="Roboto"/>
            </a:endParaRPr>
          </a:p>
        </p:txBody>
      </p:sp>
      <p:cxnSp>
        <p:nvCxnSpPr>
          <p:cNvPr id="1650" name="Google Shape;1650;p81"/>
          <p:cNvCxnSpPr>
            <a:stCxn id="1637" idx="3"/>
            <a:endCxn id="1610" idx="1"/>
          </p:cNvCxnSpPr>
          <p:nvPr/>
        </p:nvCxnSpPr>
        <p:spPr>
          <a:xfrm flipH="1" rot="10800000">
            <a:off x="3489235" y="2303034"/>
            <a:ext cx="423000" cy="998400"/>
          </a:xfrm>
          <a:prstGeom prst="bentConnector3">
            <a:avLst>
              <a:gd fmla="val 49989" name="adj1"/>
            </a:avLst>
          </a:prstGeom>
          <a:noFill/>
          <a:ln cap="flat" cmpd="sng" w="19050">
            <a:solidFill>
              <a:schemeClr val="dk2"/>
            </a:solidFill>
            <a:prstDash val="solid"/>
            <a:round/>
            <a:headEnd len="med" w="med" type="stealth"/>
            <a:tailEnd len="med" w="med" type="stealth"/>
          </a:ln>
        </p:spPr>
      </p:cxnSp>
      <p:cxnSp>
        <p:nvCxnSpPr>
          <p:cNvPr id="1651" name="Google Shape;1651;p81"/>
          <p:cNvCxnSpPr>
            <a:stCxn id="1636" idx="3"/>
          </p:cNvCxnSpPr>
          <p:nvPr/>
        </p:nvCxnSpPr>
        <p:spPr>
          <a:xfrm flipH="1" rot="10800000">
            <a:off x="2426523" y="3103532"/>
            <a:ext cx="167100" cy="191100"/>
          </a:xfrm>
          <a:prstGeom prst="bentConnector2">
            <a:avLst/>
          </a:prstGeom>
          <a:noFill/>
          <a:ln cap="flat" cmpd="sng" w="19050">
            <a:solidFill>
              <a:schemeClr val="dk2"/>
            </a:solidFill>
            <a:prstDash val="solid"/>
            <a:round/>
            <a:headEnd len="med" w="med" type="none"/>
            <a:tailEnd len="med" w="med" type="stealth"/>
          </a:ln>
        </p:spPr>
      </p:cxnSp>
      <p:pic>
        <p:nvPicPr>
          <p:cNvPr id="1652" name="Google Shape;1652;p81" title="CloudSpanner-512-color.png"/>
          <p:cNvPicPr preferRelativeResize="0"/>
          <p:nvPr/>
        </p:nvPicPr>
        <p:blipFill>
          <a:blip r:embed="rId17">
            <a:alphaModFix/>
          </a:blip>
          <a:stretch>
            <a:fillRect/>
          </a:stretch>
        </p:blipFill>
        <p:spPr>
          <a:xfrm>
            <a:off x="554860" y="1111800"/>
            <a:ext cx="365760" cy="365760"/>
          </a:xfrm>
          <a:prstGeom prst="rect">
            <a:avLst/>
          </a:prstGeom>
          <a:noFill/>
          <a:ln>
            <a:noFill/>
          </a:ln>
        </p:spPr>
      </p:pic>
      <p:pic>
        <p:nvPicPr>
          <p:cNvPr id="1653" name="Google Shape;1653;p81" title="CloudRun-512-color-rgb.png"/>
          <p:cNvPicPr preferRelativeResize="0"/>
          <p:nvPr/>
        </p:nvPicPr>
        <p:blipFill>
          <a:blip r:embed="rId18">
            <a:alphaModFix/>
          </a:blip>
          <a:stretch>
            <a:fillRect/>
          </a:stretch>
        </p:blipFill>
        <p:spPr>
          <a:xfrm>
            <a:off x="7349075" y="3749040"/>
            <a:ext cx="365760" cy="365760"/>
          </a:xfrm>
          <a:prstGeom prst="rect">
            <a:avLst/>
          </a:prstGeom>
          <a:noFill/>
          <a:ln>
            <a:noFill/>
          </a:ln>
        </p:spPr>
      </p:pic>
      <p:pic>
        <p:nvPicPr>
          <p:cNvPr id="1654" name="Google Shape;1654;p81" title="Cloud_Storage-512-color.png"/>
          <p:cNvPicPr preferRelativeResize="0"/>
          <p:nvPr/>
        </p:nvPicPr>
        <p:blipFill>
          <a:blip r:embed="rId19">
            <a:alphaModFix/>
          </a:blip>
          <a:stretch>
            <a:fillRect/>
          </a:stretch>
        </p:blipFill>
        <p:spPr>
          <a:xfrm>
            <a:off x="554860" y="2447452"/>
            <a:ext cx="365760" cy="365760"/>
          </a:xfrm>
          <a:prstGeom prst="rect">
            <a:avLst/>
          </a:prstGeom>
          <a:noFill/>
          <a:ln>
            <a:noFill/>
          </a:ln>
        </p:spPr>
      </p:pic>
      <p:pic>
        <p:nvPicPr>
          <p:cNvPr id="1655" name="Google Shape;1655;p81" title="Looker-512-color.png"/>
          <p:cNvPicPr preferRelativeResize="0"/>
          <p:nvPr/>
        </p:nvPicPr>
        <p:blipFill>
          <a:blip r:embed="rId20">
            <a:alphaModFix/>
          </a:blip>
          <a:stretch>
            <a:fillRect/>
          </a:stretch>
        </p:blipFill>
        <p:spPr>
          <a:xfrm>
            <a:off x="7349075" y="3200388"/>
            <a:ext cx="365760" cy="365760"/>
          </a:xfrm>
          <a:prstGeom prst="rect">
            <a:avLst/>
          </a:prstGeom>
          <a:noFill/>
          <a:ln>
            <a:noFill/>
          </a:ln>
        </p:spPr>
      </p:pic>
      <p:pic>
        <p:nvPicPr>
          <p:cNvPr id="1656" name="Google Shape;1656;p81" title="VertexAI-512-color.png"/>
          <p:cNvPicPr preferRelativeResize="0"/>
          <p:nvPr/>
        </p:nvPicPr>
        <p:blipFill>
          <a:blip r:embed="rId21">
            <a:alphaModFix/>
          </a:blip>
          <a:stretch>
            <a:fillRect/>
          </a:stretch>
        </p:blipFill>
        <p:spPr>
          <a:xfrm>
            <a:off x="8045588" y="3200400"/>
            <a:ext cx="365760" cy="365760"/>
          </a:xfrm>
          <a:prstGeom prst="rect">
            <a:avLst/>
          </a:prstGeom>
          <a:noFill/>
          <a:ln>
            <a:noFill/>
          </a:ln>
        </p:spPr>
      </p:pic>
      <p:sp>
        <p:nvSpPr>
          <p:cNvPr id="1657" name="Google Shape;1657;p81"/>
          <p:cNvSpPr txBox="1"/>
          <p:nvPr/>
        </p:nvSpPr>
        <p:spPr>
          <a:xfrm>
            <a:off x="8034475" y="3547213"/>
            <a:ext cx="4116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500"/>
              <a:buFont typeface="Arial"/>
              <a:buNone/>
            </a:pPr>
            <a:r>
              <a:rPr lang="en" sz="800">
                <a:solidFill>
                  <a:schemeClr val="dk1"/>
                </a:solidFill>
              </a:rPr>
              <a:t>VertexAI</a:t>
            </a:r>
            <a:endParaRPr sz="800"/>
          </a:p>
        </p:txBody>
      </p:sp>
      <p:sp>
        <p:nvSpPr>
          <p:cNvPr id="1658" name="Google Shape;1658;p81"/>
          <p:cNvSpPr txBox="1"/>
          <p:nvPr/>
        </p:nvSpPr>
        <p:spPr>
          <a:xfrm>
            <a:off x="7291975" y="4085515"/>
            <a:ext cx="5283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500"/>
              <a:buFont typeface="Arial"/>
              <a:buNone/>
            </a:pPr>
            <a:r>
              <a:rPr lang="en" sz="800">
                <a:solidFill>
                  <a:schemeClr val="dk1"/>
                </a:solidFill>
              </a:rPr>
              <a:t>Cloud Run</a:t>
            </a:r>
            <a:endParaRPr sz="800"/>
          </a:p>
        </p:txBody>
      </p:sp>
      <p:pic>
        <p:nvPicPr>
          <p:cNvPr id="1659" name="Google Shape;1659;p81" title="ComputeEngine-512-color.png"/>
          <p:cNvPicPr preferRelativeResize="0"/>
          <p:nvPr/>
        </p:nvPicPr>
        <p:blipFill>
          <a:blip r:embed="rId22">
            <a:alphaModFix/>
          </a:blip>
          <a:stretch>
            <a:fillRect/>
          </a:stretch>
        </p:blipFill>
        <p:spPr>
          <a:xfrm>
            <a:off x="8057400" y="3723225"/>
            <a:ext cx="365760" cy="365760"/>
          </a:xfrm>
          <a:prstGeom prst="rect">
            <a:avLst/>
          </a:prstGeom>
          <a:noFill/>
          <a:ln>
            <a:noFill/>
          </a:ln>
        </p:spPr>
      </p:pic>
      <p:sp>
        <p:nvSpPr>
          <p:cNvPr id="1660" name="Google Shape;1660;p81"/>
          <p:cNvSpPr txBox="1"/>
          <p:nvPr/>
        </p:nvSpPr>
        <p:spPr>
          <a:xfrm>
            <a:off x="7921875" y="4085525"/>
            <a:ext cx="7035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500"/>
              <a:buFont typeface="Arial"/>
              <a:buNone/>
            </a:pPr>
            <a:r>
              <a:rPr lang="en" sz="800">
                <a:solidFill>
                  <a:schemeClr val="dk1"/>
                </a:solidFill>
              </a:rPr>
              <a:t>Business Apps</a:t>
            </a:r>
            <a:endParaRPr sz="800"/>
          </a:p>
        </p:txBody>
      </p:sp>
      <p:sp>
        <p:nvSpPr>
          <p:cNvPr id="1661" name="Google Shape;1661;p81"/>
          <p:cNvSpPr txBox="1"/>
          <p:nvPr/>
        </p:nvSpPr>
        <p:spPr>
          <a:xfrm>
            <a:off x="7371225" y="2447716"/>
            <a:ext cx="1111800" cy="248100"/>
          </a:xfrm>
          <a:prstGeom prst="rect">
            <a:avLst/>
          </a:prstGeom>
          <a:solidFill>
            <a:schemeClr val="lt1"/>
          </a:solidFill>
          <a:ln cap="flat" cmpd="sng" w="9525">
            <a:solidFill>
              <a:srgbClr val="38761D"/>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GCP</a:t>
            </a:r>
            <a:r>
              <a:rPr lang="en" sz="1000">
                <a:solidFill>
                  <a:schemeClr val="dk1"/>
                </a:solidFill>
              </a:rPr>
              <a:t> Apps</a:t>
            </a:r>
            <a:endParaRPr sz="1000">
              <a:solidFill>
                <a:schemeClr val="dk1"/>
              </a:solidFill>
            </a:endParaRPr>
          </a:p>
        </p:txBody>
      </p:sp>
      <p:cxnSp>
        <p:nvCxnSpPr>
          <p:cNvPr id="1662" name="Google Shape;1662;p81"/>
          <p:cNvCxnSpPr>
            <a:stCxn id="1648" idx="3"/>
            <a:endCxn id="1579" idx="1"/>
          </p:cNvCxnSpPr>
          <p:nvPr/>
        </p:nvCxnSpPr>
        <p:spPr>
          <a:xfrm flipH="1" rot="10800000">
            <a:off x="6410894" y="3413715"/>
            <a:ext cx="721800" cy="359400"/>
          </a:xfrm>
          <a:prstGeom prst="bentConnector3">
            <a:avLst>
              <a:gd fmla="val 50009" name="adj1"/>
            </a:avLst>
          </a:prstGeom>
          <a:noFill/>
          <a:ln cap="flat" cmpd="sng" w="19050">
            <a:solidFill>
              <a:schemeClr val="dk2"/>
            </a:solidFill>
            <a:prstDash val="solid"/>
            <a:round/>
            <a:headEnd len="med" w="med" type="none"/>
            <a:tailEnd len="med" w="med" type="stealth"/>
          </a:ln>
        </p:spPr>
      </p:cxnSp>
      <p:cxnSp>
        <p:nvCxnSpPr>
          <p:cNvPr id="1663" name="Google Shape;1663;p81"/>
          <p:cNvCxnSpPr>
            <a:stCxn id="1582" idx="3"/>
            <a:endCxn id="1581" idx="1"/>
          </p:cNvCxnSpPr>
          <p:nvPr/>
        </p:nvCxnSpPr>
        <p:spPr>
          <a:xfrm flipH="1" rot="10800000">
            <a:off x="6740362" y="1611675"/>
            <a:ext cx="357300" cy="956100"/>
          </a:xfrm>
          <a:prstGeom prst="bentConnector3">
            <a:avLst>
              <a:gd fmla="val 50012" name="adj1"/>
            </a:avLst>
          </a:prstGeom>
          <a:noFill/>
          <a:ln cap="flat" cmpd="sng" w="19050">
            <a:solidFill>
              <a:schemeClr val="dk2"/>
            </a:solidFill>
            <a:prstDash val="solid"/>
            <a:round/>
            <a:headEnd len="med" w="med" type="none"/>
            <a:tailEnd len="med" w="med" type="stealth"/>
          </a:ln>
        </p:spPr>
      </p:cxnSp>
      <p:cxnSp>
        <p:nvCxnSpPr>
          <p:cNvPr id="1664" name="Google Shape;1664;p81"/>
          <p:cNvCxnSpPr>
            <a:stCxn id="1596" idx="2"/>
            <a:endCxn id="1637" idx="0"/>
          </p:cNvCxnSpPr>
          <p:nvPr/>
        </p:nvCxnSpPr>
        <p:spPr>
          <a:xfrm flipH="1" rot="-5400000">
            <a:off x="2669960" y="2801507"/>
            <a:ext cx="513600" cy="302100"/>
          </a:xfrm>
          <a:prstGeom prst="bentConnector3">
            <a:avLst>
              <a:gd fmla="val 49998" name="adj1"/>
            </a:avLst>
          </a:prstGeom>
          <a:noFill/>
          <a:ln cap="flat" cmpd="sng" w="19050">
            <a:solidFill>
              <a:schemeClr val="dk2"/>
            </a:solidFill>
            <a:prstDash val="solid"/>
            <a:round/>
            <a:headEnd len="med" w="med" type="stealth"/>
            <a:tailEnd len="med" w="med" type="stealth"/>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82"/>
          <p:cNvSpPr txBox="1"/>
          <p:nvPr>
            <p:ph idx="1" type="subTitle"/>
          </p:nvPr>
        </p:nvSpPr>
        <p:spPr>
          <a:xfrm>
            <a:off x="365750" y="655180"/>
            <a:ext cx="8344800" cy="37911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b="1" lang="en" sz="1200">
                <a:solidFill>
                  <a:schemeClr val="dk1"/>
                </a:solidFill>
              </a:rPr>
              <a:t>Catalog</a:t>
            </a:r>
            <a:r>
              <a:rPr b="1" lang="en" sz="1200">
                <a:solidFill>
                  <a:schemeClr val="dk1"/>
                </a:solidFill>
              </a:rPr>
              <a:t> (Control Plane)</a:t>
            </a:r>
            <a:endParaRPr b="1" sz="1200">
              <a:solidFill>
                <a:schemeClr val="dk1"/>
              </a:solidFill>
            </a:endParaRPr>
          </a:p>
          <a:p>
            <a:pPr indent="-304800" lvl="0" marL="457200" rtl="0" algn="l">
              <a:spcBef>
                <a:spcPts val="800"/>
              </a:spcBef>
              <a:spcAft>
                <a:spcPts val="0"/>
              </a:spcAft>
              <a:buClr>
                <a:schemeClr val="dk1"/>
              </a:buClr>
              <a:buSzPts val="1200"/>
              <a:buChar char="-"/>
            </a:pPr>
            <a:r>
              <a:rPr lang="en" sz="1200">
                <a:solidFill>
                  <a:schemeClr val="dk1"/>
                </a:solidFill>
              </a:rPr>
              <a:t>Authentication and authorization (OAuth2 / PAT)</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Credential vending — issues temporary GCS credentials scoped to specific storage paths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Serves table metadata via REST API (current snapshot, schema, partition spec)</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Atomic commit — updates the catalog pointer to the new metadata location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Concurrency control — optimistic locking at commit time (rejects stale base snapshots)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Governance and policy enforcement — applied at credential vending and commit time</a:t>
            </a:r>
            <a:endParaRPr sz="1200">
              <a:solidFill>
                <a:schemeClr val="dk1"/>
              </a:solidFill>
            </a:endParaRPr>
          </a:p>
          <a:p>
            <a:pPr indent="0" lvl="0" marL="0" rtl="0" algn="l">
              <a:spcBef>
                <a:spcPts val="800"/>
              </a:spcBef>
              <a:spcAft>
                <a:spcPts val="0"/>
              </a:spcAft>
              <a:buNone/>
            </a:pPr>
            <a:r>
              <a:rPr b="1" lang="en" sz="1200">
                <a:solidFill>
                  <a:schemeClr val="dk1"/>
                </a:solidFill>
              </a:rPr>
              <a:t>Engine (Spark, PyIceberg, etc.)</a:t>
            </a:r>
            <a:endParaRPr b="1" sz="1200">
              <a:solidFill>
                <a:schemeClr val="dk1"/>
              </a:solidFill>
            </a:endParaRPr>
          </a:p>
          <a:p>
            <a:pPr indent="-304800" lvl="0" marL="457200" rtl="0" algn="l">
              <a:spcBef>
                <a:spcPts val="800"/>
              </a:spcBef>
              <a:spcAft>
                <a:spcPts val="0"/>
              </a:spcAft>
              <a:buClr>
                <a:schemeClr val="dk1"/>
              </a:buClr>
              <a:buSzPts val="1200"/>
              <a:buChar char="-"/>
            </a:pPr>
            <a:r>
              <a:rPr lang="en" sz="1200">
                <a:solidFill>
                  <a:schemeClr val="dk1"/>
                </a:solidFill>
              </a:rPr>
              <a:t>Initiates all operations (auth, table load, reads, writes, commits)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Constructs query plans, applies partition pruning and predicate pushdown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Processes data in memory after reading</a:t>
            </a:r>
            <a:endParaRPr sz="1200">
              <a:solidFill>
                <a:schemeClr val="dk1"/>
              </a:solidFill>
            </a:endParaRPr>
          </a:p>
          <a:p>
            <a:pPr indent="0" lvl="0" marL="0" rtl="0" algn="l">
              <a:spcBef>
                <a:spcPts val="800"/>
              </a:spcBef>
              <a:spcAft>
                <a:spcPts val="0"/>
              </a:spcAft>
              <a:buNone/>
            </a:pPr>
            <a:r>
              <a:rPr b="1" lang="en" sz="1200">
                <a:solidFill>
                  <a:schemeClr val="dk1"/>
                </a:solidFill>
              </a:rPr>
              <a:t>GCS — Metadata Storage (Engine writes/reads directly)</a:t>
            </a:r>
            <a:endParaRPr b="1" sz="1200">
              <a:solidFill>
                <a:schemeClr val="dk1"/>
              </a:solidFill>
            </a:endParaRPr>
          </a:p>
          <a:p>
            <a:pPr indent="-304800" lvl="0" marL="457200" rtl="0" algn="l">
              <a:spcBef>
                <a:spcPts val="800"/>
              </a:spcBef>
              <a:spcAft>
                <a:spcPts val="0"/>
              </a:spcAft>
              <a:buClr>
                <a:schemeClr val="dk1"/>
              </a:buClr>
              <a:buSzPts val="1200"/>
              <a:buChar char="-"/>
            </a:pPr>
            <a:r>
              <a:rPr lang="en" sz="1200">
                <a:solidFill>
                  <a:schemeClr val="dk1"/>
                </a:solidFill>
              </a:rPr>
              <a:t>Stores Iceberg metadata files: `metadata.json`, manifest lists (Avro), manifest files (Avro)</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Engine reads the metadata tree to discover which data files to access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Engine writes new metadata files during write operations (new manifests, manifest lists, metadata.json)</a:t>
            </a:r>
            <a:endParaRPr sz="1200">
              <a:solidFill>
                <a:schemeClr val="dk1"/>
              </a:solidFill>
            </a:endParaRPr>
          </a:p>
          <a:p>
            <a:pPr indent="0" lvl="0" marL="0" rtl="0" algn="l">
              <a:spcBef>
                <a:spcPts val="800"/>
              </a:spcBef>
              <a:spcAft>
                <a:spcPts val="0"/>
              </a:spcAft>
              <a:buNone/>
            </a:pPr>
            <a:r>
              <a:rPr b="1" lang="en" sz="1200">
                <a:solidFill>
                  <a:schemeClr val="dk1"/>
                </a:solidFill>
              </a:rPr>
              <a:t>GCS — Data File Storage (Engine writes/reads directly)</a:t>
            </a:r>
            <a:endParaRPr b="1" sz="1200">
              <a:solidFill>
                <a:schemeClr val="dk1"/>
              </a:solidFill>
            </a:endParaRPr>
          </a:p>
          <a:p>
            <a:pPr indent="-304800" lvl="0" marL="457200" rtl="0" algn="l">
              <a:spcBef>
                <a:spcPts val="800"/>
              </a:spcBef>
              <a:spcAft>
                <a:spcPts val="0"/>
              </a:spcAft>
              <a:buClr>
                <a:schemeClr val="dk1"/>
              </a:buClr>
              <a:buSzPts val="1200"/>
              <a:buChar char="-"/>
            </a:pPr>
            <a:r>
              <a:rPr lang="en" sz="1200">
                <a:solidFill>
                  <a:schemeClr val="dk1"/>
                </a:solidFill>
              </a:rPr>
              <a:t>Stores the actual data as Parquet files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Engine reads Parquet files directly using vended credentials (after pruning via metadata)</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Engine writes new Parquet files directly during write operations using vended credentials</a:t>
            </a:r>
            <a:endParaRPr sz="1200">
              <a:solidFill>
                <a:schemeClr val="dk1"/>
              </a:solidFill>
            </a:endParaRPr>
          </a:p>
        </p:txBody>
      </p:sp>
      <p:sp>
        <p:nvSpPr>
          <p:cNvPr id="1670" name="Google Shape;1670;p82"/>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Who does what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4" name="Shape 1674"/>
        <p:cNvGrpSpPr/>
        <p:nvPr/>
      </p:nvGrpSpPr>
      <p:grpSpPr>
        <a:xfrm>
          <a:off x="0" y="0"/>
          <a:ext cx="0" cy="0"/>
          <a:chOff x="0" y="0"/>
          <a:chExt cx="0" cy="0"/>
        </a:xfrm>
      </p:grpSpPr>
      <p:sp>
        <p:nvSpPr>
          <p:cNvPr id="1675" name="Google Shape;1675;p83"/>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How Iceberg Read Happens: Sequence Diagram</a:t>
            </a:r>
            <a:endParaRPr sz="2400"/>
          </a:p>
        </p:txBody>
      </p:sp>
      <p:pic>
        <p:nvPicPr>
          <p:cNvPr id="1676" name="Google Shape;1676;p83"/>
          <p:cNvPicPr preferRelativeResize="0"/>
          <p:nvPr/>
        </p:nvPicPr>
        <p:blipFill>
          <a:blip r:embed="rId3">
            <a:alphaModFix/>
          </a:blip>
          <a:stretch>
            <a:fillRect/>
          </a:stretch>
        </p:blipFill>
        <p:spPr>
          <a:xfrm>
            <a:off x="951100" y="708700"/>
            <a:ext cx="7076101" cy="41986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p84"/>
          <p:cNvSpPr txBox="1"/>
          <p:nvPr>
            <p:ph type="title"/>
          </p:nvPr>
        </p:nvSpPr>
        <p:spPr>
          <a:xfrm>
            <a:off x="365750" y="274323"/>
            <a:ext cx="8344800" cy="365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How Iceberg write happens</a:t>
            </a:r>
            <a:endParaRPr sz="2400"/>
          </a:p>
        </p:txBody>
      </p:sp>
      <p:pic>
        <p:nvPicPr>
          <p:cNvPr id="1682" name="Google Shape;1682;p84"/>
          <p:cNvPicPr preferRelativeResize="0"/>
          <p:nvPr/>
        </p:nvPicPr>
        <p:blipFill>
          <a:blip r:embed="rId3">
            <a:alphaModFix/>
          </a:blip>
          <a:stretch>
            <a:fillRect/>
          </a:stretch>
        </p:blipFill>
        <p:spPr>
          <a:xfrm>
            <a:off x="1362205" y="693500"/>
            <a:ext cx="6003052" cy="419867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6" name="Shape 1686"/>
        <p:cNvGrpSpPr/>
        <p:nvPr/>
      </p:nvGrpSpPr>
      <p:grpSpPr>
        <a:xfrm>
          <a:off x="0" y="0"/>
          <a:ext cx="0" cy="0"/>
          <a:chOff x="0" y="0"/>
          <a:chExt cx="0" cy="0"/>
        </a:xfrm>
      </p:grpSpPr>
      <p:sp>
        <p:nvSpPr>
          <p:cNvPr id="1687" name="Google Shape;1687;p85"/>
          <p:cNvSpPr/>
          <p:nvPr/>
        </p:nvSpPr>
        <p:spPr>
          <a:xfrm>
            <a:off x="2945400" y="479158"/>
            <a:ext cx="6031500" cy="439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8" name="Google Shape;1688;p85"/>
          <p:cNvSpPr/>
          <p:nvPr/>
        </p:nvSpPr>
        <p:spPr>
          <a:xfrm>
            <a:off x="7017650" y="2932751"/>
            <a:ext cx="1730700" cy="18018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689" name="Google Shape;1689;p85"/>
          <p:cNvSpPr/>
          <p:nvPr/>
        </p:nvSpPr>
        <p:spPr>
          <a:xfrm>
            <a:off x="3086075" y="750558"/>
            <a:ext cx="2716800" cy="39840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690" name="Google Shape;1690;p85"/>
          <p:cNvSpPr/>
          <p:nvPr/>
        </p:nvSpPr>
        <p:spPr>
          <a:xfrm>
            <a:off x="7052975" y="754578"/>
            <a:ext cx="1730700" cy="1277400"/>
          </a:xfrm>
          <a:prstGeom prst="roundRect">
            <a:avLst>
              <a:gd fmla="val 399" name="adj"/>
            </a:avLst>
          </a:prstGeom>
          <a:solidFill>
            <a:srgbClr val="F6F6F6"/>
          </a:solidFill>
          <a:ln>
            <a:noFill/>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1"/>
              <a:buFont typeface="Arial"/>
              <a:buNone/>
            </a:pPr>
            <a:r>
              <a:t/>
            </a:r>
            <a:endParaRPr b="0" i="0" sz="1401" u="none" cap="none" strike="noStrike">
              <a:solidFill>
                <a:srgbClr val="9E9E9E"/>
              </a:solidFill>
              <a:latin typeface="Arial"/>
              <a:ea typeface="Arial"/>
              <a:cs typeface="Arial"/>
              <a:sym typeface="Arial"/>
            </a:endParaRPr>
          </a:p>
        </p:txBody>
      </p:sp>
      <p:sp>
        <p:nvSpPr>
          <p:cNvPr id="1691" name="Google Shape;1691;p85"/>
          <p:cNvSpPr txBox="1"/>
          <p:nvPr/>
        </p:nvSpPr>
        <p:spPr>
          <a:xfrm>
            <a:off x="7088144" y="750556"/>
            <a:ext cx="16602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Catalog Manager</a:t>
            </a:r>
            <a:endParaRPr sz="1200">
              <a:solidFill>
                <a:srgbClr val="FFFFFF"/>
              </a:solidFill>
            </a:endParaRPr>
          </a:p>
        </p:txBody>
      </p:sp>
      <p:grpSp>
        <p:nvGrpSpPr>
          <p:cNvPr id="1692" name="Google Shape;1692;p85"/>
          <p:cNvGrpSpPr/>
          <p:nvPr/>
        </p:nvGrpSpPr>
        <p:grpSpPr>
          <a:xfrm>
            <a:off x="7639785" y="3286107"/>
            <a:ext cx="486292" cy="457206"/>
            <a:chOff x="345049" y="1086515"/>
            <a:chExt cx="3135348" cy="2970796"/>
          </a:xfrm>
        </p:grpSpPr>
        <p:sp>
          <p:nvSpPr>
            <p:cNvPr id="1693" name="Google Shape;1693;p85"/>
            <p:cNvSpPr/>
            <p:nvPr/>
          </p:nvSpPr>
          <p:spPr>
            <a:xfrm>
              <a:off x="345049" y="1086515"/>
              <a:ext cx="2431159" cy="2431159"/>
            </a:xfrm>
            <a:custGeom>
              <a:rect b="b" l="l" r="r" t="t"/>
              <a:pathLst>
                <a:path extrusionOk="0" h="2431159" w="2431159">
                  <a:moveTo>
                    <a:pt x="1370278" y="2431160"/>
                  </a:moveTo>
                  <a:lnTo>
                    <a:pt x="302499" y="2431160"/>
                  </a:lnTo>
                  <a:cubicBezTo>
                    <a:pt x="135648" y="2431160"/>
                    <a:pt x="0" y="2295511"/>
                    <a:pt x="0" y="2128660"/>
                  </a:cubicBezTo>
                  <a:lnTo>
                    <a:pt x="0" y="302499"/>
                  </a:lnTo>
                  <a:cubicBezTo>
                    <a:pt x="0" y="135648"/>
                    <a:pt x="135648" y="0"/>
                    <a:pt x="302499" y="0"/>
                  </a:cubicBezTo>
                  <a:lnTo>
                    <a:pt x="2128661" y="0"/>
                  </a:lnTo>
                  <a:cubicBezTo>
                    <a:pt x="2295511" y="0"/>
                    <a:pt x="2431160" y="135648"/>
                    <a:pt x="2431160" y="302499"/>
                  </a:cubicBezTo>
                  <a:lnTo>
                    <a:pt x="2431160" y="973843"/>
                  </a:lnTo>
                  <a:cubicBezTo>
                    <a:pt x="2431160" y="1018184"/>
                    <a:pt x="2395359" y="1054313"/>
                    <a:pt x="2350690" y="1054313"/>
                  </a:cubicBezTo>
                  <a:cubicBezTo>
                    <a:pt x="2306350" y="1054313"/>
                    <a:pt x="2270221" y="1018184"/>
                    <a:pt x="2270221" y="973843"/>
                  </a:cubicBezTo>
                  <a:lnTo>
                    <a:pt x="2270221" y="302171"/>
                  </a:lnTo>
                  <a:cubicBezTo>
                    <a:pt x="2270221" y="224000"/>
                    <a:pt x="2206502" y="160282"/>
                    <a:pt x="2128332" y="160282"/>
                  </a:cubicBezTo>
                  <a:lnTo>
                    <a:pt x="302171" y="160282"/>
                  </a:lnTo>
                  <a:cubicBezTo>
                    <a:pt x="224000" y="160282"/>
                    <a:pt x="160282" y="224000"/>
                    <a:pt x="160282" y="302171"/>
                  </a:cubicBezTo>
                  <a:lnTo>
                    <a:pt x="160282" y="2128332"/>
                  </a:lnTo>
                  <a:cubicBezTo>
                    <a:pt x="160282" y="2206502"/>
                    <a:pt x="224000" y="2270221"/>
                    <a:pt x="302171" y="2270221"/>
                  </a:cubicBezTo>
                  <a:lnTo>
                    <a:pt x="1369950" y="2270221"/>
                  </a:lnTo>
                  <a:cubicBezTo>
                    <a:pt x="1414290" y="2270221"/>
                    <a:pt x="1450419" y="2306350"/>
                    <a:pt x="1450419" y="2350690"/>
                  </a:cubicBezTo>
                  <a:cubicBezTo>
                    <a:pt x="1450747" y="2395030"/>
                    <a:pt x="1414618" y="2431160"/>
                    <a:pt x="1370278" y="2431160"/>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694" name="Google Shape;1694;p85"/>
            <p:cNvSpPr/>
            <p:nvPr/>
          </p:nvSpPr>
          <p:spPr>
            <a:xfrm>
              <a:off x="1507092" y="2952090"/>
              <a:ext cx="1973305" cy="107073"/>
            </a:xfrm>
            <a:custGeom>
              <a:rect b="b" l="l" r="r" t="t"/>
              <a:pathLst>
                <a:path extrusionOk="0" h="107073" w="1973305">
                  <a:moveTo>
                    <a:pt x="1919769" y="107073"/>
                  </a:moveTo>
                  <a:lnTo>
                    <a:pt x="53537" y="107073"/>
                  </a:lnTo>
                  <a:cubicBezTo>
                    <a:pt x="23977" y="107073"/>
                    <a:pt x="0" y="83097"/>
                    <a:pt x="0" y="53537"/>
                  </a:cubicBezTo>
                  <a:cubicBezTo>
                    <a:pt x="0" y="23977"/>
                    <a:pt x="23977" y="0"/>
                    <a:pt x="53537" y="0"/>
                  </a:cubicBezTo>
                  <a:lnTo>
                    <a:pt x="1919769" y="0"/>
                  </a:lnTo>
                  <a:cubicBezTo>
                    <a:pt x="1949329" y="0"/>
                    <a:pt x="1973305" y="23977"/>
                    <a:pt x="1973305" y="53537"/>
                  </a:cubicBezTo>
                  <a:cubicBezTo>
                    <a:pt x="1973305" y="83097"/>
                    <a:pt x="1949329" y="107073"/>
                    <a:pt x="1919769" y="107073"/>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695" name="Google Shape;1695;p85"/>
            <p:cNvSpPr/>
            <p:nvPr/>
          </p:nvSpPr>
          <p:spPr>
            <a:xfrm>
              <a:off x="1802422" y="2188406"/>
              <a:ext cx="1396425" cy="833072"/>
            </a:xfrm>
            <a:custGeom>
              <a:rect b="b" l="l" r="r" t="t"/>
              <a:pathLst>
                <a:path extrusionOk="0" h="833072" w="1396425">
                  <a:moveTo>
                    <a:pt x="1342631" y="832985"/>
                  </a:moveTo>
                  <a:cubicBezTo>
                    <a:pt x="1324238" y="832985"/>
                    <a:pt x="1306174" y="823461"/>
                    <a:pt x="1296321" y="806053"/>
                  </a:cubicBezTo>
                  <a:lnTo>
                    <a:pt x="1113705" y="490088"/>
                  </a:lnTo>
                  <a:lnTo>
                    <a:pt x="958349" y="469724"/>
                  </a:lnTo>
                  <a:cubicBezTo>
                    <a:pt x="942912" y="467753"/>
                    <a:pt x="928789" y="458885"/>
                    <a:pt x="920250" y="445747"/>
                  </a:cubicBezTo>
                  <a:lnTo>
                    <a:pt x="722196" y="138650"/>
                  </a:lnTo>
                  <a:lnTo>
                    <a:pt x="558302" y="302545"/>
                  </a:lnTo>
                  <a:lnTo>
                    <a:pt x="476519" y="539026"/>
                  </a:lnTo>
                  <a:cubicBezTo>
                    <a:pt x="470935" y="554792"/>
                    <a:pt x="458454" y="567272"/>
                    <a:pt x="442360" y="572528"/>
                  </a:cubicBezTo>
                  <a:lnTo>
                    <a:pt x="206864" y="648070"/>
                  </a:lnTo>
                  <a:lnTo>
                    <a:pt x="97820" y="809337"/>
                  </a:lnTo>
                  <a:cubicBezTo>
                    <a:pt x="81398" y="833971"/>
                    <a:pt x="47896" y="840540"/>
                    <a:pt x="23591" y="823789"/>
                  </a:cubicBezTo>
                  <a:cubicBezTo>
                    <a:pt x="-1042" y="807367"/>
                    <a:pt x="-7283" y="773865"/>
                    <a:pt x="9139" y="749560"/>
                  </a:cubicBezTo>
                  <a:lnTo>
                    <a:pt x="128365" y="572856"/>
                  </a:lnTo>
                  <a:cubicBezTo>
                    <a:pt x="134934" y="563003"/>
                    <a:pt x="145116" y="555448"/>
                    <a:pt x="156283" y="551836"/>
                  </a:cubicBezTo>
                  <a:lnTo>
                    <a:pt x="383897" y="478920"/>
                  </a:lnTo>
                  <a:lnTo>
                    <a:pt x="461082" y="255905"/>
                  </a:lnTo>
                  <a:cubicBezTo>
                    <a:pt x="463709" y="248351"/>
                    <a:pt x="467979" y="241454"/>
                    <a:pt x="473891" y="235542"/>
                  </a:cubicBezTo>
                  <a:lnTo>
                    <a:pt x="693622" y="15811"/>
                  </a:lnTo>
                  <a:cubicBezTo>
                    <a:pt x="705117" y="4315"/>
                    <a:pt x="721211" y="-1597"/>
                    <a:pt x="737305" y="374"/>
                  </a:cubicBezTo>
                  <a:cubicBezTo>
                    <a:pt x="753399" y="2016"/>
                    <a:pt x="767850" y="10884"/>
                    <a:pt x="776719" y="24679"/>
                  </a:cubicBezTo>
                  <a:lnTo>
                    <a:pt x="997106" y="366592"/>
                  </a:lnTo>
                  <a:lnTo>
                    <a:pt x="1154103" y="387284"/>
                  </a:lnTo>
                  <a:cubicBezTo>
                    <a:pt x="1170526" y="389583"/>
                    <a:pt x="1185306" y="399108"/>
                    <a:pt x="1193517" y="413560"/>
                  </a:cubicBezTo>
                  <a:lnTo>
                    <a:pt x="1389271" y="752516"/>
                  </a:lnTo>
                  <a:cubicBezTo>
                    <a:pt x="1404051" y="778135"/>
                    <a:pt x="1395183" y="810980"/>
                    <a:pt x="1369564" y="825760"/>
                  </a:cubicBezTo>
                  <a:cubicBezTo>
                    <a:pt x="1361025" y="830686"/>
                    <a:pt x="1351828" y="832985"/>
                    <a:pt x="1342631" y="83298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696" name="Google Shape;1696;p85"/>
            <p:cNvSpPr/>
            <p:nvPr/>
          </p:nvSpPr>
          <p:spPr>
            <a:xfrm>
              <a:off x="1840945" y="3095959"/>
              <a:ext cx="1291611" cy="961352"/>
            </a:xfrm>
            <a:custGeom>
              <a:rect b="b" l="l" r="r" t="t"/>
              <a:pathLst>
                <a:path extrusionOk="0" h="961352" w="1291611">
                  <a:moveTo>
                    <a:pt x="769398" y="961352"/>
                  </a:moveTo>
                  <a:cubicBezTo>
                    <a:pt x="758560" y="961352"/>
                    <a:pt x="748049" y="958068"/>
                    <a:pt x="739181" y="951827"/>
                  </a:cubicBezTo>
                  <a:lnTo>
                    <a:pt x="447849" y="751475"/>
                  </a:lnTo>
                  <a:cubicBezTo>
                    <a:pt x="438324" y="744906"/>
                    <a:pt x="431098" y="735710"/>
                    <a:pt x="427486" y="724542"/>
                  </a:cubicBezTo>
                  <a:lnTo>
                    <a:pt x="309902" y="380659"/>
                  </a:lnTo>
                  <a:lnTo>
                    <a:pt x="98054" y="257163"/>
                  </a:lnTo>
                  <a:cubicBezTo>
                    <a:pt x="88529" y="251580"/>
                    <a:pt x="80975" y="243040"/>
                    <a:pt x="76376" y="233187"/>
                  </a:cubicBezTo>
                  <a:lnTo>
                    <a:pt x="4775" y="75861"/>
                  </a:lnTo>
                  <a:cubicBezTo>
                    <a:pt x="-7377" y="48928"/>
                    <a:pt x="4447" y="17069"/>
                    <a:pt x="31379" y="4917"/>
                  </a:cubicBezTo>
                  <a:cubicBezTo>
                    <a:pt x="58312" y="-7564"/>
                    <a:pt x="90171" y="4588"/>
                    <a:pt x="102324" y="31521"/>
                  </a:cubicBezTo>
                  <a:lnTo>
                    <a:pt x="167028" y="173409"/>
                  </a:lnTo>
                  <a:lnTo>
                    <a:pt x="381503" y="298548"/>
                  </a:lnTo>
                  <a:cubicBezTo>
                    <a:pt x="392670" y="305116"/>
                    <a:pt x="400881" y="315298"/>
                    <a:pt x="405151" y="327451"/>
                  </a:cubicBezTo>
                  <a:lnTo>
                    <a:pt x="523392" y="673633"/>
                  </a:lnTo>
                  <a:lnTo>
                    <a:pt x="745422" y="826689"/>
                  </a:lnTo>
                  <a:lnTo>
                    <a:pt x="896835" y="460800"/>
                  </a:lnTo>
                  <a:cubicBezTo>
                    <a:pt x="905047" y="440765"/>
                    <a:pt x="924753" y="427627"/>
                    <a:pt x="946431" y="427627"/>
                  </a:cubicBezTo>
                  <a:lnTo>
                    <a:pt x="1003252" y="427627"/>
                  </a:lnTo>
                  <a:lnTo>
                    <a:pt x="1189481" y="31192"/>
                  </a:lnTo>
                  <a:cubicBezTo>
                    <a:pt x="1201962" y="4259"/>
                    <a:pt x="1233821" y="-7236"/>
                    <a:pt x="1260754" y="5573"/>
                  </a:cubicBezTo>
                  <a:cubicBezTo>
                    <a:pt x="1287686" y="18054"/>
                    <a:pt x="1299182" y="49914"/>
                    <a:pt x="1286373" y="76846"/>
                  </a:cubicBezTo>
                  <a:lnTo>
                    <a:pt x="1085692" y="504155"/>
                  </a:lnTo>
                  <a:cubicBezTo>
                    <a:pt x="1076824" y="522876"/>
                    <a:pt x="1058102" y="535029"/>
                    <a:pt x="1037082" y="535029"/>
                  </a:cubicBezTo>
                  <a:lnTo>
                    <a:pt x="982231" y="535029"/>
                  </a:lnTo>
                  <a:lnTo>
                    <a:pt x="819322" y="929164"/>
                  </a:lnTo>
                  <a:cubicBezTo>
                    <a:pt x="813082" y="944273"/>
                    <a:pt x="800601" y="955440"/>
                    <a:pt x="785164" y="960038"/>
                  </a:cubicBezTo>
                  <a:cubicBezTo>
                    <a:pt x="779580" y="960695"/>
                    <a:pt x="774653" y="961352"/>
                    <a:pt x="769398" y="961352"/>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697" name="Google Shape;1697;p85"/>
            <p:cNvSpPr/>
            <p:nvPr/>
          </p:nvSpPr>
          <p:spPr>
            <a:xfrm>
              <a:off x="2453555" y="2246797"/>
              <a:ext cx="388683" cy="774595"/>
            </a:xfrm>
            <a:custGeom>
              <a:rect b="b" l="l" r="r" t="t"/>
              <a:pathLst>
                <a:path extrusionOk="0" h="774595" w="388683">
                  <a:moveTo>
                    <a:pt x="334806" y="774595"/>
                  </a:moveTo>
                  <a:cubicBezTo>
                    <a:pt x="316413" y="774595"/>
                    <a:pt x="298349" y="765070"/>
                    <a:pt x="288495" y="747991"/>
                  </a:cubicBezTo>
                  <a:lnTo>
                    <a:pt x="216565" y="624495"/>
                  </a:lnTo>
                  <a:lnTo>
                    <a:pt x="56284" y="321011"/>
                  </a:lnTo>
                  <a:cubicBezTo>
                    <a:pt x="53985" y="316413"/>
                    <a:pt x="52342" y="311814"/>
                    <a:pt x="51357" y="306888"/>
                  </a:cubicBezTo>
                  <a:lnTo>
                    <a:pt x="1105" y="64494"/>
                  </a:lnTo>
                  <a:cubicBezTo>
                    <a:pt x="-4807" y="35591"/>
                    <a:pt x="13586" y="7345"/>
                    <a:pt x="42489" y="1104"/>
                  </a:cubicBezTo>
                  <a:cubicBezTo>
                    <a:pt x="71392" y="-4808"/>
                    <a:pt x="99639" y="13585"/>
                    <a:pt x="105879" y="42817"/>
                  </a:cubicBezTo>
                  <a:lnTo>
                    <a:pt x="154818" y="277984"/>
                  </a:lnTo>
                  <a:lnTo>
                    <a:pt x="310501" y="572601"/>
                  </a:lnTo>
                  <a:lnTo>
                    <a:pt x="381446" y="694126"/>
                  </a:lnTo>
                  <a:cubicBezTo>
                    <a:pt x="396226" y="719745"/>
                    <a:pt x="387686" y="752261"/>
                    <a:pt x="362067" y="767369"/>
                  </a:cubicBezTo>
                  <a:cubicBezTo>
                    <a:pt x="353199" y="771968"/>
                    <a:pt x="344003" y="774595"/>
                    <a:pt x="334806" y="774595"/>
                  </a:cubicBez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698" name="Google Shape;1698;p85"/>
            <p:cNvSpPr/>
            <p:nvPr/>
          </p:nvSpPr>
          <p:spPr>
            <a:xfrm>
              <a:off x="1303127"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942" y="106745"/>
                  </a:moveTo>
                  <a:cubicBezTo>
                    <a:pt x="111015" y="106745"/>
                    <a:pt x="107074" y="110686"/>
                    <a:pt x="107074" y="115613"/>
                  </a:cubicBezTo>
                  <a:lnTo>
                    <a:pt x="107074" y="398734"/>
                  </a:lnTo>
                  <a:cubicBezTo>
                    <a:pt x="107074" y="403661"/>
                    <a:pt x="111015" y="407602"/>
                    <a:pt x="115942" y="407602"/>
                  </a:cubicBezTo>
                  <a:lnTo>
                    <a:pt x="399062" y="407602"/>
                  </a:lnTo>
                  <a:cubicBezTo>
                    <a:pt x="403989" y="407602"/>
                    <a:pt x="407930" y="403661"/>
                    <a:pt x="407930" y="398734"/>
                  </a:cubicBezTo>
                  <a:lnTo>
                    <a:pt x="407930" y="115613"/>
                  </a:lnTo>
                  <a:cubicBezTo>
                    <a:pt x="407930" y="110686"/>
                    <a:pt x="403989" y="106745"/>
                    <a:pt x="399062" y="106745"/>
                  </a:cubicBezTo>
                  <a:lnTo>
                    <a:pt x="115942"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699" name="Google Shape;1699;p85"/>
            <p:cNvSpPr/>
            <p:nvPr/>
          </p:nvSpPr>
          <p:spPr>
            <a:xfrm>
              <a:off x="1303127"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942" y="107073"/>
                  </a:moveTo>
                  <a:cubicBezTo>
                    <a:pt x="111015" y="107073"/>
                    <a:pt x="107074" y="111015"/>
                    <a:pt x="107074" y="115942"/>
                  </a:cubicBezTo>
                  <a:lnTo>
                    <a:pt x="107074" y="399062"/>
                  </a:lnTo>
                  <a:cubicBezTo>
                    <a:pt x="107074" y="403989"/>
                    <a:pt x="111015" y="407930"/>
                    <a:pt x="115942" y="407930"/>
                  </a:cubicBezTo>
                  <a:lnTo>
                    <a:pt x="399062" y="407930"/>
                  </a:lnTo>
                  <a:cubicBezTo>
                    <a:pt x="403989" y="407930"/>
                    <a:pt x="407930" y="403989"/>
                    <a:pt x="407930" y="399062"/>
                  </a:cubicBezTo>
                  <a:lnTo>
                    <a:pt x="407930" y="115942"/>
                  </a:lnTo>
                  <a:cubicBezTo>
                    <a:pt x="407930" y="111015"/>
                    <a:pt x="403989" y="107073"/>
                    <a:pt x="399062" y="107073"/>
                  </a:cubicBezTo>
                  <a:lnTo>
                    <a:pt x="115942"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700" name="Google Shape;1700;p85"/>
            <p:cNvSpPr/>
            <p:nvPr/>
          </p:nvSpPr>
          <p:spPr>
            <a:xfrm>
              <a:off x="1920934"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2781"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701" name="Google Shape;1701;p85"/>
            <p:cNvSpPr/>
            <p:nvPr/>
          </p:nvSpPr>
          <p:spPr>
            <a:xfrm>
              <a:off x="685648" y="1426128"/>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5"/>
                    <a:pt x="51895" y="0"/>
                    <a:pt x="115942" y="0"/>
                  </a:cubicBezTo>
                  <a:lnTo>
                    <a:pt x="399062" y="0"/>
                  </a:lnTo>
                  <a:cubicBezTo>
                    <a:pt x="463109" y="0"/>
                    <a:pt x="515004" y="51895"/>
                    <a:pt x="515004" y="115942"/>
                  </a:cubicBezTo>
                  <a:lnTo>
                    <a:pt x="515004" y="399062"/>
                  </a:lnTo>
                  <a:cubicBezTo>
                    <a:pt x="515004" y="463109"/>
                    <a:pt x="463109" y="515004"/>
                    <a:pt x="399062" y="515004"/>
                  </a:cubicBezTo>
                  <a:close/>
                  <a:moveTo>
                    <a:pt x="115613" y="106745"/>
                  </a:moveTo>
                  <a:cubicBezTo>
                    <a:pt x="110686" y="106745"/>
                    <a:pt x="106745" y="110686"/>
                    <a:pt x="106745" y="115613"/>
                  </a:cubicBezTo>
                  <a:lnTo>
                    <a:pt x="106745" y="398734"/>
                  </a:lnTo>
                  <a:cubicBezTo>
                    <a:pt x="106745" y="403661"/>
                    <a:pt x="110686" y="407602"/>
                    <a:pt x="115613" y="407602"/>
                  </a:cubicBezTo>
                  <a:lnTo>
                    <a:pt x="398734" y="407602"/>
                  </a:lnTo>
                  <a:cubicBezTo>
                    <a:pt x="403661" y="407602"/>
                    <a:pt x="407602" y="403661"/>
                    <a:pt x="407602" y="398734"/>
                  </a:cubicBezTo>
                  <a:lnTo>
                    <a:pt x="407602" y="115613"/>
                  </a:lnTo>
                  <a:cubicBezTo>
                    <a:pt x="407602" y="110686"/>
                    <a:pt x="403661" y="106745"/>
                    <a:pt x="398734" y="106745"/>
                  </a:cubicBezTo>
                  <a:lnTo>
                    <a:pt x="115613" y="106745"/>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702" name="Google Shape;1702;p85"/>
            <p:cNvSpPr/>
            <p:nvPr/>
          </p:nvSpPr>
          <p:spPr>
            <a:xfrm>
              <a:off x="685648" y="2039994"/>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sp>
          <p:nvSpPr>
            <p:cNvPr id="1703" name="Google Shape;1703;p85"/>
            <p:cNvSpPr/>
            <p:nvPr/>
          </p:nvSpPr>
          <p:spPr>
            <a:xfrm>
              <a:off x="685648" y="2659773"/>
              <a:ext cx="515003" cy="515003"/>
            </a:xfrm>
            <a:custGeom>
              <a:rect b="b" l="l" r="r" t="t"/>
              <a:pathLst>
                <a:path extrusionOk="0" h="515003" w="515003">
                  <a:moveTo>
                    <a:pt x="399062" y="515004"/>
                  </a:moveTo>
                  <a:lnTo>
                    <a:pt x="115942" y="515004"/>
                  </a:lnTo>
                  <a:cubicBezTo>
                    <a:pt x="51895" y="515004"/>
                    <a:pt x="0" y="463109"/>
                    <a:pt x="0" y="399062"/>
                  </a:cubicBezTo>
                  <a:lnTo>
                    <a:pt x="0" y="115942"/>
                  </a:lnTo>
                  <a:cubicBezTo>
                    <a:pt x="0" y="51894"/>
                    <a:pt x="51895" y="0"/>
                    <a:pt x="115942" y="0"/>
                  </a:cubicBezTo>
                  <a:lnTo>
                    <a:pt x="399062" y="0"/>
                  </a:lnTo>
                  <a:cubicBezTo>
                    <a:pt x="463109" y="0"/>
                    <a:pt x="515004" y="51894"/>
                    <a:pt x="515004" y="115942"/>
                  </a:cubicBezTo>
                  <a:lnTo>
                    <a:pt x="515004" y="399062"/>
                  </a:lnTo>
                  <a:cubicBezTo>
                    <a:pt x="515004" y="463109"/>
                    <a:pt x="463109" y="515004"/>
                    <a:pt x="399062" y="515004"/>
                  </a:cubicBezTo>
                  <a:close/>
                  <a:moveTo>
                    <a:pt x="115613" y="107073"/>
                  </a:moveTo>
                  <a:cubicBezTo>
                    <a:pt x="110686" y="107073"/>
                    <a:pt x="106745" y="111015"/>
                    <a:pt x="106745" y="115942"/>
                  </a:cubicBezTo>
                  <a:lnTo>
                    <a:pt x="106745" y="399062"/>
                  </a:lnTo>
                  <a:cubicBezTo>
                    <a:pt x="106745" y="403989"/>
                    <a:pt x="110686" y="407930"/>
                    <a:pt x="115613" y="407930"/>
                  </a:cubicBezTo>
                  <a:lnTo>
                    <a:pt x="398734" y="407930"/>
                  </a:lnTo>
                  <a:cubicBezTo>
                    <a:pt x="403661" y="407930"/>
                    <a:pt x="407602" y="403989"/>
                    <a:pt x="407602" y="399062"/>
                  </a:cubicBezTo>
                  <a:lnTo>
                    <a:pt x="407602" y="115942"/>
                  </a:lnTo>
                  <a:cubicBezTo>
                    <a:pt x="407602" y="111015"/>
                    <a:pt x="403661" y="107073"/>
                    <a:pt x="398734" y="107073"/>
                  </a:cubicBezTo>
                  <a:lnTo>
                    <a:pt x="115613" y="107073"/>
                  </a:lnTo>
                  <a:close/>
                </a:path>
              </a:pathLst>
            </a:custGeom>
            <a:solidFill>
              <a:srgbClr val="29B4E7"/>
            </a:solidFill>
            <a:ln>
              <a:noFill/>
            </a:ln>
          </p:spPr>
          <p:txBody>
            <a:bodyPr anchorCtr="0" anchor="ctr" bIns="83900" lIns="167800" spcFirstLastPara="1" rIns="167800" wrap="square" tIns="83900">
              <a:noAutofit/>
            </a:bodyPr>
            <a:lstStyle/>
            <a:p>
              <a:pPr indent="0" lvl="0" marL="0" marR="0" rtl="0" algn="l">
                <a:spcBef>
                  <a:spcPts val="0"/>
                </a:spcBef>
                <a:spcAft>
                  <a:spcPts val="0"/>
                </a:spcAft>
                <a:buNone/>
              </a:pPr>
              <a:r>
                <a:t/>
              </a:r>
              <a:endParaRPr sz="3304">
                <a:solidFill>
                  <a:srgbClr val="262626"/>
                </a:solidFill>
                <a:latin typeface="Arial"/>
                <a:ea typeface="Arial"/>
                <a:cs typeface="Arial"/>
                <a:sym typeface="Arial"/>
              </a:endParaRPr>
            </a:p>
          </p:txBody>
        </p:sp>
      </p:grpSp>
      <p:sp>
        <p:nvSpPr>
          <p:cNvPr id="1704" name="Google Shape;1704;p85"/>
          <p:cNvSpPr txBox="1"/>
          <p:nvPr/>
        </p:nvSpPr>
        <p:spPr>
          <a:xfrm>
            <a:off x="7443276" y="3736960"/>
            <a:ext cx="879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rPr>
              <a:t>Metadata</a:t>
            </a:r>
            <a:endParaRPr sz="1000">
              <a:solidFill>
                <a:srgbClr val="105780"/>
              </a:solidFill>
              <a:latin typeface="Arial"/>
              <a:ea typeface="Arial"/>
              <a:cs typeface="Arial"/>
              <a:sym typeface="Arial"/>
            </a:endParaRPr>
          </a:p>
        </p:txBody>
      </p:sp>
      <p:grpSp>
        <p:nvGrpSpPr>
          <p:cNvPr id="1705" name="Google Shape;1705;p85"/>
          <p:cNvGrpSpPr/>
          <p:nvPr/>
        </p:nvGrpSpPr>
        <p:grpSpPr>
          <a:xfrm>
            <a:off x="7698545" y="4117148"/>
            <a:ext cx="368765" cy="381908"/>
            <a:chOff x="1714900" y="552700"/>
            <a:chExt cx="4353775" cy="4508950"/>
          </a:xfrm>
        </p:grpSpPr>
        <p:sp>
          <p:nvSpPr>
            <p:cNvPr id="1706" name="Google Shape;1706;p85"/>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252525"/>
                </a:solidFill>
                <a:latin typeface="Arial"/>
                <a:ea typeface="Arial"/>
                <a:cs typeface="Arial"/>
                <a:sym typeface="Arial"/>
              </a:endParaRPr>
            </a:p>
          </p:txBody>
        </p:sp>
        <p:sp>
          <p:nvSpPr>
            <p:cNvPr id="1707" name="Google Shape;1707;p85"/>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
                <a:buFont typeface="Arial"/>
                <a:buNone/>
              </a:pPr>
              <a:r>
                <a:rPr b="1" lang="en" sz="400">
                  <a:solidFill>
                    <a:srgbClr val="FFFFFF"/>
                  </a:solidFill>
                  <a:latin typeface="Arial"/>
                  <a:ea typeface="Arial"/>
                  <a:cs typeface="Arial"/>
                  <a:sym typeface="Arial"/>
                </a:rPr>
                <a:t>PARQUET</a:t>
              </a:r>
              <a:endParaRPr sz="1000">
                <a:solidFill>
                  <a:srgbClr val="252525"/>
                </a:solidFill>
                <a:latin typeface="Arial"/>
                <a:ea typeface="Arial"/>
                <a:cs typeface="Arial"/>
                <a:sym typeface="Arial"/>
              </a:endParaRPr>
            </a:p>
          </p:txBody>
        </p:sp>
      </p:grpSp>
      <p:grpSp>
        <p:nvGrpSpPr>
          <p:cNvPr id="1708" name="Google Shape;1708;p85"/>
          <p:cNvGrpSpPr/>
          <p:nvPr/>
        </p:nvGrpSpPr>
        <p:grpSpPr>
          <a:xfrm>
            <a:off x="7330269" y="1015813"/>
            <a:ext cx="1188715" cy="1093656"/>
            <a:chOff x="1548833" y="2114554"/>
            <a:chExt cx="1017300" cy="928716"/>
          </a:xfrm>
        </p:grpSpPr>
        <p:pic>
          <p:nvPicPr>
            <p:cNvPr id="1709" name="Google Shape;1709;p85"/>
            <p:cNvPicPr preferRelativeResize="0"/>
            <p:nvPr/>
          </p:nvPicPr>
          <p:blipFill rotWithShape="1">
            <a:blip r:embed="rId3">
              <a:alphaModFix/>
            </a:blip>
            <a:srcRect b="0" l="0" r="0" t="0"/>
            <a:stretch/>
          </p:blipFill>
          <p:spPr>
            <a:xfrm>
              <a:off x="1828870" y="2114554"/>
              <a:ext cx="457200" cy="457200"/>
            </a:xfrm>
            <a:prstGeom prst="rect">
              <a:avLst/>
            </a:prstGeom>
            <a:noFill/>
            <a:ln>
              <a:noFill/>
            </a:ln>
          </p:spPr>
        </p:pic>
        <p:sp>
          <p:nvSpPr>
            <p:cNvPr id="1710" name="Google Shape;1710;p85"/>
            <p:cNvSpPr txBox="1"/>
            <p:nvPr/>
          </p:nvSpPr>
          <p:spPr>
            <a:xfrm>
              <a:off x="1548833" y="2627770"/>
              <a:ext cx="1017300" cy="41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rPr>
                <a:t>Snowflake Horizon</a:t>
              </a:r>
              <a:br>
                <a:rPr lang="en" sz="1000">
                  <a:solidFill>
                    <a:srgbClr val="105780"/>
                  </a:solidFill>
                </a:rPr>
              </a:br>
              <a:r>
                <a:rPr lang="en" sz="1000">
                  <a:solidFill>
                    <a:srgbClr val="105780"/>
                  </a:solidFill>
                </a:rPr>
                <a:t>(Polaris-Compatible)</a:t>
              </a:r>
              <a:endParaRPr b="0" i="0" sz="1000" u="none" cap="none" strike="noStrike">
                <a:solidFill>
                  <a:srgbClr val="105780"/>
                </a:solidFill>
                <a:latin typeface="Arial"/>
                <a:ea typeface="Arial"/>
                <a:cs typeface="Arial"/>
                <a:sym typeface="Arial"/>
              </a:endParaRPr>
            </a:p>
          </p:txBody>
        </p:sp>
      </p:grpSp>
      <p:pic>
        <p:nvPicPr>
          <p:cNvPr id="1711" name="Google Shape;1711;p85" title="Spark-logo-192x100px.png"/>
          <p:cNvPicPr preferRelativeResize="0"/>
          <p:nvPr/>
        </p:nvPicPr>
        <p:blipFill>
          <a:blip r:embed="rId4">
            <a:alphaModFix/>
          </a:blip>
          <a:stretch>
            <a:fillRect/>
          </a:stretch>
        </p:blipFill>
        <p:spPr>
          <a:xfrm>
            <a:off x="3376919" y="1492028"/>
            <a:ext cx="914400" cy="475488"/>
          </a:xfrm>
          <a:prstGeom prst="rect">
            <a:avLst/>
          </a:prstGeom>
          <a:noFill/>
          <a:ln>
            <a:noFill/>
          </a:ln>
        </p:spPr>
      </p:pic>
      <p:grpSp>
        <p:nvGrpSpPr>
          <p:cNvPr id="1712" name="Google Shape;1712;p85"/>
          <p:cNvGrpSpPr/>
          <p:nvPr/>
        </p:nvGrpSpPr>
        <p:grpSpPr>
          <a:xfrm>
            <a:off x="3376952" y="2418693"/>
            <a:ext cx="914384" cy="647726"/>
            <a:chOff x="1233014" y="1825863"/>
            <a:chExt cx="879300" cy="620487"/>
          </a:xfrm>
        </p:grpSpPr>
        <p:sp>
          <p:nvSpPr>
            <p:cNvPr id="1713" name="Google Shape;1713;p85"/>
            <p:cNvSpPr txBox="1"/>
            <p:nvPr/>
          </p:nvSpPr>
          <p:spPr>
            <a:xfrm>
              <a:off x="1233014" y="2292450"/>
              <a:ext cx="879300" cy="153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chemeClr val="dk1"/>
                  </a:solidFill>
                </a:rPr>
                <a:t>Big Query</a:t>
              </a:r>
              <a:endParaRPr b="1" sz="1200">
                <a:solidFill>
                  <a:schemeClr val="dk1"/>
                </a:solidFill>
              </a:endParaRPr>
            </a:p>
          </p:txBody>
        </p:sp>
        <p:pic>
          <p:nvPicPr>
            <p:cNvPr id="1714" name="Google Shape;1714;p85" title="BigQuery-512-color.png"/>
            <p:cNvPicPr preferRelativeResize="0"/>
            <p:nvPr/>
          </p:nvPicPr>
          <p:blipFill>
            <a:blip r:embed="rId5">
              <a:alphaModFix/>
            </a:blip>
            <a:stretch>
              <a:fillRect/>
            </a:stretch>
          </p:blipFill>
          <p:spPr>
            <a:xfrm>
              <a:off x="1444063" y="1825863"/>
              <a:ext cx="457201" cy="457201"/>
            </a:xfrm>
            <a:prstGeom prst="rect">
              <a:avLst/>
            </a:prstGeom>
            <a:noFill/>
            <a:ln>
              <a:noFill/>
            </a:ln>
          </p:spPr>
        </p:pic>
      </p:grpSp>
      <p:pic>
        <p:nvPicPr>
          <p:cNvPr id="1715" name="Google Shape;1715;p85"/>
          <p:cNvPicPr preferRelativeResize="0"/>
          <p:nvPr/>
        </p:nvPicPr>
        <p:blipFill>
          <a:blip r:embed="rId6">
            <a:alphaModFix/>
          </a:blip>
          <a:stretch>
            <a:fillRect/>
          </a:stretch>
        </p:blipFill>
        <p:spPr>
          <a:xfrm>
            <a:off x="4590294" y="3387504"/>
            <a:ext cx="914400" cy="914400"/>
          </a:xfrm>
          <a:prstGeom prst="rect">
            <a:avLst/>
          </a:prstGeom>
          <a:noFill/>
          <a:ln>
            <a:noFill/>
          </a:ln>
        </p:spPr>
      </p:pic>
      <p:pic>
        <p:nvPicPr>
          <p:cNvPr id="1716" name="Google Shape;1716;p85" title="trino-og.png"/>
          <p:cNvPicPr preferRelativeResize="0"/>
          <p:nvPr/>
        </p:nvPicPr>
        <p:blipFill>
          <a:blip r:embed="rId7">
            <a:alphaModFix/>
          </a:blip>
          <a:stretch>
            <a:fillRect/>
          </a:stretch>
        </p:blipFill>
        <p:spPr>
          <a:xfrm>
            <a:off x="4589894" y="1522509"/>
            <a:ext cx="914400" cy="414528"/>
          </a:xfrm>
          <a:prstGeom prst="rect">
            <a:avLst/>
          </a:prstGeom>
          <a:noFill/>
          <a:ln>
            <a:noFill/>
          </a:ln>
        </p:spPr>
      </p:pic>
      <p:grpSp>
        <p:nvGrpSpPr>
          <p:cNvPr id="1717" name="Google Shape;1717;p85"/>
          <p:cNvGrpSpPr/>
          <p:nvPr/>
        </p:nvGrpSpPr>
        <p:grpSpPr>
          <a:xfrm>
            <a:off x="3376932" y="3335795"/>
            <a:ext cx="914400" cy="854775"/>
            <a:chOff x="2737350" y="3991825"/>
            <a:chExt cx="914400" cy="854775"/>
          </a:xfrm>
        </p:grpSpPr>
        <p:pic>
          <p:nvPicPr>
            <p:cNvPr id="1718" name="Google Shape;1718;p85" title="pyiceberg-logo-icon.png"/>
            <p:cNvPicPr preferRelativeResize="0"/>
            <p:nvPr/>
          </p:nvPicPr>
          <p:blipFill>
            <a:blip r:embed="rId8">
              <a:alphaModFix/>
            </a:blip>
            <a:stretch>
              <a:fillRect/>
            </a:stretch>
          </p:blipFill>
          <p:spPr>
            <a:xfrm>
              <a:off x="2851646" y="3991825"/>
              <a:ext cx="685800" cy="685800"/>
            </a:xfrm>
            <a:prstGeom prst="rect">
              <a:avLst/>
            </a:prstGeom>
            <a:noFill/>
            <a:ln>
              <a:noFill/>
            </a:ln>
          </p:spPr>
        </p:pic>
        <p:sp>
          <p:nvSpPr>
            <p:cNvPr id="1719" name="Google Shape;1719;p85"/>
            <p:cNvSpPr txBox="1"/>
            <p:nvPr/>
          </p:nvSpPr>
          <p:spPr>
            <a:xfrm>
              <a:off x="2737350" y="4645000"/>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t>Py</a:t>
              </a:r>
              <a:r>
                <a:rPr b="1" lang="en" sz="1300"/>
                <a:t>Iceberg</a:t>
              </a:r>
              <a:endParaRPr b="1" sz="1300"/>
            </a:p>
          </p:txBody>
        </p:sp>
      </p:grpSp>
      <p:grpSp>
        <p:nvGrpSpPr>
          <p:cNvPr id="1720" name="Google Shape;1720;p85"/>
          <p:cNvGrpSpPr/>
          <p:nvPr/>
        </p:nvGrpSpPr>
        <p:grpSpPr>
          <a:xfrm>
            <a:off x="4589907" y="2428845"/>
            <a:ext cx="914400" cy="786908"/>
            <a:chOff x="2754925" y="3278067"/>
            <a:chExt cx="914400" cy="786908"/>
          </a:xfrm>
        </p:grpSpPr>
        <p:pic>
          <p:nvPicPr>
            <p:cNvPr id="1721" name="Google Shape;1721;p85"/>
            <p:cNvPicPr preferRelativeResize="0"/>
            <p:nvPr/>
          </p:nvPicPr>
          <p:blipFill>
            <a:blip r:embed="rId9">
              <a:alphaModFix/>
            </a:blip>
            <a:stretch>
              <a:fillRect/>
            </a:stretch>
          </p:blipFill>
          <p:spPr>
            <a:xfrm>
              <a:off x="2869229" y="3278067"/>
              <a:ext cx="685800" cy="685800"/>
            </a:xfrm>
            <a:prstGeom prst="rect">
              <a:avLst/>
            </a:prstGeom>
            <a:noFill/>
            <a:ln>
              <a:noFill/>
            </a:ln>
          </p:spPr>
        </p:pic>
        <p:sp>
          <p:nvSpPr>
            <p:cNvPr id="1722" name="Google Shape;1722;p85"/>
            <p:cNvSpPr txBox="1"/>
            <p:nvPr/>
          </p:nvSpPr>
          <p:spPr>
            <a:xfrm>
              <a:off x="2754925" y="3863375"/>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t>DataProc</a:t>
              </a:r>
              <a:endParaRPr b="1" sz="1300"/>
            </a:p>
          </p:txBody>
        </p:sp>
      </p:grpSp>
      <p:sp>
        <p:nvSpPr>
          <p:cNvPr id="1723" name="Google Shape;1723;p85"/>
          <p:cNvSpPr txBox="1"/>
          <p:nvPr/>
        </p:nvSpPr>
        <p:spPr>
          <a:xfrm>
            <a:off x="3336627" y="746557"/>
            <a:ext cx="21234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Engines</a:t>
            </a:r>
            <a:endParaRPr sz="1200">
              <a:solidFill>
                <a:srgbClr val="FFFFFF"/>
              </a:solidFill>
            </a:endParaRPr>
          </a:p>
        </p:txBody>
      </p:sp>
      <p:sp>
        <p:nvSpPr>
          <p:cNvPr id="1724" name="Google Shape;1724;p85"/>
          <p:cNvSpPr txBox="1"/>
          <p:nvPr/>
        </p:nvSpPr>
        <p:spPr>
          <a:xfrm>
            <a:off x="7052819" y="2928698"/>
            <a:ext cx="1660200" cy="184800"/>
          </a:xfrm>
          <a:prstGeom prst="rect">
            <a:avLst/>
          </a:prstGeom>
          <a:solidFill>
            <a:srgbClr val="29B5E8"/>
          </a:solid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FFFF"/>
                </a:solidFill>
              </a:rPr>
              <a:t>Iceberg Tables on GCS</a:t>
            </a:r>
            <a:endParaRPr sz="1200">
              <a:solidFill>
                <a:srgbClr val="FFFFFF"/>
              </a:solidFill>
            </a:endParaRPr>
          </a:p>
        </p:txBody>
      </p:sp>
      <p:sp>
        <p:nvSpPr>
          <p:cNvPr id="1725" name="Google Shape;1725;p85"/>
          <p:cNvSpPr txBox="1"/>
          <p:nvPr/>
        </p:nvSpPr>
        <p:spPr>
          <a:xfrm>
            <a:off x="7443276" y="4499047"/>
            <a:ext cx="879300" cy="1386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1000">
                <a:solidFill>
                  <a:srgbClr val="105780"/>
                </a:solidFill>
              </a:rPr>
              <a:t>Data Files</a:t>
            </a:r>
            <a:endParaRPr sz="1000">
              <a:solidFill>
                <a:srgbClr val="105780"/>
              </a:solidFill>
              <a:latin typeface="Arial"/>
              <a:ea typeface="Arial"/>
              <a:cs typeface="Arial"/>
              <a:sym typeface="Arial"/>
            </a:endParaRPr>
          </a:p>
        </p:txBody>
      </p:sp>
      <p:cxnSp>
        <p:nvCxnSpPr>
          <p:cNvPr id="1726" name="Google Shape;1726;p85"/>
          <p:cNvCxnSpPr>
            <a:stCxn id="1689" idx="3"/>
            <a:endCxn id="1690" idx="1"/>
          </p:cNvCxnSpPr>
          <p:nvPr/>
        </p:nvCxnSpPr>
        <p:spPr>
          <a:xfrm flipH="1" rot="10800000">
            <a:off x="5802875" y="1393158"/>
            <a:ext cx="1250100" cy="1349400"/>
          </a:xfrm>
          <a:prstGeom prst="curvedConnector3">
            <a:avLst>
              <a:gd fmla="val 50000" name="adj1"/>
            </a:avLst>
          </a:prstGeom>
          <a:noFill/>
          <a:ln cap="flat" cmpd="sng" w="9525">
            <a:solidFill>
              <a:schemeClr val="dk2"/>
            </a:solidFill>
            <a:prstDash val="solid"/>
            <a:round/>
            <a:headEnd len="med" w="med" type="none"/>
            <a:tailEnd len="med" w="med" type="stealth"/>
          </a:ln>
        </p:spPr>
      </p:cxnSp>
      <p:cxnSp>
        <p:nvCxnSpPr>
          <p:cNvPr id="1727" name="Google Shape;1727;p85"/>
          <p:cNvCxnSpPr>
            <a:stCxn id="1689" idx="3"/>
            <a:endCxn id="1688" idx="1"/>
          </p:cNvCxnSpPr>
          <p:nvPr/>
        </p:nvCxnSpPr>
        <p:spPr>
          <a:xfrm>
            <a:off x="5802875" y="2742558"/>
            <a:ext cx="1214700" cy="1091100"/>
          </a:xfrm>
          <a:prstGeom prst="curvedConnector3">
            <a:avLst>
              <a:gd fmla="val 50003" name="adj1"/>
            </a:avLst>
          </a:prstGeom>
          <a:noFill/>
          <a:ln cap="flat" cmpd="sng" w="9525">
            <a:solidFill>
              <a:schemeClr val="dk2"/>
            </a:solidFill>
            <a:prstDash val="solid"/>
            <a:round/>
            <a:headEnd len="med" w="med" type="none"/>
            <a:tailEnd len="med" w="med" type="stealth"/>
          </a:ln>
        </p:spPr>
      </p:cxnSp>
      <p:sp>
        <p:nvSpPr>
          <p:cNvPr id="1728" name="Google Shape;1728;p85"/>
          <p:cNvSpPr txBox="1"/>
          <p:nvPr/>
        </p:nvSpPr>
        <p:spPr>
          <a:xfrm>
            <a:off x="6022575" y="1713508"/>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highlight>
                  <a:schemeClr val="lt1"/>
                </a:highlight>
              </a:rPr>
              <a:t>IRC</a:t>
            </a:r>
            <a:endParaRPr b="1" sz="1300">
              <a:highlight>
                <a:schemeClr val="lt1"/>
              </a:highlight>
            </a:endParaRPr>
          </a:p>
        </p:txBody>
      </p:sp>
      <p:pic>
        <p:nvPicPr>
          <p:cNvPr id="1729" name="Google Shape;1729;p85" title="snowflake-logo.jpg"/>
          <p:cNvPicPr preferRelativeResize="0"/>
          <p:nvPr/>
        </p:nvPicPr>
        <p:blipFill>
          <a:blip r:embed="rId10">
            <a:alphaModFix/>
          </a:blip>
          <a:stretch>
            <a:fillRect/>
          </a:stretch>
        </p:blipFill>
        <p:spPr>
          <a:xfrm>
            <a:off x="3758670" y="1062344"/>
            <a:ext cx="1371602" cy="329184"/>
          </a:xfrm>
          <a:prstGeom prst="rect">
            <a:avLst/>
          </a:prstGeom>
          <a:noFill/>
          <a:ln>
            <a:noFill/>
          </a:ln>
        </p:spPr>
      </p:pic>
      <p:pic>
        <p:nvPicPr>
          <p:cNvPr id="1730" name="Google Shape;1730;p85" title="databricks-logo.png"/>
          <p:cNvPicPr preferRelativeResize="0"/>
          <p:nvPr/>
        </p:nvPicPr>
        <p:blipFill>
          <a:blip r:embed="rId11">
            <a:alphaModFix/>
          </a:blip>
          <a:stretch>
            <a:fillRect/>
          </a:stretch>
        </p:blipFill>
        <p:spPr>
          <a:xfrm>
            <a:off x="3547625" y="4405558"/>
            <a:ext cx="1371600" cy="205740"/>
          </a:xfrm>
          <a:prstGeom prst="rect">
            <a:avLst/>
          </a:prstGeom>
          <a:noFill/>
          <a:ln>
            <a:noFill/>
          </a:ln>
        </p:spPr>
      </p:pic>
      <p:sp>
        <p:nvSpPr>
          <p:cNvPr id="1731" name="Google Shape;1731;p85"/>
          <p:cNvSpPr txBox="1"/>
          <p:nvPr/>
        </p:nvSpPr>
        <p:spPr>
          <a:xfrm>
            <a:off x="5460025" y="479158"/>
            <a:ext cx="1250100" cy="18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t>Google Cloud</a:t>
            </a:r>
            <a:endParaRPr b="1" sz="1300"/>
          </a:p>
        </p:txBody>
      </p:sp>
      <p:sp>
        <p:nvSpPr>
          <p:cNvPr id="1732" name="Google Shape;1732;p85"/>
          <p:cNvSpPr txBox="1"/>
          <p:nvPr/>
        </p:nvSpPr>
        <p:spPr>
          <a:xfrm>
            <a:off x="6022575" y="3286108"/>
            <a:ext cx="914400" cy="20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highlight>
                  <a:schemeClr val="lt1"/>
                </a:highlight>
              </a:rPr>
              <a:t>Read/Write</a:t>
            </a:r>
            <a:endParaRPr b="1" sz="1300">
              <a:highlight>
                <a:schemeClr val="lt1"/>
              </a:highlight>
            </a:endParaRPr>
          </a:p>
        </p:txBody>
      </p:sp>
      <p:sp>
        <p:nvSpPr>
          <p:cNvPr id="1733" name="Google Shape;1733;p85"/>
          <p:cNvSpPr txBox="1"/>
          <p:nvPr>
            <p:ph type="title"/>
          </p:nvPr>
        </p:nvSpPr>
        <p:spPr>
          <a:xfrm>
            <a:off x="274325" y="91450"/>
            <a:ext cx="8682600" cy="381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000"/>
              <a:t>Snowflake-Managed Iceberg on GCP</a:t>
            </a:r>
            <a:endParaRPr sz="2000"/>
          </a:p>
        </p:txBody>
      </p:sp>
      <p:sp>
        <p:nvSpPr>
          <p:cNvPr id="1734" name="Google Shape;1734;p85"/>
          <p:cNvSpPr txBox="1"/>
          <p:nvPr/>
        </p:nvSpPr>
        <p:spPr>
          <a:xfrm>
            <a:off x="311350" y="479000"/>
            <a:ext cx="2555100" cy="4396200"/>
          </a:xfrm>
          <a:prstGeom prst="rect">
            <a:avLst/>
          </a:prstGeom>
          <a:solidFill>
            <a:srgbClr val="F1F8E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a:ea typeface="Roboto"/>
                <a:cs typeface="Roboto"/>
                <a:sym typeface="Roboto"/>
              </a:rPr>
              <a:t>- Snowflake Horizon Catalog natively implements the Iceberg REST Catalog (IRC) protocol -- Apache Polaris integrated under the hood -- so any engine that supports IRC (Spark, Flink, Trino, PyIceberg, DuckDB, etc.) can read and write Iceberg tables directly through Horizon, using your existing Snowflake authentication, roles, and governance policies.</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a:p>
            <a:pPr indent="0" lvl="0" marL="0" rtl="0" algn="l">
              <a:spcBef>
                <a:spcPts val="0"/>
              </a:spcBef>
              <a:spcAft>
                <a:spcPts val="0"/>
              </a:spcAft>
              <a:buNone/>
            </a:pPr>
            <a:r>
              <a:rPr lang="en" sz="900">
                <a:latin typeface="Roboto"/>
                <a:ea typeface="Roboto"/>
                <a:cs typeface="Roboto"/>
                <a:sym typeface="Roboto"/>
              </a:rPr>
              <a:t>- VertexAI services (training, inference, workbench) can read/write to iceberg table through python libraries like Spark or PyIceberg.</a:t>
            </a:r>
            <a:endParaRPr sz="900">
              <a:latin typeface="Roboto"/>
              <a:ea typeface="Roboto"/>
              <a:cs typeface="Roboto"/>
              <a:sym typeface="Roboto"/>
            </a:endParaRPr>
          </a:p>
          <a:p>
            <a:pPr indent="0" lvl="0" marL="0" rtl="0" algn="l">
              <a:spcBef>
                <a:spcPts val="0"/>
              </a:spcBef>
              <a:spcAft>
                <a:spcPts val="0"/>
              </a:spcAft>
              <a:buNone/>
            </a:pPr>
            <a:r>
              <a:t/>
            </a:r>
            <a:endParaRPr sz="9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owflake">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nowflake">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